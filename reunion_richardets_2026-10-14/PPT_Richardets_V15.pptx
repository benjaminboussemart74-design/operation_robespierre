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301" r:id="rId5"/>
    <p:sldId id="320" r:id="rId6"/>
    <p:sldId id="302" r:id="rId7"/>
    <p:sldId id="326" r:id="rId33"/>
    <p:sldId id="324" r:id="rId8"/>
    <p:sldId id="316" r:id="rId9"/>
    <p:sldId id="305" r:id="rId10"/>
    <p:sldId id="327" r:id="rId32"/>
    <p:sldId id="328" r:id="rId34"/>
    <p:sldId id="306" r:id="rId12"/>
    <p:sldId id="318" r:id="rId13"/>
    <p:sldId id="307" r:id="rId14"/>
    <p:sldId id="314" r:id="rId15"/>
    <p:sldId id="295" r:id="rId16"/>
    <p:sldId id="321" r:id="rId30"/>
    <p:sldId id="322" r:id="rId31"/>
    <p:sldId id="309" r:id="rId17"/>
    <p:sldId id="310" r:id="rId18"/>
    <p:sldId id="319" r:id="rId19"/>
    <p:sldId id="311" r:id="rId20"/>
    <p:sldId id="312" r:id="rId21"/>
    <p:sldId id="288" r:id="rId22"/>
    <p:sldId id="289" r:id="rId23"/>
  </p:sldIdLst>
  <p:sldSz cx="18288000" cy="10287000"/>
  <p:notesSz cx="6797675" cy="99266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USSEMART Benjamin" initials="BB" lastIdx="2" clrIdx="0">
    <p:extLst>
      <p:ext uri="{19B8F6BF-5375-455C-9EA6-DF929625EA0E}">
        <p15:presenceInfo xmlns:p15="http://schemas.microsoft.com/office/powerpoint/2012/main" userId="S-1-5-21-3408961251-3854804950-4192859478-336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56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5" d="100"/>
          <a:sy n="75" d="100"/>
        </p:scale>
        <p:origin x="5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21.xml"/><Relationship Id="rId18" Type="http://schemas.openxmlformats.org/officeDocument/2006/relationships/slide" Target="slides/slide22.xml"/><Relationship Id="rId19" Type="http://schemas.openxmlformats.org/officeDocument/2006/relationships/slide" Target="slides/slide23.xml"/><Relationship Id="rId20" Type="http://schemas.openxmlformats.org/officeDocument/2006/relationships/slide" Target="slides/slide24.xml"/><Relationship Id="rId21" Type="http://schemas.openxmlformats.org/officeDocument/2006/relationships/slide" Target="slides/slide25.xml"/><Relationship Id="rId22" Type="http://schemas.openxmlformats.org/officeDocument/2006/relationships/slide" Target="slides/slide26.xml"/><Relationship Id="rId23" Type="http://schemas.openxmlformats.org/officeDocument/2006/relationships/slide" Target="slides/slide27.xml"/><Relationship Id="rId24" Type="http://schemas.openxmlformats.org/officeDocument/2006/relationships/notesMaster" Target="notesMasters/notesMaster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12.xml"/><Relationship Id="rId33" Type="http://schemas.openxmlformats.org/officeDocument/2006/relationships/slide" Target="slides/slide7.xml"/><Relationship Id="rId3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599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affichée pendant l'accueil : inviter les habitants à flasher le QR code ou à remplir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Accueil des habitants par Vincent Monnier, Maire de Noisy-le-Grand. Réunion du cycle des réunions publiques organisées dans tous les quartiers.</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Présenter les cinq parties de la soirée.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Le déménagement a été organisé par la Ville, après la fin de l'année scolaire pour le matériel scolaire. Le matériel de restauration a été déménagé dès le 1er juillet pour permettre l'installation aux Gobelins le 20 juillet.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(14 octobre 2026).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des Bâtiments et de l'Énergie (9 octobre 2026). Les travaux ont démarré en septembre, après la notification des marchés de travaux, pour une durée prévue de 20 mois. La réouverture de l'école agrandie et rénovée est prévue pour la rentrée de septembre 2028.</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Sources : Direction des Bâtiments et de l'Énergie, service Patrimoine Bâti (courriel du 14 octobre 2026) ; tableau de suivi des travaux en régie 2026 ; comptes rendus des conseils d'école du printemps 2026.</a:t>
            </a:r>
          </a:p>
          <a:p/>
          <a:p>
            <a:r>
              <a:t>École des Gobelins : 1,3 million d'euros investis cette année au sein du groupe scolaire des Gobelins pour permettre l'installation et le déménagement de l'école des Richardets : création de sanitaires, réfection des revêtements de sols et peinture, travaux électriques, installation de clôtures et de portails, rénovation de la cour et mise en place de pare-ballons.</a:t>
            </a:r>
          </a:p>
          <a:p/>
          <a:p>
            <a:r>
              <a:t>Les Charmilles : 19 000 € pour la mise en conformité du réseau d'assainissement et 4 000 € d'aménagement et de remise en état du hall (pose de plaques de plâtre et mise en peinture). Les travaux « programmés » (classe de CM1-CM2, office du réfectoire) étaient prévus pour l'été 2026 : leur réalisation reste à confirmer auprès de la Direction des Bâtiments. Même réserve pour la peinture du hall élémentaire des Yvris. Paul-Serelle : un réverbère devant le portail reste à programmer.</a:t>
            </a:r>
          </a:p>
          <a:p/>
          <a:p>
            <a:r>
              <a:t>Demandes en attente, à connaître (non projetées). Charmilles maternelle : fissures, toiture à refaire (travaux reportés pour analyser une fissure), chaudière en panne chaque année, brise-vues posés à l'envers ; les parents et la direction demandent le rapport d'expertise et la participation à la commission travaux. Charmilles élémentaire : allée de secours inachevée (environ 6 mètres, enjeu pour un élève en fauteuil), 13 chaises manquantes, écrans numériques, rapport d'expertise. Richardets élémentaire : barrière côté rue cassée, rideaux thermiques. Yvris maternelle : bouton d'ouverture du portail à rehausser, placards à sécuriser, barre pour le parc à vélos, chaleur au réfectoire. Paul-Serelle (synthèse des parents du 29 mai) : portes coupe-feu trop lourdes, détecteurs de fumée, extincteurs non fixés, alarme PPMS, interphone et grille de la maternelle hors service, fenêtres et stores défectueux, fuites, revêtement de cour.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À dire (non projeté) : chaque recrutement ouvre 8 places en maternelle et 12 en élémentaire ; les places libérées sont réattribuées chaque semaine à partir des listes d'attente ; les recrutements continuent, surtout pour les postes du mercredi.</a:t>
            </a:r>
          </a:p>
          <a:p>
            <a:endParaRPr/>
          </a:p>
          <a:p>
            <a:r>
              <a:t>Mercredis — Sources : état des lieux des mercredis au 2 octobre 2026 et note explicative (service Enfance-Loisirs). 2025 : mercredi 17 septembre 2025. 2026 : mercredis 7 et 14 octobre 2026, état au 1er octobre. Le service ne fournit pas de chiffre d’octobre 2025. Au 16 septembre 2026, à date comparable : 1 744 places (+8 %) et 158 animateurs. Pendant la période de réservation (2 au 9 septembre), les listes d’attente sont validées chaque jour ; ensuite deux fois par jour le jeudi et le vendredi. La Varenne, mercredi 7 octobre : 9 enfants en liste d’attente en maternelle, aucun en élémentaire.</a:t>
            </a:r>
          </a:p>
          <a:p>
            <a:endParaRPr/>
          </a:p>
          <a:p>
            <a:r>
              <a:t>Pause méridienne — Source : synthèse recrutement et effectifs de la pause méridienne, septembre 2026 (version « annule et remplace »). Les colonnes « encadrement » ont été retirées : le tableau des taux du service a été calculé sur d’anciens effectifs (2 008 et 3 277 enfants) alors que les effectifs corrigés sont 2 201 et 3 525. Avec les effectifs corrigés : maternelle 1 pour 10,5 en 2025 et 1 pour 9 en 2026 ; élémentaire 1 pour 28 en 2025 et 1 pour 27 en 2026. Faire confirmer par le service Enfance-Loisirs avant de citer un taux. L’effectif d’animateurs en élémentaire (129,6) est exprimé en équivalents temps plein.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Éléments de la Direction de l'Environnement et de l'Espace Public (à l'oral, non projetés) : autour de l'école des Gobelins, un dépose-minute d'environ 15 places pour les parents, ainsi que les abords du CTM ; pas d'autre réserve de stationnement. Circulation : attente du retrait du transformateur situé sur la chaussée pour que la Société des grands projets termine ses travaux, soit encore environ 12 mois (8 mois d'attente puis les travaux). Sujet également évoqué : le dernier ouvrage de la SGP, l'ouvrage Médéric.</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Carte des caméras du quartier : en vert les caméras en service, en jaune les caméras en cours d'installation.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Parking situé dans le secteur du gymnase des Yvris, chemin de la Noisette, près de l'école élémentaire des Yvris et du collège Saint-Exupéry (point fourni : 48°49'35.57" N, 2°35'00.63" E). Vues : orthophotographies IGN. Règles de la zone bleue à compléter : périmètre, durée de stationnement autorisée, date de mise en place, contrôle.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La fermeture avait été discutée dès 2024 entre La Poste et l'ancienne municipalité, sans information des habitants. Courrier du Maire du 10 juin 2026 au délégué territorial de La Poste pour la Seine-Saint-Denis : la nouvelle municipalité n'a été ni informée ni consultée ; le Maire demande de suspendre la fermeture, d'organiser une réunion de travail et de transmettre les éléments ayant fondé la décision (fréquentation, études, correspondances avec l'ancienne municipalité). Le Maire s'est opposé à la fermeture et a demandé un délai ainsi que la sauvegarde d'activités postales.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des lignes 310, 312 et 320 qui traversent le quartier, avec leurs arrêts (données ouvertes d'Île-de-France Mobilités). Les arrêts Moulin à Vent (lignes 206, 207, 306, 310) et Les Aérostiers (ligne 212) sont en limite du quartier. Les pastilles vertes indiquent le nombre de signalements recueillis par le formulaire de la Ville pour chaque arrêt (472 signalements au total ; 156 rattachés avec certitude à un arrêt du quartier, les saisies ambiguës ne sont pas comptées). Les problèmes sont comptés en mentions : un signalement peut en citer plusieurs. Dans toute la ville : ligne 310, 312 signalements ; ligne 320, 76 ; ligne 312, 13 ; ligne 220, 51.</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Courrier du Maire du 20 septembre 2026 à la direction générale de Keolis sur les dysfonctionnements des lignes : retards, suppressions, fréquences non respectées, information voyageurs défaillante. Demandes : sanctions contractuelles, réunion en mairie avec Keolis et Île-de-France Mobilités, plan d'actions immédiat.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Arbitrages validés lors du dernier comité de suivi. Points à connaître (non projetés) : glissement du calendrier prévisionnel en raison de nouvelles études ; actualisation du dossier pour le prochain comité de pilotage ; révision de la programmation pluriannuelle des investissements et nouvelles demandes de subventions ; vigilance du service des sports sur l'emprise du chantier sur la piste d'athlétisme.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Source : Direction de l'Environnement et de l'Espace Public. Square du boulevard des Astronautes, entre la rue de la Chapelle et la rue des Pléiades : concertation avec les riverains cet hiver sur les aires de jeux et les équipements, travaux à la fin du printemps, plantations à l'automne. Les crédits sont prévus pour 2027.</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Vue aérienne de la partie commerçante de l'avenue Médéric (orthophotographie IGN).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t>Temps d'échange avec la salle.</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53511" tIns="26755" rIns="53511" bIns="26755"/>
          <a:lstStyle/>
          <a:p>
            <a:r>
              <a:rPr lang="en-US" dirty="0"/>
              <a:t>Diapositive laissée à l'écran à la sortie : rappeler le QR code et la fiche de renseignement papier.</a:t>
            </a:r>
          </a:p>
        </p:txBody>
      </p:sp>
      <p:sp>
        <p:nvSpPr>
          <p:cNvPr id="4" name="Slide Number Placeholder 3"/>
          <p:cNvSpPr>
            <a:spLocks noGrp="1"/>
          </p:cNvSpPr>
          <p:nvPr>
            <p:ph type="sldNum" sz="quarter" idx="10"/>
          </p:nvPr>
        </p:nvSpPr>
        <p:spPr/>
        <p:txBody>
          <a:bodyPr lIns="53511" tIns="26755" rIns="53511" bIns="26755"/>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visuel : création d'une troisième voie ; reconstruction de la gare des Yvris – Noisy-le-Grand avec un nouveau bâtiment voyageurs, accès aux quais par une passerelle et des ascenseurs (mise aux normes d'accessibilité) ; reconstruction des ponts Paul-Serelle et des Yvris avec un tablier pour les modes doux ; démolition d'un passage souterrain et construction d'une passerelle piétonne accessible aux personnes à mobilité réduite ; rénovation de 4 ponts dans les bois Saint-Martin et de Célie pour faciliter le passage de la faune.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Présentation à l'oral par la Direction de l'Environnement et de l'Espace Public. Éléments du plan projeté : parvis ouest avec square de proximité et dépose-minute ; parvis est avec kiosque, consigne vélos et arceaux ; terminus de la ligne 310 et local chauffeurs ; bus en passage avenue du Bois Saint-Martin ; piste cyclable ; accès RER sud-est ; parking végétalisé de 175 places.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d'aménagement du carrefour et de la piste cyclable (en rouge), avec la coupe de la voie en encart. En haut à gauche, la route vers le centre-ville ; en haut à droite, la route vers l'entrée d'autoroute.</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Description du projet. Augmentation de la capacité d'accueil du groupe scolaire en prévision d'une forte ascension démographique sur le secteur sud de la Ville (aménagement de salles supplémentaires par la création d'extensions et la réfection des logements de fonction). Mise en cohérence des espaces existants avec les besoins pédagogiques (restructuration lourde du groupe scolaire visant à une optimisation organisationnelle des bâtiments, et une amélioration du confort d'accueil des enfants et des conditions d'enseignement). Mise aux normes générale (accueil PMR).</a:t>
            </a:r>
          </a:p>
          <a:p/>
          <a:p>
            <a:r>
              <a:t>Programme de rénovation : réfection des logements de fonction pour loger des salles supplémentaires ; remaniement et agrandissement du pôle restauration ; re-cloisonnement partiel des espaces existants ; mise aux normes PMR de la circulation ; remplacement des menuiseries extérieures et isolation des combles ; réaménagement des cours de récréation (remplacement des clôtures, création des rangements extérieurs, séparation des cours).</a:t>
            </a:r>
          </a:p>
          <a:p/>
          <a:p>
            <a:r>
              <a:t>Programme de construction neuve : construction d'extensions permettant de créer des locaux manquants au bon fonctionnement des entités pédagogiques ; construction de deux nouveaux préaux.</a:t>
            </a:r>
          </a:p>
          <a:p/>
          <a:p>
            <a:r>
              <a:t>Illustration : plan des 1er et 2e étages et du sous-sol partiel (dossier de consultation des entreprises, mars 2020, « Réaménagement et extension du groupe scolaire des Richardets »).</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53511" tIns="26755" rIns="53511" bIns="26755"/>
          <a:lstStyle/>
          <a:p>
            <a:r>
              <a:t>Plan d'aménagement du carrefour et de la piste cyclable (en rouge), en pleine page ; coupe de la voie en encart : trois voies de circulation et une piste cyclable bidirectionnelle.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2.jpg"/><Relationship Id="rId4" Type="http://schemas.openxmlformats.org/officeDocument/2006/relationships/notesSlide" Target="../notesSlides/notesSlide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notesSlide" Target="../notesSlides/notesSlide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0.jpg"/><Relationship Id="rId5"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2.jpg"/><Relationship Id="rId5"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5.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0.jpg"/><Relationship Id="rId4" Type="http://schemas.openxmlformats.org/officeDocument/2006/relationships/notesSlide" Target="../notesSlides/notes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1.jpg"/><Relationship Id="rId4" Type="http://schemas.openxmlformats.org/officeDocument/2006/relationships/notesSlide" Target="../notesSlides/notes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F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rcRect t="5711" b="5711"/>
          <a:stretch/>
        </p:blipFill>
        <p:spPr>
          <a:xfrm>
            <a:off x="0" y="0"/>
            <a:ext cx="18288001" cy="10287000"/>
          </a:xfrm>
          <a:prstGeom prst="rect">
            <a:avLst/>
          </a:prstGeom>
        </p:spPr>
      </p:pic>
      <p:sp>
        <p:nvSpPr>
          <p:cNvPr id="3" name="Shape 0"/>
          <p:cNvSpPr/>
          <p:nvPr/>
        </p:nvSpPr>
        <p:spPr>
          <a:xfrm>
            <a:off x="0" y="0"/>
            <a:ext cx="18288001" cy="10287000"/>
          </a:xfrm>
          <a:prstGeom prst="rect">
            <a:avLst/>
          </a:prstGeom>
          <a:gradFill rotWithShape="1">
            <a:gsLst>
              <a:gs pos="0">
                <a:srgbClr val="0E1F5B">
                  <a:alpha val="92000"/>
                </a:srgbClr>
              </a:gs>
              <a:gs pos="55000">
                <a:srgbClr val="0E1F5B">
                  <a:alpha val="78000"/>
                </a:srgbClr>
              </a:gs>
              <a:gs pos="100000">
                <a:srgbClr val="0E1F5B">
                  <a:alpha val="55000"/>
                </a:srgbClr>
              </a:gs>
            </a:gsLst>
            <a:lin ang="2700000" scaled="0"/>
          </a:gradFill>
          <a:ln/>
        </p:spPr>
      </p:sp>
      <p:pic>
        <p:nvPicPr>
          <p:cNvPr id="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144501" y="3012837"/>
            <a:ext cx="4191000" cy="4261327"/>
          </a:xfrm>
          <a:prstGeom prst="rect">
            <a:avLst/>
          </a:prstGeom>
        </p:spPr>
      </p:pic>
      <p:sp>
        <p:nvSpPr>
          <p:cNvPr id="7" name="Text 3"/>
          <p:cNvSpPr/>
          <p:nvPr/>
        </p:nvSpPr>
        <p:spPr>
          <a:xfrm>
            <a:off x="952500" y="3144838"/>
            <a:ext cx="18021301" cy="414020"/>
          </a:xfrm>
          <a:prstGeom prst="rect">
            <a:avLst/>
          </a:prstGeom>
          <a:noFill/>
          <a:ln/>
        </p:spPr>
        <p:txBody>
          <a:bodyPr wrap="square" lIns="25400" tIns="25400" rIns="25400" bIns="25400" rtlCol="0" anchor="t">
            <a:normAutofit lnSpcReduction="10000"/>
          </a:bodyPr>
          <a:lstStyle/>
          <a:p>
            <a:pPr marL="0" indent="0" algn="l">
              <a:buNone/>
            </a:pPr>
            <a:r>
              <a:rPr lang="en-US" sz="2550" b="1" kern="0" spc="225" dirty="0">
                <a:solidFill>
                  <a:srgbClr val="72C493"/>
                </a:solidFill>
                <a:latin typeface="Arial" pitchFamily="34" charset="0"/>
                <a:ea typeface="Arial" pitchFamily="34" charset="-122"/>
                <a:cs typeface="Arial" pitchFamily="34" charset="-120"/>
              </a:rPr>
              <a:t>RÉUNION PUBLIQUE —</a:t>
            </a:r>
            <a:endParaRPr lang="en-US" sz="2550" dirty="0"/>
          </a:p>
        </p:txBody>
      </p:sp>
      <p:sp>
        <p:nvSpPr>
          <p:cNvPr id="8" name="Text 4"/>
          <p:cNvSpPr/>
          <p:nvPr/>
        </p:nvSpPr>
        <p:spPr>
          <a:xfrm>
            <a:off x="952500" y="3787458"/>
            <a:ext cx="16874491" cy="2000885"/>
          </a:xfrm>
          <a:prstGeom prst="rect">
            <a:avLst/>
          </a:prstGeom>
          <a:noFill/>
          <a:ln/>
          <a:effectLst>
            <a:outerShdw blurRad="101600" dist="80822" dir="2700000" algn="bl" rotWithShape="0">
              <a:srgbClr val="72C493">
                <a:alpha val="100000"/>
              </a:srgbClr>
            </a:outerShdw>
          </a:effectLst>
        </p:spPr>
        <p:txBody>
          <a:bodyPr wrap="square" lIns="25400" tIns="25400" rIns="25400" bIns="25400" rtlCol="0" anchor="t">
            <a:normAutofit/>
          </a:bodyPr>
          <a:lstStyle/>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QUARTIER DES</a:t>
            </a:r>
          </a:p>
          <a:p>
            <a:pPr marL="0" indent="0" algn="l">
              <a:lnSpc>
                <a:spcPct val="64832"/>
              </a:lnSpc>
              <a:buNone/>
            </a:pPr>
            <a:r>
              <a:rPr lang="en-US" sz="8400" b="1" kern="0" spc="-300" dirty="0">
                <a:solidFill>
                  <a:srgbClr val="FAF5EC"/>
                </a:solidFill>
                <a:latin typeface="Arial" pitchFamily="34" charset="0"/>
                <a:ea typeface="Arial" pitchFamily="34" charset="-122"/>
                <a:cs typeface="Arial" pitchFamily="34" charset="-120"/>
              </a:rPr>
              <a:t>RICHARDETS</a:t>
            </a:r>
          </a:p>
        </p:txBody>
      </p:sp>
      <p:sp>
        <p:nvSpPr>
          <p:cNvPr id="9" name="Text 5"/>
          <p:cNvSpPr/>
          <p:nvPr/>
        </p:nvSpPr>
        <p:spPr>
          <a:xfrm>
            <a:off x="952500" y="6283643"/>
            <a:ext cx="18021301" cy="47498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FAF5EC"/>
                </a:solidFill>
                <a:latin typeface="Arial" pitchFamily="34" charset="0"/>
                <a:ea typeface="Arial" pitchFamily="34" charset="-122"/>
                <a:cs typeface="Arial" pitchFamily="34" charset="-120"/>
              </a:rPr>
              <a:t>Mercredi 14 octobre 2026 — 19 h — Victoria Park</a:t>
            </a:r>
            <a:endParaRPr lang="en-US" sz="3000" dirty="0"/>
          </a:p>
        </p:txBody>
      </p:sp>
      <p:sp>
        <p:nvSpPr>
          <p:cNvPr id="10" name="TextBox 9"/>
          <p:cNvSpPr txBox="1"/>
          <p:nvPr/>
        </p:nvSpPr>
        <p:spPr>
          <a:xfrm>
            <a:off x="14264640" y="9829800"/>
            <a:ext cx="3749039" cy="274320"/>
          </a:xfrm>
          <a:prstGeom prst="rect">
            <a:avLst/>
          </a:prstGeom>
          <a:noFill/>
        </p:spPr>
        <p:txBody>
          <a:bodyPr wrap="square" lIns="0" tIns="0" rIns="0" bIns="0" anchor="t">
            <a:spAutoFit/>
          </a:bodyPr>
          <a:lstStyle/>
          <a:p>
            <a:pPr algn="r"/>
            <a:r>
              <a:rPr sz="1200" b="0">
                <a:solidFill>
                  <a:srgbClr val="C9CCDA"/>
                </a:solidFill>
                <a:latin typeface="Arial"/>
              </a:rPr>
              <a:t>© IGN – BD ORTHO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857250"/>
            <a:ext cx="18021301" cy="363220"/>
          </a:xfrm>
          <a:prstGeom prst="rect">
            <a:avLst/>
          </a:prstGeom>
          <a:noFill/>
          <a:ln/>
        </p:spPr>
        <p:txBody>
          <a:bodyPr wrap="square" lIns="25400" tIns="25400" rIns="25400" bIns="25400" rtlCol="0" anchor="t">
            <a:normAutofit lnSpcReduction="10000"/>
          </a:bodyPr>
          <a:lstStyle/>
          <a:p>
            <a:pPr marL="0" indent="0" algn="l">
              <a:buNone/>
            </a:pPr>
            <a:r>
              <a:rPr lang="en-US" sz="2250" b="1" kern="0" spc="225" dirty="0">
                <a:solidFill>
                  <a:srgbClr val="72C493"/>
                </a:solidFill>
                <a:latin typeface="Arial" pitchFamily="34" charset="0"/>
                <a:ea typeface="Arial" pitchFamily="34" charset="-122"/>
                <a:cs typeface="Arial" pitchFamily="34" charset="-120"/>
              </a:rPr>
              <a:t>SOMMAIRE</a:t>
            </a:r>
            <a:endParaRPr lang="en-US" sz="2250" dirty="0"/>
          </a:p>
        </p:txBody>
      </p:sp>
      <p:sp>
        <p:nvSpPr>
          <p:cNvPr id="4" name="Numero 1"/>
          <p:cNvSpPr txBox="1"/>
          <p:nvPr/>
        </p:nvSpPr>
        <p:spPr>
          <a:xfrm>
            <a:off x="952500" y="262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01</a:t>
            </a:r>
          </a:p>
        </p:txBody>
      </p:sp>
      <p:sp>
        <p:nvSpPr>
          <p:cNvPr id="5" name="Partie 1"/>
          <p:cNvSpPr txBox="1"/>
          <p:nvPr/>
        </p:nvSpPr>
        <p:spPr>
          <a:xfrm>
            <a:off x="1866900" y="260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L'école des Richardets et le périscolaire</a:t>
            </a:r>
          </a:p>
        </p:txBody>
      </p:sp>
      <p:sp>
        <p:nvSpPr>
          <p:cNvPr id="6" name="Separateur 1"/>
          <p:cNvSpPr/>
          <p:nvPr/>
        </p:nvSpPr>
        <p:spPr>
          <a:xfrm>
            <a:off x="952500" y="3230000"/>
            <a:ext cx="14287501" cy="10160"/>
          </a:xfrm>
          <a:prstGeom prst="rect">
            <a:avLst/>
          </a:prstGeom>
          <a:solidFill>
            <a:srgbClr val="0E1F5B">
              <a:alpha val="12000"/>
            </a:srgbClr>
          </a:solidFill>
          <a:ln/>
        </p:spPr>
      </p:sp>
      <p:sp>
        <p:nvSpPr>
          <p:cNvPr id="7" name="Numero 2"/>
          <p:cNvSpPr txBox="1"/>
          <p:nvPr/>
        </p:nvSpPr>
        <p:spPr>
          <a:xfrm>
            <a:off x="952500" y="341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02</a:t>
            </a:r>
          </a:p>
        </p:txBody>
      </p:sp>
      <p:sp>
        <p:nvSpPr>
          <p:cNvPr id="8" name="Partie 2"/>
          <p:cNvSpPr txBox="1"/>
          <p:nvPr/>
        </p:nvSpPr>
        <p:spPr>
          <a:xfrm>
            <a:off x="1866900" y="339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Circulation et sécurité</a:t>
            </a:r>
          </a:p>
        </p:txBody>
      </p:sp>
      <p:sp>
        <p:nvSpPr>
          <p:cNvPr id="9" name="Separateur 2"/>
          <p:cNvSpPr/>
          <p:nvPr/>
        </p:nvSpPr>
        <p:spPr>
          <a:xfrm>
            <a:off x="952500" y="4020000"/>
            <a:ext cx="14287501" cy="10160"/>
          </a:xfrm>
          <a:prstGeom prst="rect">
            <a:avLst/>
          </a:prstGeom>
          <a:solidFill>
            <a:srgbClr val="0E1F5B">
              <a:alpha val="12000"/>
            </a:srgbClr>
          </a:solidFill>
          <a:ln/>
        </p:spPr>
      </p:sp>
      <p:sp>
        <p:nvSpPr>
          <p:cNvPr id="10" name="Numero 3"/>
          <p:cNvSpPr txBox="1"/>
          <p:nvPr/>
        </p:nvSpPr>
        <p:spPr>
          <a:xfrm>
            <a:off x="952500" y="420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03</a:t>
            </a:r>
          </a:p>
        </p:txBody>
      </p:sp>
      <p:sp>
        <p:nvSpPr>
          <p:cNvPr id="11" name="Partie 3"/>
          <p:cNvSpPr txBox="1"/>
          <p:nvPr/>
        </p:nvSpPr>
        <p:spPr>
          <a:xfrm>
            <a:off x="1866900" y="418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Services publics de proximité</a:t>
            </a:r>
          </a:p>
        </p:txBody>
      </p:sp>
      <p:sp>
        <p:nvSpPr>
          <p:cNvPr id="12" name="Separateur 3"/>
          <p:cNvSpPr/>
          <p:nvPr/>
        </p:nvSpPr>
        <p:spPr>
          <a:xfrm>
            <a:off x="952500" y="4810000"/>
            <a:ext cx="14287501" cy="10160"/>
          </a:xfrm>
          <a:prstGeom prst="rect">
            <a:avLst/>
          </a:prstGeom>
          <a:solidFill>
            <a:srgbClr val="0E1F5B">
              <a:alpha val="12000"/>
            </a:srgbClr>
          </a:solidFill>
          <a:ln/>
        </p:spPr>
      </p:sp>
      <p:sp>
        <p:nvSpPr>
          <p:cNvPr id="13" name="Numero 4"/>
          <p:cNvSpPr txBox="1"/>
          <p:nvPr/>
        </p:nvSpPr>
        <p:spPr>
          <a:xfrm>
            <a:off x="952500" y="499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04</a:t>
            </a:r>
          </a:p>
        </p:txBody>
      </p:sp>
      <p:sp>
        <p:nvSpPr>
          <p:cNvPr id="14" name="Partie 4"/>
          <p:cNvSpPr txBox="1"/>
          <p:nvPr/>
        </p:nvSpPr>
        <p:spPr>
          <a:xfrm>
            <a:off x="1866900" y="497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Équipements et cadre de vie</a:t>
            </a:r>
          </a:p>
        </p:txBody>
      </p:sp>
      <p:sp>
        <p:nvSpPr>
          <p:cNvPr id="15" name="Separateur 4"/>
          <p:cNvSpPr/>
          <p:nvPr/>
        </p:nvSpPr>
        <p:spPr>
          <a:xfrm>
            <a:off x="952500" y="5600000"/>
            <a:ext cx="14287501" cy="10160"/>
          </a:xfrm>
          <a:prstGeom prst="rect">
            <a:avLst/>
          </a:prstGeom>
          <a:solidFill>
            <a:srgbClr val="0E1F5B">
              <a:alpha val="12000"/>
            </a:srgbClr>
          </a:solidFill>
          <a:ln/>
        </p:spPr>
      </p:sp>
      <p:sp>
        <p:nvSpPr>
          <p:cNvPr id="16" name="Numero 5"/>
          <p:cNvSpPr txBox="1"/>
          <p:nvPr/>
        </p:nvSpPr>
        <p:spPr>
          <a:xfrm>
            <a:off x="952500" y="5780320"/>
            <a:ext cx="685800" cy="495300"/>
          </a:xfrm>
          <a:prstGeom prst="rect">
            <a:avLst/>
          </a:prstGeom>
          <a:noFill/>
          <a:ln/>
        </p:spPr>
        <p:txBody>
          <a:bodyPr wrap="square" lIns="25400" tIns="25400" rIns="25400" bIns="25400" rtlCol="0" anchor="t">
            <a:noAutofit/>
          </a:bodyPr>
          <a:lstStyle/>
          <a:p>
            <a:pPr marL="0" indent="0" algn="l">
              <a:buNone/>
            </a:pPr>
            <a:r>
              <a:rPr lang="fr-FR" sz="2550" b="1" dirty="0">
                <a:solidFill>
                  <a:srgbClr val="72C493"/>
                </a:solidFill>
                <a:latin typeface="Arial" pitchFamily="34" charset="0"/>
                <a:ea typeface="Arial" pitchFamily="34" charset="-122"/>
                <a:cs typeface="Arial" pitchFamily="34" charset="-120"/>
              </a:rPr>
              <a:t>05</a:t>
            </a:r>
          </a:p>
        </p:txBody>
      </p:sp>
      <p:sp>
        <p:nvSpPr>
          <p:cNvPr id="17" name="Partie 5"/>
          <p:cNvSpPr txBox="1"/>
          <p:nvPr/>
        </p:nvSpPr>
        <p:spPr>
          <a:xfrm>
            <a:off x="1866900" y="5760000"/>
            <a:ext cx="13373100" cy="515620"/>
          </a:xfrm>
          <a:prstGeom prst="rect">
            <a:avLst/>
          </a:prstGeom>
          <a:noFill/>
          <a:ln/>
        </p:spPr>
        <p:txBody>
          <a:bodyPr wrap="square" lIns="25400" tIns="25400" rIns="25400" bIns="25400" rtlCol="0" anchor="t">
            <a:noAutofit/>
          </a:bodyPr>
          <a:lstStyle/>
          <a:p>
            <a:pPr marL="0" indent="0" algn="l">
              <a:buNone/>
            </a:pPr>
            <a:r>
              <a:rPr lang="fr-FR" sz="3300" b="1" dirty="0">
                <a:solidFill>
                  <a:srgbClr val="0E1F5B"/>
                </a:solidFill>
                <a:latin typeface="Arial" pitchFamily="34" charset="0"/>
                <a:ea typeface="Arial" pitchFamily="34" charset="-122"/>
                <a:cs typeface="Arial" pitchFamily="34" charset="-120"/>
              </a:rPr>
              <a:t>Santé et accueil des seniors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Un déménagement organisé par la Ville</a:t>
            </a:r>
          </a:p>
        </p:txBody>
      </p:sp>
      <p:sp>
        <p:nvSpPr>
          <p:cNvPr id="15" name="Rectangle 14"/>
          <p:cNvSpPr/>
          <p:nvPr/>
        </p:nvSpPr>
        <p:spPr>
          <a:xfrm>
            <a:off x="950976" y="7726679"/>
            <a:ext cx="16367759" cy="1417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71600" y="7726679"/>
            <a:ext cx="15544800" cy="1417320"/>
          </a:xfrm>
          <a:prstGeom prst="rect">
            <a:avLst/>
          </a:prstGeom>
          <a:noFill/>
        </p:spPr>
        <p:txBody>
          <a:bodyPr wrap="square" lIns="0" tIns="0" rIns="0" bIns="0" anchor="ctr">
            <a:spAutoFit/>
          </a:bodyPr>
          <a:lstStyle/>
          <a:p>
            <a:pPr algn="l"/>
            <a:r>
              <a:rPr sz="2600" b="1">
                <a:solidFill>
                  <a:srgbClr val="0E1F5B"/>
                </a:solidFill>
                <a:latin typeface="Arial"/>
              </a:rPr>
              <a:t>Un déménagement entièrement pris en charge par un prestataire de la Ville : mise en carton, transport et réinstallation</a:t>
            </a:r>
          </a:p>
        </p:txBody>
      </p:sp>
      <p:cxnSp>
        <p:nvCxnSpPr>
          <p:cNvPr id="17" name="Connector 16"/>
          <p:cNvCxnSpPr/>
          <p:nvPr/>
        </p:nvCxnSpPr>
        <p:spPr>
          <a:xfrm>
            <a:off x="2996946" y="3749039"/>
            <a:ext cx="12275819"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67690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19" name="TextBox 18"/>
          <p:cNvSpPr txBox="1"/>
          <p:nvPr/>
        </p:nvSpPr>
        <p:spPr>
          <a:xfrm>
            <a:off x="117957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2024</a:t>
            </a:r>
          </a:p>
        </p:txBody>
      </p:sp>
      <p:sp>
        <p:nvSpPr>
          <p:cNvPr id="20" name="TextBox 19"/>
          <p:cNvSpPr txBox="1"/>
          <p:nvPr/>
        </p:nvSpPr>
        <p:spPr>
          <a:xfrm>
            <a:off x="117957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Projet validé par l'ancienne municipalité</a:t>
            </a:r>
          </a:p>
        </p:txBody>
      </p:sp>
      <p:sp>
        <p:nvSpPr>
          <p:cNvPr id="21" name="Oval 20"/>
          <p:cNvSpPr/>
          <p:nvPr/>
        </p:nvSpPr>
        <p:spPr>
          <a:xfrm>
            <a:off x="676884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22" name="TextBox 21"/>
          <p:cNvSpPr txBox="1"/>
          <p:nvPr/>
        </p:nvSpPr>
        <p:spPr>
          <a:xfrm>
            <a:off x="527151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1er juillet 2026</a:t>
            </a:r>
          </a:p>
        </p:txBody>
      </p:sp>
      <p:sp>
        <p:nvSpPr>
          <p:cNvPr id="23" name="TextBox 22"/>
          <p:cNvSpPr txBox="1"/>
          <p:nvPr/>
        </p:nvSpPr>
        <p:spPr>
          <a:xfrm>
            <a:off x="527151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de restauration</a:t>
            </a:r>
          </a:p>
        </p:txBody>
      </p:sp>
      <p:sp>
        <p:nvSpPr>
          <p:cNvPr id="24" name="Oval 23"/>
          <p:cNvSpPr/>
          <p:nvPr/>
        </p:nvSpPr>
        <p:spPr>
          <a:xfrm>
            <a:off x="1086078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25" name="TextBox 24"/>
          <p:cNvSpPr txBox="1"/>
          <p:nvPr/>
        </p:nvSpPr>
        <p:spPr>
          <a:xfrm>
            <a:off x="9363455"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6 juillet 2026</a:t>
            </a:r>
          </a:p>
        </p:txBody>
      </p:sp>
      <p:sp>
        <p:nvSpPr>
          <p:cNvPr id="26" name="TextBox 25"/>
          <p:cNvSpPr txBox="1"/>
          <p:nvPr/>
        </p:nvSpPr>
        <p:spPr>
          <a:xfrm>
            <a:off x="9363455"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Déménagement du matériel scolaire, après la fin de l'année</a:t>
            </a:r>
          </a:p>
        </p:txBody>
      </p:sp>
      <p:sp>
        <p:nvSpPr>
          <p:cNvPr id="27" name="Oval 26"/>
          <p:cNvSpPr/>
          <p:nvPr/>
        </p:nvSpPr>
        <p:spPr>
          <a:xfrm>
            <a:off x="1495272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4</a:t>
            </a:r>
          </a:p>
        </p:txBody>
      </p:sp>
      <p:sp>
        <p:nvSpPr>
          <p:cNvPr id="28" name="TextBox 27"/>
          <p:cNvSpPr txBox="1"/>
          <p:nvPr/>
        </p:nvSpPr>
        <p:spPr>
          <a:xfrm>
            <a:off x="13455396" y="4343400"/>
            <a:ext cx="3634739" cy="548640"/>
          </a:xfrm>
          <a:prstGeom prst="rect">
            <a:avLst/>
          </a:prstGeom>
          <a:noFill/>
        </p:spPr>
        <p:txBody>
          <a:bodyPr wrap="square" anchor="t" lIns="0" rIns="0" tIns="0" bIns="0">
            <a:spAutoFit/>
          </a:bodyPr>
          <a:lstStyle/>
          <a:p>
            <a:pPr algn="ctr"/>
            <a:r>
              <a:rPr sz="3000" b="1">
                <a:solidFill>
                  <a:srgbClr val="72C493"/>
                </a:solidFill>
                <a:latin typeface="Arial"/>
              </a:rPr>
              <a:t>20 juillet 2026</a:t>
            </a:r>
          </a:p>
        </p:txBody>
      </p:sp>
      <p:sp>
        <p:nvSpPr>
          <p:cNvPr id="29" name="TextBox 28"/>
          <p:cNvSpPr txBox="1"/>
          <p:nvPr/>
        </p:nvSpPr>
        <p:spPr>
          <a:xfrm>
            <a:off x="13455396" y="5029200"/>
            <a:ext cx="3634739" cy="1828800"/>
          </a:xfrm>
          <a:prstGeom prst="rect">
            <a:avLst/>
          </a:prstGeom>
          <a:noFill/>
        </p:spPr>
        <p:txBody>
          <a:bodyPr wrap="square" anchor="t" lIns="0" rIns="0" tIns="0" bIns="0">
            <a:spAutoFit/>
          </a:bodyPr>
          <a:lstStyle/>
          <a:p>
            <a:pPr algn="ctr"/>
            <a:r>
              <a:rPr sz="2400" b="0">
                <a:solidFill>
                  <a:srgbClr val="FAF5EC"/>
                </a:solidFill>
                <a:latin typeface="Arial"/>
              </a:rPr>
              <a:t>Installation à l'école des Gobelins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L'école des Gobelins, prête pour les élèves</a:t>
            </a:r>
          </a:p>
        </p:txBody>
      </p:sp>
      <p:sp>
        <p:nvSpPr>
          <p:cNvPr id="5" name="Rectangle 4"/>
          <p:cNvSpPr/>
          <p:nvPr/>
        </p:nvSpPr>
        <p:spPr>
          <a:xfrm>
            <a:off x="950976" y="2286000"/>
            <a:ext cx="5486400" cy="329184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560320"/>
            <a:ext cx="4846320" cy="1280160"/>
          </a:xfrm>
          <a:prstGeom prst="rect">
            <a:avLst/>
          </a:prstGeom>
          <a:noFill/>
        </p:spPr>
        <p:txBody>
          <a:bodyPr wrap="square" lIns="0" tIns="0" rIns="0" bIns="0" anchor="t">
            <a:spAutoFit/>
          </a:bodyPr>
          <a:lstStyle/>
          <a:p>
            <a:pPr algn="l"/>
            <a:r>
              <a:rPr sz="8000" b="1">
                <a:solidFill>
                  <a:srgbClr val="72C493"/>
                </a:solidFill>
                <a:latin typeface="Arial"/>
              </a:rPr>
              <a:t>1,3 M€</a:t>
            </a:r>
          </a:p>
        </p:txBody>
      </p:sp>
      <p:sp>
        <p:nvSpPr>
          <p:cNvPr id="7" name="TextBox 6"/>
          <p:cNvSpPr txBox="1"/>
          <p:nvPr/>
        </p:nvSpPr>
        <p:spPr>
          <a:xfrm>
            <a:off x="1325880" y="3886200"/>
            <a:ext cx="4846320" cy="1463040"/>
          </a:xfrm>
          <a:prstGeom prst="rect">
            <a:avLst/>
          </a:prstGeom>
          <a:noFill/>
        </p:spPr>
        <p:txBody>
          <a:bodyPr wrap="square" lIns="0" tIns="0" rIns="0" bIns="0" anchor="t">
            <a:spAutoFit/>
          </a:bodyPr>
          <a:lstStyle/>
          <a:p>
            <a:pPr algn="l"/>
            <a:r>
              <a:rPr sz="2200" b="1">
                <a:solidFill>
                  <a:srgbClr val="FFFFFF"/>
                </a:solidFill>
                <a:latin typeface="Arial"/>
              </a:rPr>
              <a:t>investis cette année pour accueillir l'école des Richardets</a:t>
            </a:r>
          </a:p>
        </p:txBody>
      </p:sp>
      <p:pic>
        <p:nvPicPr>
          <p:cNvPr id="8" name="Picture 7" descr="Ecole_02_ecole_des_Gobelins.jpg"/>
          <p:cNvPicPr>
            <a:picLocks noChangeAspect="1"/>
          </p:cNvPicPr>
          <p:nvPr/>
        </p:nvPicPr>
        <p:blipFill>
          <a:blip r:embed="rId4"/>
          <a:stretch>
            <a:fillRect/>
          </a:stretch>
        </p:blipFill>
        <p:spPr>
          <a:xfrm>
            <a:off x="950976" y="5937904"/>
            <a:ext cx="5486400" cy="3303230"/>
          </a:xfrm>
          <a:prstGeom prst="rect">
            <a:avLst/>
          </a:prstGeom>
        </p:spPr>
      </p:pic>
      <p:sp>
        <p:nvSpPr>
          <p:cNvPr id="9" name="TextBox 8"/>
          <p:cNvSpPr txBox="1"/>
          <p:nvPr/>
        </p:nvSpPr>
        <p:spPr>
          <a:xfrm>
            <a:off x="6949440" y="2286000"/>
            <a:ext cx="10332720" cy="411480"/>
          </a:xfrm>
          <a:prstGeom prst="rect">
            <a:avLst/>
          </a:prstGeom>
          <a:noFill/>
        </p:spPr>
        <p:txBody>
          <a:bodyPr wrap="square" lIns="0" tIns="0" rIns="0" bIns="0" anchor="t">
            <a:spAutoFit/>
          </a:bodyPr>
          <a:lstStyle/>
          <a:p>
            <a:pPr algn="l"/>
            <a:r>
              <a:rPr sz="2000" b="1" spc="150">
                <a:solidFill>
                  <a:srgbClr val="72C493"/>
                </a:solidFill>
                <a:latin typeface="Arial"/>
              </a:rPr>
              <a:t>LES PRINCIPALES OPÉRATIONS D'ADAPTATION</a:t>
            </a:r>
          </a:p>
        </p:txBody>
      </p:sp>
      <p:sp>
        <p:nvSpPr>
          <p:cNvPr id="10" name="Rectangle 9"/>
          <p:cNvSpPr/>
          <p:nvPr/>
        </p:nvSpPr>
        <p:spPr>
          <a:xfrm>
            <a:off x="6949440" y="2880360"/>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178040" y="3127248"/>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78040" y="3127248"/>
            <a:ext cx="603504" cy="603504"/>
          </a:xfrm>
          <a:prstGeom prst="rect">
            <a:avLst/>
          </a:prstGeom>
          <a:noFill/>
        </p:spPr>
        <p:txBody>
          <a:bodyPr wrap="square" lIns="0" tIns="0" rIns="0" bIns="0" anchor="ctr">
            <a:spAutoFit/>
          </a:bodyPr>
          <a:lstStyle/>
          <a:p>
            <a:pPr algn="ctr"/>
            <a:r>
              <a:rPr sz="2200" b="1">
                <a:solidFill>
                  <a:srgbClr val="0E1F5B"/>
                </a:solidFill>
                <a:latin typeface="Arial"/>
              </a:rPr>
              <a:t>1</a:t>
            </a:r>
          </a:p>
        </p:txBody>
      </p:sp>
      <p:sp>
        <p:nvSpPr>
          <p:cNvPr id="13" name="TextBox 12"/>
          <p:cNvSpPr txBox="1"/>
          <p:nvPr/>
        </p:nvSpPr>
        <p:spPr>
          <a:xfrm>
            <a:off x="8092440" y="2880360"/>
            <a:ext cx="9052560" cy="1097280"/>
          </a:xfrm>
          <a:prstGeom prst="rect">
            <a:avLst/>
          </a:prstGeom>
          <a:noFill/>
        </p:spPr>
        <p:txBody>
          <a:bodyPr wrap="square" lIns="0" tIns="0" rIns="0" bIns="0" anchor="ctr">
            <a:spAutoFit/>
          </a:bodyPr>
          <a:lstStyle/>
          <a:p>
            <a:pPr algn="l"/>
            <a:r>
              <a:rPr sz="2600" b="1">
                <a:solidFill>
                  <a:srgbClr val="FFFFFF"/>
                </a:solidFill>
                <a:latin typeface="Arial"/>
              </a:rPr>
              <a:t>Création de sanitaires</a:t>
            </a:r>
          </a:p>
        </p:txBody>
      </p:sp>
      <p:sp>
        <p:nvSpPr>
          <p:cNvPr id="14" name="Rectangle 13"/>
          <p:cNvSpPr/>
          <p:nvPr/>
        </p:nvSpPr>
        <p:spPr>
          <a:xfrm>
            <a:off x="6949440" y="4178808"/>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178040" y="4425696"/>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78040" y="4425696"/>
            <a:ext cx="603504" cy="603504"/>
          </a:xfrm>
          <a:prstGeom prst="rect">
            <a:avLst/>
          </a:prstGeom>
          <a:noFill/>
        </p:spPr>
        <p:txBody>
          <a:bodyPr wrap="square" lIns="0" tIns="0" rIns="0" bIns="0" anchor="ctr">
            <a:spAutoFit/>
          </a:bodyPr>
          <a:lstStyle/>
          <a:p>
            <a:pPr algn="ctr"/>
            <a:r>
              <a:rPr sz="2200" b="1">
                <a:solidFill>
                  <a:srgbClr val="0E1F5B"/>
                </a:solidFill>
                <a:latin typeface="Arial"/>
              </a:rPr>
              <a:t>2</a:t>
            </a:r>
          </a:p>
        </p:txBody>
      </p:sp>
      <p:sp>
        <p:nvSpPr>
          <p:cNvPr id="17" name="TextBox 16"/>
          <p:cNvSpPr txBox="1"/>
          <p:nvPr/>
        </p:nvSpPr>
        <p:spPr>
          <a:xfrm>
            <a:off x="8092440" y="4178808"/>
            <a:ext cx="9052560" cy="1097280"/>
          </a:xfrm>
          <a:prstGeom prst="rect">
            <a:avLst/>
          </a:prstGeom>
          <a:noFill/>
        </p:spPr>
        <p:txBody>
          <a:bodyPr wrap="square" lIns="0" tIns="0" rIns="0" bIns="0" anchor="ctr">
            <a:spAutoFit/>
          </a:bodyPr>
          <a:lstStyle/>
          <a:p>
            <a:pPr algn="l"/>
            <a:r>
              <a:rPr sz="2600" b="1">
                <a:solidFill>
                  <a:srgbClr val="FFFFFF"/>
                </a:solidFill>
                <a:latin typeface="Arial"/>
              </a:rPr>
              <a:t>Réfection des sols et des peintures</a:t>
            </a:r>
          </a:p>
        </p:txBody>
      </p:sp>
      <p:sp>
        <p:nvSpPr>
          <p:cNvPr id="18" name="Rectangle 17"/>
          <p:cNvSpPr/>
          <p:nvPr/>
        </p:nvSpPr>
        <p:spPr>
          <a:xfrm>
            <a:off x="6949440" y="5477256"/>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178040" y="5724144"/>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78040" y="5724144"/>
            <a:ext cx="603504" cy="603504"/>
          </a:xfrm>
          <a:prstGeom prst="rect">
            <a:avLst/>
          </a:prstGeom>
          <a:noFill/>
        </p:spPr>
        <p:txBody>
          <a:bodyPr wrap="square" lIns="0" tIns="0" rIns="0" bIns="0" anchor="ctr">
            <a:spAutoFit/>
          </a:bodyPr>
          <a:lstStyle/>
          <a:p>
            <a:pPr algn="ctr"/>
            <a:r>
              <a:rPr sz="2200" b="1">
                <a:solidFill>
                  <a:srgbClr val="0E1F5B"/>
                </a:solidFill>
                <a:latin typeface="Arial"/>
              </a:rPr>
              <a:t>3</a:t>
            </a:r>
          </a:p>
        </p:txBody>
      </p:sp>
      <p:sp>
        <p:nvSpPr>
          <p:cNvPr id="21" name="TextBox 20"/>
          <p:cNvSpPr txBox="1"/>
          <p:nvPr/>
        </p:nvSpPr>
        <p:spPr>
          <a:xfrm>
            <a:off x="8092440" y="5477256"/>
            <a:ext cx="9052560" cy="1097280"/>
          </a:xfrm>
          <a:prstGeom prst="rect">
            <a:avLst/>
          </a:prstGeom>
          <a:noFill/>
        </p:spPr>
        <p:txBody>
          <a:bodyPr wrap="square" lIns="0" tIns="0" rIns="0" bIns="0" anchor="ctr">
            <a:spAutoFit/>
          </a:bodyPr>
          <a:lstStyle/>
          <a:p>
            <a:pPr algn="l"/>
            <a:r>
              <a:rPr sz="2600" b="1">
                <a:solidFill>
                  <a:srgbClr val="FFFFFF"/>
                </a:solidFill>
                <a:latin typeface="Arial"/>
              </a:rPr>
              <a:t>Travaux électriques</a:t>
            </a:r>
          </a:p>
        </p:txBody>
      </p:sp>
      <p:sp>
        <p:nvSpPr>
          <p:cNvPr id="22" name="Rectangle 21"/>
          <p:cNvSpPr/>
          <p:nvPr/>
        </p:nvSpPr>
        <p:spPr>
          <a:xfrm>
            <a:off x="6949440" y="6775704"/>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178040" y="7022592"/>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78040" y="7022592"/>
            <a:ext cx="603504" cy="603504"/>
          </a:xfrm>
          <a:prstGeom prst="rect">
            <a:avLst/>
          </a:prstGeom>
          <a:noFill/>
        </p:spPr>
        <p:txBody>
          <a:bodyPr wrap="square" lIns="0" tIns="0" rIns="0" bIns="0" anchor="ctr">
            <a:spAutoFit/>
          </a:bodyPr>
          <a:lstStyle/>
          <a:p>
            <a:pPr algn="ctr"/>
            <a:r>
              <a:rPr sz="2200" b="1">
                <a:solidFill>
                  <a:srgbClr val="0E1F5B"/>
                </a:solidFill>
                <a:latin typeface="Arial"/>
              </a:rPr>
              <a:t>4</a:t>
            </a:r>
          </a:p>
        </p:txBody>
      </p:sp>
      <p:sp>
        <p:nvSpPr>
          <p:cNvPr id="25" name="TextBox 24"/>
          <p:cNvSpPr txBox="1"/>
          <p:nvPr/>
        </p:nvSpPr>
        <p:spPr>
          <a:xfrm>
            <a:off x="8092440" y="6775704"/>
            <a:ext cx="9052560" cy="1097280"/>
          </a:xfrm>
          <a:prstGeom prst="rect">
            <a:avLst/>
          </a:prstGeom>
          <a:noFill/>
        </p:spPr>
        <p:txBody>
          <a:bodyPr wrap="square" lIns="0" tIns="0" rIns="0" bIns="0" anchor="ctr">
            <a:spAutoFit/>
          </a:bodyPr>
          <a:lstStyle/>
          <a:p>
            <a:pPr algn="l"/>
            <a:r>
              <a:rPr sz="2600" b="1">
                <a:solidFill>
                  <a:srgbClr val="FFFFFF"/>
                </a:solidFill>
                <a:latin typeface="Arial"/>
              </a:rPr>
              <a:t>Clôtures et portails</a:t>
            </a:r>
          </a:p>
        </p:txBody>
      </p:sp>
      <p:sp>
        <p:nvSpPr>
          <p:cNvPr id="26" name="Rectangle 25"/>
          <p:cNvSpPr/>
          <p:nvPr/>
        </p:nvSpPr>
        <p:spPr>
          <a:xfrm>
            <a:off x="6949440" y="8074152"/>
            <a:ext cx="10387584" cy="109728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178040" y="8321040"/>
            <a:ext cx="603504" cy="6035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78040" y="8321040"/>
            <a:ext cx="603504" cy="603504"/>
          </a:xfrm>
          <a:prstGeom prst="rect">
            <a:avLst/>
          </a:prstGeom>
          <a:noFill/>
        </p:spPr>
        <p:txBody>
          <a:bodyPr wrap="square" lIns="0" tIns="0" rIns="0" bIns="0" anchor="ctr">
            <a:spAutoFit/>
          </a:bodyPr>
          <a:lstStyle/>
          <a:p>
            <a:pPr algn="ctr"/>
            <a:r>
              <a:rPr sz="2200" b="1">
                <a:solidFill>
                  <a:srgbClr val="0E1F5B"/>
                </a:solidFill>
                <a:latin typeface="Arial"/>
              </a:rPr>
              <a:t>5</a:t>
            </a:r>
          </a:p>
        </p:txBody>
      </p:sp>
      <p:sp>
        <p:nvSpPr>
          <p:cNvPr id="29" name="TextBox 28"/>
          <p:cNvSpPr txBox="1"/>
          <p:nvPr/>
        </p:nvSpPr>
        <p:spPr>
          <a:xfrm>
            <a:off x="8092440" y="8074152"/>
            <a:ext cx="9052560" cy="1097280"/>
          </a:xfrm>
          <a:prstGeom prst="rect">
            <a:avLst/>
          </a:prstGeom>
          <a:noFill/>
        </p:spPr>
        <p:txBody>
          <a:bodyPr wrap="square" lIns="0" tIns="0" rIns="0" bIns="0" anchor="ctr">
            <a:spAutoFit/>
          </a:bodyPr>
          <a:lstStyle/>
          <a:p>
            <a:pPr algn="l"/>
            <a:r>
              <a:rPr sz="2600" b="1">
                <a:solidFill>
                  <a:srgbClr val="FFFFFF"/>
                </a:solidFill>
                <a:latin typeface="Arial"/>
              </a:rPr>
              <a:t>Rénovation de la cour et pose de pare-ballons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Le chantier de l'école</a:t>
            </a:r>
          </a:p>
        </p:txBody>
      </p:sp>
      <p:sp>
        <p:nvSpPr>
          <p:cNvPr id="5" name="Rectangle 4"/>
          <p:cNvSpPr/>
          <p:nvPr/>
        </p:nvSpPr>
        <p:spPr>
          <a:xfrm>
            <a:off x="950976" y="2331720"/>
            <a:ext cx="6675120" cy="374903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25880" y="2606040"/>
            <a:ext cx="6035040" cy="457200"/>
          </a:xfrm>
          <a:prstGeom prst="rect">
            <a:avLst/>
          </a:prstGeom>
          <a:noFill/>
        </p:spPr>
        <p:txBody>
          <a:bodyPr wrap="square" lIns="0" tIns="0" rIns="0" bIns="0" anchor="t">
            <a:spAutoFit/>
          </a:bodyPr>
          <a:lstStyle/>
          <a:p>
            <a:pPr algn="l"/>
            <a:r>
              <a:rPr sz="2000" b="1" spc="150">
                <a:solidFill>
                  <a:srgbClr val="72C493"/>
                </a:solidFill>
                <a:latin typeface="Arial"/>
              </a:rPr>
              <a:t>RÉOUVERTURE PRÉVUE EN</a:t>
            </a:r>
          </a:p>
        </p:txBody>
      </p:sp>
      <p:sp>
        <p:nvSpPr>
          <p:cNvPr id="7" name="TextBox 6"/>
          <p:cNvSpPr txBox="1"/>
          <p:nvPr/>
        </p:nvSpPr>
        <p:spPr>
          <a:xfrm>
            <a:off x="1325880" y="3063240"/>
            <a:ext cx="6035040" cy="1097280"/>
          </a:xfrm>
          <a:prstGeom prst="rect">
            <a:avLst/>
          </a:prstGeom>
          <a:noFill/>
        </p:spPr>
        <p:txBody>
          <a:bodyPr wrap="square" lIns="0" tIns="0" rIns="0" bIns="0" anchor="t">
            <a:spAutoFit/>
          </a:bodyPr>
          <a:lstStyle/>
          <a:p>
            <a:pPr algn="l"/>
            <a:r>
              <a:rPr sz="5600" b="1">
                <a:solidFill>
                  <a:srgbClr val="FFFFFF"/>
                </a:solidFill>
                <a:latin typeface="Arial"/>
              </a:rPr>
              <a:t>septembre 2028</a:t>
            </a:r>
          </a:p>
        </p:txBody>
      </p:sp>
      <p:sp>
        <p:nvSpPr>
          <p:cNvPr id="8" name="TextBox 7"/>
          <p:cNvSpPr txBox="1"/>
          <p:nvPr/>
        </p:nvSpPr>
        <p:spPr>
          <a:xfrm>
            <a:off x="1325880" y="4343400"/>
            <a:ext cx="6035040" cy="1463040"/>
          </a:xfrm>
          <a:prstGeom prst="rect">
            <a:avLst/>
          </a:prstGeom>
          <a:noFill/>
        </p:spPr>
        <p:txBody>
          <a:bodyPr wrap="square" lIns="0" tIns="0" rIns="0" bIns="0" anchor="t">
            <a:spAutoFit/>
          </a:bodyPr>
          <a:lstStyle/>
          <a:p>
            <a:pPr algn="l"/>
            <a:r>
              <a:rPr sz="2100" b="1">
                <a:solidFill>
                  <a:srgbClr val="FAF5EC"/>
                </a:solidFill>
                <a:latin typeface="Arial"/>
              </a:rPr>
              <a:t>Les élèves sont accueillis à l'école des Gobelins pendant toute la durée du chantier</a:t>
            </a:r>
          </a:p>
        </p:txBody>
      </p:sp>
      <p:sp>
        <p:nvSpPr>
          <p:cNvPr id="9" name="Rectangle 8"/>
          <p:cNvSpPr/>
          <p:nvPr/>
        </p:nvSpPr>
        <p:spPr>
          <a:xfrm>
            <a:off x="95097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7101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Sept. 2026</a:t>
            </a:r>
          </a:p>
        </p:txBody>
      </p:sp>
      <p:sp>
        <p:nvSpPr>
          <p:cNvPr id="11" name="TextBox 10"/>
          <p:cNvSpPr txBox="1"/>
          <p:nvPr/>
        </p:nvSpPr>
        <p:spPr>
          <a:xfrm>
            <a:off x="127101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démarrage des travaux</a:t>
            </a:r>
          </a:p>
        </p:txBody>
      </p:sp>
      <p:sp>
        <p:nvSpPr>
          <p:cNvPr id="12" name="Rectangle 11"/>
          <p:cNvSpPr/>
          <p:nvPr/>
        </p:nvSpPr>
        <p:spPr>
          <a:xfrm>
            <a:off x="4425696" y="6355080"/>
            <a:ext cx="3200400" cy="30175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45736" y="6611112"/>
            <a:ext cx="2651760" cy="914400"/>
          </a:xfrm>
          <a:prstGeom prst="rect">
            <a:avLst/>
          </a:prstGeom>
          <a:noFill/>
        </p:spPr>
        <p:txBody>
          <a:bodyPr wrap="square" lIns="0" tIns="0" rIns="0" bIns="0" anchor="t">
            <a:spAutoFit/>
          </a:bodyPr>
          <a:lstStyle/>
          <a:p>
            <a:pPr algn="l"/>
            <a:r>
              <a:rPr sz="3400" b="1">
                <a:solidFill>
                  <a:srgbClr val="72C493"/>
                </a:solidFill>
                <a:latin typeface="Arial"/>
              </a:rPr>
              <a:t>20 mois</a:t>
            </a:r>
          </a:p>
        </p:txBody>
      </p:sp>
      <p:sp>
        <p:nvSpPr>
          <p:cNvPr id="14" name="TextBox 13"/>
          <p:cNvSpPr txBox="1"/>
          <p:nvPr/>
        </p:nvSpPr>
        <p:spPr>
          <a:xfrm>
            <a:off x="4745736" y="7150862"/>
            <a:ext cx="2651760" cy="1737360"/>
          </a:xfrm>
          <a:prstGeom prst="rect">
            <a:avLst/>
          </a:prstGeom>
          <a:noFill/>
        </p:spPr>
        <p:txBody>
          <a:bodyPr wrap="square" lIns="0" tIns="0" rIns="0" bIns="0" anchor="t">
            <a:spAutoFit/>
          </a:bodyPr>
          <a:lstStyle/>
          <a:p>
            <a:pPr algn="l"/>
            <a:r>
              <a:rPr sz="2400" b="1">
                <a:solidFill>
                  <a:srgbClr val="FAF5EC"/>
                </a:solidFill>
                <a:latin typeface="Arial"/>
              </a:rPr>
              <a:t>de travaux, pour une école agrandie et rénovée</a:t>
            </a:r>
          </a:p>
        </p:txBody>
      </p:sp>
      <p:pic>
        <p:nvPicPr>
          <p:cNvPr id="15" name="Picture 14" descr="Ecole_01_perspective_ecole_Richardets.jpg"/>
          <p:cNvPicPr>
            <a:picLocks noChangeAspect="1"/>
          </p:cNvPicPr>
          <p:nvPr/>
        </p:nvPicPr>
        <p:blipFill>
          <a:blip r:embed="rId4"/>
          <a:stretch>
            <a:fillRect/>
          </a:stretch>
        </p:blipFill>
        <p:spPr>
          <a:xfrm>
            <a:off x="8001000" y="2685592"/>
            <a:ext cx="9336024" cy="5601614"/>
          </a:xfrm>
          <a:prstGeom prst="rect">
            <a:avLst/>
          </a:prstGeom>
        </p:spPr>
      </p:pic>
      <p:sp>
        <p:nvSpPr>
          <p:cNvPr id="16" name="Rectangle 15"/>
          <p:cNvSpPr/>
          <p:nvPr/>
        </p:nvSpPr>
        <p:spPr>
          <a:xfrm>
            <a:off x="8001000" y="8287206"/>
            <a:ext cx="9336024"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79" y="8392695"/>
            <a:ext cx="8970264" cy="246221"/>
          </a:xfrm>
          <a:prstGeom prst="rect">
            <a:avLst/>
          </a:prstGeom>
          <a:noFill/>
        </p:spPr>
        <p:txBody>
          <a:bodyPr wrap="square" lIns="0" tIns="0" rIns="0" bIns="0" anchor="ctr">
            <a:spAutoFit/>
          </a:bodyPr>
          <a:lstStyle/>
          <a:p>
            <a:pPr algn="l"/>
            <a:r>
              <a:rPr sz="1600" b="1" spc="100" dirty="0">
                <a:solidFill>
                  <a:srgbClr val="0E1F5B"/>
                </a:solidFill>
                <a:latin typeface="Arial"/>
              </a:rPr>
              <a:t>LA FUTURE ÉCOLE DES RICHARDETS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L'ÉCOLE DES RICHARDETS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Une école agrandie et rénovée</a:t>
            </a:r>
          </a:p>
        </p:txBody>
      </p:sp>
      <p:sp>
        <p:nvSpPr>
          <p:cNvPr id="5" name="Rectangle 4"/>
          <p:cNvSpPr/>
          <p:nvPr/>
        </p:nvSpPr>
        <p:spPr>
          <a:xfrm>
            <a:off x="950976"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16736" y="2514600"/>
            <a:ext cx="4544568" cy="457200"/>
          </a:xfrm>
          <a:prstGeom prst="rect">
            <a:avLst/>
          </a:prstGeom>
          <a:noFill/>
        </p:spPr>
        <p:txBody>
          <a:bodyPr wrap="square" anchor="t" lIns="0" rIns="0" tIns="0" bIns="0">
            <a:spAutoFit/>
          </a:bodyPr>
          <a:lstStyle/>
          <a:p>
            <a:pPr algn="l"/>
            <a:r>
              <a:rPr sz="2600" b="1">
                <a:solidFill>
                  <a:srgbClr val="72C493"/>
                </a:solidFill>
                <a:latin typeface="Arial"/>
              </a:rPr>
              <a:t>Accueillir plus d'élèves</a:t>
            </a:r>
          </a:p>
        </p:txBody>
      </p:sp>
      <p:sp>
        <p:nvSpPr>
          <p:cNvPr id="7" name="TextBox 6"/>
          <p:cNvSpPr txBox="1"/>
          <p:nvPr/>
        </p:nvSpPr>
        <p:spPr>
          <a:xfrm>
            <a:off x="1316736" y="3108960"/>
            <a:ext cx="4544568" cy="1188720"/>
          </a:xfrm>
          <a:prstGeom prst="rect">
            <a:avLst/>
          </a:prstGeom>
          <a:noFill/>
        </p:spPr>
        <p:txBody>
          <a:bodyPr wrap="square" anchor="t" lIns="0" rIns="0" tIns="0" bIns="0">
            <a:spAutoFit/>
          </a:bodyPr>
          <a:lstStyle/>
          <a:p>
            <a:pPr algn="l"/>
            <a:r>
              <a:rPr sz="1800" b="1">
                <a:solidFill>
                  <a:srgbClr val="FAF5EC"/>
                </a:solidFill>
                <a:latin typeface="Arial"/>
              </a:rPr>
              <a:t>en prévision de la forte hausse démographique du sud de la Ville</a:t>
            </a:r>
          </a:p>
        </p:txBody>
      </p:sp>
      <p:sp>
        <p:nvSpPr>
          <p:cNvPr id="8" name="Rectangle 7"/>
          <p:cNvSpPr/>
          <p:nvPr/>
        </p:nvSpPr>
        <p:spPr>
          <a:xfrm>
            <a:off x="6492240"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2514600"/>
            <a:ext cx="4544568" cy="457200"/>
          </a:xfrm>
          <a:prstGeom prst="rect">
            <a:avLst/>
          </a:prstGeom>
          <a:noFill/>
        </p:spPr>
        <p:txBody>
          <a:bodyPr wrap="square" anchor="t" lIns="0" rIns="0" tIns="0" bIns="0">
            <a:spAutoFit/>
          </a:bodyPr>
          <a:lstStyle/>
          <a:p>
            <a:pPr algn="l"/>
            <a:r>
              <a:rPr sz="2600" b="1">
                <a:solidFill>
                  <a:srgbClr val="72C493"/>
                </a:solidFill>
                <a:latin typeface="Arial"/>
              </a:rPr>
              <a:t>Adapter les espaces</a:t>
            </a:r>
          </a:p>
        </p:txBody>
      </p:sp>
      <p:sp>
        <p:nvSpPr>
          <p:cNvPr id="10" name="TextBox 9"/>
          <p:cNvSpPr txBox="1"/>
          <p:nvPr/>
        </p:nvSpPr>
        <p:spPr>
          <a:xfrm>
            <a:off x="6858000" y="3108960"/>
            <a:ext cx="4544568" cy="1188720"/>
          </a:xfrm>
          <a:prstGeom prst="rect">
            <a:avLst/>
          </a:prstGeom>
          <a:noFill/>
        </p:spPr>
        <p:txBody>
          <a:bodyPr wrap="square" anchor="t" lIns="0" rIns="0" tIns="0" bIns="0">
            <a:spAutoFit/>
          </a:bodyPr>
          <a:lstStyle/>
          <a:p>
            <a:pPr algn="l"/>
            <a:r>
              <a:rPr sz="1800" b="1">
                <a:solidFill>
                  <a:srgbClr val="FAF5EC"/>
                </a:solidFill>
                <a:latin typeface="Arial"/>
              </a:rPr>
              <a:t>aux besoins pédagogiques, pour le confort des enfants et de meilleures conditions d'enseignement</a:t>
            </a:r>
          </a:p>
        </p:txBody>
      </p:sp>
      <p:sp>
        <p:nvSpPr>
          <p:cNvPr id="11" name="Rectangle 10"/>
          <p:cNvSpPr/>
          <p:nvPr/>
        </p:nvSpPr>
        <p:spPr>
          <a:xfrm>
            <a:off x="12033504" y="2286000"/>
            <a:ext cx="5276088" cy="1874519"/>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99264" y="2514600"/>
            <a:ext cx="4544568" cy="457200"/>
          </a:xfrm>
          <a:prstGeom prst="rect">
            <a:avLst/>
          </a:prstGeom>
          <a:noFill/>
        </p:spPr>
        <p:txBody>
          <a:bodyPr wrap="square" anchor="t" lIns="0" rIns="0" tIns="0" bIns="0">
            <a:spAutoFit/>
          </a:bodyPr>
          <a:lstStyle/>
          <a:p>
            <a:pPr algn="l"/>
            <a:r>
              <a:rPr sz="2600" b="1">
                <a:solidFill>
                  <a:srgbClr val="72C493"/>
                </a:solidFill>
                <a:latin typeface="Arial"/>
              </a:rPr>
              <a:t>Mettre aux normes</a:t>
            </a:r>
          </a:p>
        </p:txBody>
      </p:sp>
      <p:sp>
        <p:nvSpPr>
          <p:cNvPr id="13" name="TextBox 12"/>
          <p:cNvSpPr txBox="1"/>
          <p:nvPr/>
        </p:nvSpPr>
        <p:spPr>
          <a:xfrm>
            <a:off x="12399264" y="3108960"/>
            <a:ext cx="4544568" cy="1188720"/>
          </a:xfrm>
          <a:prstGeom prst="rect">
            <a:avLst/>
          </a:prstGeom>
          <a:noFill/>
        </p:spPr>
        <p:txBody>
          <a:bodyPr wrap="square" anchor="t" lIns="0" rIns="0" tIns="0" bIns="0">
            <a:spAutoFit/>
          </a:bodyPr>
          <a:lstStyle/>
          <a:p>
            <a:pPr algn="l"/>
            <a:r>
              <a:rPr sz="1800" b="1">
                <a:solidFill>
                  <a:srgbClr val="FAF5EC"/>
                </a:solidFill>
                <a:latin typeface="Arial"/>
              </a:rPr>
              <a:t>l'ensemble du groupe scolaire, notamment pour l'accueil des personnes à mobilité réduite</a:t>
            </a:r>
          </a:p>
        </p:txBody>
      </p:sp>
      <p:sp>
        <p:nvSpPr>
          <p:cNvPr id="14" name="TextBox 13"/>
          <p:cNvSpPr txBox="1"/>
          <p:nvPr/>
        </p:nvSpPr>
        <p:spPr>
          <a:xfrm>
            <a:off x="950976" y="4526280"/>
            <a:ext cx="9418320" cy="365760"/>
          </a:xfrm>
          <a:prstGeom prst="rect">
            <a:avLst/>
          </a:prstGeom>
          <a:noFill/>
        </p:spPr>
        <p:txBody>
          <a:bodyPr wrap="square" anchor="t" lIns="0" rIns="0" tIns="0" bIns="0">
            <a:spAutoFit/>
          </a:bodyPr>
          <a:lstStyle/>
          <a:p>
            <a:pPr algn="l"/>
            <a:r>
              <a:rPr sz="1800" b="1" spc="150">
                <a:solidFill>
                  <a:srgbClr val="72C493"/>
                </a:solidFill>
                <a:latin typeface="Arial"/>
              </a:rPr>
              <a:t>RÉNOVATION DE L'EXISTANT</a:t>
            </a:r>
          </a:p>
        </p:txBody>
      </p:sp>
      <p:cxnSp>
        <p:nvCxnSpPr>
          <p:cNvPr id="15" name="Connector 14"/>
          <p:cNvCxnSpPr/>
          <p:nvPr/>
        </p:nvCxnSpPr>
        <p:spPr>
          <a:xfrm>
            <a:off x="950976" y="4965192"/>
            <a:ext cx="941832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69264" y="5221224"/>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8448" y="5148072"/>
            <a:ext cx="9052560" cy="640080"/>
          </a:xfrm>
          <a:prstGeom prst="rect">
            <a:avLst/>
          </a:prstGeom>
          <a:noFill/>
        </p:spPr>
        <p:txBody>
          <a:bodyPr wrap="square" anchor="t" lIns="0" rIns="0" tIns="0" bIns="0">
            <a:spAutoFit/>
          </a:bodyPr>
          <a:lstStyle/>
          <a:p>
            <a:pPr algn="l"/>
            <a:r>
              <a:rPr sz="1700" b="1">
                <a:solidFill>
                  <a:srgbClr val="0E1F5B"/>
                </a:solidFill>
                <a:latin typeface="Arial"/>
              </a:rPr>
              <a:t>Réfection des logements de fonction pour y créer des salles supplémentaires</a:t>
            </a:r>
          </a:p>
        </p:txBody>
      </p:sp>
      <p:sp>
        <p:nvSpPr>
          <p:cNvPr id="18" name="Oval 17"/>
          <p:cNvSpPr/>
          <p:nvPr/>
        </p:nvSpPr>
        <p:spPr>
          <a:xfrm>
            <a:off x="969264" y="5650992"/>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98448" y="5577840"/>
            <a:ext cx="9052560" cy="640080"/>
          </a:xfrm>
          <a:prstGeom prst="rect">
            <a:avLst/>
          </a:prstGeom>
          <a:noFill/>
        </p:spPr>
        <p:txBody>
          <a:bodyPr wrap="square" anchor="t" lIns="0" rIns="0" tIns="0" bIns="0">
            <a:spAutoFit/>
          </a:bodyPr>
          <a:lstStyle/>
          <a:p>
            <a:pPr algn="l"/>
            <a:r>
              <a:rPr sz="1700" b="1">
                <a:solidFill>
                  <a:srgbClr val="0E1F5B"/>
                </a:solidFill>
                <a:latin typeface="Arial"/>
              </a:rPr>
              <a:t>Remaniement et agrandissement du pôle restauration</a:t>
            </a:r>
          </a:p>
        </p:txBody>
      </p:sp>
      <p:sp>
        <p:nvSpPr>
          <p:cNvPr id="20" name="Oval 19"/>
          <p:cNvSpPr/>
          <p:nvPr/>
        </p:nvSpPr>
        <p:spPr>
          <a:xfrm>
            <a:off x="969264" y="6080759"/>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98448" y="6007607"/>
            <a:ext cx="9052560" cy="640080"/>
          </a:xfrm>
          <a:prstGeom prst="rect">
            <a:avLst/>
          </a:prstGeom>
          <a:noFill/>
        </p:spPr>
        <p:txBody>
          <a:bodyPr wrap="square" anchor="t" lIns="0" rIns="0" tIns="0" bIns="0">
            <a:spAutoFit/>
          </a:bodyPr>
          <a:lstStyle/>
          <a:p>
            <a:pPr algn="l"/>
            <a:r>
              <a:rPr sz="1700" b="1">
                <a:solidFill>
                  <a:srgbClr val="0E1F5B"/>
                </a:solidFill>
                <a:latin typeface="Arial"/>
              </a:rPr>
              <a:t>Re-cloisonnement partiel des espaces existants</a:t>
            </a:r>
          </a:p>
        </p:txBody>
      </p:sp>
      <p:sp>
        <p:nvSpPr>
          <p:cNvPr id="22" name="Oval 21"/>
          <p:cNvSpPr/>
          <p:nvPr/>
        </p:nvSpPr>
        <p:spPr>
          <a:xfrm>
            <a:off x="969264" y="6510527"/>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98448" y="6437375"/>
            <a:ext cx="9052560" cy="640080"/>
          </a:xfrm>
          <a:prstGeom prst="rect">
            <a:avLst/>
          </a:prstGeom>
          <a:noFill/>
        </p:spPr>
        <p:txBody>
          <a:bodyPr wrap="square" anchor="t" lIns="0" rIns="0" tIns="0" bIns="0">
            <a:spAutoFit/>
          </a:bodyPr>
          <a:lstStyle/>
          <a:p>
            <a:pPr algn="l"/>
            <a:r>
              <a:rPr sz="1700" b="1">
                <a:solidFill>
                  <a:srgbClr val="0E1F5B"/>
                </a:solidFill>
                <a:latin typeface="Arial"/>
              </a:rPr>
              <a:t>Mise aux normes PMR de la circulation</a:t>
            </a:r>
          </a:p>
        </p:txBody>
      </p:sp>
      <p:sp>
        <p:nvSpPr>
          <p:cNvPr id="24" name="Oval 23"/>
          <p:cNvSpPr/>
          <p:nvPr/>
        </p:nvSpPr>
        <p:spPr>
          <a:xfrm>
            <a:off x="969264" y="6940295"/>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98448" y="6867143"/>
            <a:ext cx="9052560" cy="640080"/>
          </a:xfrm>
          <a:prstGeom prst="rect">
            <a:avLst/>
          </a:prstGeom>
          <a:noFill/>
        </p:spPr>
        <p:txBody>
          <a:bodyPr wrap="square" anchor="t" lIns="0" rIns="0" tIns="0" bIns="0">
            <a:spAutoFit/>
          </a:bodyPr>
          <a:lstStyle/>
          <a:p>
            <a:pPr algn="l"/>
            <a:r>
              <a:rPr sz="1700" b="1">
                <a:solidFill>
                  <a:srgbClr val="0E1F5B"/>
                </a:solidFill>
                <a:latin typeface="Arial"/>
              </a:rPr>
              <a:t>Remplacement des menuiseries extérieures et isolation des combles</a:t>
            </a:r>
          </a:p>
        </p:txBody>
      </p:sp>
      <p:sp>
        <p:nvSpPr>
          <p:cNvPr id="26" name="Oval 25"/>
          <p:cNvSpPr/>
          <p:nvPr/>
        </p:nvSpPr>
        <p:spPr>
          <a:xfrm>
            <a:off x="969264" y="737006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98448" y="7296911"/>
            <a:ext cx="9052560" cy="640080"/>
          </a:xfrm>
          <a:prstGeom prst="rect">
            <a:avLst/>
          </a:prstGeom>
          <a:noFill/>
        </p:spPr>
        <p:txBody>
          <a:bodyPr wrap="square" anchor="t" lIns="0" rIns="0" tIns="0" bIns="0">
            <a:spAutoFit/>
          </a:bodyPr>
          <a:lstStyle/>
          <a:p>
            <a:pPr algn="l"/>
            <a:r>
              <a:rPr sz="1700" b="1">
                <a:solidFill>
                  <a:srgbClr val="0E1F5B"/>
                </a:solidFill>
                <a:latin typeface="Arial"/>
              </a:rPr>
              <a:t>Réaménagement des cours : clôtures remplacées, rangements extérieurs, cours séparées</a:t>
            </a:r>
          </a:p>
        </p:txBody>
      </p:sp>
      <p:sp>
        <p:nvSpPr>
          <p:cNvPr id="28" name="TextBox 27"/>
          <p:cNvSpPr txBox="1"/>
          <p:nvPr/>
        </p:nvSpPr>
        <p:spPr>
          <a:xfrm>
            <a:off x="950976" y="8183879"/>
            <a:ext cx="9418320" cy="365760"/>
          </a:xfrm>
          <a:prstGeom prst="rect">
            <a:avLst/>
          </a:prstGeom>
          <a:noFill/>
        </p:spPr>
        <p:txBody>
          <a:bodyPr wrap="square" anchor="t" lIns="0" rIns="0" tIns="0" bIns="0">
            <a:spAutoFit/>
          </a:bodyPr>
          <a:lstStyle/>
          <a:p>
            <a:pPr algn="l"/>
            <a:r>
              <a:rPr sz="1800" b="1" spc="150">
                <a:solidFill>
                  <a:srgbClr val="72C493"/>
                </a:solidFill>
                <a:latin typeface="Arial"/>
              </a:rPr>
              <a:t>CONSTRUCTION NEUVE</a:t>
            </a:r>
          </a:p>
        </p:txBody>
      </p:sp>
      <p:cxnSp>
        <p:nvCxnSpPr>
          <p:cNvPr id="29" name="Connector 28"/>
          <p:cNvCxnSpPr/>
          <p:nvPr/>
        </p:nvCxnSpPr>
        <p:spPr>
          <a:xfrm>
            <a:off x="950976" y="8622791"/>
            <a:ext cx="941832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969264" y="8878823"/>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98448" y="8805671"/>
            <a:ext cx="9052560" cy="640080"/>
          </a:xfrm>
          <a:prstGeom prst="rect">
            <a:avLst/>
          </a:prstGeom>
          <a:noFill/>
        </p:spPr>
        <p:txBody>
          <a:bodyPr wrap="square" anchor="t" lIns="0" rIns="0" tIns="0" bIns="0">
            <a:spAutoFit/>
          </a:bodyPr>
          <a:lstStyle/>
          <a:p>
            <a:pPr algn="l"/>
            <a:r>
              <a:rPr sz="1700" b="1">
                <a:solidFill>
                  <a:srgbClr val="0E1F5B"/>
                </a:solidFill>
                <a:latin typeface="Arial"/>
              </a:rPr>
              <a:t>Des extensions pour créer les locaux qui manquent au bon fonctionnement de l'école</a:t>
            </a:r>
          </a:p>
        </p:txBody>
      </p:sp>
      <p:sp>
        <p:nvSpPr>
          <p:cNvPr id="32" name="Oval 31"/>
          <p:cNvSpPr/>
          <p:nvPr/>
        </p:nvSpPr>
        <p:spPr>
          <a:xfrm>
            <a:off x="969264" y="9308591"/>
            <a:ext cx="155448" cy="155448"/>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98448" y="9235439"/>
            <a:ext cx="9052560" cy="640080"/>
          </a:xfrm>
          <a:prstGeom prst="rect">
            <a:avLst/>
          </a:prstGeom>
          <a:noFill/>
        </p:spPr>
        <p:txBody>
          <a:bodyPr wrap="square" anchor="t" lIns="0" rIns="0" tIns="0" bIns="0">
            <a:spAutoFit/>
          </a:bodyPr>
          <a:lstStyle/>
          <a:p>
            <a:pPr algn="l"/>
            <a:r>
              <a:rPr sz="1700" b="1">
                <a:solidFill>
                  <a:srgbClr val="0E1F5B"/>
                </a:solidFill>
                <a:latin typeface="Arial"/>
              </a:rPr>
              <a:t>Deux nouveaux préaux</a:t>
            </a:r>
          </a:p>
        </p:txBody>
      </p:sp>
      <p:pic>
        <p:nvPicPr>
          <p:cNvPr id="34" name="Picture 33" descr="Ecole_03_plan_etages_Richardets.jpg"/>
          <p:cNvPicPr>
            <a:picLocks noChangeAspect="1"/>
          </p:cNvPicPr>
          <p:nvPr/>
        </p:nvPicPr>
        <p:blipFill>
          <a:blip r:embed="rId3"/>
          <a:stretch>
            <a:fillRect/>
          </a:stretch>
        </p:blipFill>
        <p:spPr>
          <a:xfrm>
            <a:off x="11018447" y="4526280"/>
            <a:ext cx="6300288" cy="4434840"/>
          </a:xfrm>
          <a:prstGeom prst="rect">
            <a:avLst/>
          </a:prstGeom>
          <a:ln>
            <a:solidFill>
              <a:srgbClr val="0E1F5B"/>
            </a:solidFill>
          </a:ln>
        </p:spPr>
      </p:pic>
      <p:sp>
        <p:nvSpPr>
          <p:cNvPr id="35" name="Rectangle 34"/>
          <p:cNvSpPr/>
          <p:nvPr/>
        </p:nvSpPr>
        <p:spPr>
          <a:xfrm>
            <a:off x="11018447" y="8961120"/>
            <a:ext cx="6300288" cy="4114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201326" y="8961120"/>
            <a:ext cx="5934527" cy="411480"/>
          </a:xfrm>
          <a:prstGeom prst="rect">
            <a:avLst/>
          </a:prstGeom>
          <a:noFill/>
        </p:spPr>
        <p:txBody>
          <a:bodyPr wrap="square" anchor="ctr" lIns="0" rIns="0" tIns="0" bIns="0">
            <a:spAutoFit/>
          </a:bodyPr>
          <a:lstStyle/>
          <a:p>
            <a:pPr algn="l"/>
            <a:r>
              <a:rPr sz="1400" b="1" spc="100">
                <a:solidFill>
                  <a:srgbClr val="0E1F5B"/>
                </a:solidFill>
                <a:latin typeface="Arial"/>
              </a:rPr>
              <a:t>PLAN DES 1ER ET 2E ÉTAGES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F5B"/>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LES ÉCOLES DU QUARTIER</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FFFFFF"/>
                </a:solidFill>
                <a:latin typeface="Arial"/>
              </a:rPr>
              <a:t>Les travaux dans les écoles du quartier</a:t>
            </a:r>
          </a:p>
        </p:txBody>
      </p:sp>
      <p:sp>
        <p:nvSpPr>
          <p:cNvPr id="5" name="Rectangle 4"/>
          <p:cNvSpPr/>
          <p:nvPr/>
        </p:nvSpPr>
        <p:spPr>
          <a:xfrm>
            <a:off x="950976"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50976"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71016" y="2606040"/>
            <a:ext cx="4727448" cy="457200"/>
          </a:xfrm>
          <a:prstGeom prst="rect">
            <a:avLst/>
          </a:prstGeom>
          <a:noFill/>
        </p:spPr>
        <p:txBody>
          <a:bodyPr wrap="square" anchor="t" lIns="0" rIns="0" tIns="0" bIns="0">
            <a:spAutoFit/>
          </a:bodyPr>
          <a:lstStyle/>
          <a:p>
            <a:pPr algn="l"/>
            <a:r>
              <a:rPr sz="2400" b="1">
                <a:solidFill>
                  <a:srgbClr val="FFFFFF"/>
                </a:solidFill>
                <a:latin typeface="Arial"/>
              </a:rPr>
              <a:t>École des Gobelins</a:t>
            </a:r>
          </a:p>
        </p:txBody>
      </p:sp>
      <p:sp>
        <p:nvSpPr>
          <p:cNvPr id="8" name="TextBox 7"/>
          <p:cNvSpPr txBox="1"/>
          <p:nvPr/>
        </p:nvSpPr>
        <p:spPr>
          <a:xfrm>
            <a:off x="1271016" y="3090672"/>
            <a:ext cx="4727448" cy="320040"/>
          </a:xfrm>
          <a:prstGeom prst="rect">
            <a:avLst/>
          </a:prstGeom>
          <a:noFill/>
        </p:spPr>
        <p:txBody>
          <a:bodyPr wrap="square" anchor="t" lIns="0" rIns="0" tIns="0" bIns="0">
            <a:spAutoFit/>
          </a:bodyPr>
          <a:lstStyle/>
          <a:p>
            <a:pPr algn="l"/>
            <a:r>
              <a:rPr sz="1500" b="0">
                <a:solidFill>
                  <a:srgbClr val="8A90B0"/>
                </a:solidFill>
                <a:latin typeface="Arial"/>
              </a:rPr>
              <a:t>pour accueillir l'école des Richardets</a:t>
            </a:r>
          </a:p>
        </p:txBody>
      </p:sp>
      <p:sp>
        <p:nvSpPr>
          <p:cNvPr id="9" name="Oval 8"/>
          <p:cNvSpPr/>
          <p:nvPr/>
        </p:nvSpPr>
        <p:spPr>
          <a:xfrm>
            <a:off x="1289304" y="3648456"/>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72768" y="3566160"/>
            <a:ext cx="4407407" cy="640080"/>
          </a:xfrm>
          <a:prstGeom prst="rect">
            <a:avLst/>
          </a:prstGeom>
          <a:noFill/>
        </p:spPr>
        <p:txBody>
          <a:bodyPr wrap="square" anchor="t" lIns="0" rIns="0" tIns="0" bIns="0">
            <a:spAutoFit/>
          </a:bodyPr>
          <a:lstStyle/>
          <a:p>
            <a:pPr algn="l"/>
            <a:r>
              <a:rPr sz="1700" b="1">
                <a:solidFill>
                  <a:srgbClr val="FAF5EC"/>
                </a:solidFill>
                <a:latin typeface="Arial"/>
              </a:rPr>
              <a:t>Création de sanitaires</a:t>
            </a:r>
          </a:p>
        </p:txBody>
      </p:sp>
      <p:sp>
        <p:nvSpPr>
          <p:cNvPr id="11" name="Oval 10"/>
          <p:cNvSpPr/>
          <p:nvPr/>
        </p:nvSpPr>
        <p:spPr>
          <a:xfrm>
            <a:off x="1289304" y="408736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72768" y="4005072"/>
            <a:ext cx="4407407" cy="640080"/>
          </a:xfrm>
          <a:prstGeom prst="rect">
            <a:avLst/>
          </a:prstGeom>
          <a:noFill/>
        </p:spPr>
        <p:txBody>
          <a:bodyPr wrap="square" anchor="t" lIns="0" rIns="0" tIns="0" bIns="0">
            <a:spAutoFit/>
          </a:bodyPr>
          <a:lstStyle/>
          <a:p>
            <a:pPr algn="l"/>
            <a:r>
              <a:rPr sz="1700" b="1">
                <a:solidFill>
                  <a:srgbClr val="FAF5EC"/>
                </a:solidFill>
                <a:latin typeface="Arial"/>
              </a:rPr>
              <a:t>Sols, peintures et électricité refaits</a:t>
            </a:r>
          </a:p>
        </p:txBody>
      </p:sp>
      <p:sp>
        <p:nvSpPr>
          <p:cNvPr id="13" name="Oval 12"/>
          <p:cNvSpPr/>
          <p:nvPr/>
        </p:nvSpPr>
        <p:spPr>
          <a:xfrm>
            <a:off x="1289304" y="4526279"/>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72768" y="4443983"/>
            <a:ext cx="4407407" cy="640080"/>
          </a:xfrm>
          <a:prstGeom prst="rect">
            <a:avLst/>
          </a:prstGeom>
          <a:noFill/>
        </p:spPr>
        <p:txBody>
          <a:bodyPr wrap="square" anchor="t" lIns="0" rIns="0" tIns="0" bIns="0">
            <a:spAutoFit/>
          </a:bodyPr>
          <a:lstStyle/>
          <a:p>
            <a:pPr algn="l"/>
            <a:r>
              <a:rPr sz="1700" b="1">
                <a:solidFill>
                  <a:srgbClr val="FAF5EC"/>
                </a:solidFill>
                <a:latin typeface="Arial"/>
              </a:rPr>
              <a:t>Clôtures et portails</a:t>
            </a:r>
          </a:p>
        </p:txBody>
      </p:sp>
      <p:sp>
        <p:nvSpPr>
          <p:cNvPr id="15" name="Oval 14"/>
          <p:cNvSpPr/>
          <p:nvPr/>
        </p:nvSpPr>
        <p:spPr>
          <a:xfrm>
            <a:off x="1289304" y="4965192"/>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72768" y="4882896"/>
            <a:ext cx="4407407" cy="640080"/>
          </a:xfrm>
          <a:prstGeom prst="rect">
            <a:avLst/>
          </a:prstGeom>
          <a:noFill/>
        </p:spPr>
        <p:txBody>
          <a:bodyPr wrap="square" anchor="t" lIns="0" rIns="0" tIns="0" bIns="0">
            <a:spAutoFit/>
          </a:bodyPr>
          <a:lstStyle/>
          <a:p>
            <a:pPr algn="l"/>
            <a:r>
              <a:rPr sz="1700" b="1">
                <a:solidFill>
                  <a:srgbClr val="FAF5EC"/>
                </a:solidFill>
                <a:latin typeface="Arial"/>
              </a:rPr>
              <a:t>Cour rénovée, pare-ballons posés</a:t>
            </a:r>
          </a:p>
        </p:txBody>
      </p:sp>
      <p:sp>
        <p:nvSpPr>
          <p:cNvPr id="17" name="Rectangle 16"/>
          <p:cNvSpPr/>
          <p:nvPr/>
        </p:nvSpPr>
        <p:spPr>
          <a:xfrm>
            <a:off x="6492240"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92240"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2279" y="2606040"/>
            <a:ext cx="4727448" cy="457200"/>
          </a:xfrm>
          <a:prstGeom prst="rect">
            <a:avLst/>
          </a:prstGeom>
          <a:noFill/>
        </p:spPr>
        <p:txBody>
          <a:bodyPr wrap="square" anchor="t" lIns="0" rIns="0" tIns="0" bIns="0">
            <a:spAutoFit/>
          </a:bodyPr>
          <a:lstStyle/>
          <a:p>
            <a:pPr algn="l"/>
            <a:r>
              <a:rPr sz="2400" b="1">
                <a:solidFill>
                  <a:srgbClr val="FFFFFF"/>
                </a:solidFill>
                <a:latin typeface="Arial"/>
              </a:rPr>
              <a:t>Les Charmilles</a:t>
            </a:r>
          </a:p>
        </p:txBody>
      </p:sp>
      <p:sp>
        <p:nvSpPr>
          <p:cNvPr id="20" name="Oval 19"/>
          <p:cNvSpPr/>
          <p:nvPr/>
        </p:nvSpPr>
        <p:spPr>
          <a:xfrm>
            <a:off x="6830568" y="3328415"/>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14031" y="3246120"/>
            <a:ext cx="4407407" cy="640080"/>
          </a:xfrm>
          <a:prstGeom prst="rect">
            <a:avLst/>
          </a:prstGeom>
          <a:noFill/>
        </p:spPr>
        <p:txBody>
          <a:bodyPr wrap="square" anchor="t" lIns="0" rIns="0" tIns="0" bIns="0">
            <a:spAutoFit/>
          </a:bodyPr>
          <a:lstStyle/>
          <a:p>
            <a:pPr algn="l"/>
            <a:r>
              <a:rPr sz="1700" b="1">
                <a:solidFill>
                  <a:srgbClr val="FAF5EC"/>
                </a:solidFill>
                <a:latin typeface="Arial"/>
              </a:rPr>
              <a:t>Assainissement mis en conformité</a:t>
            </a:r>
          </a:p>
        </p:txBody>
      </p:sp>
      <p:sp>
        <p:nvSpPr>
          <p:cNvPr id="22" name="Oval 21"/>
          <p:cNvSpPr/>
          <p:nvPr/>
        </p:nvSpPr>
        <p:spPr>
          <a:xfrm>
            <a:off x="6830568" y="3767327"/>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4031" y="3685031"/>
            <a:ext cx="4407407" cy="640080"/>
          </a:xfrm>
          <a:prstGeom prst="rect">
            <a:avLst/>
          </a:prstGeom>
          <a:noFill/>
        </p:spPr>
        <p:txBody>
          <a:bodyPr wrap="square" anchor="t" lIns="0" rIns="0" tIns="0" bIns="0">
            <a:spAutoFit/>
          </a:bodyPr>
          <a:lstStyle/>
          <a:p>
            <a:pPr algn="l"/>
            <a:r>
              <a:rPr sz="1700" b="1">
                <a:solidFill>
                  <a:srgbClr val="FAF5EC"/>
                </a:solidFill>
                <a:latin typeface="Arial"/>
              </a:rPr>
              <a:t>Hall remis en état</a:t>
            </a:r>
          </a:p>
        </p:txBody>
      </p:sp>
      <p:sp>
        <p:nvSpPr>
          <p:cNvPr id="24" name="Oval 23"/>
          <p:cNvSpPr/>
          <p:nvPr/>
        </p:nvSpPr>
        <p:spPr>
          <a:xfrm>
            <a:off x="6830568" y="4206240"/>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14031" y="4123944"/>
            <a:ext cx="4407407" cy="640080"/>
          </a:xfrm>
          <a:prstGeom prst="rect">
            <a:avLst/>
          </a:prstGeom>
          <a:noFill/>
        </p:spPr>
        <p:txBody>
          <a:bodyPr wrap="square" anchor="t" lIns="0" rIns="0" tIns="0" bIns="0">
            <a:spAutoFit/>
          </a:bodyPr>
          <a:lstStyle/>
          <a:p>
            <a:pPr algn="l"/>
            <a:r>
              <a:rPr sz="1700" b="1">
                <a:solidFill>
                  <a:srgbClr val="FAF5EC"/>
                </a:solidFill>
                <a:latin typeface="Arial"/>
              </a:rPr>
              <a:t>Faux plafonds remplacés</a:t>
            </a:r>
          </a:p>
        </p:txBody>
      </p:sp>
      <p:sp>
        <p:nvSpPr>
          <p:cNvPr id="26" name="Oval 25"/>
          <p:cNvSpPr/>
          <p:nvPr/>
        </p:nvSpPr>
        <p:spPr>
          <a:xfrm>
            <a:off x="6830568" y="4645152"/>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14031" y="4562856"/>
            <a:ext cx="4407407" cy="640080"/>
          </a:xfrm>
          <a:prstGeom prst="rect">
            <a:avLst/>
          </a:prstGeom>
          <a:noFill/>
        </p:spPr>
        <p:txBody>
          <a:bodyPr wrap="square" anchor="t" lIns="0" rIns="0" tIns="0" bIns="0">
            <a:spAutoFit/>
          </a:bodyPr>
          <a:lstStyle/>
          <a:p>
            <a:pPr algn="l"/>
            <a:r>
              <a:rPr sz="1700" b="1">
                <a:solidFill>
                  <a:srgbClr val="FAF5EC"/>
                </a:solidFill>
                <a:latin typeface="Arial"/>
              </a:rPr>
              <a:t>Peinture d'une classe et de l'office</a:t>
            </a:r>
          </a:p>
        </p:txBody>
      </p:sp>
      <p:sp>
        <p:nvSpPr>
          <p:cNvPr id="28" name="Rectangle 27"/>
          <p:cNvSpPr/>
          <p:nvPr/>
        </p:nvSpPr>
        <p:spPr>
          <a:xfrm>
            <a:off x="12033504" y="237744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2033504" y="237744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353544" y="2606040"/>
            <a:ext cx="4727448" cy="457200"/>
          </a:xfrm>
          <a:prstGeom prst="rect">
            <a:avLst/>
          </a:prstGeom>
          <a:noFill/>
        </p:spPr>
        <p:txBody>
          <a:bodyPr wrap="square" anchor="t" lIns="0" rIns="0" tIns="0" bIns="0">
            <a:spAutoFit/>
          </a:bodyPr>
          <a:lstStyle/>
          <a:p>
            <a:pPr algn="l"/>
            <a:r>
              <a:rPr sz="2400" b="1">
                <a:solidFill>
                  <a:srgbClr val="FFFFFF"/>
                </a:solidFill>
                <a:latin typeface="Arial"/>
              </a:rPr>
              <a:t>Les Yvris</a:t>
            </a:r>
          </a:p>
        </p:txBody>
      </p:sp>
      <p:sp>
        <p:nvSpPr>
          <p:cNvPr id="31" name="Oval 30"/>
          <p:cNvSpPr/>
          <p:nvPr/>
        </p:nvSpPr>
        <p:spPr>
          <a:xfrm>
            <a:off x="12371832" y="3328415"/>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655296" y="3246120"/>
            <a:ext cx="4407407" cy="640080"/>
          </a:xfrm>
          <a:prstGeom prst="rect">
            <a:avLst/>
          </a:prstGeom>
          <a:noFill/>
        </p:spPr>
        <p:txBody>
          <a:bodyPr wrap="square" anchor="t" lIns="0" rIns="0" tIns="0" bIns="0">
            <a:spAutoFit/>
          </a:bodyPr>
          <a:lstStyle/>
          <a:p>
            <a:pPr algn="l"/>
            <a:r>
              <a:rPr sz="1700" b="1">
                <a:solidFill>
                  <a:srgbClr val="FAF5EC"/>
                </a:solidFill>
                <a:latin typeface="Arial"/>
              </a:rPr>
              <a:t>Drapeau de l'entrée remis en état</a:t>
            </a:r>
          </a:p>
        </p:txBody>
      </p:sp>
      <p:sp>
        <p:nvSpPr>
          <p:cNvPr id="33" name="Oval 32"/>
          <p:cNvSpPr/>
          <p:nvPr/>
        </p:nvSpPr>
        <p:spPr>
          <a:xfrm>
            <a:off x="12371832" y="3767327"/>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655296" y="3685031"/>
            <a:ext cx="4407407" cy="640080"/>
          </a:xfrm>
          <a:prstGeom prst="rect">
            <a:avLst/>
          </a:prstGeom>
          <a:noFill/>
        </p:spPr>
        <p:txBody>
          <a:bodyPr wrap="square" anchor="t" lIns="0" rIns="0" tIns="0" bIns="0">
            <a:spAutoFit/>
          </a:bodyPr>
          <a:lstStyle/>
          <a:p>
            <a:pPr algn="l"/>
            <a:r>
              <a:rPr sz="1700" b="1">
                <a:solidFill>
                  <a:srgbClr val="FAF5EC"/>
                </a:solidFill>
                <a:latin typeface="Arial"/>
              </a:rPr>
              <a:t>Peinture du hall et du bureau de la direction</a:t>
            </a:r>
          </a:p>
        </p:txBody>
      </p:sp>
      <p:sp>
        <p:nvSpPr>
          <p:cNvPr id="35" name="Rectangle 34"/>
          <p:cNvSpPr/>
          <p:nvPr/>
        </p:nvSpPr>
        <p:spPr>
          <a:xfrm>
            <a:off x="3721608" y="576072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721608" y="576072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41648" y="5989320"/>
            <a:ext cx="4727448" cy="457200"/>
          </a:xfrm>
          <a:prstGeom prst="rect">
            <a:avLst/>
          </a:prstGeom>
          <a:noFill/>
        </p:spPr>
        <p:txBody>
          <a:bodyPr wrap="square" anchor="t" lIns="0" rIns="0" tIns="0" bIns="0">
            <a:spAutoFit/>
          </a:bodyPr>
          <a:lstStyle/>
          <a:p>
            <a:pPr algn="l"/>
            <a:r>
              <a:rPr sz="2400" b="1">
                <a:solidFill>
                  <a:srgbClr val="FFFFFF"/>
                </a:solidFill>
                <a:latin typeface="Arial"/>
              </a:rPr>
              <a:t>Maternelle des Richardets</a:t>
            </a:r>
          </a:p>
        </p:txBody>
      </p:sp>
      <p:sp>
        <p:nvSpPr>
          <p:cNvPr id="38" name="Oval 37"/>
          <p:cNvSpPr/>
          <p:nvPr/>
        </p:nvSpPr>
        <p:spPr>
          <a:xfrm>
            <a:off x="4059936" y="6711696"/>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6629400"/>
            <a:ext cx="4407407" cy="640080"/>
          </a:xfrm>
          <a:prstGeom prst="rect">
            <a:avLst/>
          </a:prstGeom>
          <a:noFill/>
        </p:spPr>
        <p:txBody>
          <a:bodyPr wrap="square" anchor="t" lIns="0" rIns="0" tIns="0" bIns="0">
            <a:spAutoFit/>
          </a:bodyPr>
          <a:lstStyle/>
          <a:p>
            <a:pPr algn="l"/>
            <a:r>
              <a:rPr sz="1700" b="1">
                <a:solidFill>
                  <a:srgbClr val="FAF5EC"/>
                </a:solidFill>
                <a:latin typeface="Arial"/>
              </a:rPr>
              <a:t>Un rafraîchisseur d'air</a:t>
            </a:r>
          </a:p>
        </p:txBody>
      </p:sp>
      <p:sp>
        <p:nvSpPr>
          <p:cNvPr id="40" name="Oval 39"/>
          <p:cNvSpPr/>
          <p:nvPr/>
        </p:nvSpPr>
        <p:spPr>
          <a:xfrm>
            <a:off x="4059936" y="7150608"/>
            <a:ext cx="146304" cy="146304"/>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43400" y="7068312"/>
            <a:ext cx="4407407" cy="640080"/>
          </a:xfrm>
          <a:prstGeom prst="rect">
            <a:avLst/>
          </a:prstGeom>
          <a:noFill/>
        </p:spPr>
        <p:txBody>
          <a:bodyPr wrap="square" anchor="t" lIns="0" rIns="0" tIns="0" bIns="0">
            <a:spAutoFit/>
          </a:bodyPr>
          <a:lstStyle/>
          <a:p>
            <a:pPr algn="l"/>
            <a:r>
              <a:rPr sz="1700" b="1">
                <a:solidFill>
                  <a:srgbClr val="FAF5EC"/>
                </a:solidFill>
                <a:latin typeface="Arial"/>
              </a:rPr>
              <a:t>Films de protection solaire sur les vitrages</a:t>
            </a:r>
          </a:p>
        </p:txBody>
      </p:sp>
      <p:sp>
        <p:nvSpPr>
          <p:cNvPr id="42" name="Rectangle 41"/>
          <p:cNvSpPr/>
          <p:nvPr/>
        </p:nvSpPr>
        <p:spPr>
          <a:xfrm>
            <a:off x="9262872" y="5760720"/>
            <a:ext cx="5276088" cy="310896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262872" y="5760720"/>
            <a:ext cx="91440" cy="310896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82911" y="5989320"/>
            <a:ext cx="4727448" cy="457200"/>
          </a:xfrm>
          <a:prstGeom prst="rect">
            <a:avLst/>
          </a:prstGeom>
          <a:noFill/>
        </p:spPr>
        <p:txBody>
          <a:bodyPr wrap="square" anchor="t" lIns="0" rIns="0" tIns="0" bIns="0">
            <a:spAutoFit/>
          </a:bodyPr>
          <a:lstStyle/>
          <a:p>
            <a:pPr algn="l"/>
            <a:r>
              <a:rPr sz="2400" b="1">
                <a:solidFill>
                  <a:srgbClr val="FFFFFF"/>
                </a:solidFill>
                <a:latin typeface="Arial"/>
              </a:rPr>
              <a:t>Paul-Serelle</a:t>
            </a:r>
          </a:p>
        </p:txBody>
      </p:sp>
      <p:sp>
        <p:nvSpPr>
          <p:cNvPr id="45" name="TextBox 44"/>
          <p:cNvSpPr txBox="1"/>
          <p:nvPr/>
        </p:nvSpPr>
        <p:spPr>
          <a:xfrm>
            <a:off x="9582911" y="6473952"/>
            <a:ext cx="4727448" cy="320040"/>
          </a:xfrm>
          <a:prstGeom prst="rect">
            <a:avLst/>
          </a:prstGeom>
          <a:noFill/>
        </p:spPr>
        <p:txBody>
          <a:bodyPr wrap="square" anchor="t" lIns="0" rIns="0" tIns="0" bIns="0">
            <a:spAutoFit/>
          </a:bodyPr>
          <a:lstStyle/>
          <a:p>
            <a:pPr algn="l"/>
            <a:r>
              <a:rPr sz="1500" b="0">
                <a:solidFill>
                  <a:srgbClr val="8A90B0"/>
                </a:solidFill>
                <a:latin typeface="Arial"/>
              </a:rPr>
              <a:t>travaux à venir</a:t>
            </a:r>
          </a:p>
        </p:txBody>
      </p:sp>
      <p:sp>
        <p:nvSpPr>
          <p:cNvPr id="46" name="Oval 45"/>
          <p:cNvSpPr/>
          <p:nvPr/>
        </p:nvSpPr>
        <p:spPr>
          <a:xfrm>
            <a:off x="9601199" y="7031736"/>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3" y="6949440"/>
            <a:ext cx="4407407" cy="640080"/>
          </a:xfrm>
          <a:prstGeom prst="rect">
            <a:avLst/>
          </a:prstGeom>
          <a:noFill/>
        </p:spPr>
        <p:txBody>
          <a:bodyPr wrap="square" anchor="t" lIns="0" rIns="0" tIns="0" bIns="0">
            <a:spAutoFit/>
          </a:bodyPr>
          <a:lstStyle/>
          <a:p>
            <a:pPr algn="l"/>
            <a:r>
              <a:rPr sz="1700" b="1">
                <a:solidFill>
                  <a:srgbClr val="FAF5EC"/>
                </a:solidFill>
                <a:latin typeface="Arial"/>
              </a:rPr>
              <a:t>Sécurisation du carrefour : à l'étude</a:t>
            </a:r>
          </a:p>
        </p:txBody>
      </p:sp>
      <p:sp>
        <p:nvSpPr>
          <p:cNvPr id="48" name="Oval 47"/>
          <p:cNvSpPr/>
          <p:nvPr/>
        </p:nvSpPr>
        <p:spPr>
          <a:xfrm>
            <a:off x="9601199" y="7470648"/>
            <a:ext cx="146304" cy="146304"/>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84663" y="7388352"/>
            <a:ext cx="4407407" cy="640080"/>
          </a:xfrm>
          <a:prstGeom prst="rect">
            <a:avLst/>
          </a:prstGeom>
          <a:noFill/>
        </p:spPr>
        <p:txBody>
          <a:bodyPr wrap="square" anchor="t" lIns="0" rIns="0" tIns="0" bIns="0">
            <a:spAutoFit/>
          </a:bodyPr>
          <a:lstStyle/>
          <a:p>
            <a:pPr algn="l"/>
            <a:r>
              <a:rPr sz="1700" b="1">
                <a:solidFill>
                  <a:srgbClr val="FAF5EC"/>
                </a:solidFill>
                <a:latin typeface="Arial"/>
              </a:rPr>
              <a:t>Fuites de la salle polyvalente : réparation programmée</a:t>
            </a:r>
          </a:p>
        </p:txBody>
      </p:sp>
      <p:sp>
        <p:nvSpPr>
          <p:cNvPr id="50" name="Oval 49"/>
          <p:cNvSpPr/>
          <p:nvPr/>
        </p:nvSpPr>
        <p:spPr>
          <a:xfrm>
            <a:off x="12801600" y="9628632"/>
            <a:ext cx="137160" cy="13716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3030200" y="9564624"/>
            <a:ext cx="3200400" cy="274320"/>
          </a:xfrm>
          <a:prstGeom prst="rect">
            <a:avLst/>
          </a:prstGeom>
          <a:noFill/>
        </p:spPr>
        <p:txBody>
          <a:bodyPr wrap="square" anchor="t" lIns="0" rIns="0" tIns="0" bIns="0">
            <a:spAutoFit/>
          </a:bodyPr>
          <a:lstStyle/>
          <a:p>
            <a:pPr algn="l"/>
            <a:r>
              <a:rPr sz="1300" b="0">
                <a:solidFill>
                  <a:srgbClr val="8A90B0"/>
                </a:solidFill>
                <a:latin typeface="Arial"/>
              </a:rPr>
              <a:t>réalisé</a:t>
            </a:r>
          </a:p>
        </p:txBody>
      </p:sp>
      <p:sp>
        <p:nvSpPr>
          <p:cNvPr id="52" name="Oval 51"/>
          <p:cNvSpPr/>
          <p:nvPr/>
        </p:nvSpPr>
        <p:spPr>
          <a:xfrm>
            <a:off x="14127480" y="9628632"/>
            <a:ext cx="137160" cy="137160"/>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4356080" y="9564624"/>
            <a:ext cx="3200400" cy="274320"/>
          </a:xfrm>
          <a:prstGeom prst="rect">
            <a:avLst/>
          </a:prstGeom>
          <a:noFill/>
        </p:spPr>
        <p:txBody>
          <a:bodyPr wrap="square" anchor="t" lIns="0" rIns="0" tIns="0" bIns="0">
            <a:spAutoFit/>
          </a:bodyPr>
          <a:lstStyle/>
          <a:p>
            <a:pPr algn="l"/>
            <a:r>
              <a:rPr sz="1300" b="0">
                <a:solidFill>
                  <a:srgbClr val="8A90B0"/>
                </a:solidFill>
                <a:latin typeface="Arial"/>
              </a:rPr>
              <a:t>programmé ou à l'étude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LES ÉCOLES · LE PÉRISCOLAIRE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Plus de places et plus d'animateurs</a:t>
            </a:r>
          </a:p>
        </p:txBody>
      </p:sp>
      <p:sp>
        <p:nvSpPr>
          <p:cNvPr id="5" name="TextBox 4"/>
          <p:cNvSpPr txBox="1"/>
          <p:nvPr/>
        </p:nvSpPr>
        <p:spPr>
          <a:xfrm>
            <a:off x="950976" y="2011680"/>
            <a:ext cx="14447520" cy="457200"/>
          </a:xfrm>
          <a:prstGeom prst="rect">
            <a:avLst/>
          </a:prstGeom>
          <a:noFill/>
        </p:spPr>
        <p:txBody>
          <a:bodyPr wrap="square" lIns="0" tIns="0" rIns="0" bIns="0" anchor="t">
            <a:spAutoFit/>
          </a:bodyPr>
          <a:lstStyle/>
          <a:p>
            <a:pPr algn="l"/>
            <a:r>
              <a:rPr sz="2100" b="0">
                <a:solidFill>
                  <a:srgbClr val="FFFFFF"/>
                </a:solidFill>
                <a:latin typeface="Arial"/>
              </a:rPr>
              <a:t>Dans toute la ville, rentrée 2026 comparée à la rentrée 2025</a:t>
            </a:r>
          </a:p>
        </p:txBody>
      </p:sp>
      <p:cxnSp>
        <p:nvCxnSpPr>
          <p:cNvPr id="6" name="Connector 5"/>
          <p:cNvCxnSpPr/>
          <p:nvPr/>
        </p:nvCxnSpPr>
        <p:spPr>
          <a:xfrm>
            <a:off x="950976" y="2743200"/>
            <a:ext cx="7955279"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50976"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LE MERCREDI</a:t>
            </a:r>
          </a:p>
        </p:txBody>
      </p:sp>
      <p:sp>
        <p:nvSpPr>
          <p:cNvPr id="8" name="TextBox 7"/>
          <p:cNvSpPr txBox="1"/>
          <p:nvPr/>
        </p:nvSpPr>
        <p:spPr>
          <a:xfrm>
            <a:off x="950976" y="3474720"/>
            <a:ext cx="7955279" cy="365760"/>
          </a:xfrm>
          <a:prstGeom prst="rect">
            <a:avLst/>
          </a:prstGeom>
          <a:noFill/>
        </p:spPr>
        <p:txBody>
          <a:bodyPr wrap="square" lIns="0" tIns="0" rIns="0" bIns="0" anchor="t">
            <a:spAutoFit/>
          </a:bodyPr>
          <a:lstStyle/>
          <a:p>
            <a:pPr algn="l"/>
            <a:r>
              <a:rPr sz="2000" b="1">
                <a:solidFill>
                  <a:srgbClr val="FFFFFF"/>
                </a:solidFill>
                <a:latin typeface="Arial"/>
              </a:rPr>
              <a:t>Places en accueil de loisirs</a:t>
            </a:r>
          </a:p>
        </p:txBody>
      </p:sp>
      <p:sp>
        <p:nvSpPr>
          <p:cNvPr id="9" name="TextBox 8"/>
          <p:cNvSpPr txBox="1"/>
          <p:nvPr/>
        </p:nvSpPr>
        <p:spPr>
          <a:xfrm>
            <a:off x="950976" y="397763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0" name="TextBox 9"/>
          <p:cNvSpPr txBox="1"/>
          <p:nvPr/>
        </p:nvSpPr>
        <p:spPr>
          <a:xfrm>
            <a:off x="950976" y="4224528"/>
            <a:ext cx="1828800" cy="548640"/>
          </a:xfrm>
          <a:prstGeom prst="rect">
            <a:avLst/>
          </a:prstGeom>
          <a:noFill/>
        </p:spPr>
        <p:txBody>
          <a:bodyPr wrap="square" lIns="0" tIns="0" rIns="0" bIns="0" anchor="t">
            <a:spAutoFit/>
          </a:bodyPr>
          <a:lstStyle/>
          <a:p>
            <a:pPr algn="l"/>
            <a:r>
              <a:rPr sz="3200" b="1">
                <a:solidFill>
                  <a:srgbClr val="8A90B0"/>
                </a:solidFill>
                <a:latin typeface="Arial"/>
              </a:rPr>
              <a:t>1 616</a:t>
            </a:r>
          </a:p>
        </p:txBody>
      </p:sp>
      <p:sp>
        <p:nvSpPr>
          <p:cNvPr id="11" name="TextBox 10"/>
          <p:cNvSpPr txBox="1"/>
          <p:nvPr/>
        </p:nvSpPr>
        <p:spPr>
          <a:xfrm>
            <a:off x="2825496"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2" name="TextBox 11"/>
          <p:cNvSpPr txBox="1"/>
          <p:nvPr/>
        </p:nvSpPr>
        <p:spPr>
          <a:xfrm>
            <a:off x="3465576" y="384048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13" name="TextBox 12"/>
          <p:cNvSpPr txBox="1"/>
          <p:nvPr/>
        </p:nvSpPr>
        <p:spPr>
          <a:xfrm>
            <a:off x="3465576" y="4041648"/>
            <a:ext cx="2468880" cy="777240"/>
          </a:xfrm>
          <a:prstGeom prst="rect">
            <a:avLst/>
          </a:prstGeom>
          <a:noFill/>
        </p:spPr>
        <p:txBody>
          <a:bodyPr wrap="square" lIns="0" tIns="0" rIns="0" bIns="0" anchor="t">
            <a:spAutoFit/>
          </a:bodyPr>
          <a:lstStyle/>
          <a:p>
            <a:pPr algn="l"/>
            <a:r>
              <a:rPr sz="4800" b="1">
                <a:solidFill>
                  <a:srgbClr val="FFFFFF"/>
                </a:solidFill>
                <a:latin typeface="Arial"/>
              </a:rPr>
              <a:t>1 784</a:t>
            </a:r>
          </a:p>
        </p:txBody>
      </p:sp>
      <p:sp>
        <p:nvSpPr>
          <p:cNvPr id="14" name="Rectangle 13"/>
          <p:cNvSpPr/>
          <p:nvPr/>
        </p:nvSpPr>
        <p:spPr>
          <a:xfrm>
            <a:off x="6025896"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+168 places, soit +10 %</a:t>
            </a:r>
          </a:p>
        </p:txBody>
      </p:sp>
      <p:sp>
        <p:nvSpPr>
          <p:cNvPr id="15" name="TextBox 14"/>
          <p:cNvSpPr txBox="1"/>
          <p:nvPr/>
        </p:nvSpPr>
        <p:spPr>
          <a:xfrm>
            <a:off x="950976"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recrutés</a:t>
            </a:r>
          </a:p>
        </p:txBody>
      </p:sp>
      <p:sp>
        <p:nvSpPr>
          <p:cNvPr id="16" name="TextBox 15"/>
          <p:cNvSpPr txBox="1"/>
          <p:nvPr/>
        </p:nvSpPr>
        <p:spPr>
          <a:xfrm>
            <a:off x="950976" y="5394959"/>
            <a:ext cx="1188720" cy="320040"/>
          </a:xfrm>
          <a:prstGeom prst="rect">
            <a:avLst/>
          </a:prstGeom>
          <a:noFill/>
        </p:spPr>
        <p:txBody>
          <a:bodyPr wrap="square" lIns="0" tIns="0" rIns="0" bIns="0" anchor="t">
            <a:spAutoFit/>
          </a:bodyPr>
          <a:lstStyle/>
          <a:p>
            <a:pPr algn="l"/>
            <a:r>
              <a:rPr sz="1500" b="1">
                <a:solidFill>
                  <a:srgbClr val="8A90B0"/>
                </a:solidFill>
                <a:latin typeface="Arial"/>
              </a:rPr>
              <a:t>Sept. 2025</a:t>
            </a:r>
          </a:p>
        </p:txBody>
      </p:sp>
      <p:sp>
        <p:nvSpPr>
          <p:cNvPr id="17" name="TextBox 16"/>
          <p:cNvSpPr txBox="1"/>
          <p:nvPr/>
        </p:nvSpPr>
        <p:spPr>
          <a:xfrm>
            <a:off x="950976"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145</a:t>
            </a:r>
          </a:p>
        </p:txBody>
      </p:sp>
      <p:sp>
        <p:nvSpPr>
          <p:cNvPr id="18" name="TextBox 17"/>
          <p:cNvSpPr txBox="1"/>
          <p:nvPr/>
        </p:nvSpPr>
        <p:spPr>
          <a:xfrm>
            <a:off x="2825496"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19" name="TextBox 18"/>
          <p:cNvSpPr txBox="1"/>
          <p:nvPr/>
        </p:nvSpPr>
        <p:spPr>
          <a:xfrm>
            <a:off x="3465576" y="5257800"/>
            <a:ext cx="1280160" cy="320040"/>
          </a:xfrm>
          <a:prstGeom prst="rect">
            <a:avLst/>
          </a:prstGeom>
          <a:noFill/>
        </p:spPr>
        <p:txBody>
          <a:bodyPr wrap="square" lIns="0" tIns="0" rIns="0" bIns="0" anchor="t">
            <a:spAutoFit/>
          </a:bodyPr>
          <a:lstStyle/>
          <a:p>
            <a:pPr algn="l"/>
            <a:r>
              <a:rPr sz="1500" b="1">
                <a:solidFill>
                  <a:srgbClr val="72C493"/>
                </a:solidFill>
                <a:latin typeface="Arial"/>
              </a:rPr>
              <a:t>Oct. 2026</a:t>
            </a:r>
          </a:p>
        </p:txBody>
      </p:sp>
      <p:sp>
        <p:nvSpPr>
          <p:cNvPr id="20" name="TextBox 19"/>
          <p:cNvSpPr txBox="1"/>
          <p:nvPr/>
        </p:nvSpPr>
        <p:spPr>
          <a:xfrm>
            <a:off x="3465576" y="5458968"/>
            <a:ext cx="2468880" cy="777240"/>
          </a:xfrm>
          <a:prstGeom prst="rect">
            <a:avLst/>
          </a:prstGeom>
          <a:noFill/>
        </p:spPr>
        <p:txBody>
          <a:bodyPr wrap="square" lIns="0" tIns="0" rIns="0" bIns="0" anchor="t">
            <a:spAutoFit/>
          </a:bodyPr>
          <a:lstStyle/>
          <a:p>
            <a:pPr algn="l"/>
            <a:r>
              <a:rPr sz="4800" b="1">
                <a:solidFill>
                  <a:srgbClr val="FFFFFF"/>
                </a:solidFill>
                <a:latin typeface="Arial"/>
              </a:rPr>
              <a:t>162</a:t>
            </a:r>
          </a:p>
        </p:txBody>
      </p:sp>
      <p:sp>
        <p:nvSpPr>
          <p:cNvPr id="21" name="Rectangle 20"/>
          <p:cNvSpPr/>
          <p:nvPr/>
        </p:nvSpPr>
        <p:spPr>
          <a:xfrm>
            <a:off x="6025896"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+17 animateurs</a:t>
            </a:r>
          </a:p>
        </p:txBody>
      </p:sp>
      <p:cxnSp>
        <p:nvCxnSpPr>
          <p:cNvPr id="22" name="Connector 21"/>
          <p:cNvCxnSpPr/>
          <p:nvPr/>
        </p:nvCxnSpPr>
        <p:spPr>
          <a:xfrm>
            <a:off x="9381744" y="2743200"/>
            <a:ext cx="7955280" cy="0"/>
          </a:xfrm>
          <a:prstGeom prst="line">
            <a:avLst/>
          </a:prstGeom>
          <a:ln w="25400">
            <a:solidFill>
              <a:srgbClr val="72C49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381744" y="2880360"/>
            <a:ext cx="7955279" cy="411480"/>
          </a:xfrm>
          <a:prstGeom prst="rect">
            <a:avLst/>
          </a:prstGeom>
          <a:noFill/>
        </p:spPr>
        <p:txBody>
          <a:bodyPr wrap="square" lIns="0" tIns="0" rIns="0" bIns="0" anchor="t">
            <a:spAutoFit/>
          </a:bodyPr>
          <a:lstStyle/>
          <a:p>
            <a:pPr algn="l"/>
            <a:r>
              <a:rPr sz="2100" b="1" spc="150">
                <a:solidFill>
                  <a:srgbClr val="72C493"/>
                </a:solidFill>
                <a:latin typeface="Arial"/>
              </a:rPr>
              <a:t>À LA CANTINE</a:t>
            </a:r>
          </a:p>
        </p:txBody>
      </p:sp>
      <p:sp>
        <p:nvSpPr>
          <p:cNvPr id="24" name="TextBox 23"/>
          <p:cNvSpPr txBox="1"/>
          <p:nvPr/>
        </p:nvSpPr>
        <p:spPr>
          <a:xfrm>
            <a:off x="9381744" y="3474720"/>
            <a:ext cx="7955279" cy="365760"/>
          </a:xfrm>
          <a:prstGeom prst="rect">
            <a:avLst/>
          </a:prstGeom>
          <a:noFill/>
        </p:spPr>
        <p:txBody>
          <a:bodyPr wrap="square" lIns="0" tIns="0" rIns="0" bIns="0" anchor="t">
            <a:spAutoFit/>
          </a:bodyPr>
          <a:lstStyle/>
          <a:p>
            <a:pPr algn="l"/>
            <a:r>
              <a:rPr sz="2000" b="1">
                <a:solidFill>
                  <a:srgbClr val="FFFFFF"/>
                </a:solidFill>
                <a:latin typeface="Arial"/>
              </a:rPr>
              <a:t>Enfants accueillis</a:t>
            </a:r>
          </a:p>
        </p:txBody>
      </p:sp>
      <p:sp>
        <p:nvSpPr>
          <p:cNvPr id="25" name="TextBox 24"/>
          <p:cNvSpPr txBox="1"/>
          <p:nvPr/>
        </p:nvSpPr>
        <p:spPr>
          <a:xfrm>
            <a:off x="9381744" y="397763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26" name="TextBox 25"/>
          <p:cNvSpPr txBox="1"/>
          <p:nvPr/>
        </p:nvSpPr>
        <p:spPr>
          <a:xfrm>
            <a:off x="9381744" y="4224528"/>
            <a:ext cx="1828800" cy="548640"/>
          </a:xfrm>
          <a:prstGeom prst="rect">
            <a:avLst/>
          </a:prstGeom>
          <a:noFill/>
        </p:spPr>
        <p:txBody>
          <a:bodyPr wrap="square" lIns="0" tIns="0" rIns="0" bIns="0" anchor="t">
            <a:spAutoFit/>
          </a:bodyPr>
          <a:lstStyle/>
          <a:p>
            <a:pPr algn="l"/>
            <a:r>
              <a:rPr sz="3200" b="1">
                <a:solidFill>
                  <a:srgbClr val="8A90B0"/>
                </a:solidFill>
                <a:latin typeface="Arial"/>
              </a:rPr>
              <a:t>5 543</a:t>
            </a:r>
          </a:p>
        </p:txBody>
      </p:sp>
      <p:sp>
        <p:nvSpPr>
          <p:cNvPr id="27" name="TextBox 26"/>
          <p:cNvSpPr txBox="1"/>
          <p:nvPr/>
        </p:nvSpPr>
        <p:spPr>
          <a:xfrm>
            <a:off x="11256264" y="413308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28" name="TextBox 27"/>
          <p:cNvSpPr txBox="1"/>
          <p:nvPr/>
        </p:nvSpPr>
        <p:spPr>
          <a:xfrm>
            <a:off x="11896344" y="384048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29" name="TextBox 28"/>
          <p:cNvSpPr txBox="1"/>
          <p:nvPr/>
        </p:nvSpPr>
        <p:spPr>
          <a:xfrm>
            <a:off x="11896344" y="4041648"/>
            <a:ext cx="2468880" cy="777240"/>
          </a:xfrm>
          <a:prstGeom prst="rect">
            <a:avLst/>
          </a:prstGeom>
          <a:noFill/>
        </p:spPr>
        <p:txBody>
          <a:bodyPr wrap="square" lIns="0" tIns="0" rIns="0" bIns="0" anchor="t">
            <a:spAutoFit/>
          </a:bodyPr>
          <a:lstStyle/>
          <a:p>
            <a:pPr algn="l"/>
            <a:r>
              <a:rPr sz="4800" b="1">
                <a:solidFill>
                  <a:srgbClr val="FFFFFF"/>
                </a:solidFill>
                <a:latin typeface="Arial"/>
              </a:rPr>
              <a:t>5 727</a:t>
            </a:r>
          </a:p>
        </p:txBody>
      </p:sp>
      <p:sp>
        <p:nvSpPr>
          <p:cNvPr id="30" name="Rectangle 29"/>
          <p:cNvSpPr/>
          <p:nvPr/>
        </p:nvSpPr>
        <p:spPr>
          <a:xfrm>
            <a:off x="14456664" y="420624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+3,3 %</a:t>
            </a:r>
          </a:p>
        </p:txBody>
      </p:sp>
      <p:sp>
        <p:nvSpPr>
          <p:cNvPr id="31" name="TextBox 30"/>
          <p:cNvSpPr txBox="1"/>
          <p:nvPr/>
        </p:nvSpPr>
        <p:spPr>
          <a:xfrm>
            <a:off x="9381744" y="489204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maternelle</a:t>
            </a:r>
          </a:p>
        </p:txBody>
      </p:sp>
      <p:sp>
        <p:nvSpPr>
          <p:cNvPr id="32" name="TextBox 31"/>
          <p:cNvSpPr txBox="1"/>
          <p:nvPr/>
        </p:nvSpPr>
        <p:spPr>
          <a:xfrm>
            <a:off x="9381744" y="5394959"/>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33" name="TextBox 32"/>
          <p:cNvSpPr txBox="1"/>
          <p:nvPr/>
        </p:nvSpPr>
        <p:spPr>
          <a:xfrm>
            <a:off x="9381744" y="5641848"/>
            <a:ext cx="1828800" cy="548640"/>
          </a:xfrm>
          <a:prstGeom prst="rect">
            <a:avLst/>
          </a:prstGeom>
          <a:noFill/>
        </p:spPr>
        <p:txBody>
          <a:bodyPr wrap="square" lIns="0" tIns="0" rIns="0" bIns="0" anchor="t">
            <a:spAutoFit/>
          </a:bodyPr>
          <a:lstStyle/>
          <a:p>
            <a:pPr algn="l"/>
            <a:r>
              <a:rPr sz="3200" b="1">
                <a:solidFill>
                  <a:srgbClr val="8A90B0"/>
                </a:solidFill>
                <a:latin typeface="Arial"/>
              </a:rPr>
              <a:t>199</a:t>
            </a:r>
          </a:p>
        </p:txBody>
      </p:sp>
      <p:sp>
        <p:nvSpPr>
          <p:cNvPr id="34" name="TextBox 33"/>
          <p:cNvSpPr txBox="1"/>
          <p:nvPr/>
        </p:nvSpPr>
        <p:spPr>
          <a:xfrm>
            <a:off x="11256264" y="5550407"/>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35" name="TextBox 34"/>
          <p:cNvSpPr txBox="1"/>
          <p:nvPr/>
        </p:nvSpPr>
        <p:spPr>
          <a:xfrm>
            <a:off x="11896344" y="525780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36" name="TextBox 35"/>
          <p:cNvSpPr txBox="1"/>
          <p:nvPr/>
        </p:nvSpPr>
        <p:spPr>
          <a:xfrm>
            <a:off x="11896344" y="5458968"/>
            <a:ext cx="2468880" cy="777240"/>
          </a:xfrm>
          <a:prstGeom prst="rect">
            <a:avLst/>
          </a:prstGeom>
          <a:noFill/>
        </p:spPr>
        <p:txBody>
          <a:bodyPr wrap="square" lIns="0" tIns="0" rIns="0" bIns="0" anchor="t">
            <a:spAutoFit/>
          </a:bodyPr>
          <a:lstStyle/>
          <a:p>
            <a:pPr algn="l"/>
            <a:r>
              <a:rPr sz="4800" b="1">
                <a:solidFill>
                  <a:srgbClr val="FFFFFF"/>
                </a:solidFill>
                <a:latin typeface="Arial"/>
              </a:rPr>
              <a:t>248</a:t>
            </a:r>
          </a:p>
        </p:txBody>
      </p:sp>
      <p:sp>
        <p:nvSpPr>
          <p:cNvPr id="37" name="Rectangle 36"/>
          <p:cNvSpPr/>
          <p:nvPr/>
        </p:nvSpPr>
        <p:spPr>
          <a:xfrm>
            <a:off x="14456664" y="5623559"/>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+49 animateurs</a:t>
            </a:r>
          </a:p>
        </p:txBody>
      </p:sp>
      <p:sp>
        <p:nvSpPr>
          <p:cNvPr id="38" name="TextBox 37"/>
          <p:cNvSpPr txBox="1"/>
          <p:nvPr/>
        </p:nvSpPr>
        <p:spPr>
          <a:xfrm>
            <a:off x="9381744" y="6309360"/>
            <a:ext cx="7955279" cy="365760"/>
          </a:xfrm>
          <a:prstGeom prst="rect">
            <a:avLst/>
          </a:prstGeom>
          <a:noFill/>
        </p:spPr>
        <p:txBody>
          <a:bodyPr wrap="square" lIns="0" tIns="0" rIns="0" bIns="0" anchor="t">
            <a:spAutoFit/>
          </a:bodyPr>
          <a:lstStyle/>
          <a:p>
            <a:pPr algn="l"/>
            <a:r>
              <a:rPr sz="2000" b="1">
                <a:solidFill>
                  <a:srgbClr val="FFFFFF"/>
                </a:solidFill>
                <a:latin typeface="Arial"/>
              </a:rPr>
              <a:t>Animateurs en élémentaire</a:t>
            </a:r>
          </a:p>
        </p:txBody>
      </p:sp>
      <p:sp>
        <p:nvSpPr>
          <p:cNvPr id="39" name="TextBox 38"/>
          <p:cNvSpPr txBox="1"/>
          <p:nvPr/>
        </p:nvSpPr>
        <p:spPr>
          <a:xfrm>
            <a:off x="9381744" y="6812280"/>
            <a:ext cx="1188720" cy="320040"/>
          </a:xfrm>
          <a:prstGeom prst="rect">
            <a:avLst/>
          </a:prstGeom>
          <a:noFill/>
        </p:spPr>
        <p:txBody>
          <a:bodyPr wrap="square" lIns="0" tIns="0" rIns="0" bIns="0" anchor="t">
            <a:spAutoFit/>
          </a:bodyPr>
          <a:lstStyle/>
          <a:p>
            <a:pPr algn="l"/>
            <a:r>
              <a:rPr sz="1500" b="1">
                <a:solidFill>
                  <a:srgbClr val="8A90B0"/>
                </a:solidFill>
                <a:latin typeface="Arial"/>
              </a:rPr>
              <a:t>2025</a:t>
            </a:r>
          </a:p>
        </p:txBody>
      </p:sp>
      <p:sp>
        <p:nvSpPr>
          <p:cNvPr id="40" name="TextBox 39"/>
          <p:cNvSpPr txBox="1"/>
          <p:nvPr/>
        </p:nvSpPr>
        <p:spPr>
          <a:xfrm>
            <a:off x="9381744" y="7059168"/>
            <a:ext cx="1828800" cy="548640"/>
          </a:xfrm>
          <a:prstGeom prst="rect">
            <a:avLst/>
          </a:prstGeom>
          <a:noFill/>
        </p:spPr>
        <p:txBody>
          <a:bodyPr wrap="square" lIns="0" tIns="0" rIns="0" bIns="0" anchor="t">
            <a:spAutoFit/>
          </a:bodyPr>
          <a:lstStyle/>
          <a:p>
            <a:pPr algn="l"/>
            <a:r>
              <a:rPr sz="3200" b="1">
                <a:solidFill>
                  <a:srgbClr val="8A90B0"/>
                </a:solidFill>
                <a:latin typeface="Arial"/>
              </a:rPr>
              <a:t>123</a:t>
            </a:r>
          </a:p>
        </p:txBody>
      </p:sp>
      <p:sp>
        <p:nvSpPr>
          <p:cNvPr id="41" name="TextBox 40"/>
          <p:cNvSpPr txBox="1"/>
          <p:nvPr/>
        </p:nvSpPr>
        <p:spPr>
          <a:xfrm>
            <a:off x="11256264" y="6967728"/>
            <a:ext cx="548640" cy="548640"/>
          </a:xfrm>
          <a:prstGeom prst="rect">
            <a:avLst/>
          </a:prstGeom>
          <a:noFill/>
        </p:spPr>
        <p:txBody>
          <a:bodyPr wrap="square" lIns="0" tIns="0" rIns="0" bIns="0" anchor="t">
            <a:spAutoFit/>
          </a:bodyPr>
          <a:lstStyle/>
          <a:p>
            <a:pPr algn="l"/>
            <a:r>
              <a:rPr sz="3000" b="0">
                <a:solidFill>
                  <a:srgbClr val="72C493"/>
                </a:solidFill>
                <a:latin typeface="Arial"/>
              </a:rPr>
              <a:t>→</a:t>
            </a:r>
          </a:p>
        </p:txBody>
      </p:sp>
      <p:sp>
        <p:nvSpPr>
          <p:cNvPr id="42" name="TextBox 41"/>
          <p:cNvSpPr txBox="1"/>
          <p:nvPr/>
        </p:nvSpPr>
        <p:spPr>
          <a:xfrm>
            <a:off x="11896344" y="6675120"/>
            <a:ext cx="1280160" cy="320040"/>
          </a:xfrm>
          <a:prstGeom prst="rect">
            <a:avLst/>
          </a:prstGeom>
          <a:noFill/>
        </p:spPr>
        <p:txBody>
          <a:bodyPr wrap="square" lIns="0" tIns="0" rIns="0" bIns="0" anchor="t">
            <a:spAutoFit/>
          </a:bodyPr>
          <a:lstStyle/>
          <a:p>
            <a:pPr algn="l"/>
            <a:r>
              <a:rPr sz="1500" b="1">
                <a:solidFill>
                  <a:srgbClr val="72C493"/>
                </a:solidFill>
                <a:latin typeface="Arial"/>
              </a:rPr>
              <a:t>2026</a:t>
            </a:r>
          </a:p>
        </p:txBody>
      </p:sp>
      <p:sp>
        <p:nvSpPr>
          <p:cNvPr id="43" name="TextBox 42"/>
          <p:cNvSpPr txBox="1"/>
          <p:nvPr/>
        </p:nvSpPr>
        <p:spPr>
          <a:xfrm>
            <a:off x="11896344" y="6876288"/>
            <a:ext cx="2468880" cy="777240"/>
          </a:xfrm>
          <a:prstGeom prst="rect">
            <a:avLst/>
          </a:prstGeom>
          <a:noFill/>
        </p:spPr>
        <p:txBody>
          <a:bodyPr wrap="square" lIns="0" tIns="0" rIns="0" bIns="0" anchor="t">
            <a:spAutoFit/>
          </a:bodyPr>
          <a:lstStyle/>
          <a:p>
            <a:pPr algn="l"/>
            <a:r>
              <a:rPr sz="4800" b="1">
                <a:solidFill>
                  <a:srgbClr val="FFFFFF"/>
                </a:solidFill>
                <a:latin typeface="Arial"/>
              </a:rPr>
              <a:t>130</a:t>
            </a:r>
          </a:p>
        </p:txBody>
      </p:sp>
      <p:sp>
        <p:nvSpPr>
          <p:cNvPr id="44" name="Rectangle 43"/>
          <p:cNvSpPr/>
          <p:nvPr/>
        </p:nvSpPr>
        <p:spPr>
          <a:xfrm>
            <a:off x="14456664" y="7040880"/>
            <a:ext cx="2880359"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r>
              <a:rPr sz="1700" b="1">
                <a:solidFill>
                  <a:srgbClr val="0E1F5B"/>
                </a:solidFill>
                <a:latin typeface="Arial"/>
              </a:rPr>
              <a:t>+5 %</a:t>
            </a:r>
          </a:p>
        </p:txBody>
      </p:sp>
      <p:sp>
        <p:nvSpPr>
          <p:cNvPr id="45" name="Rectangle 44"/>
          <p:cNvSpPr/>
          <p:nvPr/>
        </p:nvSpPr>
        <p:spPr>
          <a:xfrm>
            <a:off x="950976"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71016"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DE MATERNELLE</a:t>
            </a:r>
          </a:p>
        </p:txBody>
      </p:sp>
      <p:sp>
        <p:nvSpPr>
          <p:cNvPr id="47" name="TextBox 46"/>
          <p:cNvSpPr txBox="1"/>
          <p:nvPr/>
        </p:nvSpPr>
        <p:spPr>
          <a:xfrm>
            <a:off x="1271016" y="8503920"/>
            <a:ext cx="7315200" cy="914400"/>
          </a:xfrm>
          <a:prstGeom prst="rect">
            <a:avLst/>
          </a:prstGeom>
          <a:noFill/>
        </p:spPr>
        <p:txBody>
          <a:bodyPr wrap="square" lIns="0" tIns="0" rIns="0" bIns="0" anchor="t">
            <a:spAutoFit/>
          </a:bodyPr>
          <a:lstStyle/>
          <a:p>
            <a:pPr algn="l"/>
            <a:r>
              <a:rPr sz="2100" b="1">
                <a:solidFill>
                  <a:srgbClr val="FFFFFF"/>
                </a:solidFill>
                <a:latin typeface="Arial"/>
              </a:rPr>
              <a:t>96 % des cantines à 1 animateur pour 10 enfants ou mieux, contre 44 % en 2025</a:t>
            </a:r>
          </a:p>
        </p:txBody>
      </p:sp>
      <p:sp>
        <p:nvSpPr>
          <p:cNvPr id="48" name="Rectangle 47"/>
          <p:cNvSpPr/>
          <p:nvPr/>
        </p:nvSpPr>
        <p:spPr>
          <a:xfrm>
            <a:off x="9381744" y="7909560"/>
            <a:ext cx="7955279" cy="160020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701784" y="8092440"/>
            <a:ext cx="7315200" cy="365760"/>
          </a:xfrm>
          <a:prstGeom prst="rect">
            <a:avLst/>
          </a:prstGeom>
          <a:noFill/>
        </p:spPr>
        <p:txBody>
          <a:bodyPr wrap="square" lIns="0" tIns="0" rIns="0" bIns="0" anchor="t">
            <a:spAutoFit/>
          </a:bodyPr>
          <a:lstStyle/>
          <a:p>
            <a:pPr algn="l"/>
            <a:r>
              <a:rPr sz="1700" b="1" spc="150">
                <a:solidFill>
                  <a:srgbClr val="72C493"/>
                </a:solidFill>
                <a:latin typeface="Arial"/>
              </a:rPr>
              <a:t>CANTINES D'ÉLÉMENTAIRE</a:t>
            </a:r>
          </a:p>
        </p:txBody>
      </p:sp>
      <p:sp>
        <p:nvSpPr>
          <p:cNvPr id="50" name="TextBox 49"/>
          <p:cNvSpPr txBox="1"/>
          <p:nvPr/>
        </p:nvSpPr>
        <p:spPr>
          <a:xfrm>
            <a:off x="9701784" y="8503920"/>
            <a:ext cx="7315200" cy="914400"/>
          </a:xfrm>
          <a:prstGeom prst="rect">
            <a:avLst/>
          </a:prstGeom>
          <a:noFill/>
        </p:spPr>
        <p:txBody>
          <a:bodyPr wrap="square" lIns="0" tIns="0" rIns="0" bIns="0" anchor="t">
            <a:spAutoFit/>
          </a:bodyPr>
          <a:lstStyle/>
          <a:p>
            <a:pPr algn="l"/>
            <a:r>
              <a:rPr sz="2100" b="1">
                <a:solidFill>
                  <a:srgbClr val="FFFFFF"/>
                </a:solidFill>
                <a:latin typeface="Arial"/>
              </a:rPr>
              <a:t>14 cantines sur 26 à 1 pour 25, 19 d'ici mi-octobre. Objectif : toutes d'ici la fin de l'année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677108"/>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dirty="0">
                <a:solidFill>
                  <a:srgbClr val="FFFFFF"/>
                </a:solidFill>
                <a:latin typeface="Arial"/>
              </a:rPr>
              <a:t>Circulation</a:t>
            </a:r>
            <a:r>
              <a:rPr lang="fr-FR" sz="4400" b="1" dirty="0">
                <a:solidFill>
                  <a:srgbClr val="FFFFFF"/>
                </a:solidFill>
                <a:latin typeface="Arial"/>
              </a:rPr>
              <a:t> dans le quartier et</a:t>
            </a:r>
            <a:r>
              <a:rPr sz="4400" b="1" dirty="0">
                <a:solidFill>
                  <a:srgbClr val="FFFFFF"/>
                </a:solidFill>
                <a:latin typeface="Arial"/>
              </a:rPr>
              <a:t> aux </a:t>
            </a:r>
            <a:r>
              <a:rPr sz="4400" b="1" dirty="0" err="1">
                <a:solidFill>
                  <a:srgbClr val="FFFFFF"/>
                </a:solidFill>
                <a:latin typeface="Arial"/>
              </a:rPr>
              <a:t>abords</a:t>
            </a:r>
            <a:r>
              <a:rPr sz="4400" b="1" dirty="0">
                <a:solidFill>
                  <a:srgbClr val="FFFFFF"/>
                </a:solidFill>
                <a:latin typeface="Arial"/>
              </a:rPr>
              <a:t> des </a:t>
            </a:r>
            <a:r>
              <a:rPr sz="4400" b="1" dirty="0" err="1">
                <a:solidFill>
                  <a:srgbClr val="FFFFFF"/>
                </a:solidFill>
                <a:latin typeface="Arial"/>
              </a:rPr>
              <a:t>écoles</a:t>
            </a:r>
            <a:endParaRPr sz="4400" b="1" dirty="0">
              <a:solidFill>
                <a:srgbClr val="FFFFFF"/>
              </a:solidFill>
              <a:latin typeface="Arial"/>
            </a:endParaRPr>
          </a:p>
        </p:txBody>
      </p:sp>
      <p:sp>
        <p:nvSpPr>
          <p:cNvPr id="5" name="Rectangle 4"/>
          <p:cNvSpPr/>
          <p:nvPr/>
        </p:nvSpPr>
        <p:spPr>
          <a:xfrm>
            <a:off x="9509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1305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221991"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478024" y="2999232"/>
            <a:ext cx="768096" cy="768096"/>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0E1F5B"/>
                </a:solidFill>
                <a:latin typeface="Arial"/>
              </a:rPr>
              <a:t>P</a:t>
            </a:r>
          </a:p>
        </p:txBody>
      </p:sp>
      <p:sp>
        <p:nvSpPr>
          <p:cNvPr id="9" name="TextBox 8"/>
          <p:cNvSpPr txBox="1"/>
          <p:nvPr/>
        </p:nvSpPr>
        <p:spPr>
          <a:xfrm>
            <a:off x="12252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Circulation et stationnement aux abords de l'école des Gobelins</a:t>
            </a:r>
          </a:p>
        </p:txBody>
      </p:sp>
      <p:sp>
        <p:nvSpPr>
          <p:cNvPr id="10" name="Rectangle 9"/>
          <p:cNvSpPr/>
          <p:nvPr/>
        </p:nvSpPr>
        <p:spPr>
          <a:xfrm>
            <a:off x="50657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245352"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367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Isosceles Triangle 12"/>
          <p:cNvSpPr/>
          <p:nvPr/>
        </p:nvSpPr>
        <p:spPr>
          <a:xfrm>
            <a:off x="6519672" y="2880360"/>
            <a:ext cx="914400" cy="457200"/>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29400" y="3328416"/>
            <a:ext cx="69494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876288" y="3529584"/>
            <a:ext cx="201168" cy="310896"/>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400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Stationnement gênant dans les rues pavillonnaires</a:t>
            </a:r>
          </a:p>
        </p:txBody>
      </p:sp>
      <p:sp>
        <p:nvSpPr>
          <p:cNvPr id="17" name="Rectangle 16"/>
          <p:cNvSpPr/>
          <p:nvPr/>
        </p:nvSpPr>
        <p:spPr>
          <a:xfrm>
            <a:off x="91805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3601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4515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524744" y="3035808"/>
            <a:ext cx="713232"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 Single Corner Rectangle 20"/>
          <p:cNvSpPr/>
          <p:nvPr/>
        </p:nvSpPr>
        <p:spPr>
          <a:xfrm>
            <a:off x="11274551" y="3236976"/>
            <a:ext cx="384048" cy="329184"/>
          </a:xfrm>
          <a:prstGeom prst="round1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607039"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301984" y="3511296"/>
            <a:ext cx="274320" cy="274320"/>
          </a:xfrm>
          <a:prstGeom prst="ellipse">
            <a:avLst/>
          </a:prstGeom>
          <a:solidFill>
            <a:srgbClr val="FFFFFF"/>
          </a:solidFill>
          <a:ln w="508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548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Véhicules de livraison</a:t>
            </a:r>
          </a:p>
        </p:txBody>
      </p:sp>
      <p:sp>
        <p:nvSpPr>
          <p:cNvPr id="25" name="Rectangle 24"/>
          <p:cNvSpPr/>
          <p:nvPr/>
        </p:nvSpPr>
        <p:spPr>
          <a:xfrm>
            <a:off x="13295376" y="2331720"/>
            <a:ext cx="3822191" cy="420624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4474951" y="2651760"/>
            <a:ext cx="1463040" cy="146304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4566392" y="2743200"/>
            <a:ext cx="1280160" cy="1280160"/>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Block Arc 27"/>
          <p:cNvSpPr/>
          <p:nvPr/>
        </p:nvSpPr>
        <p:spPr>
          <a:xfrm>
            <a:off x="14703551" y="2926080"/>
            <a:ext cx="1005840" cy="1005840"/>
          </a:xfrm>
          <a:prstGeom prst="blockArc">
            <a:avLst>
              <a:gd name="adj1" fmla="val 18000000"/>
              <a:gd name="adj2" fmla="val 0"/>
              <a:gd name="adj3"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flipV="1">
            <a:off x="15206472" y="3108960"/>
            <a:ext cx="301751" cy="320040"/>
          </a:xfrm>
          <a:prstGeom prst="line">
            <a:avLst/>
          </a:prstGeom>
          <a:ln w="76200">
            <a:solidFill>
              <a:srgbClr val="FFFFF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5124176" y="3346704"/>
            <a:ext cx="164592" cy="1645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569696" y="4389120"/>
            <a:ext cx="3273552" cy="2011680"/>
          </a:xfrm>
          <a:prstGeom prst="rect">
            <a:avLst/>
          </a:prstGeom>
          <a:noFill/>
        </p:spPr>
        <p:txBody>
          <a:bodyPr wrap="square" lIns="0" tIns="0" rIns="0" bIns="0" anchor="t">
            <a:spAutoFit/>
          </a:bodyPr>
          <a:lstStyle/>
          <a:p>
            <a:pPr algn="ctr"/>
            <a:r>
              <a:rPr sz="2400" b="1">
                <a:solidFill>
                  <a:srgbClr val="FFFFFF"/>
                </a:solidFill>
                <a:latin typeface="Arial"/>
              </a:rPr>
              <a:t>Vitesse excessive avenue Médéric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Une nouvelle piste cyclable pour joindre le centre</a:t>
            </a:r>
          </a:p>
        </p:txBody>
      </p:sp>
      <p:sp>
        <p:nvSpPr>
          <p:cNvPr id="5" name="Rectangle 4"/>
          <p:cNvSpPr/>
          <p:nvPr/>
        </p:nvSpPr>
        <p:spPr>
          <a:xfrm>
            <a:off x="950976" y="2331720"/>
            <a:ext cx="16367759" cy="6355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obilites_01_piste_cyclable_plan.png"/>
          <p:cNvPicPr>
            <a:picLocks noChangeAspect="1"/>
          </p:cNvPicPr>
          <p:nvPr/>
        </p:nvPicPr>
        <p:blipFill>
          <a:blip r:embed="rId3"/>
          <a:stretch>
            <a:fillRect/>
          </a:stretch>
        </p:blipFill>
        <p:spPr>
          <a:xfrm>
            <a:off x="1088136" y="2790495"/>
            <a:ext cx="16093440" cy="5437528"/>
          </a:xfrm>
          <a:prstGeom prst="rect">
            <a:avLst/>
          </a:prstGeom>
        </p:spPr>
      </p:pic>
      <p:sp>
        <p:nvSpPr>
          <p:cNvPr id="7" name="Up Arrow 6"/>
          <p:cNvSpPr/>
          <p:nvPr/>
        </p:nvSpPr>
        <p:spPr>
          <a:xfrm>
            <a:off x="3703320" y="2395728"/>
            <a:ext cx="548640" cy="685800"/>
          </a:xfrm>
          <a:prstGeom prst="upArrow">
            <a:avLst/>
          </a:prstGeom>
          <a:solidFill>
            <a:srgbClr val="72C493"/>
          </a:solidFill>
          <a:ln>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34840" y="2514600"/>
            <a:ext cx="2834640" cy="457200"/>
          </a:xfrm>
          <a:prstGeom prst="round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2514600"/>
            <a:ext cx="2834640" cy="457200"/>
          </a:xfrm>
          <a:prstGeom prst="rect">
            <a:avLst/>
          </a:prstGeom>
          <a:noFill/>
        </p:spPr>
        <p:txBody>
          <a:bodyPr wrap="square" anchor="ctr" lIns="0" rIns="0" tIns="0" bIns="0">
            <a:spAutoFit/>
          </a:bodyPr>
          <a:lstStyle/>
          <a:p>
            <a:pPr algn="ctr"/>
            <a:r>
              <a:rPr sz="1800" b="1">
                <a:solidFill>
                  <a:srgbClr val="FFFFFF"/>
                </a:solidFill>
                <a:latin typeface="Arial"/>
              </a:rPr>
              <a:t>Vers le centre-ville</a:t>
            </a:r>
          </a:p>
        </p:txBody>
      </p:sp>
      <p:sp>
        <p:nvSpPr>
          <p:cNvPr id="10" name="Right Arrow 9"/>
          <p:cNvSpPr/>
          <p:nvPr/>
        </p:nvSpPr>
        <p:spPr>
          <a:xfrm>
            <a:off x="16322040" y="4114800"/>
            <a:ext cx="868680" cy="548640"/>
          </a:xfrm>
          <a:prstGeom prst="rightArrow">
            <a:avLst/>
          </a:prstGeom>
          <a:solidFill>
            <a:srgbClr val="72C493"/>
          </a:solidFill>
          <a:ln>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3487400" y="3337560"/>
            <a:ext cx="3703320" cy="457200"/>
          </a:xfrm>
          <a:prstGeom prst="round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487400" y="3337560"/>
            <a:ext cx="3703320" cy="457200"/>
          </a:xfrm>
          <a:prstGeom prst="rect">
            <a:avLst/>
          </a:prstGeom>
          <a:noFill/>
        </p:spPr>
        <p:txBody>
          <a:bodyPr wrap="square" anchor="ctr" lIns="0" rIns="0" tIns="0" bIns="0">
            <a:spAutoFit/>
          </a:bodyPr>
          <a:lstStyle/>
          <a:p>
            <a:pPr algn="ctr"/>
            <a:r>
              <a:rPr sz="1800" b="1">
                <a:solidFill>
                  <a:srgbClr val="FFFFFF"/>
                </a:solidFill>
                <a:latin typeface="Arial"/>
              </a:rPr>
              <a:t>Vers l'entrée d'autoroute</a:t>
            </a:r>
          </a:p>
        </p:txBody>
      </p:sp>
      <p:sp>
        <p:nvSpPr>
          <p:cNvPr id="13" name="Rectangle 12"/>
          <p:cNvSpPr/>
          <p:nvPr/>
        </p:nvSpPr>
        <p:spPr>
          <a:xfrm>
            <a:off x="950976" y="9006840"/>
            <a:ext cx="822960" cy="329184"/>
          </a:xfrm>
          <a:prstGeom prst="rect">
            <a:avLst/>
          </a:prstGeom>
          <a:solidFill>
            <a:srgbClr val="E84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65960" y="8961119"/>
            <a:ext cx="7315200" cy="411480"/>
          </a:xfrm>
          <a:prstGeom prst="rect">
            <a:avLst/>
          </a:prstGeom>
          <a:noFill/>
        </p:spPr>
        <p:txBody>
          <a:bodyPr wrap="square" anchor="t" lIns="0" rIns="0" tIns="0" bIns="0">
            <a:spAutoFit/>
          </a:bodyPr>
          <a:lstStyle/>
          <a:p>
            <a:pPr algn="l"/>
            <a:r>
              <a:rPr sz="2200" b="1">
                <a:solidFill>
                  <a:srgbClr val="0E1F5B"/>
                </a:solidFill>
                <a:latin typeface="Arial"/>
              </a:rPr>
              <a:t>Piste cyclable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Le plan d'aménagement du carrefour</a:t>
            </a:r>
          </a:p>
        </p:txBody>
      </p:sp>
      <p:sp>
        <p:nvSpPr>
          <p:cNvPr id="5" name="Rectangle 4"/>
          <p:cNvSpPr/>
          <p:nvPr/>
        </p:nvSpPr>
        <p:spPr>
          <a:xfrm>
            <a:off x="950976" y="2331720"/>
            <a:ext cx="16367759" cy="58247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obilites_04_piste_cyclable_plan_carrefour.png"/>
          <p:cNvPicPr>
            <a:picLocks noChangeAspect="1"/>
          </p:cNvPicPr>
          <p:nvPr/>
        </p:nvPicPr>
        <p:blipFill>
          <a:blip r:embed="rId3"/>
          <a:stretch>
            <a:fillRect/>
          </a:stretch>
        </p:blipFill>
        <p:spPr>
          <a:xfrm>
            <a:off x="1088851" y="2468880"/>
            <a:ext cx="16092009" cy="5550408"/>
          </a:xfrm>
          <a:prstGeom prst="rect">
            <a:avLst/>
          </a:prstGeom>
        </p:spPr>
      </p:pic>
      <p:sp>
        <p:nvSpPr>
          <p:cNvPr id="7" name="Rectangle 6"/>
          <p:cNvSpPr/>
          <p:nvPr/>
        </p:nvSpPr>
        <p:spPr>
          <a:xfrm>
            <a:off x="950976" y="8503920"/>
            <a:ext cx="822960" cy="329184"/>
          </a:xfrm>
          <a:prstGeom prst="rect">
            <a:avLst/>
          </a:prstGeom>
          <a:solidFill>
            <a:srgbClr val="E84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65960" y="8458200"/>
            <a:ext cx="7315200" cy="411480"/>
          </a:xfrm>
          <a:prstGeom prst="rect">
            <a:avLst/>
          </a:prstGeom>
          <a:noFill/>
        </p:spPr>
        <p:txBody>
          <a:bodyPr wrap="square" anchor="t" lIns="0" rIns="0" tIns="0" bIns="0">
            <a:spAutoFit/>
          </a:bodyPr>
          <a:lstStyle/>
          <a:p>
            <a:pPr algn="l"/>
            <a:r>
              <a:rPr sz="2200" b="1">
                <a:solidFill>
                  <a:srgbClr val="0E1F5B"/>
                </a:solidFill>
                <a:latin typeface="Arial"/>
              </a:rPr>
              <a:t>Piste cyclable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La vidéoprotection dans le quartier</a:t>
            </a:r>
          </a:p>
        </p:txBody>
      </p:sp>
      <p:pic>
        <p:nvPicPr>
          <p:cNvPr id="5" name="Picture 4" descr="Securite_01_cameras_quartier.png"/>
          <p:cNvPicPr>
            <a:picLocks noChangeAspect="1"/>
          </p:cNvPicPr>
          <p:nvPr/>
        </p:nvPicPr>
        <p:blipFill>
          <a:blip r:embed="rId4"/>
          <a:stretch>
            <a:fillRect/>
          </a:stretch>
        </p:blipFill>
        <p:spPr>
          <a:xfrm>
            <a:off x="950976" y="2561035"/>
            <a:ext cx="10881360" cy="5667848"/>
          </a:xfrm>
          <a:prstGeom prst="rect">
            <a:avLst/>
          </a:prstGeom>
        </p:spPr>
      </p:pic>
      <p:sp>
        <p:nvSpPr>
          <p:cNvPr id="6" name="Isosceles Triangle 5"/>
          <p:cNvSpPr/>
          <p:nvPr/>
        </p:nvSpPr>
        <p:spPr>
          <a:xfrm>
            <a:off x="950976" y="8503203"/>
            <a:ext cx="329184" cy="289681"/>
          </a:xfrm>
          <a:prstGeom prst="triangle">
            <a:avLst/>
          </a:prstGeom>
          <a:solidFill>
            <a:srgbClr val="72C493"/>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8466627"/>
            <a:ext cx="3840480" cy="411480"/>
          </a:xfrm>
          <a:prstGeom prst="rect">
            <a:avLst/>
          </a:prstGeom>
          <a:noFill/>
        </p:spPr>
        <p:txBody>
          <a:bodyPr wrap="square" lIns="0" tIns="0" rIns="0" bIns="0" anchor="t">
            <a:spAutoFit/>
          </a:bodyPr>
          <a:lstStyle/>
          <a:p>
            <a:pPr algn="l"/>
            <a:r>
              <a:rPr sz="2200" b="1">
                <a:solidFill>
                  <a:srgbClr val="0E1F5B"/>
                </a:solidFill>
                <a:latin typeface="Arial"/>
              </a:rPr>
              <a:t>Caméra en service</a:t>
            </a:r>
          </a:p>
        </p:txBody>
      </p:sp>
      <p:sp>
        <p:nvSpPr>
          <p:cNvPr id="8" name="Isosceles Triangle 7"/>
          <p:cNvSpPr/>
          <p:nvPr/>
        </p:nvSpPr>
        <p:spPr>
          <a:xfrm>
            <a:off x="5120640" y="8503203"/>
            <a:ext cx="329184" cy="289681"/>
          </a:xfrm>
          <a:prstGeom prst="triangle">
            <a:avLst/>
          </a:prstGeom>
          <a:solidFill>
            <a:srgbClr val="F2D43A"/>
          </a:solidFill>
          <a:ln w="15875">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86984" y="8466627"/>
            <a:ext cx="5943600" cy="338554"/>
          </a:xfrm>
          <a:prstGeom prst="rect">
            <a:avLst/>
          </a:prstGeom>
          <a:noFill/>
        </p:spPr>
        <p:txBody>
          <a:bodyPr wrap="square" lIns="0" tIns="0" rIns="0" bIns="0" anchor="t">
            <a:spAutoFit/>
          </a:bodyPr>
          <a:lstStyle/>
          <a:p>
            <a:pPr algn="l"/>
            <a:r>
              <a:rPr sz="2200" b="1" dirty="0" err="1">
                <a:solidFill>
                  <a:srgbClr val="0E1F5B"/>
                </a:solidFill>
                <a:latin typeface="Arial"/>
              </a:rPr>
              <a:t>Caméra</a:t>
            </a:r>
            <a:r>
              <a:rPr sz="2200" b="1" dirty="0">
                <a:solidFill>
                  <a:srgbClr val="0E1F5B"/>
                </a:solidFill>
                <a:latin typeface="Arial"/>
              </a:rPr>
              <a:t> </a:t>
            </a:r>
            <a:r>
              <a:rPr sz="2200" b="1" dirty="0" err="1">
                <a:solidFill>
                  <a:srgbClr val="0E1F5B"/>
                </a:solidFill>
                <a:latin typeface="Arial"/>
              </a:rPr>
              <a:t>en</a:t>
            </a:r>
            <a:r>
              <a:rPr sz="2200" b="1" dirty="0">
                <a:solidFill>
                  <a:srgbClr val="0E1F5B"/>
                </a:solidFill>
                <a:latin typeface="Arial"/>
              </a:rPr>
              <a:t> </a:t>
            </a:r>
            <a:r>
              <a:rPr lang="fr-FR" sz="2200" b="1" dirty="0">
                <a:solidFill>
                  <a:srgbClr val="0E1F5B"/>
                </a:solidFill>
                <a:latin typeface="Arial"/>
              </a:rPr>
              <a:t>projet</a:t>
            </a:r>
            <a:endParaRPr sz="2200" b="1" dirty="0">
              <a:solidFill>
                <a:srgbClr val="0E1F5B"/>
              </a:solidFill>
              <a:latin typeface="Arial"/>
            </a:endParaRPr>
          </a:p>
        </p:txBody>
      </p:sp>
      <p:sp>
        <p:nvSpPr>
          <p:cNvPr id="10" name="Rectangle 9"/>
          <p:cNvSpPr/>
          <p:nvPr/>
        </p:nvSpPr>
        <p:spPr>
          <a:xfrm>
            <a:off x="12252960" y="22402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573000" y="2496312"/>
            <a:ext cx="4535424" cy="914400"/>
          </a:xfrm>
          <a:prstGeom prst="rect">
            <a:avLst/>
          </a:prstGeom>
          <a:noFill/>
        </p:spPr>
        <p:txBody>
          <a:bodyPr wrap="square" lIns="0" tIns="0" rIns="0" bIns="0" anchor="t">
            <a:spAutoFit/>
          </a:bodyPr>
          <a:lstStyle/>
          <a:p>
            <a:pPr algn="l"/>
            <a:r>
              <a:rPr sz="6600" b="1">
                <a:solidFill>
                  <a:srgbClr val="72C493"/>
                </a:solidFill>
                <a:latin typeface="Arial"/>
              </a:rPr>
              <a:t>29</a:t>
            </a:r>
          </a:p>
        </p:txBody>
      </p:sp>
      <p:sp>
        <p:nvSpPr>
          <p:cNvPr id="12" name="TextBox 11"/>
          <p:cNvSpPr txBox="1"/>
          <p:nvPr/>
        </p:nvSpPr>
        <p:spPr>
          <a:xfrm>
            <a:off x="12573000" y="3544062"/>
            <a:ext cx="4535424" cy="1051560"/>
          </a:xfrm>
          <a:prstGeom prst="rect">
            <a:avLst/>
          </a:prstGeom>
          <a:noFill/>
        </p:spPr>
        <p:txBody>
          <a:bodyPr wrap="square" lIns="0" tIns="0" rIns="0" bIns="0" anchor="t">
            <a:spAutoFit/>
          </a:bodyPr>
          <a:lstStyle/>
          <a:p>
            <a:pPr algn="l"/>
            <a:r>
              <a:rPr sz="2400" b="1">
                <a:solidFill>
                  <a:srgbClr val="FAF5EC"/>
                </a:solidFill>
                <a:latin typeface="Arial"/>
              </a:rPr>
              <a:t>caméras en service</a:t>
            </a:r>
          </a:p>
        </p:txBody>
      </p:sp>
      <p:sp>
        <p:nvSpPr>
          <p:cNvPr id="13" name="Rectangle 12"/>
          <p:cNvSpPr/>
          <p:nvPr/>
        </p:nvSpPr>
        <p:spPr>
          <a:xfrm>
            <a:off x="12252960" y="4754880"/>
            <a:ext cx="5084064" cy="2331720"/>
          </a:xfrm>
          <a:prstGeom prst="rect">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573000" y="5010912"/>
            <a:ext cx="4535424" cy="914400"/>
          </a:xfrm>
          <a:prstGeom prst="rect">
            <a:avLst/>
          </a:prstGeom>
          <a:noFill/>
        </p:spPr>
        <p:txBody>
          <a:bodyPr wrap="square" lIns="0" tIns="0" rIns="0" bIns="0" anchor="t">
            <a:spAutoFit/>
          </a:bodyPr>
          <a:lstStyle/>
          <a:p>
            <a:pPr algn="l"/>
            <a:r>
              <a:rPr sz="6600" b="1">
                <a:solidFill>
                  <a:srgbClr val="72C493"/>
                </a:solidFill>
                <a:latin typeface="Arial"/>
              </a:rPr>
              <a:t>2</a:t>
            </a:r>
          </a:p>
        </p:txBody>
      </p:sp>
      <p:sp>
        <p:nvSpPr>
          <p:cNvPr id="15" name="TextBox 14"/>
          <p:cNvSpPr txBox="1"/>
          <p:nvPr/>
        </p:nvSpPr>
        <p:spPr>
          <a:xfrm>
            <a:off x="12573000" y="6058662"/>
            <a:ext cx="4535424" cy="369332"/>
          </a:xfrm>
          <a:prstGeom prst="rect">
            <a:avLst/>
          </a:prstGeom>
          <a:noFill/>
        </p:spPr>
        <p:txBody>
          <a:bodyPr wrap="square" lIns="0" tIns="0" rIns="0" bIns="0" anchor="t">
            <a:spAutoFit/>
          </a:bodyPr>
          <a:lstStyle/>
          <a:p>
            <a:pPr algn="l"/>
            <a:r>
              <a:rPr sz="2400" b="1" dirty="0" err="1">
                <a:solidFill>
                  <a:srgbClr val="FAF5EC"/>
                </a:solidFill>
                <a:latin typeface="Arial"/>
              </a:rPr>
              <a:t>caméras</a:t>
            </a:r>
            <a:r>
              <a:rPr sz="2400" b="1" dirty="0">
                <a:solidFill>
                  <a:srgbClr val="FAF5EC"/>
                </a:solidFill>
                <a:latin typeface="Arial"/>
              </a:rPr>
              <a:t> </a:t>
            </a:r>
            <a:r>
              <a:rPr sz="2400" b="1" dirty="0" err="1">
                <a:solidFill>
                  <a:srgbClr val="FAF5EC"/>
                </a:solidFill>
                <a:latin typeface="Arial"/>
              </a:rPr>
              <a:t>en</a:t>
            </a:r>
            <a:r>
              <a:rPr sz="2400" b="1" dirty="0">
                <a:solidFill>
                  <a:srgbClr val="FAF5EC"/>
                </a:solidFill>
                <a:latin typeface="Arial"/>
              </a:rPr>
              <a:t> </a:t>
            </a:r>
            <a:r>
              <a:rPr lang="fr-FR" sz="2400" b="1" dirty="0">
                <a:solidFill>
                  <a:srgbClr val="FAF5EC"/>
                </a:solidFill>
                <a:latin typeface="Arial"/>
              </a:rPr>
              <a:t>projet</a:t>
            </a:r>
            <a:endParaRPr sz="2400" b="1" dirty="0">
              <a:solidFill>
                <a:srgbClr val="FAF5EC"/>
              </a:solidFill>
              <a:latin typeface="Arial"/>
            </a:endParaRPr>
          </a:p>
        </p:txBody>
      </p:sp>
      <p:pic>
        <p:nvPicPr>
          <p:cNvPr id="16" name="Picture 15" descr="Securite_02_cameras_allee_du_Closeau.png"/>
          <p:cNvPicPr>
            <a:picLocks noChangeAspect="1"/>
          </p:cNvPicPr>
          <p:nvPr/>
        </p:nvPicPr>
        <p:blipFill>
          <a:blip r:embed="rId5"/>
          <a:stretch>
            <a:fillRect/>
          </a:stretch>
        </p:blipFill>
        <p:spPr>
          <a:xfrm>
            <a:off x="12252960" y="7417274"/>
            <a:ext cx="5084063" cy="116745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CIRCULATION ET SÉCURITÉ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zones bleues de stationnement</a:t>
            </a:r>
          </a:p>
        </p:txBody>
      </p:sp>
      <p:pic>
        <p:nvPicPr>
          <p:cNvPr id="5" name="Picture 4" descr="Securite_03_zone_bleue_parking.jpg"/>
          <p:cNvPicPr>
            <a:picLocks noChangeAspect="1"/>
          </p:cNvPicPr>
          <p:nvPr/>
        </p:nvPicPr>
        <p:blipFill>
          <a:blip r:embed="rId4"/>
          <a:stretch>
            <a:fillRect/>
          </a:stretch>
        </p:blipFill>
        <p:spPr>
          <a:xfrm>
            <a:off x="950976" y="2255520"/>
            <a:ext cx="10241280" cy="6827519"/>
          </a:xfrm>
          <a:prstGeom prst="rect">
            <a:avLst/>
          </a:prstGeom>
        </p:spPr>
      </p:pic>
      <p:pic>
        <p:nvPicPr>
          <p:cNvPr id="7" name="Picture 6" descr="Securite_04_zone_bleue_situation.jpg"/>
          <p:cNvPicPr>
            <a:picLocks noChangeAspect="1"/>
          </p:cNvPicPr>
          <p:nvPr/>
        </p:nvPicPr>
        <p:blipFill>
          <a:blip r:embed="rId5"/>
          <a:stretch>
            <a:fillRect/>
          </a:stretch>
        </p:blipFill>
        <p:spPr>
          <a:xfrm>
            <a:off x="11567160" y="2240280"/>
            <a:ext cx="5760720" cy="3840480"/>
          </a:xfrm>
          <a:prstGeom prst="rect">
            <a:avLst/>
          </a:prstGeom>
        </p:spPr>
      </p:pic>
      <p:sp>
        <p:nvSpPr>
          <p:cNvPr id="8" name="TextBox 7"/>
          <p:cNvSpPr txBox="1"/>
          <p:nvPr/>
        </p:nvSpPr>
        <p:spPr>
          <a:xfrm>
            <a:off x="11567160" y="6172200"/>
            <a:ext cx="5760720" cy="731520"/>
          </a:xfrm>
          <a:prstGeom prst="rect">
            <a:avLst/>
          </a:prstGeom>
          <a:noFill/>
        </p:spPr>
        <p:txBody>
          <a:bodyPr wrap="square" lIns="0" tIns="0" rIns="0" bIns="0" anchor="t">
            <a:spAutoFit/>
          </a:bodyPr>
          <a:lstStyle/>
          <a:p>
            <a:pPr algn="l"/>
            <a:r>
              <a:rPr sz="2000" b="1">
                <a:solidFill>
                  <a:srgbClr val="FFFFFF"/>
                </a:solidFill>
                <a:latin typeface="Arial"/>
              </a:rPr>
              <a:t>Secteur du gymnase des Yvris, chemin de la Noisette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Non à la fermeture du bureau de poste des Richardets</a:t>
            </a:r>
          </a:p>
        </p:txBody>
      </p:sp>
      <p:sp>
        <p:nvSpPr>
          <p:cNvPr id="5" name="TextBox 4"/>
          <p:cNvSpPr txBox="1"/>
          <p:nvPr/>
        </p:nvSpPr>
        <p:spPr>
          <a:xfrm>
            <a:off x="950976" y="2240280"/>
            <a:ext cx="10241280" cy="1097280"/>
          </a:xfrm>
          <a:prstGeom prst="rect">
            <a:avLst/>
          </a:prstGeom>
          <a:noFill/>
        </p:spPr>
        <p:txBody>
          <a:bodyPr wrap="square" lIns="0" tIns="0" rIns="0" bIns="0" anchor="t">
            <a:spAutoFit/>
          </a:bodyPr>
          <a:lstStyle/>
          <a:p>
            <a:pPr algn="l"/>
            <a:r>
              <a:rPr sz="3000" b="1">
                <a:solidFill>
                  <a:srgbClr val="72C493"/>
                </a:solidFill>
                <a:latin typeface="Arial"/>
              </a:rPr>
              <a:t>Un service de proximité essentiel, auquel les habitants sont attachés</a:t>
            </a:r>
          </a:p>
        </p:txBody>
      </p:sp>
      <p:cxnSp>
        <p:nvCxnSpPr>
          <p:cNvPr id="6" name="Connector 5"/>
          <p:cNvCxnSpPr/>
          <p:nvPr/>
        </p:nvCxnSpPr>
        <p:spPr>
          <a:xfrm>
            <a:off x="2657855" y="3749039"/>
            <a:ext cx="6827520" cy="0"/>
          </a:xfrm>
          <a:prstGeom prst="line">
            <a:avLst/>
          </a:prstGeom>
          <a:ln w="63500">
            <a:solidFill>
              <a:srgbClr val="72C493"/>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2337815"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1</a:t>
            </a:r>
          </a:p>
        </p:txBody>
      </p:sp>
      <p:sp>
        <p:nvSpPr>
          <p:cNvPr id="8" name="TextBox 7"/>
          <p:cNvSpPr txBox="1"/>
          <p:nvPr/>
        </p:nvSpPr>
        <p:spPr>
          <a:xfrm>
            <a:off x="117957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2024</a:t>
            </a:r>
          </a:p>
        </p:txBody>
      </p:sp>
      <p:sp>
        <p:nvSpPr>
          <p:cNvPr id="9" name="TextBox 8"/>
          <p:cNvSpPr txBox="1"/>
          <p:nvPr/>
        </p:nvSpPr>
        <p:spPr>
          <a:xfrm>
            <a:off x="1179575" y="5029200"/>
            <a:ext cx="2956559" cy="2215991"/>
          </a:xfrm>
          <a:prstGeom prst="rect">
            <a:avLst/>
          </a:prstGeom>
          <a:noFill/>
        </p:spPr>
        <p:txBody>
          <a:bodyPr wrap="square" lIns="0" tIns="0" rIns="0" bIns="0" anchor="t">
            <a:spAutoFit/>
          </a:bodyPr>
          <a:lstStyle/>
          <a:p>
            <a:pPr algn="ctr"/>
            <a:r>
              <a:rPr sz="2400" b="0" dirty="0">
                <a:solidFill>
                  <a:srgbClr val="FAF5EC"/>
                </a:solidFill>
                <a:latin typeface="Arial"/>
              </a:rPr>
              <a:t>Discussion entre La Poste et </a:t>
            </a:r>
            <a:r>
              <a:rPr sz="2400" b="0" dirty="0" err="1">
                <a:solidFill>
                  <a:srgbClr val="FAF5EC"/>
                </a:solidFill>
                <a:latin typeface="Arial"/>
              </a:rPr>
              <a:t>l'ancienne</a:t>
            </a:r>
            <a:r>
              <a:rPr sz="2400" b="0" dirty="0">
                <a:solidFill>
                  <a:srgbClr val="FAF5EC"/>
                </a:solidFill>
                <a:latin typeface="Arial"/>
              </a:rPr>
              <a:t> </a:t>
            </a:r>
            <a:r>
              <a:rPr sz="2400" b="0" dirty="0" err="1">
                <a:solidFill>
                  <a:srgbClr val="FAF5EC"/>
                </a:solidFill>
                <a:latin typeface="Arial"/>
              </a:rPr>
              <a:t>municipalité</a:t>
            </a:r>
            <a:r>
              <a:rPr sz="2400" b="0" dirty="0">
                <a:solidFill>
                  <a:srgbClr val="FAF5EC"/>
                </a:solidFill>
                <a:latin typeface="Arial"/>
              </a:rPr>
              <a:t> sur la </a:t>
            </a:r>
            <a:r>
              <a:rPr sz="2400" b="0" dirty="0" err="1">
                <a:solidFill>
                  <a:srgbClr val="FAF5EC"/>
                </a:solidFill>
                <a:latin typeface="Arial"/>
              </a:rPr>
              <a:t>fermeture</a:t>
            </a:r>
            <a:r>
              <a:rPr lang="fr-FR" sz="2400" b="0" dirty="0">
                <a:solidFill>
                  <a:srgbClr val="FAF5EC"/>
                </a:solidFill>
                <a:latin typeface="Arial"/>
              </a:rPr>
              <a:t> prochaine du bureau</a:t>
            </a:r>
            <a:r>
              <a:rPr sz="2400" b="0" dirty="0">
                <a:solidFill>
                  <a:srgbClr val="FAF5EC"/>
                </a:solidFill>
                <a:latin typeface="Arial"/>
              </a:rPr>
              <a:t> (non </a:t>
            </a:r>
            <a:r>
              <a:rPr sz="2400" b="0" dirty="0" err="1">
                <a:solidFill>
                  <a:srgbClr val="FAF5EC"/>
                </a:solidFill>
                <a:latin typeface="Arial"/>
              </a:rPr>
              <a:t>publique</a:t>
            </a:r>
            <a:r>
              <a:rPr sz="2400" b="0" dirty="0">
                <a:solidFill>
                  <a:srgbClr val="FAF5EC"/>
                </a:solidFill>
                <a:latin typeface="Arial"/>
              </a:rPr>
              <a:t>)</a:t>
            </a:r>
          </a:p>
        </p:txBody>
      </p:sp>
      <p:sp>
        <p:nvSpPr>
          <p:cNvPr id="10" name="Oval 9"/>
          <p:cNvSpPr/>
          <p:nvPr/>
        </p:nvSpPr>
        <p:spPr>
          <a:xfrm>
            <a:off x="575157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2</a:t>
            </a:r>
          </a:p>
        </p:txBody>
      </p:sp>
      <p:sp>
        <p:nvSpPr>
          <p:cNvPr id="11" name="TextBox 10"/>
          <p:cNvSpPr txBox="1"/>
          <p:nvPr/>
        </p:nvSpPr>
        <p:spPr>
          <a:xfrm>
            <a:off x="4593336"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10 juin 2026</a:t>
            </a:r>
          </a:p>
        </p:txBody>
      </p:sp>
      <p:sp>
        <p:nvSpPr>
          <p:cNvPr id="12" name="TextBox 11"/>
          <p:cNvSpPr txBox="1"/>
          <p:nvPr/>
        </p:nvSpPr>
        <p:spPr>
          <a:xfrm>
            <a:off x="4593336"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Courrier du Maire au délégué territorial de La Poste</a:t>
            </a:r>
          </a:p>
        </p:txBody>
      </p:sp>
      <p:sp>
        <p:nvSpPr>
          <p:cNvPr id="13" name="Oval 12"/>
          <p:cNvSpPr/>
          <p:nvPr/>
        </p:nvSpPr>
        <p:spPr>
          <a:xfrm>
            <a:off x="9165336" y="3429000"/>
            <a:ext cx="640080" cy="640080"/>
          </a:xfrm>
          <a:prstGeom prst="ellipse">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0E1F5B"/>
                </a:solidFill>
                <a:latin typeface="Arial"/>
              </a:rPr>
              <a:t>3</a:t>
            </a:r>
          </a:p>
        </p:txBody>
      </p:sp>
      <p:sp>
        <p:nvSpPr>
          <p:cNvPr id="14" name="TextBox 13"/>
          <p:cNvSpPr txBox="1"/>
          <p:nvPr/>
        </p:nvSpPr>
        <p:spPr>
          <a:xfrm>
            <a:off x="8007095" y="4343400"/>
            <a:ext cx="2956559" cy="548640"/>
          </a:xfrm>
          <a:prstGeom prst="rect">
            <a:avLst/>
          </a:prstGeom>
          <a:noFill/>
        </p:spPr>
        <p:txBody>
          <a:bodyPr wrap="square" lIns="0" tIns="0" rIns="0" bIns="0" anchor="t">
            <a:spAutoFit/>
          </a:bodyPr>
          <a:lstStyle/>
          <a:p>
            <a:pPr algn="ctr"/>
            <a:r>
              <a:rPr sz="3000" b="1">
                <a:solidFill>
                  <a:srgbClr val="72C493"/>
                </a:solidFill>
                <a:latin typeface="Arial"/>
              </a:rPr>
              <a:t>Juin 2026</a:t>
            </a:r>
          </a:p>
        </p:txBody>
      </p:sp>
      <p:sp>
        <p:nvSpPr>
          <p:cNvPr id="15" name="TextBox 14"/>
          <p:cNvSpPr txBox="1"/>
          <p:nvPr/>
        </p:nvSpPr>
        <p:spPr>
          <a:xfrm>
            <a:off x="8007095" y="5029200"/>
            <a:ext cx="2956559" cy="1828800"/>
          </a:xfrm>
          <a:prstGeom prst="rect">
            <a:avLst/>
          </a:prstGeom>
          <a:noFill/>
        </p:spPr>
        <p:txBody>
          <a:bodyPr wrap="square" lIns="0" tIns="0" rIns="0" bIns="0" anchor="t">
            <a:spAutoFit/>
          </a:bodyPr>
          <a:lstStyle/>
          <a:p>
            <a:pPr algn="ctr"/>
            <a:r>
              <a:rPr sz="2400" b="0">
                <a:solidFill>
                  <a:srgbClr val="FAF5EC"/>
                </a:solidFill>
                <a:latin typeface="Arial"/>
              </a:rPr>
              <a:t>Le Maire reçoit le délégué de La Poste et s'oppose à la fermeture</a:t>
            </a:r>
          </a:p>
        </p:txBody>
      </p:sp>
      <p:pic>
        <p:nvPicPr>
          <p:cNvPr id="16" name="Picture 15" descr="Services_01_bureau_de_poste.jpg"/>
          <p:cNvPicPr>
            <a:picLocks noChangeAspect="1"/>
          </p:cNvPicPr>
          <p:nvPr/>
        </p:nvPicPr>
        <p:blipFill>
          <a:blip r:embed="rId4"/>
          <a:stretch>
            <a:fillRect/>
          </a:stretch>
        </p:blipFill>
        <p:spPr>
          <a:xfrm>
            <a:off x="3546092" y="7040879"/>
            <a:ext cx="5051045" cy="2841213"/>
          </a:xfrm>
          <a:prstGeom prst="rect">
            <a:avLst/>
          </a:prstGeom>
        </p:spPr>
      </p:pic>
      <p:pic>
        <p:nvPicPr>
          <p:cNvPr id="19" name="Picture 18" descr="Services_02_courrier_Maire_La_Poste_10_juin_2026.png"/>
          <p:cNvPicPr>
            <a:picLocks noChangeAspect="1"/>
          </p:cNvPicPr>
          <p:nvPr/>
        </p:nvPicPr>
        <p:blipFill>
          <a:blip r:embed="rId5"/>
          <a:stretch>
            <a:fillRect/>
          </a:stretch>
        </p:blipFill>
        <p:spPr>
          <a:xfrm>
            <a:off x="12573273" y="2103120"/>
            <a:ext cx="4754606" cy="6720840"/>
          </a:xfrm>
          <a:prstGeom prst="rect">
            <a:avLst/>
          </a:prstGeom>
        </p:spPr>
      </p:pic>
      <p:sp>
        <p:nvSpPr>
          <p:cNvPr id="20" name="Rectangle 19"/>
          <p:cNvSpPr/>
          <p:nvPr/>
        </p:nvSpPr>
        <p:spPr>
          <a:xfrm>
            <a:off x="12573273" y="8869680"/>
            <a:ext cx="4754606" cy="45720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573273" y="8867448"/>
            <a:ext cx="4754606" cy="461665"/>
          </a:xfrm>
          <a:prstGeom prst="rect">
            <a:avLst/>
          </a:prstGeom>
          <a:noFill/>
        </p:spPr>
        <p:txBody>
          <a:bodyPr wrap="square" lIns="0" tIns="0" rIns="0" bIns="0" anchor="ctr">
            <a:spAutoFit/>
          </a:bodyPr>
          <a:lstStyle/>
          <a:p>
            <a:pPr algn="ctr"/>
            <a:r>
              <a:rPr sz="1500" b="1" spc="100" dirty="0">
                <a:solidFill>
                  <a:srgbClr val="0E1F5B"/>
                </a:solidFill>
                <a:latin typeface="Arial"/>
              </a:rPr>
              <a:t>COURRIER DU MAIRE</a:t>
            </a:r>
            <a:r>
              <a:rPr lang="fr-FR" sz="1500" b="1" spc="100" dirty="0">
                <a:solidFill>
                  <a:srgbClr val="0E1F5B"/>
                </a:solidFill>
                <a:latin typeface="Arial"/>
              </a:rPr>
              <a:t> AU DELEGUE DE LA POSTE</a:t>
            </a:r>
            <a:r>
              <a:rPr sz="1500" b="1" spc="100" dirty="0">
                <a:solidFill>
                  <a:srgbClr val="0E1F5B"/>
                </a:solidFill>
                <a:latin typeface="Arial"/>
              </a:rPr>
              <a:t> · 10 JUIN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SERVICES PUBLICS DE PROXIMITÉ · LES BUS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bus du quartier et vos signalements</a:t>
            </a:r>
          </a:p>
        </p:txBody>
      </p:sp>
      <p:pic>
        <p:nvPicPr>
          <p:cNvPr id="5" name="Picture 4" descr="fond_carte_bus.png"/>
          <p:cNvPicPr>
            <a:picLocks noChangeAspect="1"/>
          </p:cNvPicPr>
          <p:nvPr/>
        </p:nvPicPr>
        <p:blipFill>
          <a:blip r:embed="rId4"/>
          <a:stretch>
            <a:fillRect/>
          </a:stretch>
        </p:blipFill>
        <p:spPr>
          <a:xfrm>
            <a:off x="950976" y="2240280"/>
            <a:ext cx="11247120" cy="6326505"/>
          </a:xfrm>
          <a:prstGeom prst="rect">
            <a:avLst/>
          </a:prstGeom>
        </p:spPr>
      </p:pic>
      <p:sp>
        <p:nvSpPr>
          <p:cNvPr id="6" name="TextBox 5"/>
          <p:cNvSpPr txBox="1"/>
          <p:nvPr/>
        </p:nvSpPr>
        <p:spPr>
          <a:xfrm>
            <a:off x="950976" y="8639937"/>
            <a:ext cx="11247120" cy="274320"/>
          </a:xfrm>
          <a:prstGeom prst="rect">
            <a:avLst/>
          </a:prstGeom>
          <a:noFill/>
        </p:spPr>
        <p:txBody>
          <a:bodyPr wrap="square" lIns="0" tIns="0" rIns="0" bIns="0" anchor="t">
            <a:spAutoFit/>
          </a:bodyPr>
          <a:lstStyle/>
          <a:p>
            <a:pPr algn="r"/>
            <a:r>
              <a:rPr sz="1100" b="0">
                <a:solidFill>
                  <a:srgbClr val="C9CCDA"/>
                </a:solidFill>
                <a:latin typeface="Arial"/>
              </a:rPr>
              <a:t>Rues : IGN – BD TOPO · Lignes et arrêts : Île-de-France Mobilités</a:t>
            </a:r>
          </a:p>
        </p:txBody>
      </p:sp>
      <p:sp>
        <p:nvSpPr>
          <p:cNvPr id="7" name="Rounded Rectangle 6"/>
          <p:cNvSpPr/>
          <p:nvPr/>
        </p:nvSpPr>
        <p:spPr>
          <a:xfrm>
            <a:off x="9839192" y="5758856"/>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8" name="Rounded Rectangle 7"/>
          <p:cNvSpPr/>
          <p:nvPr/>
        </p:nvSpPr>
        <p:spPr>
          <a:xfrm>
            <a:off x="4471284" y="5250820"/>
            <a:ext cx="603504" cy="347472"/>
          </a:xfrm>
          <a:prstGeom prst="roundRect">
            <a:avLst/>
          </a:prstGeom>
          <a:solidFill>
            <a:srgbClr val="D2D2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310</a:t>
            </a:r>
          </a:p>
        </p:txBody>
      </p:sp>
      <p:sp>
        <p:nvSpPr>
          <p:cNvPr id="9" name="Rounded Rectangle 8"/>
          <p:cNvSpPr/>
          <p:nvPr/>
        </p:nvSpPr>
        <p:spPr>
          <a:xfrm>
            <a:off x="8305864" y="4002849"/>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0" name="Rounded Rectangle 9"/>
          <p:cNvSpPr/>
          <p:nvPr/>
        </p:nvSpPr>
        <p:spPr>
          <a:xfrm>
            <a:off x="9452604" y="7512750"/>
            <a:ext cx="603504" cy="347472"/>
          </a:xfrm>
          <a:prstGeom prst="roundRect">
            <a:avLst/>
          </a:prstGeom>
          <a:solidFill>
            <a:srgbClr val="FF5A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312</a:t>
            </a:r>
          </a:p>
        </p:txBody>
      </p:sp>
      <p:sp>
        <p:nvSpPr>
          <p:cNvPr id="11" name="Rounded Rectangle 10"/>
          <p:cNvSpPr/>
          <p:nvPr/>
        </p:nvSpPr>
        <p:spPr>
          <a:xfrm>
            <a:off x="6009677" y="4296885"/>
            <a:ext cx="603504" cy="347472"/>
          </a:xfrm>
          <a:prstGeom prst="roundRect">
            <a:avLst/>
          </a:prstGeom>
          <a:solidFill>
            <a:srgbClr val="DC9600"/>
          </a:solidFill>
          <a:ln w="25400">
            <a:solidFill>
              <a:srgbClr val="0E1F5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E1F5B"/>
                </a:solidFill>
                <a:latin typeface="Arial"/>
              </a:rPr>
              <a:t>320</a:t>
            </a:r>
          </a:p>
        </p:txBody>
      </p:sp>
      <p:sp>
        <p:nvSpPr>
          <p:cNvPr id="12" name="TextBox 11"/>
          <p:cNvSpPr txBox="1"/>
          <p:nvPr/>
        </p:nvSpPr>
        <p:spPr>
          <a:xfrm>
            <a:off x="6975350" y="3662263"/>
            <a:ext cx="1379529" cy="274320"/>
          </a:xfrm>
          <a:prstGeom prst="rect">
            <a:avLst/>
          </a:prstGeom>
          <a:solidFill>
            <a:srgbClr val="0E1F5B"/>
          </a:solidFill>
        </p:spPr>
        <p:txBody>
          <a:bodyPr wrap="none" lIns="45720" tIns="0" rIns="45720" bIns="0" anchor="t"/>
          <a:lstStyle/>
          <a:p>
            <a:pPr algn="l"/>
            <a:r>
              <a:rPr sz="1200" b="1">
                <a:solidFill>
                  <a:srgbClr val="FFFFFF"/>
                </a:solidFill>
                <a:latin typeface="Arial"/>
              </a:rPr>
              <a:t>Ballon – Chapelle</a:t>
            </a:r>
          </a:p>
        </p:txBody>
      </p:sp>
      <p:sp>
        <p:nvSpPr>
          <p:cNvPr id="13" name="Rectangle 12"/>
          <p:cNvSpPr/>
          <p:nvPr/>
        </p:nvSpPr>
        <p:spPr>
          <a:xfrm>
            <a:off x="8354880" y="36622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4" name="TextBox 13"/>
          <p:cNvSpPr txBox="1"/>
          <p:nvPr/>
        </p:nvSpPr>
        <p:spPr>
          <a:xfrm>
            <a:off x="8157480" y="5215666"/>
            <a:ext cx="744728" cy="274320"/>
          </a:xfrm>
          <a:prstGeom prst="rect">
            <a:avLst/>
          </a:prstGeom>
          <a:solidFill>
            <a:srgbClr val="0E1F5B"/>
          </a:solidFill>
        </p:spPr>
        <p:txBody>
          <a:bodyPr wrap="none" lIns="45720" tIns="0" rIns="45720" bIns="0" anchor="t"/>
          <a:lstStyle/>
          <a:p>
            <a:pPr algn="l"/>
            <a:r>
              <a:rPr sz="1200" b="1">
                <a:solidFill>
                  <a:srgbClr val="FFFFFF"/>
                </a:solidFill>
                <a:latin typeface="Arial"/>
              </a:rPr>
              <a:t>Chapelle</a:t>
            </a:r>
          </a:p>
        </p:txBody>
      </p:sp>
      <p:sp>
        <p:nvSpPr>
          <p:cNvPr id="15" name="Rectangle 14"/>
          <p:cNvSpPr/>
          <p:nvPr/>
        </p:nvSpPr>
        <p:spPr>
          <a:xfrm>
            <a:off x="8902208" y="521566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a:t>
            </a:r>
          </a:p>
        </p:txBody>
      </p:sp>
      <p:sp>
        <p:nvSpPr>
          <p:cNvPr id="16" name="TextBox 15"/>
          <p:cNvSpPr txBox="1"/>
          <p:nvPr/>
        </p:nvSpPr>
        <p:spPr>
          <a:xfrm>
            <a:off x="2645135" y="5134663"/>
            <a:ext cx="1219192" cy="274320"/>
          </a:xfrm>
          <a:prstGeom prst="rect">
            <a:avLst/>
          </a:prstGeom>
          <a:solidFill>
            <a:srgbClr val="0E1F5B"/>
          </a:solidFill>
        </p:spPr>
        <p:txBody>
          <a:bodyPr wrap="none" lIns="45720" tIns="0" rIns="45720" bIns="0" anchor="t"/>
          <a:lstStyle/>
          <a:p>
            <a:pPr algn="l"/>
            <a:r>
              <a:rPr sz="1200" b="1">
                <a:solidFill>
                  <a:srgbClr val="FFFFFF"/>
                </a:solidFill>
                <a:latin typeface="Arial"/>
              </a:rPr>
              <a:t>Cité des Hêtres</a:t>
            </a:r>
          </a:p>
        </p:txBody>
      </p:sp>
      <p:sp>
        <p:nvSpPr>
          <p:cNvPr id="17" name="Rectangle 16"/>
          <p:cNvSpPr/>
          <p:nvPr/>
        </p:nvSpPr>
        <p:spPr>
          <a:xfrm>
            <a:off x="3864327" y="513466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28</a:t>
            </a:r>
          </a:p>
        </p:txBody>
      </p:sp>
      <p:sp>
        <p:nvSpPr>
          <p:cNvPr id="18" name="TextBox 17"/>
          <p:cNvSpPr txBox="1"/>
          <p:nvPr/>
        </p:nvSpPr>
        <p:spPr>
          <a:xfrm>
            <a:off x="8682316" y="6521195"/>
            <a:ext cx="1368615" cy="274320"/>
          </a:xfrm>
          <a:prstGeom prst="rect">
            <a:avLst/>
          </a:prstGeom>
          <a:solidFill>
            <a:srgbClr val="0E1F5B"/>
          </a:solidFill>
        </p:spPr>
        <p:txBody>
          <a:bodyPr wrap="none" lIns="45720" tIns="0" rIns="45720" bIns="0" anchor="t"/>
          <a:lstStyle/>
          <a:p>
            <a:pPr algn="l"/>
            <a:r>
              <a:rPr sz="1200" b="1">
                <a:solidFill>
                  <a:srgbClr val="FFFFFF"/>
                </a:solidFill>
                <a:latin typeface="Arial"/>
              </a:rPr>
              <a:t>Collège des Yvris</a:t>
            </a:r>
          </a:p>
        </p:txBody>
      </p:sp>
      <p:sp>
        <p:nvSpPr>
          <p:cNvPr id="19" name="Rectangle 18"/>
          <p:cNvSpPr/>
          <p:nvPr/>
        </p:nvSpPr>
        <p:spPr>
          <a:xfrm>
            <a:off x="10050932" y="652119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20" name="TextBox 19"/>
          <p:cNvSpPr txBox="1"/>
          <p:nvPr/>
        </p:nvSpPr>
        <p:spPr>
          <a:xfrm>
            <a:off x="5284254" y="4608323"/>
            <a:ext cx="964795" cy="274320"/>
          </a:xfrm>
          <a:prstGeom prst="rect">
            <a:avLst/>
          </a:prstGeom>
          <a:solidFill>
            <a:srgbClr val="0E1F5B"/>
          </a:solidFill>
        </p:spPr>
        <p:txBody>
          <a:bodyPr wrap="none" lIns="45720" tIns="0" rIns="45720" bIns="0" anchor="t"/>
          <a:lstStyle/>
          <a:p>
            <a:pPr algn="l"/>
            <a:r>
              <a:rPr sz="1200" b="1">
                <a:solidFill>
                  <a:srgbClr val="FFFFFF"/>
                </a:solidFill>
                <a:latin typeface="Arial"/>
              </a:rPr>
              <a:t>Gabriel Péri</a:t>
            </a:r>
          </a:p>
        </p:txBody>
      </p:sp>
      <p:sp>
        <p:nvSpPr>
          <p:cNvPr id="21" name="Rectangle 20"/>
          <p:cNvSpPr/>
          <p:nvPr/>
        </p:nvSpPr>
        <p:spPr>
          <a:xfrm>
            <a:off x="6249050" y="460832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a:t>
            </a:r>
          </a:p>
        </p:txBody>
      </p:sp>
      <p:sp>
        <p:nvSpPr>
          <p:cNvPr id="22" name="TextBox 21"/>
          <p:cNvSpPr txBox="1"/>
          <p:nvPr/>
        </p:nvSpPr>
        <p:spPr>
          <a:xfrm>
            <a:off x="8888062" y="2397402"/>
            <a:ext cx="1557527" cy="274320"/>
          </a:xfrm>
          <a:prstGeom prst="rect">
            <a:avLst/>
          </a:prstGeom>
          <a:solidFill>
            <a:srgbClr val="0E1F5B"/>
          </a:solidFill>
        </p:spPr>
        <p:txBody>
          <a:bodyPr wrap="none" lIns="45720" tIns="0" rIns="45720" bIns="0" anchor="t"/>
          <a:lstStyle/>
          <a:p>
            <a:pPr algn="l"/>
            <a:r>
              <a:rPr sz="1200" b="1">
                <a:solidFill>
                  <a:srgbClr val="FFFFFF"/>
                </a:solidFill>
                <a:latin typeface="Arial"/>
              </a:rPr>
              <a:t>La Butte aux Cailles</a:t>
            </a:r>
          </a:p>
        </p:txBody>
      </p:sp>
      <p:sp>
        <p:nvSpPr>
          <p:cNvPr id="23" name="TextBox 22"/>
          <p:cNvSpPr txBox="1"/>
          <p:nvPr/>
        </p:nvSpPr>
        <p:spPr>
          <a:xfrm>
            <a:off x="6844337" y="2669657"/>
            <a:ext cx="922528" cy="274320"/>
          </a:xfrm>
          <a:prstGeom prst="rect">
            <a:avLst/>
          </a:prstGeom>
          <a:solidFill>
            <a:srgbClr val="0E1F5B"/>
          </a:solidFill>
        </p:spPr>
        <p:txBody>
          <a:bodyPr wrap="none" lIns="45720" tIns="0" rIns="45720" bIns="0" anchor="t"/>
          <a:lstStyle/>
          <a:p>
            <a:pPr algn="l"/>
            <a:r>
              <a:rPr sz="1200" b="1">
                <a:solidFill>
                  <a:srgbClr val="FFFFFF"/>
                </a:solidFill>
                <a:latin typeface="Arial"/>
              </a:rPr>
              <a:t>Le Closeau</a:t>
            </a:r>
          </a:p>
        </p:txBody>
      </p:sp>
      <p:sp>
        <p:nvSpPr>
          <p:cNvPr id="24" name="Rectangle 23"/>
          <p:cNvSpPr/>
          <p:nvPr/>
        </p:nvSpPr>
        <p:spPr>
          <a:xfrm>
            <a:off x="7766865" y="26696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4</a:t>
            </a:r>
          </a:p>
        </p:txBody>
      </p:sp>
      <p:sp>
        <p:nvSpPr>
          <p:cNvPr id="25" name="TextBox 24"/>
          <p:cNvSpPr txBox="1"/>
          <p:nvPr/>
        </p:nvSpPr>
        <p:spPr>
          <a:xfrm>
            <a:off x="3076045" y="4251752"/>
            <a:ext cx="626062" cy="274320"/>
          </a:xfrm>
          <a:prstGeom prst="rect">
            <a:avLst/>
          </a:prstGeom>
          <a:solidFill>
            <a:srgbClr val="0E1F5B"/>
          </a:solidFill>
        </p:spPr>
        <p:txBody>
          <a:bodyPr wrap="none" lIns="45720" tIns="0" rIns="45720" bIns="0" anchor="t"/>
          <a:lstStyle/>
          <a:p>
            <a:pPr algn="l"/>
            <a:r>
              <a:rPr sz="1200" b="1">
                <a:solidFill>
                  <a:srgbClr val="FFFFFF"/>
                </a:solidFill>
                <a:latin typeface="Arial"/>
              </a:rPr>
              <a:t>Le Fort</a:t>
            </a:r>
          </a:p>
        </p:txBody>
      </p:sp>
      <p:sp>
        <p:nvSpPr>
          <p:cNvPr id="26" name="Rectangle 25"/>
          <p:cNvSpPr/>
          <p:nvPr/>
        </p:nvSpPr>
        <p:spPr>
          <a:xfrm>
            <a:off x="3702108" y="425175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12</a:t>
            </a:r>
          </a:p>
        </p:txBody>
      </p:sp>
      <p:sp>
        <p:nvSpPr>
          <p:cNvPr id="27" name="TextBox 26"/>
          <p:cNvSpPr txBox="1"/>
          <p:nvPr/>
        </p:nvSpPr>
        <p:spPr>
          <a:xfrm>
            <a:off x="10733207" y="4762737"/>
            <a:ext cx="1162835" cy="274320"/>
          </a:xfrm>
          <a:prstGeom prst="rect">
            <a:avLst/>
          </a:prstGeom>
          <a:solidFill>
            <a:srgbClr val="0E1F5B"/>
          </a:solidFill>
        </p:spPr>
        <p:txBody>
          <a:bodyPr wrap="none" lIns="45720" tIns="0" rIns="45720" bIns="0" anchor="t"/>
          <a:lstStyle/>
          <a:p>
            <a:pPr algn="l"/>
            <a:r>
              <a:rPr sz="1200" b="1">
                <a:solidFill>
                  <a:srgbClr val="FFFFFF"/>
                </a:solidFill>
                <a:latin typeface="Arial"/>
              </a:rPr>
              <a:t>Les Aérostiers</a:t>
            </a:r>
          </a:p>
        </p:txBody>
      </p:sp>
      <p:sp>
        <p:nvSpPr>
          <p:cNvPr id="28" name="TextBox 27"/>
          <p:cNvSpPr txBox="1"/>
          <p:nvPr/>
        </p:nvSpPr>
        <p:spPr>
          <a:xfrm>
            <a:off x="9861216" y="5377957"/>
            <a:ext cx="1032859" cy="274320"/>
          </a:xfrm>
          <a:prstGeom prst="rect">
            <a:avLst/>
          </a:prstGeom>
          <a:solidFill>
            <a:srgbClr val="0E1F5B"/>
          </a:solidFill>
        </p:spPr>
        <p:txBody>
          <a:bodyPr wrap="none" lIns="45720" tIns="0" rIns="45720" bIns="0" anchor="t"/>
          <a:lstStyle/>
          <a:p>
            <a:pPr algn="l"/>
            <a:r>
              <a:rPr sz="1200" b="1">
                <a:solidFill>
                  <a:srgbClr val="FFFFFF"/>
                </a:solidFill>
                <a:latin typeface="Arial"/>
              </a:rPr>
              <a:t>Les Graviers</a:t>
            </a:r>
          </a:p>
        </p:txBody>
      </p:sp>
      <p:sp>
        <p:nvSpPr>
          <p:cNvPr id="29" name="Rectangle 28"/>
          <p:cNvSpPr/>
          <p:nvPr/>
        </p:nvSpPr>
        <p:spPr>
          <a:xfrm>
            <a:off x="10894075" y="5377957"/>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5</a:t>
            </a:r>
          </a:p>
        </p:txBody>
      </p:sp>
      <p:sp>
        <p:nvSpPr>
          <p:cNvPr id="30" name="TextBox 29"/>
          <p:cNvSpPr txBox="1"/>
          <p:nvPr/>
        </p:nvSpPr>
        <p:spPr>
          <a:xfrm>
            <a:off x="6670787" y="5748576"/>
            <a:ext cx="1854192" cy="274320"/>
          </a:xfrm>
          <a:prstGeom prst="rect">
            <a:avLst/>
          </a:prstGeom>
          <a:solidFill>
            <a:srgbClr val="0E1F5B"/>
          </a:solidFill>
        </p:spPr>
        <p:txBody>
          <a:bodyPr wrap="none" lIns="45720" tIns="0" rIns="45720" bIns="0" anchor="t"/>
          <a:lstStyle/>
          <a:p>
            <a:pPr algn="l"/>
            <a:r>
              <a:rPr sz="1200" b="1">
                <a:solidFill>
                  <a:srgbClr val="FFFFFF"/>
                </a:solidFill>
                <a:latin typeface="Arial"/>
              </a:rPr>
              <a:t>Les Richardets – Centre</a:t>
            </a:r>
          </a:p>
        </p:txBody>
      </p:sp>
      <p:sp>
        <p:nvSpPr>
          <p:cNvPr id="31" name="Rectangle 30"/>
          <p:cNvSpPr/>
          <p:nvPr/>
        </p:nvSpPr>
        <p:spPr>
          <a:xfrm>
            <a:off x="8524979" y="574857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2" name="TextBox 31"/>
          <p:cNvSpPr txBox="1"/>
          <p:nvPr/>
        </p:nvSpPr>
        <p:spPr>
          <a:xfrm>
            <a:off x="6868518" y="7762442"/>
            <a:ext cx="2401681" cy="274320"/>
          </a:xfrm>
          <a:prstGeom prst="rect">
            <a:avLst/>
          </a:prstGeom>
          <a:solidFill>
            <a:srgbClr val="0E1F5B"/>
          </a:solidFill>
        </p:spPr>
        <p:txBody>
          <a:bodyPr wrap="none" lIns="45720" tIns="0" rIns="45720" bIns="0" anchor="t"/>
          <a:lstStyle/>
          <a:p>
            <a:pPr algn="l"/>
            <a:r>
              <a:rPr sz="1200" b="1">
                <a:solidFill>
                  <a:srgbClr val="FFFFFF"/>
                </a:solidFill>
                <a:latin typeface="Arial"/>
              </a:rPr>
              <a:t>Les Yvris – Noisy-le-Grand RER</a:t>
            </a:r>
          </a:p>
        </p:txBody>
      </p:sp>
      <p:sp>
        <p:nvSpPr>
          <p:cNvPr id="33" name="Rectangle 32"/>
          <p:cNvSpPr/>
          <p:nvPr/>
        </p:nvSpPr>
        <p:spPr>
          <a:xfrm>
            <a:off x="9270199" y="776244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19</a:t>
            </a:r>
          </a:p>
        </p:txBody>
      </p:sp>
      <p:sp>
        <p:nvSpPr>
          <p:cNvPr id="34" name="TextBox 33"/>
          <p:cNvSpPr txBox="1"/>
          <p:nvPr/>
        </p:nvSpPr>
        <p:spPr>
          <a:xfrm>
            <a:off x="2047015" y="3366958"/>
            <a:ext cx="1091596" cy="274320"/>
          </a:xfrm>
          <a:prstGeom prst="rect">
            <a:avLst/>
          </a:prstGeom>
          <a:solidFill>
            <a:srgbClr val="0E1F5B"/>
          </a:solidFill>
        </p:spPr>
        <p:txBody>
          <a:bodyPr wrap="none" lIns="45720" tIns="0" rIns="45720" bIns="0" anchor="t"/>
          <a:lstStyle/>
          <a:p>
            <a:pPr algn="l"/>
            <a:r>
              <a:rPr sz="1200" b="1">
                <a:solidFill>
                  <a:srgbClr val="FFFFFF"/>
                </a:solidFill>
                <a:latin typeface="Arial"/>
              </a:rPr>
              <a:t>Moulin à Vent</a:t>
            </a:r>
          </a:p>
        </p:txBody>
      </p:sp>
      <p:sp>
        <p:nvSpPr>
          <p:cNvPr id="35" name="TextBox 34"/>
          <p:cNvSpPr txBox="1"/>
          <p:nvPr/>
        </p:nvSpPr>
        <p:spPr>
          <a:xfrm>
            <a:off x="4710302" y="5714055"/>
            <a:ext cx="1345795" cy="274320"/>
          </a:xfrm>
          <a:prstGeom prst="rect">
            <a:avLst/>
          </a:prstGeom>
          <a:solidFill>
            <a:srgbClr val="0E1F5B"/>
          </a:solidFill>
        </p:spPr>
        <p:txBody>
          <a:bodyPr wrap="none" lIns="45720" tIns="0" rIns="45720" bIns="0" anchor="t"/>
          <a:lstStyle/>
          <a:p>
            <a:pPr algn="l"/>
            <a:r>
              <a:rPr sz="1200" b="1">
                <a:solidFill>
                  <a:srgbClr val="FFFFFF"/>
                </a:solidFill>
                <a:latin typeface="Arial"/>
              </a:rPr>
              <a:t>Place du Combat</a:t>
            </a:r>
          </a:p>
        </p:txBody>
      </p:sp>
      <p:sp>
        <p:nvSpPr>
          <p:cNvPr id="36" name="Rectangle 35"/>
          <p:cNvSpPr/>
          <p:nvPr/>
        </p:nvSpPr>
        <p:spPr>
          <a:xfrm>
            <a:off x="6056098" y="5714055"/>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23</a:t>
            </a:r>
          </a:p>
        </p:txBody>
      </p:sp>
      <p:sp>
        <p:nvSpPr>
          <p:cNvPr id="37" name="TextBox 36"/>
          <p:cNvSpPr txBox="1"/>
          <p:nvPr/>
        </p:nvSpPr>
        <p:spPr>
          <a:xfrm>
            <a:off x="4564636" y="3791306"/>
            <a:ext cx="1464262"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 la Chapelle</a:t>
            </a:r>
          </a:p>
        </p:txBody>
      </p:sp>
      <p:sp>
        <p:nvSpPr>
          <p:cNvPr id="38" name="Rectangle 37"/>
          <p:cNvSpPr/>
          <p:nvPr/>
        </p:nvSpPr>
        <p:spPr>
          <a:xfrm>
            <a:off x="6028898" y="3791306"/>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6</a:t>
            </a:r>
          </a:p>
        </p:txBody>
      </p:sp>
      <p:sp>
        <p:nvSpPr>
          <p:cNvPr id="39" name="TextBox 38"/>
          <p:cNvSpPr txBox="1"/>
          <p:nvPr/>
        </p:nvSpPr>
        <p:spPr>
          <a:xfrm>
            <a:off x="8249464" y="4712312"/>
            <a:ext cx="1493035"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des Aérostiers</a:t>
            </a:r>
          </a:p>
        </p:txBody>
      </p:sp>
      <p:sp>
        <p:nvSpPr>
          <p:cNvPr id="40" name="Rectangle 39"/>
          <p:cNvSpPr/>
          <p:nvPr/>
        </p:nvSpPr>
        <p:spPr>
          <a:xfrm>
            <a:off x="9742499" y="4712312"/>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1" name="TextBox 40"/>
          <p:cNvSpPr txBox="1"/>
          <p:nvPr/>
        </p:nvSpPr>
        <p:spPr>
          <a:xfrm>
            <a:off x="9429494" y="3886101"/>
            <a:ext cx="1133863" cy="274320"/>
          </a:xfrm>
          <a:prstGeom prst="rect">
            <a:avLst/>
          </a:prstGeom>
          <a:solidFill>
            <a:srgbClr val="0E1F5B"/>
          </a:solidFill>
        </p:spPr>
        <p:txBody>
          <a:bodyPr wrap="none" lIns="45720" tIns="0" rIns="45720" bIns="0" anchor="t"/>
          <a:lstStyle/>
          <a:p>
            <a:pPr algn="l"/>
            <a:r>
              <a:rPr sz="1200" b="1">
                <a:solidFill>
                  <a:srgbClr val="FFFFFF"/>
                </a:solidFill>
                <a:latin typeface="Arial"/>
              </a:rPr>
              <a:t>Rue du Ballon</a:t>
            </a:r>
          </a:p>
        </p:txBody>
      </p:sp>
      <p:sp>
        <p:nvSpPr>
          <p:cNvPr id="42" name="Rectangle 41"/>
          <p:cNvSpPr/>
          <p:nvPr/>
        </p:nvSpPr>
        <p:spPr>
          <a:xfrm>
            <a:off x="10563358" y="3886101"/>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25</a:t>
            </a:r>
          </a:p>
        </p:txBody>
      </p:sp>
      <p:sp>
        <p:nvSpPr>
          <p:cNvPr id="43" name="TextBox 42"/>
          <p:cNvSpPr txBox="1"/>
          <p:nvPr/>
        </p:nvSpPr>
        <p:spPr>
          <a:xfrm>
            <a:off x="6629692" y="6553373"/>
            <a:ext cx="970351" cy="274320"/>
          </a:xfrm>
          <a:prstGeom prst="rect">
            <a:avLst/>
          </a:prstGeom>
          <a:solidFill>
            <a:srgbClr val="0E1F5B"/>
          </a:solidFill>
        </p:spPr>
        <p:txBody>
          <a:bodyPr wrap="none" lIns="45720" tIns="0" rIns="45720" bIns="0" anchor="t"/>
          <a:lstStyle/>
          <a:p>
            <a:pPr algn="l"/>
            <a:r>
              <a:rPr sz="1200" b="1">
                <a:solidFill>
                  <a:srgbClr val="FFFFFF"/>
                </a:solidFill>
                <a:latin typeface="Arial"/>
              </a:rPr>
              <a:t>Victor Hugo</a:t>
            </a:r>
          </a:p>
        </p:txBody>
      </p:sp>
      <p:sp>
        <p:nvSpPr>
          <p:cNvPr id="44" name="Rectangle 43"/>
          <p:cNvSpPr/>
          <p:nvPr/>
        </p:nvSpPr>
        <p:spPr>
          <a:xfrm>
            <a:off x="7600043" y="6553373"/>
            <a:ext cx="384048" cy="27432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E1F5B"/>
                </a:solidFill>
                <a:latin typeface="Arial"/>
              </a:rPr>
              <a:t>3</a:t>
            </a:r>
          </a:p>
        </p:txBody>
      </p:sp>
      <p:sp>
        <p:nvSpPr>
          <p:cNvPr id="45" name="Rectangle 44"/>
          <p:cNvSpPr/>
          <p:nvPr/>
        </p:nvSpPr>
        <p:spPr>
          <a:xfrm>
            <a:off x="950976" y="9069705"/>
            <a:ext cx="731520" cy="182880"/>
          </a:xfrm>
          <a:prstGeom prst="rect">
            <a:avLst/>
          </a:prstGeom>
          <a:solidFill>
            <a:srgbClr val="D2D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81965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310</a:t>
            </a:r>
          </a:p>
        </p:txBody>
      </p:sp>
      <p:sp>
        <p:nvSpPr>
          <p:cNvPr id="47" name="Rectangle 46"/>
          <p:cNvSpPr/>
          <p:nvPr/>
        </p:nvSpPr>
        <p:spPr>
          <a:xfrm>
            <a:off x="3328416" y="9069705"/>
            <a:ext cx="731520" cy="182880"/>
          </a:xfrm>
          <a:prstGeom prst="rect">
            <a:avLst/>
          </a:prstGeom>
          <a:solidFill>
            <a:srgbClr val="FF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19709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312</a:t>
            </a:r>
          </a:p>
        </p:txBody>
      </p:sp>
      <p:sp>
        <p:nvSpPr>
          <p:cNvPr id="49" name="Rectangle 48"/>
          <p:cNvSpPr/>
          <p:nvPr/>
        </p:nvSpPr>
        <p:spPr>
          <a:xfrm>
            <a:off x="5705856" y="9069705"/>
            <a:ext cx="731520" cy="182880"/>
          </a:xfrm>
          <a:prstGeom prst="rect">
            <a:avLst/>
          </a:prstGeom>
          <a:solidFill>
            <a:srgbClr val="DC9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574536" y="8950833"/>
            <a:ext cx="1463040" cy="411480"/>
          </a:xfrm>
          <a:prstGeom prst="rect">
            <a:avLst/>
          </a:prstGeom>
          <a:noFill/>
        </p:spPr>
        <p:txBody>
          <a:bodyPr wrap="square" lIns="0" tIns="0" rIns="0" bIns="0" anchor="t">
            <a:spAutoFit/>
          </a:bodyPr>
          <a:lstStyle/>
          <a:p>
            <a:pPr algn="l"/>
            <a:r>
              <a:rPr sz="2000" b="1">
                <a:solidFill>
                  <a:srgbClr val="FFFFFF"/>
                </a:solidFill>
                <a:latin typeface="Arial"/>
              </a:rPr>
              <a:t>Ligne 320</a:t>
            </a:r>
          </a:p>
        </p:txBody>
      </p:sp>
      <p:sp>
        <p:nvSpPr>
          <p:cNvPr id="51" name="TextBox 50"/>
          <p:cNvSpPr txBox="1"/>
          <p:nvPr/>
        </p:nvSpPr>
        <p:spPr>
          <a:xfrm>
            <a:off x="12618720" y="2148840"/>
            <a:ext cx="4754880" cy="1097280"/>
          </a:xfrm>
          <a:prstGeom prst="rect">
            <a:avLst/>
          </a:prstGeom>
          <a:noFill/>
        </p:spPr>
        <p:txBody>
          <a:bodyPr wrap="square" lIns="0" tIns="0" rIns="0" bIns="0" anchor="t">
            <a:spAutoFit/>
          </a:bodyPr>
          <a:lstStyle/>
          <a:p>
            <a:pPr algn="l"/>
            <a:r>
              <a:rPr sz="7200" b="1">
                <a:solidFill>
                  <a:srgbClr val="72C493"/>
                </a:solidFill>
                <a:latin typeface="Arial"/>
              </a:rPr>
              <a:t>156</a:t>
            </a:r>
          </a:p>
        </p:txBody>
      </p:sp>
      <p:sp>
        <p:nvSpPr>
          <p:cNvPr id="52" name="TextBox 51"/>
          <p:cNvSpPr txBox="1"/>
          <p:nvPr/>
        </p:nvSpPr>
        <p:spPr>
          <a:xfrm>
            <a:off x="12618720" y="3246120"/>
            <a:ext cx="4754880" cy="731520"/>
          </a:xfrm>
          <a:prstGeom prst="rect">
            <a:avLst/>
          </a:prstGeom>
          <a:noFill/>
        </p:spPr>
        <p:txBody>
          <a:bodyPr wrap="square" lIns="0" tIns="0" rIns="0" bIns="0" anchor="t">
            <a:spAutoFit/>
          </a:bodyPr>
          <a:lstStyle/>
          <a:p>
            <a:pPr algn="l"/>
            <a:r>
              <a:rPr sz="2200" b="1">
                <a:solidFill>
                  <a:srgbClr val="FFFFFF"/>
                </a:solidFill>
                <a:latin typeface="Arial"/>
              </a:rPr>
              <a:t>signalements aux arrêts du quartier</a:t>
            </a:r>
          </a:p>
        </p:txBody>
      </p:sp>
      <p:sp>
        <p:nvSpPr>
          <p:cNvPr id="53" name="TextBox 52"/>
          <p:cNvSpPr txBox="1"/>
          <p:nvPr/>
        </p:nvSpPr>
        <p:spPr>
          <a:xfrm>
            <a:off x="12618720" y="3931920"/>
            <a:ext cx="4754880" cy="411480"/>
          </a:xfrm>
          <a:prstGeom prst="rect">
            <a:avLst/>
          </a:prstGeom>
          <a:noFill/>
        </p:spPr>
        <p:txBody>
          <a:bodyPr wrap="square" lIns="0" tIns="0" rIns="0" bIns="0" anchor="t">
            <a:spAutoFit/>
          </a:bodyPr>
          <a:lstStyle/>
          <a:p>
            <a:pPr algn="l"/>
            <a:r>
              <a:rPr sz="1700" b="0">
                <a:solidFill>
                  <a:srgbClr val="8A90B0"/>
                </a:solidFill>
                <a:latin typeface="Arial"/>
              </a:rPr>
              <a:t>sur 472 dans toute la ville</a:t>
            </a:r>
          </a:p>
        </p:txBody>
      </p:sp>
      <p:sp>
        <p:nvSpPr>
          <p:cNvPr id="54" name="TextBox 53"/>
          <p:cNvSpPr txBox="1"/>
          <p:nvPr/>
        </p:nvSpPr>
        <p:spPr>
          <a:xfrm>
            <a:off x="12618720" y="4572000"/>
            <a:ext cx="4754880" cy="365760"/>
          </a:xfrm>
          <a:prstGeom prst="rect">
            <a:avLst/>
          </a:prstGeom>
          <a:noFill/>
        </p:spPr>
        <p:txBody>
          <a:bodyPr wrap="square" lIns="0" tIns="0" rIns="0" bIns="0" anchor="t">
            <a:spAutoFit/>
          </a:bodyPr>
          <a:lstStyle/>
          <a:p>
            <a:pPr algn="l"/>
            <a:r>
              <a:rPr sz="1600" b="1" spc="120">
                <a:solidFill>
                  <a:srgbClr val="72C493"/>
                </a:solidFill>
                <a:latin typeface="Arial"/>
              </a:rPr>
              <a:t>ARRÊTS LES PLUS SIGNALÉS</a:t>
            </a:r>
          </a:p>
        </p:txBody>
      </p:sp>
      <p:sp>
        <p:nvSpPr>
          <p:cNvPr id="55" name="TextBox 54"/>
          <p:cNvSpPr txBox="1"/>
          <p:nvPr/>
        </p:nvSpPr>
        <p:spPr>
          <a:xfrm>
            <a:off x="12618720" y="5029200"/>
            <a:ext cx="731520" cy="411480"/>
          </a:xfrm>
          <a:prstGeom prst="rect">
            <a:avLst/>
          </a:prstGeom>
          <a:noFill/>
        </p:spPr>
        <p:txBody>
          <a:bodyPr wrap="square" lIns="0" tIns="0" rIns="0" bIns="0" anchor="t">
            <a:spAutoFit/>
          </a:bodyPr>
          <a:lstStyle/>
          <a:p>
            <a:pPr algn="l"/>
            <a:r>
              <a:rPr sz="2200" b="1">
                <a:solidFill>
                  <a:srgbClr val="72C493"/>
                </a:solidFill>
                <a:latin typeface="Arial"/>
              </a:rPr>
              <a:t>28</a:t>
            </a:r>
          </a:p>
        </p:txBody>
      </p:sp>
      <p:sp>
        <p:nvSpPr>
          <p:cNvPr id="56" name="TextBox 55"/>
          <p:cNvSpPr txBox="1"/>
          <p:nvPr/>
        </p:nvSpPr>
        <p:spPr>
          <a:xfrm>
            <a:off x="13350240" y="5065776"/>
            <a:ext cx="4023360" cy="411480"/>
          </a:xfrm>
          <a:prstGeom prst="rect">
            <a:avLst/>
          </a:prstGeom>
          <a:noFill/>
        </p:spPr>
        <p:txBody>
          <a:bodyPr wrap="square" lIns="0" tIns="0" rIns="0" bIns="0" anchor="t">
            <a:spAutoFit/>
          </a:bodyPr>
          <a:lstStyle/>
          <a:p>
            <a:pPr algn="l"/>
            <a:r>
              <a:rPr sz="1800" b="1">
                <a:solidFill>
                  <a:srgbClr val="FFFFFF"/>
                </a:solidFill>
                <a:latin typeface="Arial"/>
              </a:rPr>
              <a:t>Cité des Hêtres</a:t>
            </a:r>
          </a:p>
        </p:txBody>
      </p:sp>
      <p:sp>
        <p:nvSpPr>
          <p:cNvPr id="57" name="TextBox 56"/>
          <p:cNvSpPr txBox="1"/>
          <p:nvPr/>
        </p:nvSpPr>
        <p:spPr>
          <a:xfrm>
            <a:off x="12618720" y="5486400"/>
            <a:ext cx="731520" cy="411480"/>
          </a:xfrm>
          <a:prstGeom prst="rect">
            <a:avLst/>
          </a:prstGeom>
          <a:noFill/>
        </p:spPr>
        <p:txBody>
          <a:bodyPr wrap="square" lIns="0" tIns="0" rIns="0" bIns="0" anchor="t">
            <a:spAutoFit/>
          </a:bodyPr>
          <a:lstStyle/>
          <a:p>
            <a:pPr algn="l"/>
            <a:r>
              <a:rPr sz="2200" b="1">
                <a:solidFill>
                  <a:srgbClr val="72C493"/>
                </a:solidFill>
                <a:latin typeface="Arial"/>
              </a:rPr>
              <a:t>25</a:t>
            </a:r>
          </a:p>
        </p:txBody>
      </p:sp>
      <p:sp>
        <p:nvSpPr>
          <p:cNvPr id="58" name="TextBox 57"/>
          <p:cNvSpPr txBox="1"/>
          <p:nvPr/>
        </p:nvSpPr>
        <p:spPr>
          <a:xfrm>
            <a:off x="13350240" y="5522976"/>
            <a:ext cx="4023360" cy="411480"/>
          </a:xfrm>
          <a:prstGeom prst="rect">
            <a:avLst/>
          </a:prstGeom>
          <a:noFill/>
        </p:spPr>
        <p:txBody>
          <a:bodyPr wrap="square" lIns="0" tIns="0" rIns="0" bIns="0" anchor="t">
            <a:spAutoFit/>
          </a:bodyPr>
          <a:lstStyle/>
          <a:p>
            <a:pPr algn="l"/>
            <a:r>
              <a:rPr sz="1800" b="1">
                <a:solidFill>
                  <a:srgbClr val="FFFFFF"/>
                </a:solidFill>
                <a:latin typeface="Arial"/>
              </a:rPr>
              <a:t>Rue du Ballon</a:t>
            </a:r>
          </a:p>
        </p:txBody>
      </p:sp>
      <p:sp>
        <p:nvSpPr>
          <p:cNvPr id="59" name="TextBox 58"/>
          <p:cNvSpPr txBox="1"/>
          <p:nvPr/>
        </p:nvSpPr>
        <p:spPr>
          <a:xfrm>
            <a:off x="12618720" y="5943600"/>
            <a:ext cx="731520" cy="411480"/>
          </a:xfrm>
          <a:prstGeom prst="rect">
            <a:avLst/>
          </a:prstGeom>
          <a:noFill/>
        </p:spPr>
        <p:txBody>
          <a:bodyPr wrap="square" lIns="0" tIns="0" rIns="0" bIns="0" anchor="t">
            <a:spAutoFit/>
          </a:bodyPr>
          <a:lstStyle/>
          <a:p>
            <a:pPr algn="l"/>
            <a:r>
              <a:rPr sz="2200" b="1">
                <a:solidFill>
                  <a:srgbClr val="72C493"/>
                </a:solidFill>
                <a:latin typeface="Arial"/>
              </a:rPr>
              <a:t>23</a:t>
            </a:r>
          </a:p>
        </p:txBody>
      </p:sp>
      <p:sp>
        <p:nvSpPr>
          <p:cNvPr id="60" name="TextBox 59"/>
          <p:cNvSpPr txBox="1"/>
          <p:nvPr/>
        </p:nvSpPr>
        <p:spPr>
          <a:xfrm>
            <a:off x="13350240" y="5980176"/>
            <a:ext cx="4023360" cy="411480"/>
          </a:xfrm>
          <a:prstGeom prst="rect">
            <a:avLst/>
          </a:prstGeom>
          <a:noFill/>
        </p:spPr>
        <p:txBody>
          <a:bodyPr wrap="square" lIns="0" tIns="0" rIns="0" bIns="0" anchor="t">
            <a:spAutoFit/>
          </a:bodyPr>
          <a:lstStyle/>
          <a:p>
            <a:pPr algn="l"/>
            <a:r>
              <a:rPr sz="1800" b="1">
                <a:solidFill>
                  <a:srgbClr val="FFFFFF"/>
                </a:solidFill>
                <a:latin typeface="Arial"/>
              </a:rPr>
              <a:t>Place du Combat</a:t>
            </a:r>
          </a:p>
        </p:txBody>
      </p:sp>
      <p:sp>
        <p:nvSpPr>
          <p:cNvPr id="61" name="TextBox 60"/>
          <p:cNvSpPr txBox="1"/>
          <p:nvPr/>
        </p:nvSpPr>
        <p:spPr>
          <a:xfrm>
            <a:off x="12618720" y="6400800"/>
            <a:ext cx="731520" cy="411480"/>
          </a:xfrm>
          <a:prstGeom prst="rect">
            <a:avLst/>
          </a:prstGeom>
          <a:noFill/>
        </p:spPr>
        <p:txBody>
          <a:bodyPr wrap="square" lIns="0" tIns="0" rIns="0" bIns="0" anchor="t">
            <a:spAutoFit/>
          </a:bodyPr>
          <a:lstStyle/>
          <a:p>
            <a:pPr algn="l"/>
            <a:r>
              <a:rPr sz="2200" b="1">
                <a:solidFill>
                  <a:srgbClr val="72C493"/>
                </a:solidFill>
                <a:latin typeface="Arial"/>
              </a:rPr>
              <a:t>19</a:t>
            </a:r>
          </a:p>
        </p:txBody>
      </p:sp>
      <p:sp>
        <p:nvSpPr>
          <p:cNvPr id="62" name="TextBox 61"/>
          <p:cNvSpPr txBox="1"/>
          <p:nvPr/>
        </p:nvSpPr>
        <p:spPr>
          <a:xfrm>
            <a:off x="13350240" y="6437376"/>
            <a:ext cx="4023360" cy="411480"/>
          </a:xfrm>
          <a:prstGeom prst="rect">
            <a:avLst/>
          </a:prstGeom>
          <a:noFill/>
        </p:spPr>
        <p:txBody>
          <a:bodyPr wrap="square" lIns="0" tIns="0" rIns="0" bIns="0" anchor="t">
            <a:spAutoFit/>
          </a:bodyPr>
          <a:lstStyle/>
          <a:p>
            <a:pPr algn="l"/>
            <a:r>
              <a:rPr sz="1800" b="1">
                <a:solidFill>
                  <a:srgbClr val="FFFFFF"/>
                </a:solidFill>
                <a:latin typeface="Arial"/>
              </a:rPr>
              <a:t>Les Richardets – Centre</a:t>
            </a:r>
          </a:p>
        </p:txBody>
      </p:sp>
      <p:sp>
        <p:nvSpPr>
          <p:cNvPr id="63" name="TextBox 62"/>
          <p:cNvSpPr txBox="1"/>
          <p:nvPr/>
        </p:nvSpPr>
        <p:spPr>
          <a:xfrm>
            <a:off x="12618720" y="6995160"/>
            <a:ext cx="4754880" cy="365760"/>
          </a:xfrm>
          <a:prstGeom prst="rect">
            <a:avLst/>
          </a:prstGeom>
          <a:noFill/>
        </p:spPr>
        <p:txBody>
          <a:bodyPr wrap="square" lIns="0" tIns="0" rIns="0" bIns="0" anchor="t">
            <a:spAutoFit/>
          </a:bodyPr>
          <a:lstStyle/>
          <a:p>
            <a:pPr algn="l"/>
            <a:r>
              <a:rPr sz="1600" b="1" spc="120">
                <a:solidFill>
                  <a:srgbClr val="72C493"/>
                </a:solidFill>
                <a:latin typeface="Arial"/>
              </a:rPr>
              <a:t>PROBLÈMES LES PLUS CITÉS</a:t>
            </a:r>
          </a:p>
        </p:txBody>
      </p:sp>
      <p:sp>
        <p:nvSpPr>
          <p:cNvPr id="64" name="TextBox 63"/>
          <p:cNvSpPr txBox="1"/>
          <p:nvPr/>
        </p:nvSpPr>
        <p:spPr>
          <a:xfrm>
            <a:off x="12618720" y="7452360"/>
            <a:ext cx="4754880" cy="320040"/>
          </a:xfrm>
          <a:prstGeom prst="rect">
            <a:avLst/>
          </a:prstGeom>
          <a:noFill/>
        </p:spPr>
        <p:txBody>
          <a:bodyPr wrap="square" lIns="0" tIns="0" rIns="0" bIns="0" anchor="t">
            <a:spAutoFit/>
          </a:bodyPr>
          <a:lstStyle/>
          <a:p>
            <a:pPr algn="l"/>
            <a:r>
              <a:rPr sz="1500" b="0">
                <a:solidFill>
                  <a:srgbClr val="FFFFFF"/>
                </a:solidFill>
                <a:latin typeface="Arial"/>
              </a:rPr>
              <a:t>Non passage du bus</a:t>
            </a:r>
          </a:p>
        </p:txBody>
      </p:sp>
      <p:sp>
        <p:nvSpPr>
          <p:cNvPr id="65" name="Rectangle 64"/>
          <p:cNvSpPr/>
          <p:nvPr/>
        </p:nvSpPr>
        <p:spPr>
          <a:xfrm>
            <a:off x="12618720" y="7781544"/>
            <a:ext cx="3931920"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6642080" y="7708392"/>
            <a:ext cx="731520" cy="320040"/>
          </a:xfrm>
          <a:prstGeom prst="rect">
            <a:avLst/>
          </a:prstGeom>
          <a:noFill/>
        </p:spPr>
        <p:txBody>
          <a:bodyPr wrap="square" lIns="0" tIns="0" rIns="0" bIns="0" anchor="t">
            <a:spAutoFit/>
          </a:bodyPr>
          <a:lstStyle/>
          <a:p>
            <a:pPr algn="l"/>
            <a:r>
              <a:rPr sz="1500" b="1">
                <a:solidFill>
                  <a:srgbClr val="72C493"/>
                </a:solidFill>
                <a:latin typeface="Arial"/>
              </a:rPr>
              <a:t>65</a:t>
            </a:r>
          </a:p>
        </p:txBody>
      </p:sp>
      <p:sp>
        <p:nvSpPr>
          <p:cNvPr id="67" name="TextBox 66"/>
          <p:cNvSpPr txBox="1"/>
          <p:nvPr/>
        </p:nvSpPr>
        <p:spPr>
          <a:xfrm>
            <a:off x="12618720" y="8110728"/>
            <a:ext cx="4754880" cy="320040"/>
          </a:xfrm>
          <a:prstGeom prst="rect">
            <a:avLst/>
          </a:prstGeom>
          <a:noFill/>
        </p:spPr>
        <p:txBody>
          <a:bodyPr wrap="square" lIns="0" tIns="0" rIns="0" bIns="0" anchor="t">
            <a:spAutoFit/>
          </a:bodyPr>
          <a:lstStyle/>
          <a:p>
            <a:pPr algn="l"/>
            <a:r>
              <a:rPr sz="1500" b="0">
                <a:solidFill>
                  <a:srgbClr val="FFFFFF"/>
                </a:solidFill>
                <a:latin typeface="Arial"/>
              </a:rPr>
              <a:t>Retard inférieur à 15 min</a:t>
            </a:r>
          </a:p>
        </p:txBody>
      </p:sp>
      <p:sp>
        <p:nvSpPr>
          <p:cNvPr id="68" name="Rectangle 67"/>
          <p:cNvSpPr/>
          <p:nvPr/>
        </p:nvSpPr>
        <p:spPr>
          <a:xfrm>
            <a:off x="12618720" y="8439912"/>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4645874" y="8366760"/>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
        <p:nvSpPr>
          <p:cNvPr id="70" name="TextBox 69"/>
          <p:cNvSpPr txBox="1"/>
          <p:nvPr/>
        </p:nvSpPr>
        <p:spPr>
          <a:xfrm>
            <a:off x="12618720" y="8769096"/>
            <a:ext cx="4754880" cy="320040"/>
          </a:xfrm>
          <a:prstGeom prst="rect">
            <a:avLst/>
          </a:prstGeom>
          <a:noFill/>
        </p:spPr>
        <p:txBody>
          <a:bodyPr wrap="square" lIns="0" tIns="0" rIns="0" bIns="0" anchor="t">
            <a:spAutoFit/>
          </a:bodyPr>
          <a:lstStyle/>
          <a:p>
            <a:pPr algn="l"/>
            <a:r>
              <a:rPr sz="1500" b="0">
                <a:solidFill>
                  <a:srgbClr val="FFFFFF"/>
                </a:solidFill>
                <a:latin typeface="Arial"/>
              </a:rPr>
              <a:t>Affichage en temps réel erroné</a:t>
            </a:r>
          </a:p>
        </p:txBody>
      </p:sp>
      <p:sp>
        <p:nvSpPr>
          <p:cNvPr id="71" name="Rectangle 70"/>
          <p:cNvSpPr/>
          <p:nvPr/>
        </p:nvSpPr>
        <p:spPr>
          <a:xfrm>
            <a:off x="12618720" y="9098280"/>
            <a:ext cx="1935714" cy="201168"/>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4645874" y="9025128"/>
            <a:ext cx="731520" cy="320040"/>
          </a:xfrm>
          <a:prstGeom prst="rect">
            <a:avLst/>
          </a:prstGeom>
          <a:noFill/>
        </p:spPr>
        <p:txBody>
          <a:bodyPr wrap="square" lIns="0" tIns="0" rIns="0" bIns="0" anchor="t">
            <a:spAutoFit/>
          </a:bodyPr>
          <a:lstStyle/>
          <a:p>
            <a:pPr algn="l"/>
            <a:r>
              <a:rPr sz="1500" b="1">
                <a:solidFill>
                  <a:srgbClr val="72C493"/>
                </a:solidFill>
                <a:latin typeface="Arial"/>
              </a:rPr>
              <a:t>32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1495425"/>
            <a:ext cx="1047750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SERVICES PUBLICS DE PROXIMITÉ · LES BUS</a:t>
            </a:r>
            <a:endParaRPr lang="en-US" sz="2100" dirty="0"/>
          </a:p>
        </p:txBody>
      </p:sp>
      <p:sp>
        <p:nvSpPr>
          <p:cNvPr id="4" name="Text 1"/>
          <p:cNvSpPr/>
          <p:nvPr/>
        </p:nvSpPr>
        <p:spPr>
          <a:xfrm>
            <a:off x="952500" y="1981835"/>
            <a:ext cx="10477501" cy="638175"/>
          </a:xfrm>
          <a:prstGeom prst="rect">
            <a:avLst/>
          </a:prstGeom>
          <a:noFill/>
          <a:ln/>
          <a:effectLst>
            <a:outerShdw blurRad="101600" dist="40411" dir="2700000" algn="bl" rotWithShape="0">
              <a:srgbClr val="72C493">
                <a:alpha val="100000"/>
              </a:srgbClr>
            </a:outerShdw>
          </a:effectLst>
        </p:spPr>
        <p:txBody>
          <a:bodyPr wrap="square" lIns="25400" tIns="25400" rIns="25400" bIns="25400" rtlCol="0" anchor="t">
            <a:normAutofit/>
          </a:bodyPr>
          <a:lstStyle/>
          <a:p>
            <a:pPr marL="0" indent="0" algn="l">
              <a:lnSpc>
                <a:spcPct val="74763"/>
              </a:lnSpc>
              <a:buNone/>
            </a:pPr>
            <a:r>
              <a:rPr lang="en-US" sz="4500" b="1" kern="0" spc="-150" dirty="0">
                <a:solidFill>
                  <a:srgbClr val="0E1F5B"/>
                </a:solidFill>
                <a:latin typeface="Arial" pitchFamily="34" charset="0"/>
                <a:ea typeface="Arial" pitchFamily="34" charset="-122"/>
                <a:cs typeface="Arial" pitchFamily="34" charset="-120"/>
              </a:rPr>
              <a:t>Le courrier du Maire à Keolis</a:t>
            </a:r>
            <a:endParaRPr lang="en-US" sz="4500" dirty="0"/>
          </a:p>
        </p:txBody>
      </p:sp>
      <p:sp>
        <p:nvSpPr>
          <p:cNvPr id="5" name="Text 2"/>
          <p:cNvSpPr/>
          <p:nvPr/>
        </p:nvSpPr>
        <p:spPr>
          <a:xfrm>
            <a:off x="952500" y="2734310"/>
            <a:ext cx="10477501" cy="4140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0E1F5B"/>
                </a:solidFill>
                <a:latin typeface="Arial" pitchFamily="34" charset="0"/>
                <a:ea typeface="Arial" pitchFamily="34" charset="-122"/>
                <a:cs typeface="Arial" pitchFamily="34" charset="-120"/>
              </a:rPr>
              <a:t>20 septembre 2026</a:t>
            </a:r>
            <a:endParaRPr lang="en-US" sz="2550" dirty="0"/>
          </a:p>
        </p:txBody>
      </p:sp>
      <p:sp>
        <p:nvSpPr>
          <p:cNvPr id="6" name="Shape 3"/>
          <p:cNvSpPr/>
          <p:nvPr/>
        </p:nvSpPr>
        <p:spPr>
          <a:xfrm>
            <a:off x="952500" y="3376930"/>
            <a:ext cx="3200400" cy="57150"/>
          </a:xfrm>
          <a:prstGeom prst="rect">
            <a:avLst/>
          </a:prstGeom>
          <a:solidFill>
            <a:srgbClr val="72C493"/>
          </a:solidFill>
          <a:ln/>
        </p:spPr>
      </p:sp>
      <p:sp>
        <p:nvSpPr>
          <p:cNvPr id="7" name="Shape 4"/>
          <p:cNvSpPr/>
          <p:nvPr/>
        </p:nvSpPr>
        <p:spPr>
          <a:xfrm>
            <a:off x="952500" y="3815080"/>
            <a:ext cx="533400" cy="533400"/>
          </a:xfrm>
          <a:prstGeom prst="rect">
            <a:avLst/>
          </a:prstGeom>
          <a:solidFill>
            <a:srgbClr val="72C493"/>
          </a:solidFill>
          <a:ln/>
        </p:spPr>
      </p:sp>
      <p:sp>
        <p:nvSpPr>
          <p:cNvPr id="8" name="Text 5"/>
          <p:cNvSpPr/>
          <p:nvPr/>
        </p:nvSpPr>
        <p:spPr>
          <a:xfrm>
            <a:off x="914400" y="381508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01</a:t>
            </a:r>
            <a:endParaRPr lang="en-US" sz="1950" dirty="0"/>
          </a:p>
        </p:txBody>
      </p:sp>
      <p:sp>
        <p:nvSpPr>
          <p:cNvPr id="9" name="Text 6"/>
          <p:cNvSpPr/>
          <p:nvPr/>
        </p:nvSpPr>
        <p:spPr>
          <a:xfrm>
            <a:off x="1714500" y="381508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Retards, courses supprimées, fréquences non respectées, information défaillante</a:t>
            </a:r>
            <a:endParaRPr lang="en-US" sz="2400" dirty="0"/>
          </a:p>
        </p:txBody>
      </p:sp>
      <p:sp>
        <p:nvSpPr>
          <p:cNvPr id="10" name="Shape 7"/>
          <p:cNvSpPr/>
          <p:nvPr/>
        </p:nvSpPr>
        <p:spPr>
          <a:xfrm>
            <a:off x="952500" y="4950460"/>
            <a:ext cx="533400" cy="533400"/>
          </a:xfrm>
          <a:prstGeom prst="rect">
            <a:avLst/>
          </a:prstGeom>
          <a:solidFill>
            <a:srgbClr val="72C493"/>
          </a:solidFill>
          <a:ln/>
        </p:spPr>
      </p:sp>
      <p:sp>
        <p:nvSpPr>
          <p:cNvPr id="11" name="Text 8"/>
          <p:cNvSpPr/>
          <p:nvPr/>
        </p:nvSpPr>
        <p:spPr>
          <a:xfrm>
            <a:off x="914400" y="49504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02</a:t>
            </a:r>
            <a:endParaRPr lang="en-US" sz="1950" dirty="0"/>
          </a:p>
        </p:txBody>
      </p:sp>
      <p:sp>
        <p:nvSpPr>
          <p:cNvPr id="12" name="Text 9"/>
          <p:cNvSpPr/>
          <p:nvPr/>
        </p:nvSpPr>
        <p:spPr>
          <a:xfrm>
            <a:off x="1714500" y="4950460"/>
            <a:ext cx="8948659" cy="43434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de sanctions contractuelles contre l'opérateur</a:t>
            </a:r>
            <a:endParaRPr lang="en-US" sz="2400" dirty="0"/>
          </a:p>
        </p:txBody>
      </p:sp>
      <p:sp>
        <p:nvSpPr>
          <p:cNvPr id="13" name="Shape 10"/>
          <p:cNvSpPr/>
          <p:nvPr/>
        </p:nvSpPr>
        <p:spPr>
          <a:xfrm>
            <a:off x="952500" y="5826760"/>
            <a:ext cx="533400" cy="533400"/>
          </a:xfrm>
          <a:prstGeom prst="rect">
            <a:avLst/>
          </a:prstGeom>
          <a:solidFill>
            <a:srgbClr val="72C493"/>
          </a:solidFill>
          <a:ln/>
        </p:spPr>
      </p:sp>
      <p:sp>
        <p:nvSpPr>
          <p:cNvPr id="14" name="Text 11"/>
          <p:cNvSpPr/>
          <p:nvPr/>
        </p:nvSpPr>
        <p:spPr>
          <a:xfrm>
            <a:off x="914400" y="5826760"/>
            <a:ext cx="609600" cy="571500"/>
          </a:xfrm>
          <a:prstGeom prst="rect">
            <a:avLst/>
          </a:prstGeom>
          <a:noFill/>
          <a:ln/>
        </p:spPr>
        <p:txBody>
          <a:bodyPr wrap="square" lIns="25400" tIns="25400" rIns="25400" bIns="25400" rtlCol="0" anchor="ctr">
            <a:normAutofit/>
          </a:bodyPr>
          <a:lstStyle/>
          <a:p>
            <a:pPr marL="0" indent="0" algn="ctr">
              <a:buNone/>
            </a:pPr>
            <a:r>
              <a:rPr lang="en-US" sz="1950" b="1" dirty="0">
                <a:solidFill>
                  <a:srgbClr val="0E1F5B"/>
                </a:solidFill>
                <a:latin typeface="Arial" pitchFamily="34" charset="0"/>
                <a:ea typeface="Arial" pitchFamily="34" charset="-122"/>
                <a:cs typeface="Arial" pitchFamily="34" charset="-120"/>
              </a:rPr>
              <a:t>03</a:t>
            </a:r>
            <a:endParaRPr lang="en-US" sz="1950" dirty="0"/>
          </a:p>
        </p:txBody>
      </p:sp>
      <p:sp>
        <p:nvSpPr>
          <p:cNvPr id="15" name="Text 12"/>
          <p:cNvSpPr/>
          <p:nvPr/>
        </p:nvSpPr>
        <p:spPr>
          <a:xfrm>
            <a:off x="1714500" y="5826760"/>
            <a:ext cx="9025891" cy="83058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400" b="1" dirty="0">
                <a:solidFill>
                  <a:srgbClr val="0E1F5B"/>
                </a:solidFill>
                <a:latin typeface="Arial" pitchFamily="34" charset="0"/>
                <a:ea typeface="Arial" pitchFamily="34" charset="-122"/>
                <a:cs typeface="Arial" pitchFamily="34" charset="-120"/>
              </a:rPr>
              <a:t>Demande d'une réunion en mairie et d'un plan d'actions immédiat</a:t>
            </a:r>
            <a:endParaRPr lang="en-US" sz="2400" dirty="0"/>
          </a:p>
        </p:txBody>
      </p:sp>
      <p:sp>
        <p:nvSpPr>
          <p:cNvPr id="16" name="Shape 13"/>
          <p:cNvSpPr/>
          <p:nvPr/>
        </p:nvSpPr>
        <p:spPr>
          <a:xfrm>
            <a:off x="11839576" y="1771650"/>
            <a:ext cx="5086350" cy="7200901"/>
          </a:xfrm>
          <a:prstGeom prst="rect">
            <a:avLst/>
          </a:prstGeom>
          <a:solidFill>
            <a:srgbClr val="D9D4CA"/>
          </a:solidFill>
          <a:ln/>
        </p:spPr>
      </p:sp>
      <p:pic>
        <p:nvPicPr>
          <p:cNvPr id="17" name="Image 1" descr="preencoded.png"/>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1839576" y="1771650"/>
            <a:ext cx="5086350" cy="7200901"/>
          </a:xfrm>
          <a:prstGeom prst="rect">
            <a:avLst/>
          </a:prstGeom>
        </p:spPr>
      </p:pic>
      <p:sp>
        <p:nvSpPr>
          <p:cNvPr id="18" name="Shape 14"/>
          <p:cNvSpPr/>
          <p:nvPr/>
        </p:nvSpPr>
        <p:spPr>
          <a:xfrm>
            <a:off x="11839576" y="9124951"/>
            <a:ext cx="5086350" cy="495300"/>
          </a:xfrm>
          <a:prstGeom prst="rect">
            <a:avLst/>
          </a:prstGeom>
          <a:solidFill>
            <a:srgbClr val="72C493"/>
          </a:solidFill>
          <a:ln/>
        </p:spPr>
      </p:sp>
      <p:sp>
        <p:nvSpPr>
          <p:cNvPr id="19" name="Text 15"/>
          <p:cNvSpPr/>
          <p:nvPr/>
        </p:nvSpPr>
        <p:spPr>
          <a:xfrm>
            <a:off x="11915681" y="9201151"/>
            <a:ext cx="4934141" cy="381000"/>
          </a:xfrm>
          <a:prstGeom prst="rect">
            <a:avLst/>
          </a:prstGeom>
          <a:noFill/>
          <a:ln/>
        </p:spPr>
        <p:txBody>
          <a:bodyPr wrap="square" lIns="25400" tIns="25400" rIns="25400" bIns="25400" rtlCol="0" anchor="ctr">
            <a:normAutofit/>
          </a:bodyPr>
          <a:lstStyle/>
          <a:p>
            <a:pPr marL="0" indent="0" algn="ctr">
              <a:buNone/>
            </a:pPr>
            <a:r>
              <a:rPr lang="en-US" sz="1800" b="1" kern="0" spc="75" dirty="0">
                <a:solidFill>
                  <a:srgbClr val="0E1F5B"/>
                </a:solidFill>
                <a:latin typeface="Arial" pitchFamily="34" charset="0"/>
                <a:ea typeface="Arial" pitchFamily="34" charset="-122"/>
                <a:cs typeface="Arial" pitchFamily="34" charset="-120"/>
              </a:rPr>
              <a:t>LETTRE À KEOLIS · 20 SEPT. 2026</a:t>
            </a:r>
            <a:endParaRPr lang="en-US" sz="18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Le projet RER E Est +</a:t>
            </a:r>
          </a:p>
        </p:txBody>
      </p:sp>
      <p:pic>
        <p:nvPicPr>
          <p:cNvPr id="5" name="Picture 4" descr="Mobilites_02_projet_RER_E_Est_plus.jpg"/>
          <p:cNvPicPr>
            <a:picLocks noChangeAspect="1"/>
          </p:cNvPicPr>
          <p:nvPr/>
        </p:nvPicPr>
        <p:blipFill>
          <a:blip r:embed="rId3"/>
          <a:stretch>
            <a:fillRect/>
          </a:stretch>
        </p:blipFill>
        <p:spPr>
          <a:xfrm>
            <a:off x="4160760" y="2148840"/>
            <a:ext cx="9948191" cy="7498079"/>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5E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anchor="t" lIns="0" rIns="0" tIns="0" bIns="0">
            <a:spAutoFit/>
          </a:bodyPr>
          <a:lstStyle/>
          <a:p>
            <a:pPr algn="l"/>
            <a:r>
              <a:rPr sz="2100" b="1" spc="150">
                <a:solidFill>
                  <a:srgbClr val="72C493"/>
                </a:solidFill>
                <a:latin typeface="Arial"/>
              </a:rPr>
              <a:t>SERVICES PUBLICS DE PROXIMITÉ · LES TRANSPORTS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anchor="t" lIns="0" rIns="0" tIns="0" bIns="0">
            <a:spAutoFit/>
          </a:bodyPr>
          <a:lstStyle/>
          <a:p>
            <a:pPr algn="l"/>
            <a:r>
              <a:rPr sz="4400" b="1">
                <a:solidFill>
                  <a:srgbClr val="0E1F5B"/>
                </a:solidFill>
                <a:latin typeface="Arial"/>
              </a:rPr>
              <a:t>L'aménagement du pôle gare des Yvris</a:t>
            </a:r>
          </a:p>
        </p:txBody>
      </p:sp>
      <p:pic>
        <p:nvPicPr>
          <p:cNvPr id="5" name="Picture 4" descr="Mobilites_03_pole_gare_Yvris_plan.jpg"/>
          <p:cNvPicPr>
            <a:picLocks noChangeAspect="1"/>
          </p:cNvPicPr>
          <p:nvPr/>
        </p:nvPicPr>
        <p:blipFill>
          <a:blip r:embed="rId3"/>
          <a:stretch>
            <a:fillRect/>
          </a:stretch>
        </p:blipFill>
        <p:spPr>
          <a:xfrm>
            <a:off x="950976" y="2348919"/>
            <a:ext cx="16367759" cy="70979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La tribune du stade Alain-Mimoun</a:t>
            </a:r>
          </a:p>
        </p:txBody>
      </p:sp>
      <p:sp>
        <p:nvSpPr>
          <p:cNvPr id="5" name="Rectangle 4"/>
          <p:cNvSpPr/>
          <p:nvPr/>
        </p:nvSpPr>
        <p:spPr>
          <a:xfrm>
            <a:off x="950976" y="2286000"/>
            <a:ext cx="4206240" cy="7040880"/>
          </a:xfrm>
          <a:prstGeom prst="rect">
            <a:avLst/>
          </a:prstGeom>
          <a:solidFill>
            <a:srgbClr val="132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80160" y="2606040"/>
            <a:ext cx="3657600" cy="411480"/>
          </a:xfrm>
          <a:prstGeom prst="rect">
            <a:avLst/>
          </a:prstGeom>
          <a:noFill/>
        </p:spPr>
        <p:txBody>
          <a:bodyPr wrap="square" lIns="0" tIns="0" rIns="0" bIns="0" anchor="t">
            <a:spAutoFit/>
          </a:bodyPr>
          <a:lstStyle/>
          <a:p>
            <a:pPr algn="l"/>
            <a:r>
              <a:rPr sz="2000" b="1" spc="150">
                <a:solidFill>
                  <a:srgbClr val="8A90B0"/>
                </a:solidFill>
                <a:latin typeface="Arial"/>
              </a:rPr>
              <a:t>ANCIEN PROJET</a:t>
            </a:r>
          </a:p>
        </p:txBody>
      </p:sp>
      <p:sp>
        <p:nvSpPr>
          <p:cNvPr id="7" name="TextBox 6"/>
          <p:cNvSpPr txBox="1"/>
          <p:nvPr/>
        </p:nvSpPr>
        <p:spPr>
          <a:xfrm>
            <a:off x="1280160" y="3017520"/>
            <a:ext cx="3657600" cy="731520"/>
          </a:xfrm>
          <a:prstGeom prst="rect">
            <a:avLst/>
          </a:prstGeom>
          <a:noFill/>
        </p:spPr>
        <p:txBody>
          <a:bodyPr wrap="square" lIns="0" tIns="0" rIns="0" bIns="0" anchor="t">
            <a:spAutoFit/>
          </a:bodyPr>
          <a:lstStyle/>
          <a:p>
            <a:pPr algn="l"/>
            <a:r>
              <a:rPr sz="1600" b="0">
                <a:solidFill>
                  <a:srgbClr val="8A90B0"/>
                </a:solidFill>
                <a:latin typeface="Arial"/>
              </a:rPr>
              <a:t>avant l'élection du Maire</a:t>
            </a:r>
          </a:p>
        </p:txBody>
      </p:sp>
      <p:sp>
        <p:nvSpPr>
          <p:cNvPr id="8" name="Oval 7"/>
          <p:cNvSpPr/>
          <p:nvPr/>
        </p:nvSpPr>
        <p:spPr>
          <a:xfrm>
            <a:off x="1280160" y="4069080"/>
            <a:ext cx="566928" cy="566928"/>
          </a:xfrm>
          <a:prstGeom prst="ellipse">
            <a:avLst/>
          </a:prstGeom>
          <a:solidFill>
            <a:srgbClr val="8A90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4069080"/>
            <a:ext cx="566928" cy="566928"/>
          </a:xfrm>
          <a:prstGeom prst="rect">
            <a:avLst/>
          </a:prstGeom>
          <a:noFill/>
        </p:spPr>
        <p:txBody>
          <a:bodyPr wrap="square" lIns="0" tIns="0" rIns="0" bIns="0" anchor="ctr">
            <a:spAutoFit/>
          </a:bodyPr>
          <a:lstStyle/>
          <a:p>
            <a:pPr algn="ctr"/>
            <a:r>
              <a:rPr sz="2200" b="1">
                <a:solidFill>
                  <a:srgbClr val="0E1F5B"/>
                </a:solidFill>
                <a:latin typeface="Arial"/>
              </a:rPr>
              <a:t>✕</a:t>
            </a:r>
          </a:p>
        </p:txBody>
      </p:sp>
      <p:sp>
        <p:nvSpPr>
          <p:cNvPr id="10" name="TextBox 9"/>
          <p:cNvSpPr txBox="1"/>
          <p:nvPr/>
        </p:nvSpPr>
        <p:spPr>
          <a:xfrm>
            <a:off x="2135124" y="3965448"/>
            <a:ext cx="2926080" cy="1280160"/>
          </a:xfrm>
          <a:prstGeom prst="rect">
            <a:avLst/>
          </a:prstGeom>
          <a:noFill/>
        </p:spPr>
        <p:txBody>
          <a:bodyPr wrap="square" lIns="0" tIns="0" rIns="0" bIns="0" anchor="t">
            <a:spAutoFit/>
          </a:bodyPr>
          <a:lstStyle/>
          <a:p>
            <a:pPr algn="l"/>
            <a:r>
              <a:rPr sz="2600" b="1" dirty="0">
                <a:solidFill>
                  <a:srgbClr val="FAF5EC"/>
                </a:solidFill>
                <a:latin typeface="Arial"/>
              </a:rPr>
              <a:t>Des </a:t>
            </a:r>
            <a:r>
              <a:rPr sz="2600" b="1" dirty="0" err="1">
                <a:solidFill>
                  <a:srgbClr val="FAF5EC"/>
                </a:solidFill>
                <a:latin typeface="Arial"/>
              </a:rPr>
              <a:t>arbres</a:t>
            </a:r>
            <a:r>
              <a:rPr sz="2600" b="1" dirty="0">
                <a:solidFill>
                  <a:srgbClr val="FAF5EC"/>
                </a:solidFill>
                <a:latin typeface="Arial"/>
              </a:rPr>
              <a:t> </a:t>
            </a:r>
            <a:r>
              <a:rPr sz="2600" b="1" dirty="0" err="1">
                <a:solidFill>
                  <a:srgbClr val="FAF5EC"/>
                </a:solidFill>
                <a:latin typeface="Arial"/>
              </a:rPr>
              <a:t>abattus</a:t>
            </a:r>
            <a:endParaRPr sz="2600" b="1" dirty="0">
              <a:solidFill>
                <a:srgbClr val="FAF5EC"/>
              </a:solidFill>
              <a:latin typeface="Arial"/>
            </a:endParaRPr>
          </a:p>
        </p:txBody>
      </p:sp>
      <p:sp>
        <p:nvSpPr>
          <p:cNvPr id="11" name="TextBox 10"/>
          <p:cNvSpPr txBox="1"/>
          <p:nvPr/>
        </p:nvSpPr>
        <p:spPr>
          <a:xfrm>
            <a:off x="5349240" y="5029200"/>
            <a:ext cx="731520" cy="822960"/>
          </a:xfrm>
          <a:prstGeom prst="rect">
            <a:avLst/>
          </a:prstGeom>
          <a:noFill/>
        </p:spPr>
        <p:txBody>
          <a:bodyPr wrap="square" lIns="0" tIns="0" rIns="0" bIns="0" anchor="t">
            <a:spAutoFit/>
          </a:bodyPr>
          <a:lstStyle/>
          <a:p>
            <a:pPr algn="ctr"/>
            <a:r>
              <a:rPr sz="4400" b="0">
                <a:solidFill>
                  <a:srgbClr val="72C493"/>
                </a:solidFill>
                <a:latin typeface="Arial"/>
              </a:rPr>
              <a:t>→</a:t>
            </a:r>
          </a:p>
        </p:txBody>
      </p:sp>
      <p:sp>
        <p:nvSpPr>
          <p:cNvPr id="12" name="Rectangle 11"/>
          <p:cNvSpPr/>
          <p:nvPr/>
        </p:nvSpPr>
        <p:spPr>
          <a:xfrm>
            <a:off x="6263640" y="2286000"/>
            <a:ext cx="5257800" cy="7040880"/>
          </a:xfrm>
          <a:prstGeom prst="rect">
            <a:avLst/>
          </a:prstGeom>
          <a:solidFill>
            <a:srgbClr val="72C4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606040"/>
            <a:ext cx="4572000" cy="411480"/>
          </a:xfrm>
          <a:prstGeom prst="rect">
            <a:avLst/>
          </a:prstGeom>
          <a:noFill/>
        </p:spPr>
        <p:txBody>
          <a:bodyPr wrap="square" lIns="0" tIns="0" rIns="0" bIns="0" anchor="t">
            <a:spAutoFit/>
          </a:bodyPr>
          <a:lstStyle/>
          <a:p>
            <a:pPr algn="l"/>
            <a:r>
              <a:rPr sz="2000" b="1" spc="150">
                <a:solidFill>
                  <a:srgbClr val="0E1F5B"/>
                </a:solidFill>
                <a:latin typeface="Arial"/>
              </a:rPr>
              <a:t>NOUVEAU PROJET</a:t>
            </a:r>
          </a:p>
        </p:txBody>
      </p:sp>
      <p:sp>
        <p:nvSpPr>
          <p:cNvPr id="14" name="TextBox 13"/>
          <p:cNvSpPr txBox="1"/>
          <p:nvPr/>
        </p:nvSpPr>
        <p:spPr>
          <a:xfrm>
            <a:off x="6629400" y="3017520"/>
            <a:ext cx="4572000" cy="731520"/>
          </a:xfrm>
          <a:prstGeom prst="rect">
            <a:avLst/>
          </a:prstGeom>
          <a:noFill/>
        </p:spPr>
        <p:txBody>
          <a:bodyPr wrap="square" lIns="0" tIns="0" rIns="0" bIns="0" anchor="t">
            <a:spAutoFit/>
          </a:bodyPr>
          <a:lstStyle/>
          <a:p>
            <a:pPr algn="l"/>
            <a:r>
              <a:rPr sz="1600" b="0">
                <a:solidFill>
                  <a:srgbClr val="0E1F5B"/>
                </a:solidFill>
                <a:latin typeface="Arial"/>
              </a:rPr>
              <a:t>porté par la nouvelle municipalité</a:t>
            </a:r>
          </a:p>
        </p:txBody>
      </p:sp>
      <p:sp>
        <p:nvSpPr>
          <p:cNvPr id="15" name="Oval 14"/>
          <p:cNvSpPr/>
          <p:nvPr/>
        </p:nvSpPr>
        <p:spPr>
          <a:xfrm>
            <a:off x="6629400" y="40690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29400" y="4069080"/>
            <a:ext cx="566928" cy="566928"/>
          </a:xfrm>
          <a:prstGeom prst="rect">
            <a:avLst/>
          </a:prstGeom>
          <a:noFill/>
        </p:spPr>
        <p:txBody>
          <a:bodyPr wrap="square" lIns="0" tIns="0" rIns="0" bIns="0" anchor="ctr">
            <a:spAutoFit/>
          </a:bodyPr>
          <a:lstStyle/>
          <a:p>
            <a:pPr algn="ctr"/>
            <a:r>
              <a:rPr sz="2200" b="1">
                <a:solidFill>
                  <a:srgbClr val="72C493"/>
                </a:solidFill>
                <a:latin typeface="Arial"/>
              </a:rPr>
              <a:t>1</a:t>
            </a:r>
          </a:p>
        </p:txBody>
      </p:sp>
      <p:sp>
        <p:nvSpPr>
          <p:cNvPr id="17" name="TextBox 16"/>
          <p:cNvSpPr txBox="1"/>
          <p:nvPr/>
        </p:nvSpPr>
        <p:spPr>
          <a:xfrm>
            <a:off x="7406640" y="4041648"/>
            <a:ext cx="3931920" cy="1280160"/>
          </a:xfrm>
          <a:prstGeom prst="rect">
            <a:avLst/>
          </a:prstGeom>
          <a:noFill/>
        </p:spPr>
        <p:txBody>
          <a:bodyPr wrap="square" lIns="0" tIns="0" rIns="0" bIns="0" anchor="t">
            <a:spAutoFit/>
          </a:bodyPr>
          <a:lstStyle/>
          <a:p>
            <a:pPr algn="l"/>
            <a:r>
              <a:rPr sz="2600" b="1">
                <a:solidFill>
                  <a:srgbClr val="0E1F5B"/>
                </a:solidFill>
                <a:latin typeface="Arial"/>
              </a:rPr>
              <a:t>Des toitures solarisées</a:t>
            </a:r>
          </a:p>
        </p:txBody>
      </p:sp>
      <p:sp>
        <p:nvSpPr>
          <p:cNvPr id="18" name="Oval 17"/>
          <p:cNvSpPr/>
          <p:nvPr/>
        </p:nvSpPr>
        <p:spPr>
          <a:xfrm>
            <a:off x="6629400" y="56692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29400" y="5669280"/>
            <a:ext cx="566928" cy="566928"/>
          </a:xfrm>
          <a:prstGeom prst="rect">
            <a:avLst/>
          </a:prstGeom>
          <a:noFill/>
        </p:spPr>
        <p:txBody>
          <a:bodyPr wrap="square" lIns="0" tIns="0" rIns="0" bIns="0" anchor="ctr">
            <a:spAutoFit/>
          </a:bodyPr>
          <a:lstStyle/>
          <a:p>
            <a:pPr algn="ctr"/>
            <a:r>
              <a:rPr sz="2200" b="1">
                <a:solidFill>
                  <a:srgbClr val="72C493"/>
                </a:solidFill>
                <a:latin typeface="Arial"/>
              </a:rPr>
              <a:t>2</a:t>
            </a:r>
          </a:p>
        </p:txBody>
      </p:sp>
      <p:sp>
        <p:nvSpPr>
          <p:cNvPr id="20" name="TextBox 19"/>
          <p:cNvSpPr txBox="1"/>
          <p:nvPr/>
        </p:nvSpPr>
        <p:spPr>
          <a:xfrm>
            <a:off x="7406640" y="5641848"/>
            <a:ext cx="3931920" cy="1280160"/>
          </a:xfrm>
          <a:prstGeom prst="rect">
            <a:avLst/>
          </a:prstGeom>
          <a:noFill/>
        </p:spPr>
        <p:txBody>
          <a:bodyPr wrap="square" lIns="0" tIns="0" rIns="0" bIns="0" anchor="t">
            <a:spAutoFit/>
          </a:bodyPr>
          <a:lstStyle/>
          <a:p>
            <a:pPr algn="l"/>
            <a:r>
              <a:rPr sz="2600" b="1">
                <a:solidFill>
                  <a:srgbClr val="0E1F5B"/>
                </a:solidFill>
                <a:latin typeface="Arial"/>
              </a:rPr>
              <a:t>Une façade en bois</a:t>
            </a:r>
          </a:p>
        </p:txBody>
      </p:sp>
      <p:sp>
        <p:nvSpPr>
          <p:cNvPr id="21" name="Oval 20"/>
          <p:cNvSpPr/>
          <p:nvPr/>
        </p:nvSpPr>
        <p:spPr>
          <a:xfrm>
            <a:off x="6629400" y="7269480"/>
            <a:ext cx="566928" cy="566928"/>
          </a:xfrm>
          <a:prstGeom prst="ellipse">
            <a:avLst/>
          </a:prstGeom>
          <a:solidFill>
            <a:srgbClr val="0E1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29400" y="7269480"/>
            <a:ext cx="566928" cy="566928"/>
          </a:xfrm>
          <a:prstGeom prst="rect">
            <a:avLst/>
          </a:prstGeom>
          <a:noFill/>
        </p:spPr>
        <p:txBody>
          <a:bodyPr wrap="square" lIns="0" tIns="0" rIns="0" bIns="0" anchor="ctr">
            <a:spAutoFit/>
          </a:bodyPr>
          <a:lstStyle/>
          <a:p>
            <a:pPr algn="ctr"/>
            <a:r>
              <a:rPr sz="2200" b="1">
                <a:solidFill>
                  <a:srgbClr val="72C493"/>
                </a:solidFill>
                <a:latin typeface="Arial"/>
              </a:rPr>
              <a:t>3</a:t>
            </a:r>
          </a:p>
        </p:txBody>
      </p:sp>
      <p:sp>
        <p:nvSpPr>
          <p:cNvPr id="23" name="TextBox 22"/>
          <p:cNvSpPr txBox="1"/>
          <p:nvPr/>
        </p:nvSpPr>
        <p:spPr>
          <a:xfrm>
            <a:off x="7406640" y="7242048"/>
            <a:ext cx="3931920" cy="1280160"/>
          </a:xfrm>
          <a:prstGeom prst="rect">
            <a:avLst/>
          </a:prstGeom>
          <a:noFill/>
        </p:spPr>
        <p:txBody>
          <a:bodyPr wrap="square" lIns="0" tIns="0" rIns="0" bIns="0" anchor="t">
            <a:spAutoFit/>
          </a:bodyPr>
          <a:lstStyle/>
          <a:p>
            <a:pPr algn="l"/>
            <a:r>
              <a:rPr sz="2600" b="1">
                <a:solidFill>
                  <a:srgbClr val="0E1F5B"/>
                </a:solidFill>
                <a:latin typeface="Arial"/>
              </a:rPr>
              <a:t>La plantation de nouveaux arbres</a:t>
            </a:r>
          </a:p>
        </p:txBody>
      </p:sp>
      <p:pic>
        <p:nvPicPr>
          <p:cNvPr id="24" name="Picture 23" descr="Equipements_01_stade_Alain_Mimoun.jpg"/>
          <p:cNvPicPr>
            <a:picLocks noChangeAspect="1"/>
          </p:cNvPicPr>
          <p:nvPr/>
        </p:nvPicPr>
        <p:blipFill>
          <a:blip r:embed="rId4"/>
          <a:stretch>
            <a:fillRect/>
          </a:stretch>
        </p:blipFill>
        <p:spPr>
          <a:xfrm>
            <a:off x="12166600" y="3610737"/>
            <a:ext cx="5449824" cy="306552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nouvelle aire de jeux rue de la Chapelle</a:t>
            </a:r>
          </a:p>
        </p:txBody>
      </p:sp>
      <p:pic>
        <p:nvPicPr>
          <p:cNvPr id="5" name="Picture 4" descr="Equipements_02_square_Astronautes_plan.png"/>
          <p:cNvPicPr>
            <a:picLocks noChangeAspect="1"/>
          </p:cNvPicPr>
          <p:nvPr/>
        </p:nvPicPr>
        <p:blipFill>
          <a:blip r:embed="rId4"/>
          <a:stretch>
            <a:fillRect/>
          </a:stretch>
        </p:blipFill>
        <p:spPr>
          <a:xfrm>
            <a:off x="2321717" y="2148840"/>
            <a:ext cx="13626276" cy="7315200"/>
          </a:xfrm>
          <a:prstGeom prst="rect">
            <a:avLst/>
          </a:prstGeom>
        </p:spPr>
      </p:pic>
      <p:sp>
        <p:nvSpPr>
          <p:cNvPr id="6" name="Rounded Rectangle 5"/>
          <p:cNvSpPr/>
          <p:nvPr/>
        </p:nvSpPr>
        <p:spPr>
          <a:xfrm>
            <a:off x="2641757" y="2468880"/>
            <a:ext cx="4023360" cy="777240"/>
          </a:xfrm>
          <a:prstGeom prst="roundRect">
            <a:avLst/>
          </a:prstGeom>
          <a:solidFill>
            <a:srgbClr val="72C493"/>
          </a:solidFill>
          <a:ln w="38100">
            <a:solidFill>
              <a:srgbClr val="0E1F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41757" y="2468880"/>
            <a:ext cx="4023360" cy="777240"/>
          </a:xfrm>
          <a:prstGeom prst="rect">
            <a:avLst/>
          </a:prstGeom>
          <a:noFill/>
        </p:spPr>
        <p:txBody>
          <a:bodyPr wrap="square" lIns="0" tIns="0" rIns="0" bIns="0" anchor="ctr">
            <a:spAutoFit/>
          </a:bodyPr>
          <a:lstStyle/>
          <a:p>
            <a:pPr algn="ctr"/>
            <a:r>
              <a:rPr sz="2600" b="1" spc="120">
                <a:solidFill>
                  <a:srgbClr val="0E1F5B"/>
                </a:solidFill>
                <a:latin typeface="Arial"/>
              </a:rPr>
              <a:t>EN CONCERTATION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Les commerces de l'avenue Médéric</a:t>
            </a:r>
          </a:p>
        </p:txBody>
      </p:sp>
      <p:pic>
        <p:nvPicPr>
          <p:cNvPr id="5" name="Picture 4" descr="Commerces_01_avenue_Mederic.jpg"/>
          <p:cNvPicPr>
            <a:picLocks noChangeAspect="1"/>
          </p:cNvPicPr>
          <p:nvPr/>
        </p:nvPicPr>
        <p:blipFill>
          <a:blip r:embed="rId4"/>
          <a:stretch>
            <a:fillRect/>
          </a:stretch>
        </p:blipFill>
        <p:spPr>
          <a:xfrm>
            <a:off x="977992" y="2240279"/>
            <a:ext cx="16313727" cy="7178040"/>
          </a:xfrm>
          <a:prstGeom prst="rect">
            <a:avLst/>
          </a:prstGeom>
        </p:spPr>
      </p:pic>
      <p:sp>
        <p:nvSpPr>
          <p:cNvPr id="6" name="TextBox 5"/>
          <p:cNvSpPr txBox="1"/>
          <p:nvPr/>
        </p:nvSpPr>
        <p:spPr>
          <a:xfrm>
            <a:off x="950976" y="9491471"/>
            <a:ext cx="16367759" cy="274320"/>
          </a:xfrm>
          <a:prstGeom prst="rect">
            <a:avLst/>
          </a:prstGeom>
          <a:noFill/>
        </p:spPr>
        <p:txBody>
          <a:bodyPr wrap="square" lIns="0" tIns="0" rIns="0" bIns="0" anchor="t">
            <a:spAutoFit/>
          </a:bodyPr>
          <a:lstStyle/>
          <a:p>
            <a:pPr algn="r"/>
            <a:r>
              <a:rPr sz="1100" b="0">
                <a:solidFill>
                  <a:srgbClr val="C9CCDA"/>
                </a:solidFill>
                <a:latin typeface="Arial"/>
              </a:rPr>
              <a:t>© IGN – BD ORTHO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E1F5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ÉQUIPEMENTS ET CADRE DE VIE</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FFFFFF"/>
                </a:solidFill>
                <a:latin typeface="Arial"/>
              </a:rPr>
              <a:t>Le Fort de Villiers</a:t>
            </a:r>
          </a:p>
        </p:txBody>
      </p:sp>
      <p:pic>
        <p:nvPicPr>
          <p:cNvPr id="5" name="Picture 4" descr="Equipements_03_fort_de_Villiers.jpg"/>
          <p:cNvPicPr>
            <a:picLocks noChangeAspect="1"/>
          </p:cNvPicPr>
          <p:nvPr/>
        </p:nvPicPr>
        <p:blipFill>
          <a:blip r:embed="rId4"/>
          <a:stretch>
            <a:fillRect/>
          </a:stretch>
        </p:blipFill>
        <p:spPr>
          <a:xfrm>
            <a:off x="3911600" y="2011680"/>
            <a:ext cx="11215116" cy="747674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5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02000" y="228600"/>
            <a:ext cx="1901952" cy="1938528"/>
          </a:xfrm>
          <a:prstGeom prst="rect">
            <a:avLst/>
          </a:prstGeom>
        </p:spPr>
      </p:pic>
      <p:sp>
        <p:nvSpPr>
          <p:cNvPr id="3" name="Surtitre"/>
          <p:cNvSpPr txBox="1"/>
          <p:nvPr/>
        </p:nvSpPr>
        <p:spPr>
          <a:xfrm>
            <a:off x="950976" y="731520"/>
            <a:ext cx="14447520" cy="411480"/>
          </a:xfrm>
          <a:prstGeom prst="rect">
            <a:avLst/>
          </a:prstGeom>
          <a:noFill/>
        </p:spPr>
        <p:txBody>
          <a:bodyPr wrap="square" lIns="0" tIns="0" rIns="0" bIns="0" anchor="t">
            <a:spAutoFit/>
          </a:bodyPr>
          <a:lstStyle/>
          <a:p>
            <a:pPr algn="l"/>
            <a:r>
              <a:rPr sz="2100" b="1" spc="150">
                <a:solidFill>
                  <a:srgbClr val="72C493"/>
                </a:solidFill>
                <a:latin typeface="Arial"/>
              </a:rPr>
              <a:t>SANTÉ ET ACCUEIL DES SENIORS</a:t>
            </a:r>
          </a:p>
        </p:txBody>
      </p:sp>
      <p:sp>
        <p:nvSpPr>
          <p:cNvPr id="4" name="Titre"/>
          <p:cNvSpPr txBox="1"/>
          <p:nvPr/>
        </p:nvSpPr>
        <p:spPr>
          <a:xfrm>
            <a:off x="950976" y="1188720"/>
            <a:ext cx="14447520" cy="777240"/>
          </a:xfrm>
          <a:prstGeom prst="rect">
            <a:avLst/>
          </a:prstGeom>
          <a:noFill/>
          <a:effectLst>
            <a:outerShdw blurRad="101600" dist="80822" dir="2700000" algn="bl" rotWithShape="0">
              <a:srgbClr val="72C493">
                <a:alpha val="100000"/>
              </a:srgbClr>
            </a:outerShdw>
          </a:effectLst>
        </p:spPr>
        <p:txBody>
          <a:bodyPr wrap="square" lIns="0" tIns="0" rIns="0" bIns="0" anchor="t">
            <a:spAutoFit/>
          </a:bodyPr>
          <a:lstStyle/>
          <a:p>
            <a:pPr algn="l"/>
            <a:r>
              <a:rPr sz="4400" b="1">
                <a:solidFill>
                  <a:srgbClr val="0E1F5B"/>
                </a:solidFill>
                <a:latin typeface="Arial"/>
              </a:rPr>
              <a:t>Une maison médicale</a:t>
            </a:r>
          </a:p>
        </p:txBody>
      </p:sp>
      <p:sp>
        <p:nvSpPr>
          <p:cNvPr id="5" name="Rectangle 4"/>
          <p:cNvSpPr/>
          <p:nvPr/>
        </p:nvSpPr>
        <p:spPr>
          <a:xfrm>
            <a:off x="950976" y="2377440"/>
            <a:ext cx="16367759" cy="6949440"/>
          </a:xfrm>
          <a:prstGeom prst="rect">
            <a:avLst/>
          </a:prstGeom>
          <a:noFill/>
          <a:ln w="31750">
            <a:solidFill>
              <a:srgbClr val="8A90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25296" y="2377440"/>
            <a:ext cx="15819119" cy="6949440"/>
          </a:xfrm>
          <a:prstGeom prst="rect">
            <a:avLst/>
          </a:prstGeom>
          <a:noFill/>
        </p:spPr>
        <p:txBody>
          <a:bodyPr wrap="square" lIns="0" tIns="0" rIns="0" bIns="0" anchor="ctr">
            <a:spAutoFit/>
          </a:bodyPr>
          <a:lstStyle/>
          <a:p>
            <a:pPr algn="ctr"/>
            <a:r>
              <a:rPr sz="2200" b="1">
                <a:solidFill>
                  <a:srgbClr val="8A90B0"/>
                </a:solidFill>
                <a:latin typeface="Arial"/>
              </a:rPr>
              <a:t>[Contenu à compléter : localisation, praticiens attendus, calendrier]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3">
    <p:bg>
      <p:bgPr>
        <a:solidFill>
          <a:srgbClr val="72C49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3276600" y="1241584"/>
            <a:ext cx="18021301" cy="1847850"/>
          </a:xfrm>
          <a:prstGeom prst="rect">
            <a:avLst/>
          </a:prstGeom>
          <a:noFill/>
          <a:ln/>
          <a:effectLst>
            <a:outerShdw blurRad="101600" dist="107763" dir="2700000" algn="bl" rotWithShape="0">
              <a:srgbClr val="FAF5EC">
                <a:alpha val="100000"/>
              </a:srgbClr>
            </a:outerShdw>
          </a:effectLst>
        </p:spPr>
        <p:txBody>
          <a:bodyPr wrap="square" lIns="25400" tIns="25400" rIns="25400" bIns="25400" rtlCol="0" anchor="t">
            <a:normAutofit/>
          </a:bodyPr>
          <a:lstStyle/>
          <a:p>
            <a:pPr marL="0" indent="0" algn="l">
              <a:lnSpc>
                <a:spcPct val="67472"/>
              </a:lnSpc>
              <a:buNone/>
            </a:pPr>
            <a:r>
              <a:rPr lang="en-US" sz="15000" b="1" kern="0" spc="-450" dirty="0">
                <a:solidFill>
                  <a:srgbClr val="0E1F5B"/>
                </a:solidFill>
                <a:latin typeface="Arial" pitchFamily="34" charset="0"/>
                <a:ea typeface="Arial" pitchFamily="34" charset="-122"/>
                <a:cs typeface="Arial" pitchFamily="34" charset="-120"/>
              </a:rPr>
              <a:t>Vos questions</a:t>
            </a:r>
            <a:endParaRPr lang="en-US" sz="15000" dirty="0"/>
          </a:p>
        </p:txBody>
      </p:sp>
      <p:pic>
        <p:nvPicPr>
          <p:cNvPr id="4" name="Image 1" descr="preencoded.png">
            <a:extLst>
              <a:ext uri="{FF2B5EF4-FFF2-40B4-BE49-F238E27FC236}">
                <a16:creationId xmlns:a16="http://schemas.microsoft.com/office/drawing/2014/main" id="{2EC2CA68-6982-43CD-A20F-FE8535F1C41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504950" y="1752600"/>
            <a:ext cx="16516351" cy="929036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4">
    <p:bg>
      <p:bgPr>
        <a:solidFill>
          <a:srgbClr val="FAF5E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02001" y="228600"/>
            <a:ext cx="1905000" cy="1936909"/>
          </a:xfrm>
          <a:prstGeom prst="rect">
            <a:avLst/>
          </a:prstGeom>
        </p:spPr>
      </p:pic>
      <p:sp>
        <p:nvSpPr>
          <p:cNvPr id="3" name="Text 0"/>
          <p:cNvSpPr/>
          <p:nvPr/>
        </p:nvSpPr>
        <p:spPr>
          <a:xfrm>
            <a:off x="952500" y="2800350"/>
            <a:ext cx="9681211" cy="353060"/>
          </a:xfrm>
          <a:prstGeom prst="rect">
            <a:avLst/>
          </a:prstGeom>
          <a:noFill/>
          <a:ln/>
        </p:spPr>
        <p:txBody>
          <a:bodyPr wrap="square" lIns="25400" tIns="25400" rIns="25400" bIns="25400" rtlCol="0" anchor="t">
            <a:normAutofit lnSpcReduction="10000"/>
          </a:bodyPr>
          <a:lstStyle/>
          <a:p>
            <a:pPr marL="0" indent="0" algn="l">
              <a:buNone/>
            </a:pPr>
            <a:r>
              <a:rPr lang="en-US" sz="2100" b="1" kern="0" spc="225" dirty="0">
                <a:solidFill>
                  <a:srgbClr val="72C493"/>
                </a:solidFill>
                <a:latin typeface="Arial" pitchFamily="34" charset="0"/>
                <a:ea typeface="Arial" pitchFamily="34" charset="-122"/>
                <a:cs typeface="Arial" pitchFamily="34" charset="-120"/>
              </a:rPr>
              <a:t>RÉUNION PUBLIQUE · QUARTIER DES RICHARDETS</a:t>
            </a:r>
            <a:endParaRPr lang="en-US" sz="2100" dirty="0"/>
          </a:p>
        </p:txBody>
      </p:sp>
      <p:sp>
        <p:nvSpPr>
          <p:cNvPr id="4" name="Text 1"/>
          <p:cNvSpPr/>
          <p:nvPr/>
        </p:nvSpPr>
        <p:spPr>
          <a:xfrm>
            <a:off x="952500" y="3458210"/>
            <a:ext cx="9065134" cy="1478280"/>
          </a:xfrm>
          <a:prstGeom prst="rect">
            <a:avLst/>
          </a:prstGeom>
          <a:noFill/>
          <a:ln/>
          <a:effectLst>
            <a:outerShdw blurRad="101600" dist="53882" dir="2700000" algn="bl" rotWithShape="0">
              <a:srgbClr val="72C493">
                <a:alpha val="100000"/>
              </a:srgbClr>
            </a:outerShdw>
          </a:effectLst>
        </p:spPr>
        <p:txBody>
          <a:bodyPr wrap="square" lIns="25400" tIns="25400" rIns="25400" bIns="25400" rtlCol="0" anchor="t">
            <a:normAutofit/>
          </a:bodyPr>
          <a:lstStyle/>
          <a:p>
            <a:pPr marL="0" indent="0" algn="l">
              <a:lnSpc>
                <a:spcPct val="74605"/>
              </a:lnSpc>
              <a:buNone/>
            </a:pPr>
            <a:r>
              <a:rPr lang="en-US" sz="5400" b="1" kern="0" spc="-150" dirty="0">
                <a:solidFill>
                  <a:srgbClr val="0E1F5B"/>
                </a:solidFill>
                <a:latin typeface="Arial" pitchFamily="34" charset="0"/>
                <a:ea typeface="Arial" pitchFamily="34" charset="-122"/>
                <a:cs typeface="Arial" pitchFamily="34" charset="-120"/>
              </a:rPr>
              <a:t>Pour suivre les projets dans votre quartier</a:t>
            </a:r>
            <a:endParaRPr lang="en-US" sz="5400" dirty="0"/>
          </a:p>
        </p:txBody>
      </p:sp>
      <p:sp>
        <p:nvSpPr>
          <p:cNvPr id="5" name="Text 2"/>
          <p:cNvSpPr/>
          <p:nvPr/>
        </p:nvSpPr>
        <p:spPr>
          <a:xfrm>
            <a:off x="952500" y="5241291"/>
            <a:ext cx="9065134" cy="1066800"/>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3000" b="1" dirty="0">
                <a:solidFill>
                  <a:srgbClr val="0E1F5B"/>
                </a:solidFill>
                <a:latin typeface="Arial" pitchFamily="34" charset="0"/>
                <a:ea typeface="Arial" pitchFamily="34" charset="-122"/>
                <a:cs typeface="Arial" pitchFamily="34" charset="-120"/>
              </a:rPr>
              <a:t>Flashez ce QR code ou remplissez la fiche de renseignement papier à votre disposition.</a:t>
            </a:r>
            <a:endParaRPr lang="en-US" sz="3000" dirty="0"/>
          </a:p>
        </p:txBody>
      </p:sp>
      <p:sp>
        <p:nvSpPr>
          <p:cNvPr id="6" name="Shape 3"/>
          <p:cNvSpPr/>
          <p:nvPr/>
        </p:nvSpPr>
        <p:spPr>
          <a:xfrm>
            <a:off x="10201275" y="2800350"/>
            <a:ext cx="6696076" cy="6696076"/>
          </a:xfrm>
          <a:prstGeom prst="rect">
            <a:avLst/>
          </a:prstGeom>
          <a:solidFill>
            <a:srgbClr val="FFFFFF"/>
          </a:solidFill>
          <a:ln/>
        </p:spPr>
      </p:sp>
      <p:pic>
        <p:nvPicPr>
          <p:cNvPr id="7"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67350" y="1562100"/>
            <a:ext cx="16516351" cy="9290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470</TotalTime>
  <Words>2583</Words>
  <Application>Microsoft Office PowerPoint</Application>
  <PresentationFormat>Personnalisé</PresentationFormat>
  <Paragraphs>309</Paragraphs>
  <Slides>22</Slides>
  <Notes>22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22</vt:i4>
      </vt:variant>
    </vt:vector>
  </HeadingPairs>
  <TitlesOfParts>
    <vt:vector size="2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BOUSSEMART Benjamin</cp:lastModifiedBy>
  <cp:revision>29</cp:revision>
  <cp:lastPrinted>2026-10-12T16:29:05Z</cp:lastPrinted>
  <dcterms:created xsi:type="dcterms:W3CDTF">2026-10-12T08:47:28Z</dcterms:created>
  <dcterms:modified xsi:type="dcterms:W3CDTF">2026-10-14T09:58:45Z</dcterms:modified>
</cp:coreProperties>
</file>