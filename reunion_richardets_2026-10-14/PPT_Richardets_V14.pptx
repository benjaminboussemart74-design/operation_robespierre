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6" r:id="rId33"/>
    <p:sldId id="324" r:id="rId8"/>
    <p:sldId id="316" r:id="rId9"/>
    <p:sldId id="305" r:id="rId10"/>
    <p:sldId id="317"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8.xml"/><Relationship Id="rId31" Type="http://schemas.openxmlformats.org/officeDocument/2006/relationships/slide" Target="slides/slide19.xml"/><Relationship Id="rId3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Description du projet. Augmentation de la capacité d'accueil du groupe scolaire en prévision d'une forte ascension démographique sur le secteur sud de la Ville (aménagement de salles supplémentaires par la création d'extensions et la réfection des logements de fonction). Mise en cohérence des espaces existants avec les besoins pédagogiques (restructuration lourde du groupe scolaire visant à une optimisation organisationnelle des bâtiments, et une amélioration du confort d'accueil des enfants et des conditions d'enseignement). Mise aux normes générale (accueil PMR).</a:t>
            </a:r>
          </a:p>
          <a:p/>
          <a:p>
            <a:r>
              <a:t>Programme de rénovation : réfection des logements de fonction pour loger des salles supplémentaires ; remaniement et agrandissement du pôle restauration ; re-cloisonnement partiel des espaces existants ; mise aux normes PMR de la circulation ; remplacement des menuiseries extérieures et isolation des combles ; réaménagement des cours de récréation (remplacement des clôtures, création des rangements extérieurs, séparation des cours).</a:t>
            </a:r>
          </a:p>
          <a:p/>
          <a:p>
            <a:r>
              <a:t>Programme de construction neuve : construction d'extensions permettant de créer des locaux manquants au bon fonctionnement des entités pédagogiques ; construction de deux nouveaux préaux.</a:t>
            </a:r>
          </a:p>
          <a:p/>
          <a:p>
            <a:r>
              <a:t>Illustration : plan des 1er et 2e étages et du sous-sol partiel (dossier de consultation des entreprises, mars 2020, « Réaménagement et extension du groupe scolaire des Richardets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2.jpg"/><Relationship Id="rId4" Type="http://schemas.openxmlformats.org/officeDocument/2006/relationships/notesSlide" Target="../notesSlides/notesSlide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école agrandie et rénovée</a:t>
            </a:r>
          </a:p>
        </p:txBody>
      </p:sp>
      <p:sp>
        <p:nvSpPr>
          <p:cNvPr id="5" name="Rectangle 4"/>
          <p:cNvSpPr/>
          <p:nvPr/>
        </p:nvSpPr>
        <p:spPr>
          <a:xfrm>
            <a:off x="950976"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Accueillir plus d'élèves</a:t>
            </a:r>
          </a:p>
        </p:txBody>
      </p:sp>
      <p:sp>
        <p:nvSpPr>
          <p:cNvPr id="7" name="TextBox 6"/>
          <p:cNvSpPr txBox="1"/>
          <p:nvPr/>
        </p:nvSpPr>
        <p:spPr>
          <a:xfrm>
            <a:off x="1316736"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en prévision de la forte hausse démographique du sud de la Ville</a:t>
            </a:r>
          </a:p>
        </p:txBody>
      </p:sp>
      <p:sp>
        <p:nvSpPr>
          <p:cNvPr id="8" name="Rectangle 7"/>
          <p:cNvSpPr/>
          <p:nvPr/>
        </p:nvSpPr>
        <p:spPr>
          <a:xfrm>
            <a:off x="6492240"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Adapter les espaces</a:t>
            </a:r>
          </a:p>
        </p:txBody>
      </p:sp>
      <p:sp>
        <p:nvSpPr>
          <p:cNvPr id="10" name="TextBox 9"/>
          <p:cNvSpPr txBox="1"/>
          <p:nvPr/>
        </p:nvSpPr>
        <p:spPr>
          <a:xfrm>
            <a:off x="6858000"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aux besoins pédagogiques, pour le confort des enfants et de meilleures conditions d'enseignement</a:t>
            </a:r>
          </a:p>
        </p:txBody>
      </p:sp>
      <p:sp>
        <p:nvSpPr>
          <p:cNvPr id="11" name="Rectangle 10"/>
          <p:cNvSpPr/>
          <p:nvPr/>
        </p:nvSpPr>
        <p:spPr>
          <a:xfrm>
            <a:off x="12033504"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99264" y="2514600"/>
            <a:ext cx="4544568" cy="457200"/>
          </a:xfrm>
          <a:prstGeom prst="rect">
            <a:avLst/>
          </a:prstGeom>
          <a:noFill/>
        </p:spPr>
        <p:txBody>
          <a:bodyPr wrap="square" anchor="t" lIns="0" rIns="0" tIns="0" bIns="0">
            <a:spAutoFit/>
          </a:bodyPr>
          <a:lstStyle/>
          <a:p>
            <a:pPr algn="l"/>
            <a:r>
              <a:rPr sz="2600" b="1">
                <a:solidFill>
                  <a:srgbClr val="72C493"/>
                </a:solidFill>
                <a:latin typeface="Arial"/>
              </a:rPr>
              <a:t>Mettre aux normes</a:t>
            </a:r>
          </a:p>
        </p:txBody>
      </p:sp>
      <p:sp>
        <p:nvSpPr>
          <p:cNvPr id="13" name="TextBox 12"/>
          <p:cNvSpPr txBox="1"/>
          <p:nvPr/>
        </p:nvSpPr>
        <p:spPr>
          <a:xfrm>
            <a:off x="12399264"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l'ensemble du groupe scolaire, notamment pour l'accueil des personnes à mobilité réduite</a:t>
            </a:r>
          </a:p>
        </p:txBody>
      </p:sp>
      <p:sp>
        <p:nvSpPr>
          <p:cNvPr id="14" name="TextBox 13"/>
          <p:cNvSpPr txBox="1"/>
          <p:nvPr/>
        </p:nvSpPr>
        <p:spPr>
          <a:xfrm>
            <a:off x="950976" y="4526280"/>
            <a:ext cx="9418320" cy="365760"/>
          </a:xfrm>
          <a:prstGeom prst="rect">
            <a:avLst/>
          </a:prstGeom>
          <a:noFill/>
        </p:spPr>
        <p:txBody>
          <a:bodyPr wrap="square" anchor="t" lIns="0" rIns="0" tIns="0" bIns="0">
            <a:spAutoFit/>
          </a:bodyPr>
          <a:lstStyle/>
          <a:p>
            <a:pPr algn="l"/>
            <a:r>
              <a:rPr sz="1800" b="1" spc="150">
                <a:solidFill>
                  <a:srgbClr val="72C493"/>
                </a:solidFill>
                <a:latin typeface="Arial"/>
              </a:rPr>
              <a:t>RÉNOVATION DE L'EXISTANT</a:t>
            </a:r>
          </a:p>
        </p:txBody>
      </p:sp>
      <p:cxnSp>
        <p:nvCxnSpPr>
          <p:cNvPr id="15" name="Connector 14"/>
          <p:cNvCxnSpPr/>
          <p:nvPr/>
        </p:nvCxnSpPr>
        <p:spPr>
          <a:xfrm>
            <a:off x="950976" y="4965192"/>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9264" y="5221224"/>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148072"/>
            <a:ext cx="9052560" cy="640080"/>
          </a:xfrm>
          <a:prstGeom prst="rect">
            <a:avLst/>
          </a:prstGeom>
          <a:noFill/>
        </p:spPr>
        <p:txBody>
          <a:bodyPr wrap="square" anchor="t" lIns="0" rIns="0" tIns="0" bIns="0">
            <a:spAutoFit/>
          </a:bodyPr>
          <a:lstStyle/>
          <a:p>
            <a:pPr algn="l"/>
            <a:r>
              <a:rPr sz="1700" b="1">
                <a:solidFill>
                  <a:srgbClr val="0E1F5B"/>
                </a:solidFill>
                <a:latin typeface="Arial"/>
              </a:rPr>
              <a:t>Réfection des logements de fonction pour y créer des salles supplémentaires</a:t>
            </a:r>
          </a:p>
        </p:txBody>
      </p:sp>
      <p:sp>
        <p:nvSpPr>
          <p:cNvPr id="18" name="Oval 17"/>
          <p:cNvSpPr/>
          <p:nvPr/>
        </p:nvSpPr>
        <p:spPr>
          <a:xfrm>
            <a:off x="969264" y="565099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8448" y="5577840"/>
            <a:ext cx="9052560" cy="640080"/>
          </a:xfrm>
          <a:prstGeom prst="rect">
            <a:avLst/>
          </a:prstGeom>
          <a:noFill/>
        </p:spPr>
        <p:txBody>
          <a:bodyPr wrap="square" anchor="t" lIns="0" rIns="0" tIns="0" bIns="0">
            <a:spAutoFit/>
          </a:bodyPr>
          <a:lstStyle/>
          <a:p>
            <a:pPr algn="l"/>
            <a:r>
              <a:rPr sz="1700" b="1">
                <a:solidFill>
                  <a:srgbClr val="0E1F5B"/>
                </a:solidFill>
                <a:latin typeface="Arial"/>
              </a:rPr>
              <a:t>Remaniement et agrandissement du pôle restauration</a:t>
            </a:r>
          </a:p>
        </p:txBody>
      </p:sp>
      <p:sp>
        <p:nvSpPr>
          <p:cNvPr id="20" name="Oval 19"/>
          <p:cNvSpPr/>
          <p:nvPr/>
        </p:nvSpPr>
        <p:spPr>
          <a:xfrm>
            <a:off x="969264" y="6080759"/>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8448" y="6007607"/>
            <a:ext cx="9052560" cy="640080"/>
          </a:xfrm>
          <a:prstGeom prst="rect">
            <a:avLst/>
          </a:prstGeom>
          <a:noFill/>
        </p:spPr>
        <p:txBody>
          <a:bodyPr wrap="square" anchor="t" lIns="0" rIns="0" tIns="0" bIns="0">
            <a:spAutoFit/>
          </a:bodyPr>
          <a:lstStyle/>
          <a:p>
            <a:pPr algn="l"/>
            <a:r>
              <a:rPr sz="1700" b="1">
                <a:solidFill>
                  <a:srgbClr val="0E1F5B"/>
                </a:solidFill>
                <a:latin typeface="Arial"/>
              </a:rPr>
              <a:t>Re-cloisonnement partiel des espaces existants</a:t>
            </a:r>
          </a:p>
        </p:txBody>
      </p:sp>
      <p:sp>
        <p:nvSpPr>
          <p:cNvPr id="22" name="Oval 21"/>
          <p:cNvSpPr/>
          <p:nvPr/>
        </p:nvSpPr>
        <p:spPr>
          <a:xfrm>
            <a:off x="969264" y="6510527"/>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8448" y="6437375"/>
            <a:ext cx="9052560" cy="640080"/>
          </a:xfrm>
          <a:prstGeom prst="rect">
            <a:avLst/>
          </a:prstGeom>
          <a:noFill/>
        </p:spPr>
        <p:txBody>
          <a:bodyPr wrap="square" anchor="t" lIns="0" rIns="0" tIns="0" bIns="0">
            <a:spAutoFit/>
          </a:bodyPr>
          <a:lstStyle/>
          <a:p>
            <a:pPr algn="l"/>
            <a:r>
              <a:rPr sz="1700" b="1">
                <a:solidFill>
                  <a:srgbClr val="0E1F5B"/>
                </a:solidFill>
                <a:latin typeface="Arial"/>
              </a:rPr>
              <a:t>Mise aux normes PMR de la circulation</a:t>
            </a:r>
          </a:p>
        </p:txBody>
      </p:sp>
      <p:sp>
        <p:nvSpPr>
          <p:cNvPr id="24" name="Oval 23"/>
          <p:cNvSpPr/>
          <p:nvPr/>
        </p:nvSpPr>
        <p:spPr>
          <a:xfrm>
            <a:off x="969264" y="6940295"/>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8448" y="6867143"/>
            <a:ext cx="9052560" cy="640080"/>
          </a:xfrm>
          <a:prstGeom prst="rect">
            <a:avLst/>
          </a:prstGeom>
          <a:noFill/>
        </p:spPr>
        <p:txBody>
          <a:bodyPr wrap="square" anchor="t" lIns="0" rIns="0" tIns="0" bIns="0">
            <a:spAutoFit/>
          </a:bodyPr>
          <a:lstStyle/>
          <a:p>
            <a:pPr algn="l"/>
            <a:r>
              <a:rPr sz="1700" b="1">
                <a:solidFill>
                  <a:srgbClr val="0E1F5B"/>
                </a:solidFill>
                <a:latin typeface="Arial"/>
              </a:rPr>
              <a:t>Remplacement des menuiseries extérieures et isolation des combles</a:t>
            </a:r>
          </a:p>
        </p:txBody>
      </p:sp>
      <p:sp>
        <p:nvSpPr>
          <p:cNvPr id="26" name="Oval 25"/>
          <p:cNvSpPr/>
          <p:nvPr/>
        </p:nvSpPr>
        <p:spPr>
          <a:xfrm>
            <a:off x="969264" y="737006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98448" y="7296911"/>
            <a:ext cx="9052560" cy="640080"/>
          </a:xfrm>
          <a:prstGeom prst="rect">
            <a:avLst/>
          </a:prstGeom>
          <a:noFill/>
        </p:spPr>
        <p:txBody>
          <a:bodyPr wrap="square" anchor="t" lIns="0" rIns="0" tIns="0" bIns="0">
            <a:spAutoFit/>
          </a:bodyPr>
          <a:lstStyle/>
          <a:p>
            <a:pPr algn="l"/>
            <a:r>
              <a:rPr sz="1700" b="1">
                <a:solidFill>
                  <a:srgbClr val="0E1F5B"/>
                </a:solidFill>
                <a:latin typeface="Arial"/>
              </a:rPr>
              <a:t>Réaménagement des cours : clôtures remplacées, rangements extérieurs, cours séparées</a:t>
            </a:r>
          </a:p>
        </p:txBody>
      </p:sp>
      <p:sp>
        <p:nvSpPr>
          <p:cNvPr id="28" name="TextBox 27"/>
          <p:cNvSpPr txBox="1"/>
          <p:nvPr/>
        </p:nvSpPr>
        <p:spPr>
          <a:xfrm>
            <a:off x="950976" y="8183879"/>
            <a:ext cx="9418320" cy="365760"/>
          </a:xfrm>
          <a:prstGeom prst="rect">
            <a:avLst/>
          </a:prstGeom>
          <a:noFill/>
        </p:spPr>
        <p:txBody>
          <a:bodyPr wrap="square" anchor="t" lIns="0" rIns="0" tIns="0" bIns="0">
            <a:spAutoFit/>
          </a:bodyPr>
          <a:lstStyle/>
          <a:p>
            <a:pPr algn="l"/>
            <a:r>
              <a:rPr sz="1800" b="1" spc="150">
                <a:solidFill>
                  <a:srgbClr val="72C493"/>
                </a:solidFill>
                <a:latin typeface="Arial"/>
              </a:rPr>
              <a:t>CONSTRUCTION NEUVE</a:t>
            </a:r>
          </a:p>
        </p:txBody>
      </p:sp>
      <p:cxnSp>
        <p:nvCxnSpPr>
          <p:cNvPr id="29" name="Connector 28"/>
          <p:cNvCxnSpPr/>
          <p:nvPr/>
        </p:nvCxnSpPr>
        <p:spPr>
          <a:xfrm>
            <a:off x="950976" y="8622791"/>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69264" y="887882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8448" y="8805671"/>
            <a:ext cx="9052560" cy="640080"/>
          </a:xfrm>
          <a:prstGeom prst="rect">
            <a:avLst/>
          </a:prstGeom>
          <a:noFill/>
        </p:spPr>
        <p:txBody>
          <a:bodyPr wrap="square" anchor="t" lIns="0" rIns="0" tIns="0" bIns="0">
            <a:spAutoFit/>
          </a:bodyPr>
          <a:lstStyle/>
          <a:p>
            <a:pPr algn="l"/>
            <a:r>
              <a:rPr sz="1700" b="1">
                <a:solidFill>
                  <a:srgbClr val="0E1F5B"/>
                </a:solidFill>
                <a:latin typeface="Arial"/>
              </a:rPr>
              <a:t>Des extensions pour créer les locaux qui manquent au bon fonctionnement de l'école</a:t>
            </a:r>
          </a:p>
        </p:txBody>
      </p:sp>
      <p:sp>
        <p:nvSpPr>
          <p:cNvPr id="32" name="Oval 31"/>
          <p:cNvSpPr/>
          <p:nvPr/>
        </p:nvSpPr>
        <p:spPr>
          <a:xfrm>
            <a:off x="969264" y="9308591"/>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8448" y="9235439"/>
            <a:ext cx="9052560" cy="640080"/>
          </a:xfrm>
          <a:prstGeom prst="rect">
            <a:avLst/>
          </a:prstGeom>
          <a:noFill/>
        </p:spPr>
        <p:txBody>
          <a:bodyPr wrap="square" anchor="t" lIns="0" rIns="0" tIns="0" bIns="0">
            <a:spAutoFit/>
          </a:bodyPr>
          <a:lstStyle/>
          <a:p>
            <a:pPr algn="l"/>
            <a:r>
              <a:rPr sz="1700" b="1">
                <a:solidFill>
                  <a:srgbClr val="0E1F5B"/>
                </a:solidFill>
                <a:latin typeface="Arial"/>
              </a:rPr>
              <a:t>Deux nouveaux préaux</a:t>
            </a:r>
          </a:p>
        </p:txBody>
      </p:sp>
      <p:pic>
        <p:nvPicPr>
          <p:cNvPr id="34" name="Picture 33" descr="Ecole_03_plan_etages_Richardets.jpg"/>
          <p:cNvPicPr>
            <a:picLocks noChangeAspect="1"/>
          </p:cNvPicPr>
          <p:nvPr/>
        </p:nvPicPr>
        <p:blipFill>
          <a:blip r:embed="rId3"/>
          <a:stretch>
            <a:fillRect/>
          </a:stretch>
        </p:blipFill>
        <p:spPr>
          <a:xfrm>
            <a:off x="11018447" y="4526280"/>
            <a:ext cx="6300288" cy="4434840"/>
          </a:xfrm>
          <a:prstGeom prst="rect">
            <a:avLst/>
          </a:prstGeom>
          <a:ln>
            <a:solidFill>
              <a:srgbClr val="0E1F5B"/>
            </a:solidFill>
          </a:ln>
        </p:spPr>
      </p:pic>
      <p:sp>
        <p:nvSpPr>
          <p:cNvPr id="35" name="Rectangle 34"/>
          <p:cNvSpPr/>
          <p:nvPr/>
        </p:nvSpPr>
        <p:spPr>
          <a:xfrm>
            <a:off x="11018447" y="8961120"/>
            <a:ext cx="6300288" cy="4114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1326" y="8961120"/>
            <a:ext cx="5934527" cy="411480"/>
          </a:xfrm>
          <a:prstGeom prst="rect">
            <a:avLst/>
          </a:prstGeom>
          <a:noFill/>
        </p:spPr>
        <p:txBody>
          <a:bodyPr wrap="square" anchor="ctr" lIns="0" rIns="0" tIns="0" bIns="0">
            <a:spAutoFit/>
          </a:bodyPr>
          <a:lstStyle/>
          <a:p>
            <a:pPr algn="l"/>
            <a:r>
              <a:rPr sz="1400" b="1" spc="100">
                <a:solidFill>
                  <a:srgbClr val="0E1F5B"/>
                </a:solidFill>
                <a:latin typeface="Arial"/>
              </a:rPr>
              <a:t>PLAN DES 1ER ET 2E ÉTAGES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anchor="t" lIns="0" rIns="0" tIns="0" bIns="0">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3" y="694944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663" y="7388352"/>
            <a:ext cx="4407407" cy="640080"/>
          </a:xfrm>
          <a:prstGeom prst="rect">
            <a:avLst/>
          </a:prstGeom>
          <a:noFill/>
        </p:spPr>
        <p:txBody>
          <a:bodyPr wrap="square" anchor="t" lIns="0" rIns="0" tIns="0" bIns="0">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