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301" r:id="rId5"/>
    <p:sldId id="320" r:id="rId6"/>
    <p:sldId id="302" r:id="rId7"/>
    <p:sldId id="326" r:id="rId8"/>
    <p:sldId id="324" r:id="rId9"/>
    <p:sldId id="316" r:id="rId10"/>
    <p:sldId id="327" r:id="rId11"/>
    <p:sldId id="329" r:id="rId12"/>
    <p:sldId id="306" r:id="rId13"/>
    <p:sldId id="318" r:id="rId14"/>
    <p:sldId id="307" r:id="rId15"/>
    <p:sldId id="314" r:id="rId16"/>
    <p:sldId id="295" r:id="rId17"/>
    <p:sldId id="321" r:id="rId18"/>
    <p:sldId id="322" r:id="rId19"/>
    <p:sldId id="309" r:id="rId20"/>
    <p:sldId id="310" r:id="rId21"/>
    <p:sldId id="319" r:id="rId22"/>
    <p:sldId id="311" r:id="rId23"/>
    <p:sldId id="312" r:id="rId24"/>
    <p:sldId id="288" r:id="rId25"/>
    <p:sldId id="289" r:id="rId26"/>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Description du projet. Augmentation de la capacité d'accueil du groupe scolaire en prévision d'une forte ascension démographique sur le secteur sud de la Ville (aménagement de salles supplémentaires par la création d'extensions et la réfection des logements de fonction). Mise en cohérence des espaces existants avec les besoins pédagogiques (restructuration lourde du groupe scolaire visant à une optimisation organisationnelle des bâtiments, et une amélioration du confort d'accueil des enfants et des conditions d'enseignement). Mise aux normes générale (accueil PMR).</a:t>
            </a:r>
          </a:p>
          <a:p>
            <a:endParaRPr/>
          </a:p>
          <a:p>
            <a:r>
              <a:t>Programme de rénovation : réfection des logements de fonction pour loger des salles supplémentaires ; remaniement et agrandissement du pôle restauration ; re-cloisonnement partiel des espaces existants ; mise aux normes PMR de la circulation ; remplacement des menuiseries extérieures et isolation des combles ; réaménagement des cours de récréation (remplacement des clôtures, création des rangements extérieurs, séparation des cours).</a:t>
            </a:r>
          </a:p>
          <a:p>
            <a:endParaRPr/>
          </a:p>
          <a:p>
            <a:r>
              <a:t>Programme de construction neuve : construction d'extensions permettant de créer des locaux manquants au bon fonctionnement des entités pédagogiques ; construction de deux nouveaux préaux.</a:t>
            </a:r>
          </a:p>
          <a:p>
            <a:endParaRPr/>
          </a:p>
          <a:p>
            <a:r>
              <a:t>Illustration : plan des 1er et 2e étages et du sous-sol partiel (dossier de consultation des entreprises, mars 2020, « Réaménagement et extension du groupe scolaire des Richardets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endParaRPr/>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endParaRPr/>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endParaRPr/>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 En haut à gauche, la route vers le centre-ville ; en haut à droite, la route vers l'entrée d'autoroute.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giratoire et de la piste cyclable (en rouge), qui contourne le rond-point et se poursuit le long de la voie (coupe A-A).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Deux parkings concernés. 1. Secteur du gymnase des Yvris, chemin de la Noisette, près de l'école élémentaire des Yvris et du collège Saint-Exupéry (point fourni : 48°49'35.57" N, 2°35'00.63" E). 2. Boulevard du Champy (point fourni : 48°50'14.85" N, 2°34'48.08" E). Vues : orthophotographies IGN. Règles de la zone bleue à compléter : périmètre, durée de stationnement autorisée, date de mise en place, contrôle.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Ancien projet (avant l'élection du Maire) : une tribune de 600 places pour un coût de 4 millions d'euros, avec l'abattage de 13 arbres. Nouveau projet : toitures solarisées, façade en bois, plan de revégétalisation du stade avec la plantation de nouvelles essences d'arbres aux abords de la zone pavillonnaire pour limiter les nuisances sonores ; une demande de subvention de 1 million d'euros va être déposée.</a:t>
            </a:r>
          </a:p>
          <a:p>
            <a:endParaRPr/>
          </a:p>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4.jp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32073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a:t>
            </a:r>
            <a:r>
              <a:rPr lang="en-US" sz="8400" b="1" kern="0" spc="-300" dirty="0" err="1">
                <a:solidFill>
                  <a:srgbClr val="FAF5EC"/>
                </a:solidFill>
                <a:latin typeface="Arial" pitchFamily="34" charset="0"/>
                <a:ea typeface="Arial" pitchFamily="34" charset="-122"/>
                <a:cs typeface="Arial" pitchFamily="34" charset="-120"/>
              </a:rPr>
              <a:t>QUARTIER</a:t>
            </a:r>
            <a:r>
              <a:rPr lang="en-US" sz="8400" b="1" kern="0" spc="-300" dirty="0">
                <a:solidFill>
                  <a:srgbClr val="FAF5EC"/>
                </a:solidFill>
                <a:latin typeface="Arial" pitchFamily="34" charset="0"/>
                <a:ea typeface="Arial" pitchFamily="34" charset="-122"/>
                <a:cs typeface="Arial" pitchFamily="34" charset="-120"/>
              </a:rPr>
              <a:t> SUD (</a:t>
            </a:r>
            <a:r>
              <a:rPr lang="fr-FR" sz="8400" b="1" kern="0" spc="-300" dirty="0" err="1">
                <a:solidFill>
                  <a:srgbClr val="FAF5EC"/>
                </a:solidFill>
                <a:latin typeface="Arial" pitchFamily="34" charset="0"/>
                <a:cs typeface="Arial" pitchFamily="34" charset="-120"/>
              </a:rPr>
              <a:t>Richardets</a:t>
            </a:r>
            <a:r>
              <a:rPr lang="fr-FR" sz="8400" b="1" kern="0" spc="-300" dirty="0">
                <a:solidFill>
                  <a:srgbClr val="FAF5EC"/>
                </a:solidFill>
                <a:latin typeface="Arial" pitchFamily="34" charset="0"/>
                <a:cs typeface="Arial" pitchFamily="34" charset="-120"/>
              </a:rPr>
              <a:t> - </a:t>
            </a:r>
            <a:r>
              <a:rPr lang="fr-FR" sz="8400" b="1" kern="0" spc="-300" dirty="0" err="1">
                <a:solidFill>
                  <a:srgbClr val="FAF5EC"/>
                </a:solidFill>
                <a:latin typeface="Arial" pitchFamily="34" charset="0"/>
                <a:cs typeface="Arial" pitchFamily="34" charset="-120"/>
              </a:rPr>
              <a:t>Yvris</a:t>
            </a:r>
            <a:r>
              <a:rPr lang="fr-FR" sz="8400" b="1" kern="0" spc="-300" dirty="0">
                <a:solidFill>
                  <a:srgbClr val="FAF5EC"/>
                </a:solidFill>
                <a:latin typeface="Arial" pitchFamily="34" charset="0"/>
                <a:cs typeface="Arial" pitchFamily="34" charset="-120"/>
              </a:rPr>
              <a:t> - Montfort – Charmilles)</a:t>
            </a:r>
            <a:endParaRPr lang="en-US" sz="8400" b="1" kern="0" spc="-300" dirty="0">
              <a:solidFill>
                <a:srgbClr val="FAF5EC"/>
              </a:solidFill>
              <a:latin typeface="Arial" pitchFamily="34" charset="0"/>
              <a:ea typeface="Arial" pitchFamily="34" charset="-122"/>
              <a:cs typeface="Arial" pitchFamily="34" charset="-120"/>
            </a:endParaRPr>
          </a:p>
        </p:txBody>
      </p:sp>
      <p:sp>
        <p:nvSpPr>
          <p:cNvPr id="9" name="Text 5"/>
          <p:cNvSpPr/>
          <p:nvPr/>
        </p:nvSpPr>
        <p:spPr>
          <a:xfrm>
            <a:off x="952499" y="69948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lIns="0" tIns="0" rIns="0" bIns="0" anchor="t">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lIns="0" tIns="0" rIns="0" bIns="0" anchor="t">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lIns="0" tIns="0" rIns="0" bIns="0" anchor="t">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lIns="0" tIns="0" rIns="0" bIns="0" anchor="t">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lIns="0" tIns="0" rIns="0" bIns="0" anchor="t">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lIns="0" tIns="0" rIns="0" bIns="0" anchor="t">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lIns="0" tIns="0" rIns="0" bIns="0" anchor="t">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0E1F5B"/>
                </a:solidFill>
                <a:latin typeface="Arial"/>
              </a:rPr>
              <a:t>Le </a:t>
            </a:r>
            <a:r>
              <a:rPr sz="4400" b="1" dirty="0" err="1">
                <a:solidFill>
                  <a:srgbClr val="0E1F5B"/>
                </a:solidFill>
                <a:latin typeface="Arial"/>
              </a:rPr>
              <a:t>chantier</a:t>
            </a:r>
            <a:r>
              <a:rPr sz="4400" b="1" dirty="0">
                <a:solidFill>
                  <a:srgbClr val="0E1F5B"/>
                </a:solidFill>
                <a:latin typeface="Arial"/>
              </a:rPr>
              <a:t> de </a:t>
            </a:r>
            <a:r>
              <a:rPr sz="4400" b="1" dirty="0" err="1">
                <a:solidFill>
                  <a:srgbClr val="0E1F5B"/>
                </a:solidFill>
                <a:latin typeface="Arial"/>
              </a:rPr>
              <a:t>l'école</a:t>
            </a:r>
            <a:r>
              <a:rPr lang="fr-FR" sz="4400" b="1" dirty="0">
                <a:solidFill>
                  <a:srgbClr val="0E1F5B"/>
                </a:solidFill>
                <a:latin typeface="Arial"/>
              </a:rPr>
              <a:t> – site des </a:t>
            </a:r>
            <a:r>
              <a:rPr lang="fr-FR" sz="4400" b="1" dirty="0" err="1">
                <a:solidFill>
                  <a:srgbClr val="0E1F5B"/>
                </a:solidFill>
                <a:latin typeface="Arial"/>
              </a:rPr>
              <a:t>richardets</a:t>
            </a:r>
            <a:endParaRPr sz="4400" b="1" dirty="0">
              <a:solidFill>
                <a:srgbClr val="0E1F5B"/>
              </a:solidFill>
              <a:latin typeface="Arial"/>
            </a:endParaRP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école agrandie et rénovée</a:t>
            </a:r>
          </a:p>
        </p:txBody>
      </p:sp>
      <p:sp>
        <p:nvSpPr>
          <p:cNvPr id="5" name="Rectangle 4"/>
          <p:cNvSpPr/>
          <p:nvPr/>
        </p:nvSpPr>
        <p:spPr>
          <a:xfrm>
            <a:off x="950976"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6736" y="2514600"/>
            <a:ext cx="4544568" cy="400110"/>
          </a:xfrm>
          <a:prstGeom prst="rect">
            <a:avLst/>
          </a:prstGeom>
          <a:noFill/>
        </p:spPr>
        <p:txBody>
          <a:bodyPr wrap="square" lIns="0" tIns="0" rIns="0" bIns="0" anchor="t">
            <a:spAutoFit/>
          </a:bodyPr>
          <a:lstStyle/>
          <a:p>
            <a:pPr algn="l"/>
            <a:r>
              <a:rPr sz="2600" b="1" dirty="0" err="1">
                <a:solidFill>
                  <a:srgbClr val="72C493"/>
                </a:solidFill>
                <a:latin typeface="Arial"/>
              </a:rPr>
              <a:t>Accueillir</a:t>
            </a:r>
            <a:r>
              <a:rPr sz="2600" b="1" dirty="0">
                <a:solidFill>
                  <a:srgbClr val="72C493"/>
                </a:solidFill>
                <a:latin typeface="Arial"/>
              </a:rPr>
              <a:t> </a:t>
            </a:r>
            <a:r>
              <a:rPr lang="fr-FR" sz="2600" b="1" dirty="0">
                <a:solidFill>
                  <a:srgbClr val="72C493"/>
                </a:solidFill>
                <a:latin typeface="Arial"/>
              </a:rPr>
              <a:t>mieux les</a:t>
            </a:r>
            <a:r>
              <a:rPr sz="2600" b="1" dirty="0">
                <a:solidFill>
                  <a:srgbClr val="72C493"/>
                </a:solidFill>
                <a:latin typeface="Arial"/>
              </a:rPr>
              <a:t> </a:t>
            </a:r>
            <a:r>
              <a:rPr lang="fr-FR" sz="2600" b="1" dirty="0">
                <a:solidFill>
                  <a:srgbClr val="72C493"/>
                </a:solidFill>
                <a:latin typeface="Arial"/>
              </a:rPr>
              <a:t>é</a:t>
            </a:r>
            <a:r>
              <a:rPr sz="2600" b="1" dirty="0" err="1">
                <a:solidFill>
                  <a:srgbClr val="72C493"/>
                </a:solidFill>
                <a:latin typeface="Arial"/>
              </a:rPr>
              <a:t>lèves</a:t>
            </a:r>
            <a:endParaRPr sz="2600" b="1" dirty="0">
              <a:solidFill>
                <a:srgbClr val="72C493"/>
              </a:solidFill>
              <a:latin typeface="Arial"/>
            </a:endParaRPr>
          </a:p>
        </p:txBody>
      </p:sp>
      <p:sp>
        <p:nvSpPr>
          <p:cNvPr id="7" name="TextBox 6"/>
          <p:cNvSpPr txBox="1"/>
          <p:nvPr/>
        </p:nvSpPr>
        <p:spPr>
          <a:xfrm>
            <a:off x="1316736" y="3108960"/>
            <a:ext cx="4544568" cy="276999"/>
          </a:xfrm>
          <a:prstGeom prst="rect">
            <a:avLst/>
          </a:prstGeom>
          <a:noFill/>
        </p:spPr>
        <p:txBody>
          <a:bodyPr wrap="square" lIns="0" tIns="0" rIns="0" bIns="0" anchor="t">
            <a:spAutoFit/>
          </a:bodyPr>
          <a:lstStyle/>
          <a:p>
            <a:pPr algn="l"/>
            <a:r>
              <a:rPr lang="fr-FR" sz="1800" b="1" dirty="0">
                <a:solidFill>
                  <a:srgbClr val="FAF5EC"/>
                </a:solidFill>
                <a:latin typeface="Arial"/>
              </a:rPr>
              <a:t>Du quartier sud de la ville</a:t>
            </a:r>
            <a:endParaRPr sz="1800" b="1" dirty="0">
              <a:solidFill>
                <a:srgbClr val="FAF5EC"/>
              </a:solidFill>
              <a:latin typeface="Arial"/>
            </a:endParaRPr>
          </a:p>
        </p:txBody>
      </p:sp>
      <p:sp>
        <p:nvSpPr>
          <p:cNvPr id="8" name="Rectangle 7"/>
          <p:cNvSpPr/>
          <p:nvPr/>
        </p:nvSpPr>
        <p:spPr>
          <a:xfrm>
            <a:off x="6492240"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0" y="2514600"/>
            <a:ext cx="4544568" cy="457200"/>
          </a:xfrm>
          <a:prstGeom prst="rect">
            <a:avLst/>
          </a:prstGeom>
          <a:noFill/>
        </p:spPr>
        <p:txBody>
          <a:bodyPr wrap="square" lIns="0" tIns="0" rIns="0" bIns="0" anchor="t">
            <a:spAutoFit/>
          </a:bodyPr>
          <a:lstStyle/>
          <a:p>
            <a:pPr algn="l"/>
            <a:r>
              <a:rPr sz="2600" b="1">
                <a:solidFill>
                  <a:srgbClr val="72C493"/>
                </a:solidFill>
                <a:latin typeface="Arial"/>
              </a:rPr>
              <a:t>Adapter les espaces</a:t>
            </a:r>
          </a:p>
        </p:txBody>
      </p:sp>
      <p:sp>
        <p:nvSpPr>
          <p:cNvPr id="10" name="TextBox 9"/>
          <p:cNvSpPr txBox="1"/>
          <p:nvPr/>
        </p:nvSpPr>
        <p:spPr>
          <a:xfrm>
            <a:off x="6858000" y="3108960"/>
            <a:ext cx="4544568" cy="1188720"/>
          </a:xfrm>
          <a:prstGeom prst="rect">
            <a:avLst/>
          </a:prstGeom>
          <a:noFill/>
        </p:spPr>
        <p:txBody>
          <a:bodyPr wrap="square" lIns="0" tIns="0" rIns="0" bIns="0" anchor="t">
            <a:spAutoFit/>
          </a:bodyPr>
          <a:lstStyle/>
          <a:p>
            <a:pPr algn="l"/>
            <a:r>
              <a:rPr sz="1800" b="1">
                <a:solidFill>
                  <a:srgbClr val="FAF5EC"/>
                </a:solidFill>
                <a:latin typeface="Arial"/>
              </a:rPr>
              <a:t>aux besoins pédagogiques, pour le confort des enfants et de meilleures conditions d'enseignement</a:t>
            </a:r>
          </a:p>
        </p:txBody>
      </p:sp>
      <p:sp>
        <p:nvSpPr>
          <p:cNvPr id="11" name="Rectangle 10"/>
          <p:cNvSpPr/>
          <p:nvPr/>
        </p:nvSpPr>
        <p:spPr>
          <a:xfrm>
            <a:off x="12033504"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399264" y="2514600"/>
            <a:ext cx="4544568" cy="457200"/>
          </a:xfrm>
          <a:prstGeom prst="rect">
            <a:avLst/>
          </a:prstGeom>
          <a:noFill/>
        </p:spPr>
        <p:txBody>
          <a:bodyPr wrap="square" lIns="0" tIns="0" rIns="0" bIns="0" anchor="t">
            <a:spAutoFit/>
          </a:bodyPr>
          <a:lstStyle/>
          <a:p>
            <a:pPr algn="l"/>
            <a:r>
              <a:rPr sz="2600" b="1">
                <a:solidFill>
                  <a:srgbClr val="72C493"/>
                </a:solidFill>
                <a:latin typeface="Arial"/>
              </a:rPr>
              <a:t>Mettre aux normes</a:t>
            </a:r>
          </a:p>
        </p:txBody>
      </p:sp>
      <p:sp>
        <p:nvSpPr>
          <p:cNvPr id="13" name="TextBox 12"/>
          <p:cNvSpPr txBox="1"/>
          <p:nvPr/>
        </p:nvSpPr>
        <p:spPr>
          <a:xfrm>
            <a:off x="12399264" y="3108960"/>
            <a:ext cx="4544568" cy="1188720"/>
          </a:xfrm>
          <a:prstGeom prst="rect">
            <a:avLst/>
          </a:prstGeom>
          <a:noFill/>
        </p:spPr>
        <p:txBody>
          <a:bodyPr wrap="square" lIns="0" tIns="0" rIns="0" bIns="0" anchor="t">
            <a:spAutoFit/>
          </a:bodyPr>
          <a:lstStyle/>
          <a:p>
            <a:pPr algn="l"/>
            <a:r>
              <a:rPr sz="1800" b="1">
                <a:solidFill>
                  <a:srgbClr val="FAF5EC"/>
                </a:solidFill>
                <a:latin typeface="Arial"/>
              </a:rPr>
              <a:t>l'ensemble du groupe scolaire, notamment pour l'accueil des personnes à mobilité réduite</a:t>
            </a:r>
          </a:p>
        </p:txBody>
      </p:sp>
      <p:sp>
        <p:nvSpPr>
          <p:cNvPr id="14" name="TextBox 13"/>
          <p:cNvSpPr txBox="1"/>
          <p:nvPr/>
        </p:nvSpPr>
        <p:spPr>
          <a:xfrm>
            <a:off x="950976" y="4526280"/>
            <a:ext cx="9418320" cy="365760"/>
          </a:xfrm>
          <a:prstGeom prst="rect">
            <a:avLst/>
          </a:prstGeom>
          <a:noFill/>
        </p:spPr>
        <p:txBody>
          <a:bodyPr wrap="square" lIns="0" tIns="0" rIns="0" bIns="0" anchor="t">
            <a:spAutoFit/>
          </a:bodyPr>
          <a:lstStyle/>
          <a:p>
            <a:pPr algn="l"/>
            <a:r>
              <a:rPr sz="1800" b="1" spc="150">
                <a:solidFill>
                  <a:srgbClr val="72C493"/>
                </a:solidFill>
                <a:latin typeface="Arial"/>
              </a:rPr>
              <a:t>RÉNOVATION DE L'EXISTANT</a:t>
            </a:r>
          </a:p>
        </p:txBody>
      </p:sp>
      <p:cxnSp>
        <p:nvCxnSpPr>
          <p:cNvPr id="15" name="Connector 14"/>
          <p:cNvCxnSpPr/>
          <p:nvPr/>
        </p:nvCxnSpPr>
        <p:spPr>
          <a:xfrm>
            <a:off x="950976" y="4965192"/>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9264" y="5221224"/>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98448" y="5148072"/>
            <a:ext cx="9052560" cy="640080"/>
          </a:xfrm>
          <a:prstGeom prst="rect">
            <a:avLst/>
          </a:prstGeom>
          <a:noFill/>
        </p:spPr>
        <p:txBody>
          <a:bodyPr wrap="square" lIns="0" tIns="0" rIns="0" bIns="0" anchor="t">
            <a:spAutoFit/>
          </a:bodyPr>
          <a:lstStyle/>
          <a:p>
            <a:pPr algn="l"/>
            <a:r>
              <a:rPr sz="1700" b="1">
                <a:solidFill>
                  <a:srgbClr val="0E1F5B"/>
                </a:solidFill>
                <a:latin typeface="Arial"/>
              </a:rPr>
              <a:t>Réfection des logements de fonction pour y créer des salles supplémentaires</a:t>
            </a:r>
          </a:p>
        </p:txBody>
      </p:sp>
      <p:sp>
        <p:nvSpPr>
          <p:cNvPr id="18" name="Oval 17"/>
          <p:cNvSpPr/>
          <p:nvPr/>
        </p:nvSpPr>
        <p:spPr>
          <a:xfrm>
            <a:off x="969264" y="565099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98448" y="5577840"/>
            <a:ext cx="9052560" cy="640080"/>
          </a:xfrm>
          <a:prstGeom prst="rect">
            <a:avLst/>
          </a:prstGeom>
          <a:noFill/>
        </p:spPr>
        <p:txBody>
          <a:bodyPr wrap="square" lIns="0" tIns="0" rIns="0" bIns="0" anchor="t">
            <a:spAutoFit/>
          </a:bodyPr>
          <a:lstStyle/>
          <a:p>
            <a:pPr algn="l"/>
            <a:r>
              <a:rPr sz="1700" b="1">
                <a:solidFill>
                  <a:srgbClr val="0E1F5B"/>
                </a:solidFill>
                <a:latin typeface="Arial"/>
              </a:rPr>
              <a:t>Remaniement et agrandissement du pôle restauration</a:t>
            </a:r>
          </a:p>
        </p:txBody>
      </p:sp>
      <p:sp>
        <p:nvSpPr>
          <p:cNvPr id="20" name="Oval 19"/>
          <p:cNvSpPr/>
          <p:nvPr/>
        </p:nvSpPr>
        <p:spPr>
          <a:xfrm>
            <a:off x="969264" y="6080759"/>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98448" y="6007607"/>
            <a:ext cx="9052560" cy="640080"/>
          </a:xfrm>
          <a:prstGeom prst="rect">
            <a:avLst/>
          </a:prstGeom>
          <a:noFill/>
        </p:spPr>
        <p:txBody>
          <a:bodyPr wrap="square" lIns="0" tIns="0" rIns="0" bIns="0" anchor="t">
            <a:spAutoFit/>
          </a:bodyPr>
          <a:lstStyle/>
          <a:p>
            <a:pPr algn="l"/>
            <a:r>
              <a:rPr sz="1700" b="1">
                <a:solidFill>
                  <a:srgbClr val="0E1F5B"/>
                </a:solidFill>
                <a:latin typeface="Arial"/>
              </a:rPr>
              <a:t>Re-cloisonnement partiel des espaces existants</a:t>
            </a:r>
          </a:p>
        </p:txBody>
      </p:sp>
      <p:sp>
        <p:nvSpPr>
          <p:cNvPr id="22" name="Oval 21"/>
          <p:cNvSpPr/>
          <p:nvPr/>
        </p:nvSpPr>
        <p:spPr>
          <a:xfrm>
            <a:off x="969264" y="6510527"/>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98448" y="6437375"/>
            <a:ext cx="9052560" cy="640080"/>
          </a:xfrm>
          <a:prstGeom prst="rect">
            <a:avLst/>
          </a:prstGeom>
          <a:noFill/>
        </p:spPr>
        <p:txBody>
          <a:bodyPr wrap="square" lIns="0" tIns="0" rIns="0" bIns="0" anchor="t">
            <a:spAutoFit/>
          </a:bodyPr>
          <a:lstStyle/>
          <a:p>
            <a:pPr algn="l"/>
            <a:r>
              <a:rPr sz="1700" b="1">
                <a:solidFill>
                  <a:srgbClr val="0E1F5B"/>
                </a:solidFill>
                <a:latin typeface="Arial"/>
              </a:rPr>
              <a:t>Mise aux normes PMR de la circulation</a:t>
            </a:r>
          </a:p>
        </p:txBody>
      </p:sp>
      <p:sp>
        <p:nvSpPr>
          <p:cNvPr id="24" name="Oval 23"/>
          <p:cNvSpPr/>
          <p:nvPr/>
        </p:nvSpPr>
        <p:spPr>
          <a:xfrm>
            <a:off x="969264" y="6940295"/>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98448" y="6867143"/>
            <a:ext cx="9052560" cy="640080"/>
          </a:xfrm>
          <a:prstGeom prst="rect">
            <a:avLst/>
          </a:prstGeom>
          <a:noFill/>
        </p:spPr>
        <p:txBody>
          <a:bodyPr wrap="square" lIns="0" tIns="0" rIns="0" bIns="0" anchor="t">
            <a:spAutoFit/>
          </a:bodyPr>
          <a:lstStyle/>
          <a:p>
            <a:pPr algn="l"/>
            <a:r>
              <a:rPr sz="1700" b="1">
                <a:solidFill>
                  <a:srgbClr val="0E1F5B"/>
                </a:solidFill>
                <a:latin typeface="Arial"/>
              </a:rPr>
              <a:t>Remplacement des menuiseries extérieures et isolation des combles</a:t>
            </a:r>
          </a:p>
        </p:txBody>
      </p:sp>
      <p:sp>
        <p:nvSpPr>
          <p:cNvPr id="26" name="Oval 25"/>
          <p:cNvSpPr/>
          <p:nvPr/>
        </p:nvSpPr>
        <p:spPr>
          <a:xfrm>
            <a:off x="969264" y="737006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98448" y="7296911"/>
            <a:ext cx="9052560" cy="640080"/>
          </a:xfrm>
          <a:prstGeom prst="rect">
            <a:avLst/>
          </a:prstGeom>
          <a:noFill/>
        </p:spPr>
        <p:txBody>
          <a:bodyPr wrap="square" lIns="0" tIns="0" rIns="0" bIns="0" anchor="t">
            <a:spAutoFit/>
          </a:bodyPr>
          <a:lstStyle/>
          <a:p>
            <a:pPr algn="l"/>
            <a:r>
              <a:rPr sz="1700" b="1">
                <a:solidFill>
                  <a:srgbClr val="0E1F5B"/>
                </a:solidFill>
                <a:latin typeface="Arial"/>
              </a:rPr>
              <a:t>Réaménagement des cours : clôtures remplacées, rangements extérieurs, cours séparées</a:t>
            </a:r>
          </a:p>
        </p:txBody>
      </p:sp>
      <p:sp>
        <p:nvSpPr>
          <p:cNvPr id="28" name="TextBox 27"/>
          <p:cNvSpPr txBox="1"/>
          <p:nvPr/>
        </p:nvSpPr>
        <p:spPr>
          <a:xfrm>
            <a:off x="950976" y="8183879"/>
            <a:ext cx="9418320" cy="365760"/>
          </a:xfrm>
          <a:prstGeom prst="rect">
            <a:avLst/>
          </a:prstGeom>
          <a:noFill/>
        </p:spPr>
        <p:txBody>
          <a:bodyPr wrap="square" lIns="0" tIns="0" rIns="0" bIns="0" anchor="t">
            <a:spAutoFit/>
          </a:bodyPr>
          <a:lstStyle/>
          <a:p>
            <a:pPr algn="l"/>
            <a:r>
              <a:rPr sz="1800" b="1" spc="150">
                <a:solidFill>
                  <a:srgbClr val="72C493"/>
                </a:solidFill>
                <a:latin typeface="Arial"/>
              </a:rPr>
              <a:t>CONSTRUCTION NEUVE</a:t>
            </a:r>
          </a:p>
        </p:txBody>
      </p:sp>
      <p:cxnSp>
        <p:nvCxnSpPr>
          <p:cNvPr id="29" name="Connector 28"/>
          <p:cNvCxnSpPr/>
          <p:nvPr/>
        </p:nvCxnSpPr>
        <p:spPr>
          <a:xfrm>
            <a:off x="950976" y="8622791"/>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69264" y="887882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98448" y="8805671"/>
            <a:ext cx="9052560" cy="640080"/>
          </a:xfrm>
          <a:prstGeom prst="rect">
            <a:avLst/>
          </a:prstGeom>
          <a:noFill/>
        </p:spPr>
        <p:txBody>
          <a:bodyPr wrap="square" lIns="0" tIns="0" rIns="0" bIns="0" anchor="t">
            <a:spAutoFit/>
          </a:bodyPr>
          <a:lstStyle/>
          <a:p>
            <a:pPr algn="l"/>
            <a:r>
              <a:rPr sz="1700" b="1">
                <a:solidFill>
                  <a:srgbClr val="0E1F5B"/>
                </a:solidFill>
                <a:latin typeface="Arial"/>
              </a:rPr>
              <a:t>Des extensions pour créer les locaux qui manquent au bon fonctionnement de l'école</a:t>
            </a:r>
          </a:p>
        </p:txBody>
      </p:sp>
      <p:sp>
        <p:nvSpPr>
          <p:cNvPr id="32" name="Oval 31"/>
          <p:cNvSpPr/>
          <p:nvPr/>
        </p:nvSpPr>
        <p:spPr>
          <a:xfrm>
            <a:off x="969264" y="9308591"/>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98448" y="9235439"/>
            <a:ext cx="9052560" cy="640080"/>
          </a:xfrm>
          <a:prstGeom prst="rect">
            <a:avLst/>
          </a:prstGeom>
          <a:noFill/>
        </p:spPr>
        <p:txBody>
          <a:bodyPr wrap="square" lIns="0" tIns="0" rIns="0" bIns="0" anchor="t">
            <a:spAutoFit/>
          </a:bodyPr>
          <a:lstStyle/>
          <a:p>
            <a:pPr algn="l"/>
            <a:r>
              <a:rPr sz="1700" b="1">
                <a:solidFill>
                  <a:srgbClr val="0E1F5B"/>
                </a:solidFill>
                <a:latin typeface="Arial"/>
              </a:rPr>
              <a:t>Deux nouveaux préaux</a:t>
            </a:r>
          </a:p>
        </p:txBody>
      </p:sp>
      <p:pic>
        <p:nvPicPr>
          <p:cNvPr id="34" name="Picture 33" descr="Ecole_03_plan_etages_Richardets.jpg"/>
          <p:cNvPicPr>
            <a:picLocks noChangeAspect="1"/>
          </p:cNvPicPr>
          <p:nvPr/>
        </p:nvPicPr>
        <p:blipFill>
          <a:blip r:embed="rId4"/>
          <a:stretch>
            <a:fillRect/>
          </a:stretch>
        </p:blipFill>
        <p:spPr>
          <a:xfrm>
            <a:off x="11018447" y="4526280"/>
            <a:ext cx="6300288" cy="4434840"/>
          </a:xfrm>
          <a:prstGeom prst="rect">
            <a:avLst/>
          </a:prstGeom>
          <a:ln>
            <a:solidFill>
              <a:srgbClr val="0E1F5B"/>
            </a:solidFill>
          </a:ln>
        </p:spPr>
      </p:pic>
      <p:sp>
        <p:nvSpPr>
          <p:cNvPr id="35" name="Rectangle 34"/>
          <p:cNvSpPr/>
          <p:nvPr/>
        </p:nvSpPr>
        <p:spPr>
          <a:xfrm>
            <a:off x="11018447" y="8961120"/>
            <a:ext cx="6300288" cy="4114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201326" y="8961120"/>
            <a:ext cx="5934527" cy="411480"/>
          </a:xfrm>
          <a:prstGeom prst="rect">
            <a:avLst/>
          </a:prstGeom>
          <a:noFill/>
        </p:spPr>
        <p:txBody>
          <a:bodyPr wrap="square" lIns="0" tIns="0" rIns="0" bIns="0" anchor="ctr">
            <a:spAutoFit/>
          </a:bodyPr>
          <a:lstStyle/>
          <a:p>
            <a:pPr algn="l"/>
            <a:r>
              <a:rPr sz="1400" b="1" spc="100">
                <a:solidFill>
                  <a:srgbClr val="0E1F5B"/>
                </a:solidFill>
                <a:latin typeface="Arial"/>
              </a:rPr>
              <a:t>PLAN DES 1ER ET 2E ÉTAGES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71016" y="2606040"/>
            <a:ext cx="4727448" cy="457200"/>
          </a:xfrm>
          <a:prstGeom prst="rect">
            <a:avLst/>
          </a:prstGeom>
          <a:noFill/>
        </p:spPr>
        <p:txBody>
          <a:bodyPr wrap="square" lIns="0" tIns="0" rIns="0" bIns="0" anchor="t">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lIns="0" tIns="0" rIns="0" bIns="0" anchor="t">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72768" y="3566160"/>
            <a:ext cx="4407407" cy="640080"/>
          </a:xfrm>
          <a:prstGeom prst="rect">
            <a:avLst/>
          </a:prstGeom>
          <a:noFill/>
        </p:spPr>
        <p:txBody>
          <a:bodyPr wrap="square" lIns="0" tIns="0" rIns="0" bIns="0" anchor="t">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72768" y="4005072"/>
            <a:ext cx="4407407" cy="640080"/>
          </a:xfrm>
          <a:prstGeom prst="rect">
            <a:avLst/>
          </a:prstGeom>
          <a:noFill/>
        </p:spPr>
        <p:txBody>
          <a:bodyPr wrap="square" lIns="0" tIns="0" rIns="0" bIns="0" anchor="t">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72768" y="4443983"/>
            <a:ext cx="4407407" cy="640080"/>
          </a:xfrm>
          <a:prstGeom prst="rect">
            <a:avLst/>
          </a:prstGeom>
          <a:noFill/>
        </p:spPr>
        <p:txBody>
          <a:bodyPr wrap="square" lIns="0" tIns="0" rIns="0" bIns="0" anchor="t">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72768" y="4882896"/>
            <a:ext cx="4407407" cy="640080"/>
          </a:xfrm>
          <a:prstGeom prst="rect">
            <a:avLst/>
          </a:prstGeom>
          <a:noFill/>
        </p:spPr>
        <p:txBody>
          <a:bodyPr wrap="square" lIns="0" tIns="0" rIns="0" bIns="0" anchor="t">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12279" y="2606040"/>
            <a:ext cx="4727448" cy="457200"/>
          </a:xfrm>
          <a:prstGeom prst="rect">
            <a:avLst/>
          </a:prstGeom>
          <a:noFill/>
        </p:spPr>
        <p:txBody>
          <a:bodyPr wrap="square" lIns="0" tIns="0" rIns="0" bIns="0" anchor="t">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14031" y="3246120"/>
            <a:ext cx="4407407" cy="640080"/>
          </a:xfrm>
          <a:prstGeom prst="rect">
            <a:avLst/>
          </a:prstGeom>
          <a:noFill/>
        </p:spPr>
        <p:txBody>
          <a:bodyPr wrap="square" lIns="0" tIns="0" rIns="0" bIns="0" anchor="t">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14031" y="3685031"/>
            <a:ext cx="4407407" cy="640080"/>
          </a:xfrm>
          <a:prstGeom prst="rect">
            <a:avLst/>
          </a:prstGeom>
          <a:noFill/>
        </p:spPr>
        <p:txBody>
          <a:bodyPr wrap="square" lIns="0" tIns="0" rIns="0" bIns="0" anchor="t">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14031" y="4123944"/>
            <a:ext cx="4407407" cy="640080"/>
          </a:xfrm>
          <a:prstGeom prst="rect">
            <a:avLst/>
          </a:prstGeom>
          <a:noFill/>
        </p:spPr>
        <p:txBody>
          <a:bodyPr wrap="square" lIns="0" tIns="0" rIns="0" bIns="0" anchor="t">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14031" y="4562856"/>
            <a:ext cx="4407407" cy="640080"/>
          </a:xfrm>
          <a:prstGeom prst="rect">
            <a:avLst/>
          </a:prstGeom>
          <a:noFill/>
        </p:spPr>
        <p:txBody>
          <a:bodyPr wrap="square" lIns="0" tIns="0" rIns="0" bIns="0" anchor="t">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353544" y="2606040"/>
            <a:ext cx="4727448" cy="457200"/>
          </a:xfrm>
          <a:prstGeom prst="rect">
            <a:avLst/>
          </a:prstGeom>
          <a:noFill/>
        </p:spPr>
        <p:txBody>
          <a:bodyPr wrap="square" lIns="0" tIns="0" rIns="0" bIns="0" anchor="t">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2655296" y="3246120"/>
            <a:ext cx="4407407" cy="640080"/>
          </a:xfrm>
          <a:prstGeom prst="rect">
            <a:avLst/>
          </a:prstGeom>
          <a:noFill/>
        </p:spPr>
        <p:txBody>
          <a:bodyPr wrap="square" lIns="0" tIns="0" rIns="0" bIns="0" anchor="t">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2655296" y="3685031"/>
            <a:ext cx="4407407" cy="640080"/>
          </a:xfrm>
          <a:prstGeom prst="rect">
            <a:avLst/>
          </a:prstGeom>
          <a:noFill/>
        </p:spPr>
        <p:txBody>
          <a:bodyPr wrap="square" lIns="0" tIns="0" rIns="0" bIns="0" anchor="t">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41648" y="5989320"/>
            <a:ext cx="4727448" cy="457200"/>
          </a:xfrm>
          <a:prstGeom prst="rect">
            <a:avLst/>
          </a:prstGeom>
          <a:noFill/>
        </p:spPr>
        <p:txBody>
          <a:bodyPr wrap="square" lIns="0" tIns="0" rIns="0" bIns="0" anchor="t">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343400" y="6629400"/>
            <a:ext cx="4407407" cy="640080"/>
          </a:xfrm>
          <a:prstGeom prst="rect">
            <a:avLst/>
          </a:prstGeom>
          <a:noFill/>
        </p:spPr>
        <p:txBody>
          <a:bodyPr wrap="square" lIns="0" tIns="0" rIns="0" bIns="0" anchor="t">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343400" y="7068312"/>
            <a:ext cx="4407407" cy="640080"/>
          </a:xfrm>
          <a:prstGeom prst="rect">
            <a:avLst/>
          </a:prstGeom>
          <a:noFill/>
        </p:spPr>
        <p:txBody>
          <a:bodyPr wrap="square" lIns="0" tIns="0" rIns="0" bIns="0" anchor="t">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582911" y="5989320"/>
            <a:ext cx="4727448" cy="457200"/>
          </a:xfrm>
          <a:prstGeom prst="rect">
            <a:avLst/>
          </a:prstGeom>
          <a:noFill/>
        </p:spPr>
        <p:txBody>
          <a:bodyPr wrap="square" lIns="0" tIns="0" rIns="0" bIns="0" anchor="t">
            <a:spAutoFit/>
          </a:bodyPr>
          <a:lstStyle/>
          <a:p>
            <a:pPr algn="l"/>
            <a:r>
              <a:rPr sz="2400" b="1">
                <a:solidFill>
                  <a:srgbClr val="FFFFFF"/>
                </a:solidFill>
                <a:latin typeface="Arial"/>
              </a:rPr>
              <a:t>Paul-Serelle</a:t>
            </a:r>
          </a:p>
        </p:txBody>
      </p:sp>
      <p:sp>
        <p:nvSpPr>
          <p:cNvPr id="45" name="TextBox 44"/>
          <p:cNvSpPr txBox="1"/>
          <p:nvPr/>
        </p:nvSpPr>
        <p:spPr>
          <a:xfrm>
            <a:off x="9582911" y="6473952"/>
            <a:ext cx="4727448" cy="320040"/>
          </a:xfrm>
          <a:prstGeom prst="rect">
            <a:avLst/>
          </a:prstGeom>
          <a:noFill/>
        </p:spPr>
        <p:txBody>
          <a:bodyPr wrap="square" lIns="0" tIns="0" rIns="0" bIns="0" anchor="t">
            <a:spAutoFit/>
          </a:bodyPr>
          <a:lstStyle/>
          <a:p>
            <a:pPr algn="l"/>
            <a:r>
              <a:rPr sz="1500" b="0">
                <a:solidFill>
                  <a:srgbClr val="8A90B0"/>
                </a:solidFill>
                <a:latin typeface="Arial"/>
              </a:rPr>
              <a:t>travaux à venir</a:t>
            </a:r>
          </a:p>
        </p:txBody>
      </p:sp>
      <p:sp>
        <p:nvSpPr>
          <p:cNvPr id="46" name="Oval 45"/>
          <p:cNvSpPr/>
          <p:nvPr/>
        </p:nvSpPr>
        <p:spPr>
          <a:xfrm>
            <a:off x="9601199" y="703173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884663" y="6949440"/>
            <a:ext cx="4407407" cy="640080"/>
          </a:xfrm>
          <a:prstGeom prst="rect">
            <a:avLst/>
          </a:prstGeom>
          <a:noFill/>
        </p:spPr>
        <p:txBody>
          <a:bodyPr wrap="square" lIns="0" tIns="0" rIns="0" bIns="0" anchor="t">
            <a:spAutoFit/>
          </a:bodyPr>
          <a:lstStyle/>
          <a:p>
            <a:pPr algn="l"/>
            <a:r>
              <a:rPr sz="1700" b="1">
                <a:solidFill>
                  <a:srgbClr val="FAF5EC"/>
                </a:solidFill>
                <a:latin typeface="Arial"/>
              </a:rPr>
              <a:t>Sécurisation du carrefour : à l'étude</a:t>
            </a:r>
          </a:p>
        </p:txBody>
      </p:sp>
      <p:sp>
        <p:nvSpPr>
          <p:cNvPr id="48" name="Oval 47"/>
          <p:cNvSpPr/>
          <p:nvPr/>
        </p:nvSpPr>
        <p:spPr>
          <a:xfrm>
            <a:off x="9601199" y="7470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884663" y="7388352"/>
            <a:ext cx="4407407" cy="640080"/>
          </a:xfrm>
          <a:prstGeom prst="rect">
            <a:avLst/>
          </a:prstGeom>
          <a:noFill/>
        </p:spPr>
        <p:txBody>
          <a:bodyPr wrap="square" lIns="0" tIns="0" rIns="0" bIns="0" anchor="t">
            <a:spAutoFit/>
          </a:bodyPr>
          <a:lstStyle/>
          <a:p>
            <a:pPr algn="l"/>
            <a:r>
              <a:rPr sz="1700" b="1">
                <a:solidFill>
                  <a:srgbClr val="FAF5EC"/>
                </a:solidFill>
                <a:latin typeface="Arial"/>
              </a:rPr>
              <a:t>Fuites de la salle polyvalente : réparation programmée</a:t>
            </a:r>
          </a:p>
        </p:txBody>
      </p:sp>
      <p:sp>
        <p:nvSpPr>
          <p:cNvPr id="50" name="Oval 49"/>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030200" y="9564624"/>
            <a:ext cx="3200400" cy="274320"/>
          </a:xfrm>
          <a:prstGeom prst="rect">
            <a:avLst/>
          </a:prstGeom>
          <a:noFill/>
        </p:spPr>
        <p:txBody>
          <a:bodyPr wrap="square" lIns="0" tIns="0" rIns="0" bIns="0" anchor="t">
            <a:spAutoFit/>
          </a:bodyPr>
          <a:lstStyle/>
          <a:p>
            <a:pPr algn="l"/>
            <a:r>
              <a:rPr sz="1300" b="0">
                <a:solidFill>
                  <a:srgbClr val="8A90B0"/>
                </a:solidFill>
                <a:latin typeface="Arial"/>
              </a:rPr>
              <a:t>réalisé</a:t>
            </a:r>
          </a:p>
        </p:txBody>
      </p:sp>
      <p:sp>
        <p:nvSpPr>
          <p:cNvPr id="52" name="Oval 51"/>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4356080" y="9564624"/>
            <a:ext cx="3200400" cy="274320"/>
          </a:xfrm>
          <a:prstGeom prst="rect">
            <a:avLst/>
          </a:prstGeom>
          <a:noFill/>
        </p:spPr>
        <p:txBody>
          <a:bodyPr wrap="square" lIns="0" tIns="0" rIns="0" bIns="0" anchor="t">
            <a:spAutoFit/>
          </a:bodyPr>
          <a:lstStyle/>
          <a:p>
            <a:pPr algn="l"/>
            <a:r>
              <a:rPr sz="1300" b="0">
                <a:solidFill>
                  <a:srgbClr val="8A90B0"/>
                </a:solidFill>
                <a:latin typeface="Arial"/>
              </a:rPr>
              <a:t>programmé ou à l'étude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Up Arrow 6"/>
          <p:cNvSpPr/>
          <p:nvPr/>
        </p:nvSpPr>
        <p:spPr>
          <a:xfrm>
            <a:off x="3703320" y="2395728"/>
            <a:ext cx="548640" cy="685800"/>
          </a:xfrm>
          <a:prstGeom prst="up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434840" y="2514600"/>
            <a:ext cx="283464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2514600"/>
            <a:ext cx="2834640" cy="457200"/>
          </a:xfrm>
          <a:prstGeom prst="rect">
            <a:avLst/>
          </a:prstGeom>
          <a:noFill/>
        </p:spPr>
        <p:txBody>
          <a:bodyPr wrap="square" lIns="0" tIns="0" rIns="0" bIns="0" anchor="ctr">
            <a:spAutoFit/>
          </a:bodyPr>
          <a:lstStyle/>
          <a:p>
            <a:pPr algn="ctr"/>
            <a:r>
              <a:rPr sz="1800" b="1">
                <a:solidFill>
                  <a:srgbClr val="FFFFFF"/>
                </a:solidFill>
                <a:latin typeface="Arial"/>
              </a:rPr>
              <a:t>Vers le centre-ville</a:t>
            </a:r>
          </a:p>
        </p:txBody>
      </p:sp>
      <p:sp>
        <p:nvSpPr>
          <p:cNvPr id="10" name="Right Arrow 9"/>
          <p:cNvSpPr/>
          <p:nvPr/>
        </p:nvSpPr>
        <p:spPr>
          <a:xfrm>
            <a:off x="16322040" y="4114800"/>
            <a:ext cx="868680" cy="548640"/>
          </a:xfrm>
          <a:prstGeom prst="right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3487400" y="3337560"/>
            <a:ext cx="370332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487400" y="3337560"/>
            <a:ext cx="3703320" cy="457200"/>
          </a:xfrm>
          <a:prstGeom prst="rect">
            <a:avLst/>
          </a:prstGeom>
          <a:noFill/>
        </p:spPr>
        <p:txBody>
          <a:bodyPr wrap="square" lIns="0" tIns="0" rIns="0" bIns="0" anchor="ctr">
            <a:spAutoFit/>
          </a:bodyPr>
          <a:lstStyle/>
          <a:p>
            <a:pPr algn="ctr"/>
            <a:r>
              <a:rPr sz="1800" b="1">
                <a:solidFill>
                  <a:srgbClr val="FFFFFF"/>
                </a:solidFill>
                <a:latin typeface="Arial"/>
              </a:rPr>
              <a:t>Vers l'entrée d'autoroute</a:t>
            </a:r>
          </a:p>
        </p:txBody>
      </p:sp>
      <p:sp>
        <p:nvSpPr>
          <p:cNvPr id="13" name="Rectangle 12"/>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965960" y="8961119"/>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plan d'aménagement du carrefour</a:t>
            </a:r>
          </a:p>
        </p:txBody>
      </p:sp>
      <p:sp>
        <p:nvSpPr>
          <p:cNvPr id="5" name="Rectangle 4"/>
          <p:cNvSpPr/>
          <p:nvPr/>
        </p:nvSpPr>
        <p:spPr>
          <a:xfrm>
            <a:off x="950976" y="2606040"/>
            <a:ext cx="16367759" cy="4818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4_piste_cyclable_plan_carrefour.png"/>
          <p:cNvPicPr>
            <a:picLocks noChangeAspect="1"/>
          </p:cNvPicPr>
          <p:nvPr/>
        </p:nvPicPr>
        <p:blipFill>
          <a:blip r:embed="rId4"/>
          <a:stretch>
            <a:fillRect/>
          </a:stretch>
        </p:blipFill>
        <p:spPr>
          <a:xfrm>
            <a:off x="1088136" y="2744330"/>
            <a:ext cx="16093440" cy="4542306"/>
          </a:xfrm>
          <a:prstGeom prst="rect">
            <a:avLst/>
          </a:prstGeom>
        </p:spPr>
      </p:pic>
      <p:sp>
        <p:nvSpPr>
          <p:cNvPr id="7" name="Rectangle 6"/>
          <p:cNvSpPr/>
          <p:nvPr/>
        </p:nvSpPr>
        <p:spPr>
          <a:xfrm>
            <a:off x="950976" y="781812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7772400"/>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
        <p:nvSpPr>
          <p:cNvPr id="9" name="Up Arrow 6">
            <a:extLst>
              <a:ext uri="{FF2B5EF4-FFF2-40B4-BE49-F238E27FC236}">
                <a16:creationId xmlns:a16="http://schemas.microsoft.com/office/drawing/2014/main" id="{D8496420-8F69-4E8D-A42C-8932D31BA891}"/>
              </a:ext>
            </a:extLst>
          </p:cNvPr>
          <p:cNvSpPr/>
          <p:nvPr/>
        </p:nvSpPr>
        <p:spPr>
          <a:xfrm>
            <a:off x="3703320" y="2395728"/>
            <a:ext cx="548640" cy="685800"/>
          </a:xfrm>
          <a:prstGeom prst="up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7">
            <a:extLst>
              <a:ext uri="{FF2B5EF4-FFF2-40B4-BE49-F238E27FC236}">
                <a16:creationId xmlns:a16="http://schemas.microsoft.com/office/drawing/2014/main" id="{29C4B582-E9FE-4271-8D51-2DFD6C8E78CC}"/>
              </a:ext>
            </a:extLst>
          </p:cNvPr>
          <p:cNvSpPr/>
          <p:nvPr/>
        </p:nvSpPr>
        <p:spPr>
          <a:xfrm>
            <a:off x="4434840" y="2514600"/>
            <a:ext cx="283464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8">
            <a:extLst>
              <a:ext uri="{FF2B5EF4-FFF2-40B4-BE49-F238E27FC236}">
                <a16:creationId xmlns:a16="http://schemas.microsoft.com/office/drawing/2014/main" id="{5126EB0E-53F0-4E1F-90B1-AACFFA295DF5}"/>
              </a:ext>
            </a:extLst>
          </p:cNvPr>
          <p:cNvSpPr txBox="1"/>
          <p:nvPr/>
        </p:nvSpPr>
        <p:spPr>
          <a:xfrm>
            <a:off x="4434840" y="2604700"/>
            <a:ext cx="2834640" cy="276999"/>
          </a:xfrm>
          <a:prstGeom prst="rect">
            <a:avLst/>
          </a:prstGeom>
          <a:noFill/>
        </p:spPr>
        <p:txBody>
          <a:bodyPr wrap="square" lIns="0" tIns="0" rIns="0" bIns="0" anchor="ctr">
            <a:spAutoFit/>
          </a:bodyPr>
          <a:lstStyle/>
          <a:p>
            <a:pPr algn="ctr"/>
            <a:r>
              <a:rPr sz="1800" b="1" dirty="0" err="1">
                <a:solidFill>
                  <a:srgbClr val="FFFFFF"/>
                </a:solidFill>
                <a:latin typeface="Arial"/>
              </a:rPr>
              <a:t>Vers</a:t>
            </a:r>
            <a:r>
              <a:rPr sz="1800" b="1" dirty="0">
                <a:solidFill>
                  <a:srgbClr val="FFFFFF"/>
                </a:solidFill>
                <a:latin typeface="Arial"/>
              </a:rPr>
              <a:t> </a:t>
            </a:r>
            <a:r>
              <a:rPr lang="fr-FR" sz="1800" b="1" dirty="0">
                <a:solidFill>
                  <a:srgbClr val="FFFFFF"/>
                </a:solidFill>
                <a:latin typeface="Arial"/>
              </a:rPr>
              <a:t>la Grenouillère</a:t>
            </a:r>
            <a:endParaRPr sz="1800" b="1" dirty="0">
              <a:solidFill>
                <a:srgbClr val="FFFFFF"/>
              </a:solidFill>
              <a:latin typeface="Arial"/>
            </a:endParaRPr>
          </a:p>
        </p:txBody>
      </p:sp>
      <p:sp>
        <p:nvSpPr>
          <p:cNvPr id="12" name="Up Arrow 6">
            <a:extLst>
              <a:ext uri="{FF2B5EF4-FFF2-40B4-BE49-F238E27FC236}">
                <a16:creationId xmlns:a16="http://schemas.microsoft.com/office/drawing/2014/main" id="{2FACBCF5-7907-4AFD-B0EB-321B99674EFC}"/>
              </a:ext>
            </a:extLst>
          </p:cNvPr>
          <p:cNvSpPr/>
          <p:nvPr/>
        </p:nvSpPr>
        <p:spPr>
          <a:xfrm rot="16200000">
            <a:off x="1963420" y="4483100"/>
            <a:ext cx="548640" cy="685800"/>
          </a:xfrm>
          <a:prstGeom prst="up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7">
            <a:extLst>
              <a:ext uri="{FF2B5EF4-FFF2-40B4-BE49-F238E27FC236}">
                <a16:creationId xmlns:a16="http://schemas.microsoft.com/office/drawing/2014/main" id="{0D675104-ACF7-4F3C-8FBE-0E81E362D953}"/>
              </a:ext>
            </a:extLst>
          </p:cNvPr>
          <p:cNvSpPr/>
          <p:nvPr/>
        </p:nvSpPr>
        <p:spPr>
          <a:xfrm>
            <a:off x="2717800" y="4588383"/>
            <a:ext cx="283464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8">
            <a:extLst>
              <a:ext uri="{FF2B5EF4-FFF2-40B4-BE49-F238E27FC236}">
                <a16:creationId xmlns:a16="http://schemas.microsoft.com/office/drawing/2014/main" id="{F12EE9F1-73CF-4968-BD1B-CFBEC9A6C3A2}"/>
              </a:ext>
            </a:extLst>
          </p:cNvPr>
          <p:cNvSpPr txBox="1"/>
          <p:nvPr/>
        </p:nvSpPr>
        <p:spPr>
          <a:xfrm>
            <a:off x="2717800" y="4678483"/>
            <a:ext cx="2834640" cy="276999"/>
          </a:xfrm>
          <a:prstGeom prst="rect">
            <a:avLst/>
          </a:prstGeom>
          <a:noFill/>
        </p:spPr>
        <p:txBody>
          <a:bodyPr wrap="square" lIns="0" tIns="0" rIns="0" bIns="0" anchor="ctr">
            <a:spAutoFit/>
          </a:bodyPr>
          <a:lstStyle/>
          <a:p>
            <a:pPr algn="ctr"/>
            <a:r>
              <a:rPr sz="1800" b="1" dirty="0" err="1">
                <a:solidFill>
                  <a:srgbClr val="FFFFFF"/>
                </a:solidFill>
                <a:latin typeface="Arial"/>
              </a:rPr>
              <a:t>Vers</a:t>
            </a:r>
            <a:r>
              <a:rPr sz="1800" b="1" dirty="0">
                <a:solidFill>
                  <a:srgbClr val="FFFFFF"/>
                </a:solidFill>
                <a:latin typeface="Arial"/>
              </a:rPr>
              <a:t> </a:t>
            </a:r>
            <a:r>
              <a:rPr lang="fr-FR" sz="1800" b="1" dirty="0">
                <a:solidFill>
                  <a:srgbClr val="FFFFFF"/>
                </a:solidFill>
                <a:latin typeface="Arial"/>
              </a:rPr>
              <a:t>le centre ville</a:t>
            </a:r>
            <a:endParaRPr sz="1800" b="1" dirty="0">
              <a:solidFill>
                <a:srgbClr val="FFFFFF"/>
              </a:solidFill>
              <a:latin typeface="Arial"/>
            </a:endParaRPr>
          </a:p>
        </p:txBody>
      </p:sp>
      <p:sp>
        <p:nvSpPr>
          <p:cNvPr id="15" name="Rounded Rectangle 7">
            <a:extLst>
              <a:ext uri="{FF2B5EF4-FFF2-40B4-BE49-F238E27FC236}">
                <a16:creationId xmlns:a16="http://schemas.microsoft.com/office/drawing/2014/main" id="{58135609-F8B4-4352-BC78-DA4C4A5AA966}"/>
              </a:ext>
            </a:extLst>
          </p:cNvPr>
          <p:cNvSpPr/>
          <p:nvPr/>
        </p:nvSpPr>
        <p:spPr>
          <a:xfrm>
            <a:off x="13981176" y="4858810"/>
            <a:ext cx="283464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8">
            <a:extLst>
              <a:ext uri="{FF2B5EF4-FFF2-40B4-BE49-F238E27FC236}">
                <a16:creationId xmlns:a16="http://schemas.microsoft.com/office/drawing/2014/main" id="{CB8A152D-D684-47CA-96F4-84E70399DA7D}"/>
              </a:ext>
            </a:extLst>
          </p:cNvPr>
          <p:cNvSpPr txBox="1"/>
          <p:nvPr/>
        </p:nvSpPr>
        <p:spPr>
          <a:xfrm>
            <a:off x="13981176" y="4948910"/>
            <a:ext cx="2834640" cy="276999"/>
          </a:xfrm>
          <a:prstGeom prst="rect">
            <a:avLst/>
          </a:prstGeom>
          <a:noFill/>
        </p:spPr>
        <p:txBody>
          <a:bodyPr wrap="square" lIns="0" tIns="0" rIns="0" bIns="0" anchor="ctr">
            <a:spAutoFit/>
          </a:bodyPr>
          <a:lstStyle/>
          <a:p>
            <a:pPr algn="ctr"/>
            <a:r>
              <a:rPr sz="1800" b="1" dirty="0" err="1">
                <a:solidFill>
                  <a:srgbClr val="FFFFFF"/>
                </a:solidFill>
                <a:latin typeface="Arial"/>
              </a:rPr>
              <a:t>Vers</a:t>
            </a:r>
            <a:r>
              <a:rPr sz="1800" b="1" dirty="0">
                <a:solidFill>
                  <a:srgbClr val="FFFFFF"/>
                </a:solidFill>
                <a:latin typeface="Arial"/>
              </a:rPr>
              <a:t> </a:t>
            </a:r>
            <a:r>
              <a:rPr lang="fr-FR" sz="1800" b="1" dirty="0">
                <a:solidFill>
                  <a:srgbClr val="FFFFFF"/>
                </a:solidFill>
                <a:latin typeface="Arial"/>
              </a:rPr>
              <a:t>les </a:t>
            </a:r>
            <a:r>
              <a:rPr lang="fr-FR" sz="1800" b="1" dirty="0" err="1">
                <a:solidFill>
                  <a:srgbClr val="FFFFFF"/>
                </a:solidFill>
                <a:latin typeface="Arial"/>
              </a:rPr>
              <a:t>Richardets</a:t>
            </a:r>
            <a:endParaRPr sz="1800" b="1" dirty="0">
              <a:solidFill>
                <a:srgbClr val="FFFFFF"/>
              </a:solidFill>
              <a:latin typeface="Arial"/>
            </a:endParaRPr>
          </a:p>
        </p:txBody>
      </p:sp>
      <p:sp>
        <p:nvSpPr>
          <p:cNvPr id="17" name="Up Arrow 6">
            <a:extLst>
              <a:ext uri="{FF2B5EF4-FFF2-40B4-BE49-F238E27FC236}">
                <a16:creationId xmlns:a16="http://schemas.microsoft.com/office/drawing/2014/main" id="{DBC9F9C2-E25F-438E-AEB5-63C6A243E348}"/>
              </a:ext>
            </a:extLst>
          </p:cNvPr>
          <p:cNvSpPr/>
          <p:nvPr/>
        </p:nvSpPr>
        <p:spPr>
          <a:xfrm rot="5400000">
            <a:off x="15775940" y="4127500"/>
            <a:ext cx="548640" cy="685800"/>
          </a:xfrm>
          <a:prstGeom prst="up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étude</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1015663"/>
          </a:xfrm>
          <a:prstGeom prst="rect">
            <a:avLst/>
          </a:prstGeom>
          <a:noFill/>
        </p:spPr>
        <p:txBody>
          <a:bodyPr wrap="square" lIns="0" tIns="0" rIns="0" bIns="0" anchor="t">
            <a:spAutoFit/>
          </a:bodyPr>
          <a:lstStyle/>
          <a:p>
            <a:pPr algn="l"/>
            <a:r>
              <a:rPr lang="fr-FR" sz="6600" b="1" dirty="0">
                <a:solidFill>
                  <a:srgbClr val="72C493"/>
                </a:solidFill>
                <a:latin typeface="Arial"/>
              </a:rPr>
              <a:t>3</a:t>
            </a:r>
            <a:endParaRPr sz="6600" b="1" dirty="0">
              <a:solidFill>
                <a:srgbClr val="72C493"/>
              </a:solidFill>
              <a:latin typeface="Arial"/>
            </a:endParaRP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étude</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40280"/>
            <a:ext cx="7955279" cy="5966459"/>
          </a:xfrm>
          <a:prstGeom prst="rect">
            <a:avLst/>
          </a:prstGeom>
        </p:spPr>
      </p:pic>
      <p:pic>
        <p:nvPicPr>
          <p:cNvPr id="6" name="Picture 5" descr="image.jpg"/>
          <p:cNvPicPr>
            <a:picLocks noChangeAspect="1"/>
          </p:cNvPicPr>
          <p:nvPr/>
        </p:nvPicPr>
        <p:blipFill>
          <a:blip r:embed="rId5"/>
          <a:stretch>
            <a:fillRect/>
          </a:stretch>
        </p:blipFill>
        <p:spPr>
          <a:xfrm>
            <a:off x="6208775" y="2377440"/>
            <a:ext cx="2560320" cy="1706879"/>
          </a:xfrm>
          <a:prstGeom prst="rect">
            <a:avLst/>
          </a:prstGeom>
          <a:ln w="31750">
            <a:solidFill>
              <a:srgbClr val="FFFFFF"/>
            </a:solidFill>
          </a:ln>
        </p:spPr>
      </p:pic>
      <p:sp>
        <p:nvSpPr>
          <p:cNvPr id="7" name="Oval 6"/>
          <p:cNvSpPr/>
          <p:nvPr/>
        </p:nvSpPr>
        <p:spPr>
          <a:xfrm>
            <a:off x="950976" y="8503920"/>
            <a:ext cx="566928" cy="56692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E1F5B"/>
                </a:solidFill>
                <a:latin typeface="Arial"/>
              </a:rPr>
              <a:t>1</a:t>
            </a:r>
          </a:p>
        </p:txBody>
      </p:sp>
      <p:sp>
        <p:nvSpPr>
          <p:cNvPr id="8" name="TextBox 7"/>
          <p:cNvSpPr txBox="1"/>
          <p:nvPr/>
        </p:nvSpPr>
        <p:spPr>
          <a:xfrm>
            <a:off x="1728216" y="8458200"/>
            <a:ext cx="7178040" cy="411480"/>
          </a:xfrm>
          <a:prstGeom prst="rect">
            <a:avLst/>
          </a:prstGeom>
          <a:noFill/>
        </p:spPr>
        <p:txBody>
          <a:bodyPr wrap="square" lIns="0" tIns="0" rIns="0" bIns="0" anchor="t">
            <a:spAutoFit/>
          </a:bodyPr>
          <a:lstStyle/>
          <a:p>
            <a:pPr algn="l"/>
            <a:r>
              <a:rPr sz="2400" b="1">
                <a:solidFill>
                  <a:srgbClr val="FFFFFF"/>
                </a:solidFill>
                <a:latin typeface="Arial"/>
              </a:rPr>
              <a:t>Secteur du gymnase des Yvris</a:t>
            </a:r>
          </a:p>
        </p:txBody>
      </p:sp>
      <p:sp>
        <p:nvSpPr>
          <p:cNvPr id="9" name="TextBox 8"/>
          <p:cNvSpPr txBox="1"/>
          <p:nvPr/>
        </p:nvSpPr>
        <p:spPr>
          <a:xfrm>
            <a:off x="1728216" y="8915400"/>
            <a:ext cx="7178040" cy="365760"/>
          </a:xfrm>
          <a:prstGeom prst="rect">
            <a:avLst/>
          </a:prstGeom>
          <a:noFill/>
        </p:spPr>
        <p:txBody>
          <a:bodyPr wrap="square" lIns="0" tIns="0" rIns="0" bIns="0" anchor="t">
            <a:spAutoFit/>
          </a:bodyPr>
          <a:lstStyle/>
          <a:p>
            <a:pPr algn="l"/>
            <a:r>
              <a:rPr sz="1800" b="0">
                <a:solidFill>
                  <a:srgbClr val="8A90B0"/>
                </a:solidFill>
                <a:latin typeface="Arial"/>
              </a:rPr>
              <a:t>Chemin de la Noisette</a:t>
            </a:r>
          </a:p>
        </p:txBody>
      </p:sp>
      <p:pic>
        <p:nvPicPr>
          <p:cNvPr id="10" name="Picture 9" descr="Securite_05_zone_bleue_parking_Champy.jpg"/>
          <p:cNvPicPr>
            <a:picLocks noChangeAspect="1"/>
          </p:cNvPicPr>
          <p:nvPr/>
        </p:nvPicPr>
        <p:blipFill>
          <a:blip r:embed="rId6"/>
          <a:stretch>
            <a:fillRect/>
          </a:stretch>
        </p:blipFill>
        <p:spPr>
          <a:xfrm>
            <a:off x="9381744" y="2240280"/>
            <a:ext cx="7955279" cy="5966459"/>
          </a:xfrm>
          <a:prstGeom prst="rect">
            <a:avLst/>
          </a:prstGeom>
        </p:spPr>
      </p:pic>
      <p:pic>
        <p:nvPicPr>
          <p:cNvPr id="11" name="Picture 10" descr="Securite_06_zone_bleue_situation_Champy.jpg"/>
          <p:cNvPicPr>
            <a:picLocks noChangeAspect="1"/>
          </p:cNvPicPr>
          <p:nvPr/>
        </p:nvPicPr>
        <p:blipFill>
          <a:blip r:embed="rId7"/>
          <a:stretch>
            <a:fillRect/>
          </a:stretch>
        </p:blipFill>
        <p:spPr>
          <a:xfrm>
            <a:off x="14639544" y="2377440"/>
            <a:ext cx="2560320" cy="1706879"/>
          </a:xfrm>
          <a:prstGeom prst="rect">
            <a:avLst/>
          </a:prstGeom>
          <a:ln w="31750">
            <a:solidFill>
              <a:srgbClr val="FFFFFF"/>
            </a:solidFill>
          </a:ln>
        </p:spPr>
      </p:pic>
      <p:sp>
        <p:nvSpPr>
          <p:cNvPr id="12" name="Oval 11"/>
          <p:cNvSpPr/>
          <p:nvPr/>
        </p:nvSpPr>
        <p:spPr>
          <a:xfrm>
            <a:off x="9381744" y="8503920"/>
            <a:ext cx="566928" cy="56692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E1F5B"/>
                </a:solidFill>
                <a:latin typeface="Arial"/>
              </a:rPr>
              <a:t>2</a:t>
            </a:r>
          </a:p>
        </p:txBody>
      </p:sp>
      <p:sp>
        <p:nvSpPr>
          <p:cNvPr id="13" name="TextBox 12"/>
          <p:cNvSpPr txBox="1"/>
          <p:nvPr/>
        </p:nvSpPr>
        <p:spPr>
          <a:xfrm>
            <a:off x="10158984" y="8458200"/>
            <a:ext cx="7178040" cy="411480"/>
          </a:xfrm>
          <a:prstGeom prst="rect">
            <a:avLst/>
          </a:prstGeom>
          <a:noFill/>
        </p:spPr>
        <p:txBody>
          <a:bodyPr wrap="square" lIns="0" tIns="0" rIns="0" bIns="0" anchor="t">
            <a:spAutoFit/>
          </a:bodyPr>
          <a:lstStyle/>
          <a:p>
            <a:pPr algn="l"/>
            <a:r>
              <a:rPr sz="2400" b="1">
                <a:solidFill>
                  <a:srgbClr val="FFFFFF"/>
                </a:solidFill>
                <a:latin typeface="Arial"/>
              </a:rPr>
              <a:t>Boulevard du Champy</a:t>
            </a:r>
          </a:p>
        </p:txBody>
      </p:sp>
      <p:sp>
        <p:nvSpPr>
          <p:cNvPr id="14" name="TextBox 13"/>
          <p:cNvSpPr txBox="1"/>
          <p:nvPr/>
        </p:nvSpPr>
        <p:spPr>
          <a:xfrm>
            <a:off x="10158984" y="8915400"/>
            <a:ext cx="7178040" cy="365760"/>
          </a:xfrm>
          <a:prstGeom prst="rect">
            <a:avLst/>
          </a:prstGeom>
          <a:noFill/>
        </p:spPr>
        <p:txBody>
          <a:bodyPr wrap="square" lIns="0" tIns="0" rIns="0" bIns="0" anchor="t">
            <a:spAutoFit/>
          </a:bodyPr>
          <a:lstStyle/>
          <a:p>
            <a:pPr algn="l"/>
            <a:r>
              <a:rPr sz="1800" b="0">
                <a:solidFill>
                  <a:srgbClr val="8A90B0"/>
                </a:solidFill>
                <a:latin typeface="Arial"/>
              </a:rPr>
              <a:t>Quartier des Richardets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9" name="TextBox 8"/>
          <p:cNvSpPr txBox="1"/>
          <p:nvPr/>
        </p:nvSpPr>
        <p:spPr>
          <a:xfrm>
            <a:off x="1126989" y="4480559"/>
            <a:ext cx="2956559" cy="1477328"/>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endParaRPr sz="2400" b="0" dirty="0">
              <a:solidFill>
                <a:srgbClr val="FAF5EC"/>
              </a:solidFill>
              <a:latin typeface="Arial"/>
            </a:endParaRP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4"/>
          <a:stretch>
            <a:fillRect/>
          </a:stretch>
        </p:blipFill>
        <p:spPr>
          <a:xfrm>
            <a:off x="4160760" y="2148840"/>
            <a:ext cx="9948191" cy="749807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4"/>
          <a:stretch>
            <a:fillRect/>
          </a:stretch>
        </p:blipFill>
        <p:spPr>
          <a:xfrm>
            <a:off x="950976" y="2348919"/>
            <a:ext cx="16367759" cy="7097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
        <p:nvSpPr>
          <p:cNvPr id="25" name="Rectangle 2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27" name="TextBox 26"/>
          <p:cNvSpPr txBox="1"/>
          <p:nvPr/>
        </p:nvSpPr>
        <p:spPr>
          <a:xfrm>
            <a:off x="1280160" y="3017520"/>
            <a:ext cx="3657600" cy="45720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30" name="Oval 29"/>
          <p:cNvSpPr/>
          <p:nvPr/>
        </p:nvSpPr>
        <p:spPr>
          <a:xfrm>
            <a:off x="1280160" y="5649955"/>
            <a:ext cx="512064" cy="51206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71016" y="5767487"/>
            <a:ext cx="512064" cy="276999"/>
          </a:xfrm>
          <a:prstGeom prst="rect">
            <a:avLst/>
          </a:prstGeom>
          <a:noFill/>
        </p:spPr>
        <p:txBody>
          <a:bodyPr wrap="square" lIns="0" tIns="0" rIns="0" bIns="0" anchor="ctr">
            <a:spAutoFit/>
          </a:bodyPr>
          <a:lstStyle/>
          <a:p>
            <a:pPr algn="ctr"/>
            <a:r>
              <a:rPr sz="1800" b="1" dirty="0">
                <a:solidFill>
                  <a:srgbClr val="0E1F5B"/>
                </a:solidFill>
                <a:latin typeface="Arial"/>
              </a:rPr>
              <a:t>✕</a:t>
            </a:r>
          </a:p>
        </p:txBody>
      </p:sp>
      <p:sp>
        <p:nvSpPr>
          <p:cNvPr id="32" name="TextBox 31"/>
          <p:cNvSpPr txBox="1"/>
          <p:nvPr/>
        </p:nvSpPr>
        <p:spPr>
          <a:xfrm>
            <a:off x="1965960" y="5693318"/>
            <a:ext cx="3017520" cy="1371600"/>
          </a:xfrm>
          <a:prstGeom prst="rect">
            <a:avLst/>
          </a:prstGeom>
          <a:noFill/>
        </p:spPr>
        <p:txBody>
          <a:bodyPr wrap="square" lIns="0" tIns="0" rIns="0" bIns="0" anchor="t">
            <a:spAutoFit/>
          </a:bodyPr>
          <a:lstStyle/>
          <a:p>
            <a:pPr algn="l"/>
            <a:r>
              <a:rPr sz="2600" b="1" dirty="0">
                <a:solidFill>
                  <a:srgbClr val="FAF5EC"/>
                </a:solidFill>
                <a:latin typeface="Arial"/>
              </a:rPr>
              <a:t>13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33" name="Rectangle 32"/>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35" name="TextBox 34"/>
          <p:cNvSpPr txBox="1"/>
          <p:nvPr/>
        </p:nvSpPr>
        <p:spPr>
          <a:xfrm>
            <a:off x="6629400" y="3017520"/>
            <a:ext cx="4572000" cy="45720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36" name="Oval 35"/>
          <p:cNvSpPr/>
          <p:nvPr/>
        </p:nvSpPr>
        <p:spPr>
          <a:xfrm>
            <a:off x="6629400" y="436168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29400" y="4361687"/>
            <a:ext cx="512064" cy="512064"/>
          </a:xfrm>
          <a:prstGeom prst="rect">
            <a:avLst/>
          </a:prstGeom>
          <a:noFill/>
        </p:spPr>
        <p:txBody>
          <a:bodyPr wrap="square" lIns="0" tIns="0" rIns="0" bIns="0" anchor="ctr">
            <a:spAutoFit/>
          </a:bodyPr>
          <a:lstStyle/>
          <a:p>
            <a:pPr algn="ctr"/>
            <a:r>
              <a:rPr sz="1800" b="1">
                <a:solidFill>
                  <a:srgbClr val="72C493"/>
                </a:solidFill>
                <a:latin typeface="Arial"/>
              </a:rPr>
              <a:t>1</a:t>
            </a:r>
          </a:p>
        </p:txBody>
      </p:sp>
      <p:sp>
        <p:nvSpPr>
          <p:cNvPr id="38" name="TextBox 37"/>
          <p:cNvSpPr txBox="1"/>
          <p:nvPr/>
        </p:nvSpPr>
        <p:spPr>
          <a:xfrm>
            <a:off x="7315200" y="4343400"/>
            <a:ext cx="4023360" cy="685800"/>
          </a:xfrm>
          <a:prstGeom prst="rect">
            <a:avLst/>
          </a:prstGeom>
          <a:noFill/>
        </p:spPr>
        <p:txBody>
          <a:bodyPr wrap="square" lIns="0" tIns="0" rIns="0" bIns="0" anchor="t">
            <a:spAutoFit/>
          </a:bodyPr>
          <a:lstStyle/>
          <a:p>
            <a:pPr algn="l"/>
            <a:r>
              <a:rPr sz="2000" b="1">
                <a:solidFill>
                  <a:srgbClr val="0E1F5B"/>
                </a:solidFill>
                <a:latin typeface="Arial"/>
              </a:rPr>
              <a:t>Des toitures solarisées</a:t>
            </a:r>
          </a:p>
        </p:txBody>
      </p:sp>
      <p:sp>
        <p:nvSpPr>
          <p:cNvPr id="39" name="Oval 38"/>
          <p:cNvSpPr/>
          <p:nvPr/>
        </p:nvSpPr>
        <p:spPr>
          <a:xfrm>
            <a:off x="6629400" y="527608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29400" y="5276087"/>
            <a:ext cx="512064" cy="512064"/>
          </a:xfrm>
          <a:prstGeom prst="rect">
            <a:avLst/>
          </a:prstGeom>
          <a:noFill/>
        </p:spPr>
        <p:txBody>
          <a:bodyPr wrap="square" lIns="0" tIns="0" rIns="0" bIns="0" anchor="ctr">
            <a:spAutoFit/>
          </a:bodyPr>
          <a:lstStyle/>
          <a:p>
            <a:pPr algn="ctr"/>
            <a:r>
              <a:rPr sz="1800" b="1">
                <a:solidFill>
                  <a:srgbClr val="72C493"/>
                </a:solidFill>
                <a:latin typeface="Arial"/>
              </a:rPr>
              <a:t>2</a:t>
            </a:r>
          </a:p>
        </p:txBody>
      </p:sp>
      <p:sp>
        <p:nvSpPr>
          <p:cNvPr id="41" name="TextBox 40"/>
          <p:cNvSpPr txBox="1"/>
          <p:nvPr/>
        </p:nvSpPr>
        <p:spPr>
          <a:xfrm>
            <a:off x="7315200" y="5257800"/>
            <a:ext cx="4023360" cy="307777"/>
          </a:xfrm>
          <a:prstGeom prst="rect">
            <a:avLst/>
          </a:prstGeom>
          <a:noFill/>
        </p:spPr>
        <p:txBody>
          <a:bodyPr wrap="square" lIns="0" tIns="0" rIns="0" bIns="0" anchor="t">
            <a:spAutoFit/>
          </a:bodyPr>
          <a:lstStyle/>
          <a:p>
            <a:pPr algn="l"/>
            <a:r>
              <a:rPr sz="2000" b="1" dirty="0">
                <a:solidFill>
                  <a:srgbClr val="0E1F5B"/>
                </a:solidFill>
                <a:latin typeface="Arial"/>
              </a:rPr>
              <a:t>Une façade </a:t>
            </a:r>
            <a:r>
              <a:rPr sz="2000" b="1" dirty="0" err="1">
                <a:solidFill>
                  <a:srgbClr val="0E1F5B"/>
                </a:solidFill>
                <a:latin typeface="Arial"/>
              </a:rPr>
              <a:t>en</a:t>
            </a:r>
            <a:r>
              <a:rPr sz="2000" b="1" dirty="0">
                <a:solidFill>
                  <a:srgbClr val="0E1F5B"/>
                </a:solidFill>
                <a:latin typeface="Arial"/>
              </a:rPr>
              <a:t> </a:t>
            </a:r>
            <a:r>
              <a:rPr lang="fr-FR" sz="2000" b="1" dirty="0">
                <a:solidFill>
                  <a:srgbClr val="0E1F5B"/>
                </a:solidFill>
                <a:latin typeface="Arial"/>
              </a:rPr>
              <a:t>végétalisé</a:t>
            </a:r>
            <a:endParaRPr sz="2000" b="1" dirty="0">
              <a:solidFill>
                <a:srgbClr val="0E1F5B"/>
              </a:solidFill>
              <a:latin typeface="Arial"/>
            </a:endParaRPr>
          </a:p>
        </p:txBody>
      </p:sp>
      <p:sp>
        <p:nvSpPr>
          <p:cNvPr id="42" name="Oval 41"/>
          <p:cNvSpPr/>
          <p:nvPr/>
        </p:nvSpPr>
        <p:spPr>
          <a:xfrm>
            <a:off x="6629400" y="619048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29400" y="6190487"/>
            <a:ext cx="512064" cy="512064"/>
          </a:xfrm>
          <a:prstGeom prst="rect">
            <a:avLst/>
          </a:prstGeom>
          <a:noFill/>
        </p:spPr>
        <p:txBody>
          <a:bodyPr wrap="square" lIns="0" tIns="0" rIns="0" bIns="0" anchor="ctr">
            <a:spAutoFit/>
          </a:bodyPr>
          <a:lstStyle/>
          <a:p>
            <a:pPr algn="ctr"/>
            <a:r>
              <a:rPr sz="1800" b="1">
                <a:solidFill>
                  <a:srgbClr val="72C493"/>
                </a:solidFill>
                <a:latin typeface="Arial"/>
              </a:rPr>
              <a:t>3</a:t>
            </a:r>
          </a:p>
        </p:txBody>
      </p:sp>
      <p:sp>
        <p:nvSpPr>
          <p:cNvPr id="44" name="TextBox 43"/>
          <p:cNvSpPr txBox="1"/>
          <p:nvPr/>
        </p:nvSpPr>
        <p:spPr>
          <a:xfrm>
            <a:off x="7315200" y="6172200"/>
            <a:ext cx="4023360" cy="1965960"/>
          </a:xfrm>
          <a:prstGeom prst="rect">
            <a:avLst/>
          </a:prstGeom>
          <a:noFill/>
        </p:spPr>
        <p:txBody>
          <a:bodyPr wrap="square" lIns="0" tIns="0" rIns="0" bIns="0" anchor="t">
            <a:spAutoFit/>
          </a:bodyPr>
          <a:lstStyle/>
          <a:p>
            <a:pPr algn="l"/>
            <a:r>
              <a:rPr sz="2000" b="1">
                <a:solidFill>
                  <a:srgbClr val="0E1F5B"/>
                </a:solidFill>
                <a:latin typeface="Arial"/>
              </a:rPr>
              <a:t>Un plan de revégétalisation du stade : de nouvelles essences d'arbres aux abords de la zone pavillonnaire pour limiter les nuisances sonores</a:t>
            </a:r>
          </a:p>
        </p:txBody>
      </p:sp>
      <p:sp>
        <p:nvSpPr>
          <p:cNvPr id="45" name="Oval 44"/>
          <p:cNvSpPr/>
          <p:nvPr/>
        </p:nvSpPr>
        <p:spPr>
          <a:xfrm>
            <a:off x="6629400" y="838504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29400" y="8385047"/>
            <a:ext cx="512064" cy="512064"/>
          </a:xfrm>
          <a:prstGeom prst="rect">
            <a:avLst/>
          </a:prstGeom>
          <a:noFill/>
        </p:spPr>
        <p:txBody>
          <a:bodyPr wrap="square" lIns="0" tIns="0" rIns="0" bIns="0" anchor="ctr">
            <a:spAutoFit/>
          </a:bodyPr>
          <a:lstStyle/>
          <a:p>
            <a:pPr algn="ctr"/>
            <a:r>
              <a:rPr sz="1800" b="1">
                <a:solidFill>
                  <a:srgbClr val="72C493"/>
                </a:solidFill>
                <a:latin typeface="Arial"/>
              </a:rPr>
              <a:t>4</a:t>
            </a:r>
          </a:p>
        </p:txBody>
      </p:sp>
      <p:sp>
        <p:nvSpPr>
          <p:cNvPr id="47" name="TextBox 46"/>
          <p:cNvSpPr txBox="1"/>
          <p:nvPr/>
        </p:nvSpPr>
        <p:spPr>
          <a:xfrm>
            <a:off x="7315200" y="8366759"/>
            <a:ext cx="4023360" cy="914400"/>
          </a:xfrm>
          <a:prstGeom prst="rect">
            <a:avLst/>
          </a:prstGeom>
          <a:noFill/>
        </p:spPr>
        <p:txBody>
          <a:bodyPr wrap="square" lIns="0" tIns="0" rIns="0" bIns="0" anchor="t">
            <a:spAutoFit/>
          </a:bodyPr>
          <a:lstStyle/>
          <a:p>
            <a:pPr algn="l"/>
            <a:r>
              <a:rPr sz="2000" b="1">
                <a:solidFill>
                  <a:srgbClr val="0E1F5B"/>
                </a:solidFill>
                <a:latin typeface="Arial"/>
              </a:rPr>
              <a:t>Une subvention de 1 M€ va être demandée</a:t>
            </a: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28" name="TextBox 27"/>
          <p:cNvSpPr txBox="1"/>
          <p:nvPr/>
        </p:nvSpPr>
        <p:spPr>
          <a:xfrm>
            <a:off x="6629400" y="3256051"/>
            <a:ext cx="4023360" cy="1938992"/>
          </a:xfrm>
          <a:prstGeom prst="rect">
            <a:avLst/>
          </a:prstGeom>
          <a:noFill/>
        </p:spPr>
        <p:txBody>
          <a:bodyPr wrap="square" lIns="0" tIns="0" rIns="0" bIns="0" anchor="t">
            <a:spAutoFit/>
          </a:bodyPr>
          <a:lstStyle/>
          <a:p>
            <a:r>
              <a:rPr sz="5400" b="1" dirty="0">
                <a:solidFill>
                  <a:srgbClr val="FAF5EC"/>
                </a:solidFill>
                <a:latin typeface="Arial"/>
              </a:rPr>
              <a:t>4 M€</a:t>
            </a:r>
            <a:r>
              <a:rPr lang="fr-FR" sz="5400" b="1" dirty="0">
                <a:solidFill>
                  <a:srgbClr val="FAF5EC"/>
                </a:solidFill>
                <a:latin typeface="Arial"/>
              </a:rPr>
              <a:t> </a:t>
            </a:r>
            <a:r>
              <a:rPr lang="fr-FR" b="1" dirty="0">
                <a:solidFill>
                  <a:srgbClr val="FAF5EC"/>
                </a:solidFill>
                <a:latin typeface="Arial"/>
              </a:rPr>
              <a:t>pour une tribune de 600 places</a:t>
            </a:r>
          </a:p>
          <a:p>
            <a:pPr algn="l"/>
            <a:endParaRPr sz="5400" b="1" dirty="0">
              <a:solidFill>
                <a:srgbClr val="FAF5EC"/>
              </a:solidFill>
              <a:latin typeface="Arial"/>
            </a:endParaRPr>
          </a:p>
        </p:txBody>
      </p:sp>
      <p:sp>
        <p:nvSpPr>
          <p:cNvPr id="55" name="Oval 29">
            <a:extLst>
              <a:ext uri="{FF2B5EF4-FFF2-40B4-BE49-F238E27FC236}">
                <a16:creationId xmlns:a16="http://schemas.microsoft.com/office/drawing/2014/main" id="{2AA060F4-B462-4450-A77A-1ADCE90F628A}"/>
              </a:ext>
            </a:extLst>
          </p:cNvPr>
          <p:cNvSpPr/>
          <p:nvPr/>
        </p:nvSpPr>
        <p:spPr>
          <a:xfrm>
            <a:off x="1339088" y="3976616"/>
            <a:ext cx="512064" cy="51206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30">
            <a:extLst>
              <a:ext uri="{FF2B5EF4-FFF2-40B4-BE49-F238E27FC236}">
                <a16:creationId xmlns:a16="http://schemas.microsoft.com/office/drawing/2014/main" id="{82DF949A-390E-4703-9C24-09575D90EDED}"/>
              </a:ext>
            </a:extLst>
          </p:cNvPr>
          <p:cNvSpPr txBox="1"/>
          <p:nvPr/>
        </p:nvSpPr>
        <p:spPr>
          <a:xfrm>
            <a:off x="1329944" y="4094148"/>
            <a:ext cx="512064" cy="276999"/>
          </a:xfrm>
          <a:prstGeom prst="rect">
            <a:avLst/>
          </a:prstGeom>
          <a:noFill/>
        </p:spPr>
        <p:txBody>
          <a:bodyPr wrap="square" lIns="0" tIns="0" rIns="0" bIns="0" anchor="ctr">
            <a:spAutoFit/>
          </a:bodyPr>
          <a:lstStyle/>
          <a:p>
            <a:pPr algn="ctr"/>
            <a:r>
              <a:rPr sz="1800" b="1" dirty="0">
                <a:solidFill>
                  <a:srgbClr val="0E1F5B"/>
                </a:solidFill>
                <a:latin typeface="Arial"/>
              </a:rPr>
              <a:t>✕</a:t>
            </a:r>
          </a:p>
        </p:txBody>
      </p:sp>
      <p:sp>
        <p:nvSpPr>
          <p:cNvPr id="57" name="TextBox 31">
            <a:extLst>
              <a:ext uri="{FF2B5EF4-FFF2-40B4-BE49-F238E27FC236}">
                <a16:creationId xmlns:a16="http://schemas.microsoft.com/office/drawing/2014/main" id="{C31B1BE8-01B0-4708-800B-7851F53264DC}"/>
              </a:ext>
            </a:extLst>
          </p:cNvPr>
          <p:cNvSpPr txBox="1"/>
          <p:nvPr/>
        </p:nvSpPr>
        <p:spPr>
          <a:xfrm>
            <a:off x="2024888" y="3885176"/>
            <a:ext cx="3017520" cy="800219"/>
          </a:xfrm>
          <a:prstGeom prst="rect">
            <a:avLst/>
          </a:prstGeom>
          <a:noFill/>
        </p:spPr>
        <p:txBody>
          <a:bodyPr wrap="square" lIns="0" tIns="0" rIns="0" bIns="0" anchor="t">
            <a:spAutoFit/>
          </a:bodyPr>
          <a:lstStyle/>
          <a:p>
            <a:pPr algn="l"/>
            <a:r>
              <a:rPr lang="fr-FR" sz="2600" b="1" dirty="0">
                <a:solidFill>
                  <a:srgbClr val="FAF5EC"/>
                </a:solidFill>
                <a:latin typeface="Arial"/>
              </a:rPr>
              <a:t>Une tribune de 600 places</a:t>
            </a:r>
            <a:endParaRPr sz="2600" b="1" dirty="0">
              <a:solidFill>
                <a:srgbClr val="FAF5EC"/>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dirty="0">
                <a:solidFill>
                  <a:srgbClr val="0E1F5B"/>
                </a:solidFill>
                <a:latin typeface="Arial"/>
              </a:rPr>
              <a:t>EN CONCERTATION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
        <p:nvSpPr>
          <p:cNvPr id="7" name="Ellipse 6">
            <a:extLst>
              <a:ext uri="{FF2B5EF4-FFF2-40B4-BE49-F238E27FC236}">
                <a16:creationId xmlns:a16="http://schemas.microsoft.com/office/drawing/2014/main" id="{858FDDE8-7F59-43F9-BB5F-9C0F86A227A4}"/>
              </a:ext>
            </a:extLst>
          </p:cNvPr>
          <p:cNvSpPr/>
          <p:nvPr/>
        </p:nvSpPr>
        <p:spPr>
          <a:xfrm>
            <a:off x="3592830" y="4453128"/>
            <a:ext cx="509270" cy="487680"/>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37F2764E-8565-4C8D-8710-924E0AAD8090}"/>
              </a:ext>
            </a:extLst>
          </p:cNvPr>
          <p:cNvSpPr/>
          <p:nvPr/>
        </p:nvSpPr>
        <p:spPr>
          <a:xfrm>
            <a:off x="7010400" y="5611113"/>
            <a:ext cx="711200" cy="567437"/>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572</TotalTime>
  <Words>3135</Words>
  <Application>Microsoft Office PowerPoint</Application>
  <PresentationFormat>Personnalisé</PresentationFormat>
  <Paragraphs>343</Paragraphs>
  <Slides>25</Slides>
  <Notes>25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25</vt:i4>
      </vt:variant>
    </vt:vector>
  </HeadingPairs>
  <TitlesOfParts>
    <vt:vector size="28"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32</cp:revision>
  <cp:lastPrinted>2026-10-14T14:07:23Z</cp:lastPrinted>
  <dcterms:created xsi:type="dcterms:W3CDTF">2026-10-12T08:47:28Z</dcterms:created>
  <dcterms:modified xsi:type="dcterms:W3CDTF">2026-10-14T15:44:30Z</dcterms:modified>
</cp:coreProperties>
</file>