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296" r:id="rId7"/>
    <p:sldId id="298" r:id="rId8"/>
    <p:sldId id="305" r:id="rId41"/>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7" Type="http://schemas.openxmlformats.org/officeDocument/2006/relationships/slide" Target="slides/slide6.xml"/><Relationship Id="rId8" Type="http://schemas.openxmlformats.org/officeDocument/2006/relationships/slide" Target="slides/slide7.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cercles verts indiquent le nombre de signalements recueillis par le formulaire de la Ville pour chaque arrêt.</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tableau de suivi des travaux des écoles (visites 2026), comptes rendus des conseils d'école du printemps 2026, tableau de suivi municipal des travaux 2026-2027. Les travaux « programmés » aux Charmilles et aux Yvris étaient prévus pour l'été 2026 : leur réalisation reste à confirmer auprès de la Direction des Bâtiments.</a:t>
            </a:r>
          </a:p>
          <a:p/>
          <a:p>
            <a:r>
              <a:t>Demandes en attente, à connaître (non projetées). Charmilles maternelle : fissures, étais posés au réfectoire,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32568"/>
        </a:solidFill>
        <a:effectLst/>
      </p:bgPr>
    </p:bg>
    <p:spTree>
      <p:nvGrpSpPr>
        <p:cNvPr id="1" name=""/>
        <p:cNvGrpSpPr/>
        <p:nvPr/>
      </p:nvGrpSpPr>
      <p:grpSpPr>
        <a:xfrm>
          <a:off x="0" y="0"/>
          <a:ext cx="0" cy="0"/>
          <a:chOff x="0" y="0"/>
          <a:chExt cx="0" cy="0"/>
        </a:xfrm>
      </p:grpSpPr>
      <p:sp>
        <p:nvSpPr>
          <p:cNvPr id="2" name="Text 0"/>
          <p:cNvSpPr txBox="1"/>
          <p:nvPr/>
        </p:nvSpPr>
        <p:spPr>
          <a:xfrm>
            <a:off x="946404" y="644652"/>
            <a:ext cx="12344400" cy="480060"/>
          </a:xfrm>
          <a:prstGeom prst="rect">
            <a:avLst/>
          </a:prstGeom>
          <a:noFill/>
          <a:ln/>
        </p:spPr>
        <p:txBody>
          <a:bodyPr wrap="square" lIns="0" tIns="0" rIns="0" bIns="0" rtlCol="0" anchor="ctr"/>
          <a:lstStyle/>
          <a:p>
            <a:r>
              <a:rPr lang="en-US" sz="1950" b="1" kern="0" spc="300" dirty="0">
                <a:solidFill>
                  <a:srgbClr val="72C493"/>
                </a:solidFill>
                <a:latin typeface="Arial" pitchFamily="34" charset="0"/>
                <a:ea typeface="Arial" pitchFamily="34" charset="-122"/>
                <a:cs typeface="Arial" pitchFamily="34" charset="-120"/>
              </a:rPr>
              <a:t>LES ÉCOLES · LE PÉRISCOLAIRE · MERCREDIS</a:t>
            </a:r>
            <a:endParaRPr lang="en-US" sz="1950" dirty="0"/>
          </a:p>
        </p:txBody>
      </p:sp>
      <p:sp>
        <p:nvSpPr>
          <p:cNvPr id="3" name="Text 1"/>
          <p:cNvSpPr txBox="1"/>
          <p:nvPr/>
        </p:nvSpPr>
        <p:spPr>
          <a:xfrm>
            <a:off x="946404" y="1165860"/>
            <a:ext cx="13716000" cy="891540"/>
          </a:xfrm>
          <a:prstGeom prst="rect">
            <a:avLst/>
          </a:prstGeom>
          <a:noFill/>
          <a:ln/>
        </p:spPr>
        <p:txBody>
          <a:bodyPr wrap="square" lIns="0" tIns="0" rIns="0" bIns="0" rtlCol="0" anchor="ctr"/>
          <a:lstStyle/>
          <a:p>
            <a:r>
              <a:rPr lang="en-US" sz="4050" b="1" dirty="0">
                <a:solidFill>
                  <a:srgbClr val="FFFFFF"/>
                </a:solidFill>
                <a:latin typeface="Arial" pitchFamily="34" charset="0"/>
                <a:ea typeface="Arial" pitchFamily="34" charset="-122"/>
                <a:cs typeface="Arial" pitchFamily="34" charset="-120"/>
              </a:rPr>
              <a:t>Plus de places en accueil de loisirs le mercredi</a:t>
            </a:r>
            <a:endParaRPr lang="en-US" sz="4050" dirty="0"/>
          </a:p>
        </p:txBody>
      </p:sp>
      <p:sp>
        <p:nvSpPr>
          <p:cNvPr id="4" name="Text 2"/>
          <p:cNvSpPr txBox="1"/>
          <p:nvPr/>
        </p:nvSpPr>
        <p:spPr>
          <a:xfrm>
            <a:off x="946404" y="2125980"/>
            <a:ext cx="13716000" cy="548640"/>
          </a:xfrm>
          <a:prstGeom prst="rect">
            <a:avLst/>
          </a:prstGeom>
          <a:noFill/>
          <a:ln/>
        </p:spPr>
        <p:txBody>
          <a:bodyPr wrap="square" lIns="0" tIns="0" rIns="0" bIns="0" rtlCol="0" anchor="ctr"/>
          <a:lstStyle/>
          <a:p>
            <a:r>
              <a:rPr lang="en-US" sz="2100" dirty="0">
                <a:solidFill>
                  <a:srgbClr val="FFFFFF"/>
                </a:solidFill>
                <a:latin typeface="Arial" pitchFamily="34" charset="0"/>
                <a:ea typeface="Arial" pitchFamily="34" charset="-122"/>
                <a:cs typeface="Arial" pitchFamily="34" charset="-120"/>
              </a:rPr>
              <a:t>Dans toute la ville, rentrée 2026 comparée à la rentrée 2025</a:t>
            </a:r>
            <a:endParaRPr lang="en-US" sz="2100" dirty="0"/>
          </a:p>
        </p:txBody>
      </p:sp>
      <p:pic>
        <p:nvPicPr>
          <p:cNvPr id="5" name="Image 0" descr="/tmp/claude-0/-home-user-Operation-robespierre/996c8343-2b29-5be8-89e5-6b613d278f5f/scratchpad/logo_rp_x3.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5910560" y="205740"/>
            <a:ext cx="1824228" cy="1947672"/>
          </a:xfrm>
          <a:prstGeom prst="rect">
            <a:avLst/>
          </a:prstGeom>
        </p:spPr>
      </p:pic>
      <p:sp>
        <p:nvSpPr>
          <p:cNvPr id="6" name="Shape 3"/>
          <p:cNvSpPr/>
          <p:nvPr/>
        </p:nvSpPr>
        <p:spPr>
          <a:xfrm>
            <a:off x="946404" y="3154680"/>
            <a:ext cx="7612380" cy="0"/>
          </a:xfrm>
          <a:prstGeom prst="line">
            <a:avLst/>
          </a:prstGeom>
          <a:noFill/>
          <a:ln w="31750">
            <a:solidFill>
              <a:srgbClr val="72C493"/>
            </a:solidFill>
            <a:prstDash val="solid"/>
          </a:ln>
        </p:spPr>
      </p:sp>
      <p:sp>
        <p:nvSpPr>
          <p:cNvPr id="7" name="Text 4"/>
          <p:cNvSpPr txBox="1"/>
          <p:nvPr/>
        </p:nvSpPr>
        <p:spPr>
          <a:xfrm>
            <a:off x="946404" y="3429000"/>
            <a:ext cx="75438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PLACES OUVERTES LE MERCREDI</a:t>
            </a:r>
            <a:endParaRPr lang="en-US" sz="2100" dirty="0"/>
          </a:p>
        </p:txBody>
      </p:sp>
      <p:sp>
        <p:nvSpPr>
          <p:cNvPr id="8" name="Shape 5"/>
          <p:cNvSpPr/>
          <p:nvPr/>
        </p:nvSpPr>
        <p:spPr>
          <a:xfrm>
            <a:off x="9738360" y="3154680"/>
            <a:ext cx="7612380" cy="0"/>
          </a:xfrm>
          <a:prstGeom prst="line">
            <a:avLst/>
          </a:prstGeom>
          <a:noFill/>
          <a:ln w="31750">
            <a:solidFill>
              <a:srgbClr val="72C493"/>
            </a:solidFill>
            <a:prstDash val="solid"/>
          </a:ln>
        </p:spPr>
      </p:sp>
      <p:sp>
        <p:nvSpPr>
          <p:cNvPr id="9" name="Text 6"/>
          <p:cNvSpPr txBox="1"/>
          <p:nvPr/>
        </p:nvSpPr>
        <p:spPr>
          <a:xfrm>
            <a:off x="9738360" y="3429000"/>
            <a:ext cx="75438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ANIMATEURS RECRUTÉS</a:t>
            </a:r>
            <a:endParaRPr lang="en-US" sz="2100" dirty="0"/>
          </a:p>
        </p:txBody>
      </p:sp>
      <p:sp>
        <p:nvSpPr>
          <p:cNvPr id="10" name="Text 7"/>
          <p:cNvSpPr txBox="1"/>
          <p:nvPr/>
        </p:nvSpPr>
        <p:spPr>
          <a:xfrm>
            <a:off x="946404" y="4594860"/>
            <a:ext cx="1645920" cy="411480"/>
          </a:xfrm>
          <a:prstGeom prst="rect">
            <a:avLst/>
          </a:prstGeom>
          <a:noFill/>
          <a:ln/>
        </p:spPr>
        <p:txBody>
          <a:bodyPr wrap="square" lIns="0" tIns="0" rIns="0" bIns="0" rtlCol="0" anchor="ctr"/>
          <a:lstStyle/>
          <a:p>
            <a:r>
              <a:rPr lang="en-US" sz="2100" b="1" dirty="0">
                <a:solidFill>
                  <a:srgbClr val="8A90B0"/>
                </a:solidFill>
                <a:latin typeface="Arial" pitchFamily="34" charset="0"/>
                <a:ea typeface="Arial" pitchFamily="34" charset="-122"/>
                <a:cs typeface="Arial" pitchFamily="34" charset="-120"/>
              </a:rPr>
              <a:t>Sept. 2025</a:t>
            </a:r>
            <a:endParaRPr lang="en-US" sz="2100" dirty="0"/>
          </a:p>
        </p:txBody>
      </p:sp>
      <p:sp>
        <p:nvSpPr>
          <p:cNvPr id="11" name="Text 8"/>
          <p:cNvSpPr txBox="1"/>
          <p:nvPr/>
        </p:nvSpPr>
        <p:spPr>
          <a:xfrm>
            <a:off x="946404" y="4937760"/>
            <a:ext cx="3154680" cy="1028700"/>
          </a:xfrm>
          <a:prstGeom prst="rect">
            <a:avLst/>
          </a:prstGeom>
          <a:noFill/>
          <a:ln/>
        </p:spPr>
        <p:txBody>
          <a:bodyPr wrap="square" lIns="0" tIns="0" rIns="0" bIns="0" rtlCol="0" anchor="ctr"/>
          <a:lstStyle/>
          <a:p>
            <a:r>
              <a:rPr lang="en-US" sz="6900" b="1" dirty="0">
                <a:solidFill>
                  <a:srgbClr val="8A90B0"/>
                </a:solidFill>
                <a:latin typeface="Arial" pitchFamily="34" charset="0"/>
                <a:ea typeface="Arial" pitchFamily="34" charset="-122"/>
                <a:cs typeface="Arial" pitchFamily="34" charset="-120"/>
              </a:rPr>
              <a:t>1 616</a:t>
            </a:r>
            <a:endParaRPr lang="en-US" sz="6900" dirty="0"/>
          </a:p>
        </p:txBody>
      </p:sp>
      <p:sp>
        <p:nvSpPr>
          <p:cNvPr id="12" name="Text 9"/>
          <p:cNvSpPr txBox="1"/>
          <p:nvPr/>
        </p:nvSpPr>
        <p:spPr>
          <a:xfrm>
            <a:off x="3895344" y="5006340"/>
            <a:ext cx="822960" cy="822960"/>
          </a:xfrm>
          <a:prstGeom prst="rect">
            <a:avLst/>
          </a:prstGeom>
          <a:noFill/>
          <a:ln/>
        </p:spPr>
        <p:txBody>
          <a:bodyPr wrap="square" lIns="0" tIns="0" rIns="0" bIns="0" rtlCol="0" anchor="ctr"/>
          <a:lstStyle/>
          <a:p>
            <a:r>
              <a:rPr lang="en-US" sz="4200" dirty="0">
                <a:solidFill>
                  <a:srgbClr val="72C493"/>
                </a:solidFill>
                <a:latin typeface="Arial" pitchFamily="34" charset="0"/>
                <a:ea typeface="Arial" pitchFamily="34" charset="-122"/>
                <a:cs typeface="Arial" pitchFamily="34" charset="-120"/>
              </a:rPr>
              <a:t>→</a:t>
            </a:r>
            <a:endParaRPr lang="en-US" sz="4200" dirty="0"/>
          </a:p>
        </p:txBody>
      </p:sp>
      <p:sp>
        <p:nvSpPr>
          <p:cNvPr id="13" name="Text 10"/>
          <p:cNvSpPr txBox="1"/>
          <p:nvPr/>
        </p:nvSpPr>
        <p:spPr>
          <a:xfrm>
            <a:off x="4992624" y="4114800"/>
            <a:ext cx="2194560" cy="411480"/>
          </a:xfrm>
          <a:prstGeom prst="rect">
            <a:avLst/>
          </a:prstGeom>
          <a:noFill/>
          <a:ln/>
        </p:spPr>
        <p:txBody>
          <a:bodyPr wrap="square" lIns="0" tIns="0" rIns="0" bIns="0" rtlCol="0" anchor="ctr"/>
          <a:lstStyle/>
          <a:p>
            <a:r>
              <a:rPr lang="en-US" sz="2100" b="1" dirty="0">
                <a:solidFill>
                  <a:srgbClr val="72C493"/>
                </a:solidFill>
                <a:latin typeface="Arial" pitchFamily="34" charset="0"/>
                <a:ea typeface="Arial" pitchFamily="34" charset="-122"/>
                <a:cs typeface="Arial" pitchFamily="34" charset="-120"/>
              </a:rPr>
              <a:t>Oct. 2026</a:t>
            </a:r>
            <a:endParaRPr lang="en-US" sz="2100" dirty="0"/>
          </a:p>
        </p:txBody>
      </p:sp>
      <p:sp>
        <p:nvSpPr>
          <p:cNvPr id="14" name="Text 11"/>
          <p:cNvSpPr txBox="1"/>
          <p:nvPr/>
        </p:nvSpPr>
        <p:spPr>
          <a:xfrm>
            <a:off x="4992624" y="4457700"/>
            <a:ext cx="4663440" cy="1508760"/>
          </a:xfrm>
          <a:prstGeom prst="rect">
            <a:avLst/>
          </a:prstGeom>
          <a:noFill/>
          <a:ln/>
        </p:spPr>
        <p:txBody>
          <a:bodyPr wrap="square" lIns="0" tIns="0" rIns="0" bIns="0" rtlCol="0" anchor="ctr"/>
          <a:lstStyle/>
          <a:p>
            <a:r>
              <a:rPr lang="en-US" sz="10500" b="1" dirty="0">
                <a:solidFill>
                  <a:srgbClr val="FFFFFF"/>
                </a:solidFill>
                <a:latin typeface="Arial" pitchFamily="34" charset="0"/>
                <a:ea typeface="Arial" pitchFamily="34" charset="-122"/>
                <a:cs typeface="Arial" pitchFamily="34" charset="-120"/>
              </a:rPr>
              <a:t>1 784</a:t>
            </a:r>
            <a:endParaRPr lang="en-US" sz="10500" dirty="0"/>
          </a:p>
        </p:txBody>
      </p:sp>
      <p:sp>
        <p:nvSpPr>
          <p:cNvPr id="15" name="Text 12"/>
          <p:cNvSpPr txBox="1"/>
          <p:nvPr/>
        </p:nvSpPr>
        <p:spPr>
          <a:xfrm>
            <a:off x="9738360" y="4594860"/>
            <a:ext cx="1645920" cy="411480"/>
          </a:xfrm>
          <a:prstGeom prst="rect">
            <a:avLst/>
          </a:prstGeom>
          <a:noFill/>
          <a:ln/>
        </p:spPr>
        <p:txBody>
          <a:bodyPr wrap="square" lIns="0" tIns="0" rIns="0" bIns="0" rtlCol="0" anchor="ctr"/>
          <a:lstStyle/>
          <a:p>
            <a:r>
              <a:rPr lang="en-US" sz="2100" b="1" dirty="0">
                <a:solidFill>
                  <a:srgbClr val="8A90B0"/>
                </a:solidFill>
                <a:latin typeface="Arial" pitchFamily="34" charset="0"/>
                <a:ea typeface="Arial" pitchFamily="34" charset="-122"/>
                <a:cs typeface="Arial" pitchFamily="34" charset="-120"/>
              </a:rPr>
              <a:t>Sept. 2025</a:t>
            </a:r>
            <a:endParaRPr lang="en-US" sz="2100" dirty="0"/>
          </a:p>
        </p:txBody>
      </p:sp>
      <p:sp>
        <p:nvSpPr>
          <p:cNvPr id="16" name="Text 13"/>
          <p:cNvSpPr txBox="1"/>
          <p:nvPr/>
        </p:nvSpPr>
        <p:spPr>
          <a:xfrm>
            <a:off x="9738360" y="4937760"/>
            <a:ext cx="3154680" cy="1028700"/>
          </a:xfrm>
          <a:prstGeom prst="rect">
            <a:avLst/>
          </a:prstGeom>
          <a:noFill/>
          <a:ln/>
        </p:spPr>
        <p:txBody>
          <a:bodyPr wrap="square" lIns="0" tIns="0" rIns="0" bIns="0" rtlCol="0" anchor="ctr"/>
          <a:lstStyle/>
          <a:p>
            <a:r>
              <a:rPr lang="en-US" sz="6900" b="1" dirty="0">
                <a:solidFill>
                  <a:srgbClr val="8A90B0"/>
                </a:solidFill>
                <a:latin typeface="Arial" pitchFamily="34" charset="0"/>
                <a:ea typeface="Arial" pitchFamily="34" charset="-122"/>
                <a:cs typeface="Arial" pitchFamily="34" charset="-120"/>
              </a:rPr>
              <a:t>145</a:t>
            </a:r>
            <a:endParaRPr lang="en-US" sz="6900" dirty="0"/>
          </a:p>
        </p:txBody>
      </p:sp>
      <p:sp>
        <p:nvSpPr>
          <p:cNvPr id="17" name="Text 14"/>
          <p:cNvSpPr txBox="1"/>
          <p:nvPr/>
        </p:nvSpPr>
        <p:spPr>
          <a:xfrm>
            <a:off x="12687300" y="5006340"/>
            <a:ext cx="822960" cy="822960"/>
          </a:xfrm>
          <a:prstGeom prst="rect">
            <a:avLst/>
          </a:prstGeom>
          <a:noFill/>
          <a:ln/>
        </p:spPr>
        <p:txBody>
          <a:bodyPr wrap="square" lIns="0" tIns="0" rIns="0" bIns="0" rtlCol="0" anchor="ctr"/>
          <a:lstStyle/>
          <a:p>
            <a:r>
              <a:rPr lang="en-US" sz="4200" dirty="0">
                <a:solidFill>
                  <a:srgbClr val="72C493"/>
                </a:solidFill>
                <a:latin typeface="Arial" pitchFamily="34" charset="0"/>
                <a:ea typeface="Arial" pitchFamily="34" charset="-122"/>
                <a:cs typeface="Arial" pitchFamily="34" charset="-120"/>
              </a:rPr>
              <a:t>→</a:t>
            </a:r>
            <a:endParaRPr lang="en-US" sz="4200" dirty="0"/>
          </a:p>
        </p:txBody>
      </p:sp>
      <p:sp>
        <p:nvSpPr>
          <p:cNvPr id="18" name="Text 15"/>
          <p:cNvSpPr txBox="1"/>
          <p:nvPr/>
        </p:nvSpPr>
        <p:spPr>
          <a:xfrm>
            <a:off x="13784580" y="4114800"/>
            <a:ext cx="2194560" cy="411480"/>
          </a:xfrm>
          <a:prstGeom prst="rect">
            <a:avLst/>
          </a:prstGeom>
          <a:noFill/>
          <a:ln/>
        </p:spPr>
        <p:txBody>
          <a:bodyPr wrap="square" lIns="0" tIns="0" rIns="0" bIns="0" rtlCol="0" anchor="ctr"/>
          <a:lstStyle/>
          <a:p>
            <a:r>
              <a:rPr lang="en-US" sz="2100" b="1" dirty="0">
                <a:solidFill>
                  <a:srgbClr val="72C493"/>
                </a:solidFill>
                <a:latin typeface="Arial" pitchFamily="34" charset="0"/>
                <a:ea typeface="Arial" pitchFamily="34" charset="-122"/>
                <a:cs typeface="Arial" pitchFamily="34" charset="-120"/>
              </a:rPr>
              <a:t>Oct. 2026</a:t>
            </a:r>
            <a:endParaRPr lang="en-US" sz="2100" dirty="0"/>
          </a:p>
        </p:txBody>
      </p:sp>
      <p:sp>
        <p:nvSpPr>
          <p:cNvPr id="19" name="Text 16"/>
          <p:cNvSpPr txBox="1"/>
          <p:nvPr/>
        </p:nvSpPr>
        <p:spPr>
          <a:xfrm>
            <a:off x="13784580" y="4457700"/>
            <a:ext cx="4663440" cy="1508760"/>
          </a:xfrm>
          <a:prstGeom prst="rect">
            <a:avLst/>
          </a:prstGeom>
          <a:noFill/>
          <a:ln/>
        </p:spPr>
        <p:txBody>
          <a:bodyPr wrap="square" lIns="0" tIns="0" rIns="0" bIns="0" rtlCol="0" anchor="ctr"/>
          <a:lstStyle/>
          <a:p>
            <a:r>
              <a:rPr lang="en-US" sz="10500" b="1" dirty="0">
                <a:solidFill>
                  <a:srgbClr val="FFFFFF"/>
                </a:solidFill>
                <a:latin typeface="Arial" pitchFamily="34" charset="0"/>
                <a:ea typeface="Arial" pitchFamily="34" charset="-122"/>
                <a:cs typeface="Arial" pitchFamily="34" charset="-120"/>
              </a:rPr>
              <a:t>162</a:t>
            </a:r>
            <a:endParaRPr lang="en-US" sz="10500" dirty="0"/>
          </a:p>
        </p:txBody>
      </p:sp>
      <p:sp>
        <p:nvSpPr>
          <p:cNvPr id="20" name="Shape 17"/>
          <p:cNvSpPr/>
          <p:nvPr/>
        </p:nvSpPr>
        <p:spPr>
          <a:xfrm>
            <a:off x="946404" y="6309360"/>
            <a:ext cx="3977640" cy="576072"/>
          </a:xfrm>
          <a:prstGeom prst="rect">
            <a:avLst/>
          </a:prstGeom>
          <a:solidFill>
            <a:srgbClr val="72C493"/>
          </a:solidFill>
          <a:ln/>
        </p:spPr>
      </p:sp>
      <p:sp>
        <p:nvSpPr>
          <p:cNvPr id="21" name="Text 18"/>
          <p:cNvSpPr txBox="1"/>
          <p:nvPr/>
        </p:nvSpPr>
        <p:spPr>
          <a:xfrm>
            <a:off x="1138428" y="6309360"/>
            <a:ext cx="370332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+168 places, soit +10 %</a:t>
            </a:r>
            <a:endParaRPr lang="en-US" sz="2100" dirty="0"/>
          </a:p>
        </p:txBody>
      </p:sp>
      <p:sp>
        <p:nvSpPr>
          <p:cNvPr id="22" name="Shape 19"/>
          <p:cNvSpPr/>
          <p:nvPr/>
        </p:nvSpPr>
        <p:spPr>
          <a:xfrm>
            <a:off x="9738360" y="6309360"/>
            <a:ext cx="2743200" cy="576072"/>
          </a:xfrm>
          <a:prstGeom prst="rect">
            <a:avLst/>
          </a:prstGeom>
          <a:solidFill>
            <a:srgbClr val="72C493"/>
          </a:solidFill>
          <a:ln/>
        </p:spPr>
      </p:sp>
      <p:sp>
        <p:nvSpPr>
          <p:cNvPr id="23" name="Text 20"/>
          <p:cNvSpPr txBox="1"/>
          <p:nvPr/>
        </p:nvSpPr>
        <p:spPr>
          <a:xfrm>
            <a:off x="9930384" y="6309360"/>
            <a:ext cx="246888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+17 animateurs</a:t>
            </a:r>
            <a:endParaRPr lang="en-US" sz="2100" dirty="0"/>
          </a:p>
        </p:txBody>
      </p:sp>
      <p:sp>
        <p:nvSpPr>
          <p:cNvPr id="24" name="Shape 21"/>
          <p:cNvSpPr/>
          <p:nvPr/>
        </p:nvSpPr>
        <p:spPr>
          <a:xfrm>
            <a:off x="946404" y="8023860"/>
            <a:ext cx="5280660" cy="0"/>
          </a:xfrm>
          <a:prstGeom prst="line">
            <a:avLst/>
          </a:prstGeom>
          <a:noFill/>
          <a:ln w="12700">
            <a:solidFill>
              <a:srgbClr val="2A3A72"/>
            </a:solidFill>
            <a:prstDash val="solid"/>
          </a:ln>
        </p:spPr>
      </p:sp>
      <p:sp>
        <p:nvSpPr>
          <p:cNvPr id="25" name="Text 22"/>
          <p:cNvSpPr txBox="1"/>
          <p:nvPr/>
        </p:nvSpPr>
        <p:spPr>
          <a:xfrm>
            <a:off x="946404" y="8229600"/>
            <a:ext cx="5280660" cy="1097280"/>
          </a:xfrm>
          <a:prstGeom prst="rect">
            <a:avLst/>
          </a:prstGeom>
          <a:noFill/>
          <a:ln/>
        </p:spPr>
        <p:txBody>
          <a:bodyPr wrap="square" lIns="0" tIns="0" rIns="0" bIns="0" rtlCol="0" anchor="t"/>
          <a:lstStyle/>
          <a:p>
            <a:r>
              <a:rPr lang="en-US" sz="2100" b="1" dirty="0">
                <a:solidFill>
                  <a:srgbClr val="FFFFFF"/>
                </a:solidFill>
                <a:latin typeface="Arial" pitchFamily="34" charset="0"/>
                <a:ea typeface="Arial" pitchFamily="34" charset="-122"/>
                <a:cs typeface="Arial" pitchFamily="34" charset="-120"/>
              </a:rPr>
              <a:t>Chaque recrutement ouvre 8 places en maternelle et 12 en élémentaire</a:t>
            </a:r>
            <a:endParaRPr lang="en-US" sz="2100" dirty="0"/>
          </a:p>
        </p:txBody>
      </p:sp>
      <p:sp>
        <p:nvSpPr>
          <p:cNvPr id="26" name="Shape 23"/>
          <p:cNvSpPr/>
          <p:nvPr/>
        </p:nvSpPr>
        <p:spPr>
          <a:xfrm>
            <a:off x="6597396" y="8023860"/>
            <a:ext cx="5280660" cy="0"/>
          </a:xfrm>
          <a:prstGeom prst="line">
            <a:avLst/>
          </a:prstGeom>
          <a:noFill/>
          <a:ln w="12700">
            <a:solidFill>
              <a:srgbClr val="2A3A72"/>
            </a:solidFill>
            <a:prstDash val="solid"/>
          </a:ln>
        </p:spPr>
      </p:sp>
      <p:sp>
        <p:nvSpPr>
          <p:cNvPr id="27" name="Text 24"/>
          <p:cNvSpPr txBox="1"/>
          <p:nvPr/>
        </p:nvSpPr>
        <p:spPr>
          <a:xfrm>
            <a:off x="6597396" y="8229600"/>
            <a:ext cx="5280660" cy="1097280"/>
          </a:xfrm>
          <a:prstGeom prst="rect">
            <a:avLst/>
          </a:prstGeom>
          <a:noFill/>
          <a:ln/>
        </p:spPr>
        <p:txBody>
          <a:bodyPr wrap="square" lIns="0" tIns="0" rIns="0" bIns="0" rtlCol="0" anchor="t"/>
          <a:lstStyle/>
          <a:p>
            <a:r>
              <a:rPr lang="en-US" sz="2100" b="1" dirty="0">
                <a:solidFill>
                  <a:srgbClr val="FFFFFF"/>
                </a:solidFill>
                <a:latin typeface="Arial" pitchFamily="34" charset="0"/>
                <a:ea typeface="Arial" pitchFamily="34" charset="-122"/>
                <a:cs typeface="Arial" pitchFamily="34" charset="-120"/>
              </a:rPr>
              <a:t>Les places libérées sont réattribuées chaque semaine à partir des listes d’attente</a:t>
            </a:r>
            <a:endParaRPr lang="en-US" sz="2100" dirty="0"/>
          </a:p>
        </p:txBody>
      </p:sp>
      <p:sp>
        <p:nvSpPr>
          <p:cNvPr id="28" name="Shape 25"/>
          <p:cNvSpPr/>
          <p:nvPr/>
        </p:nvSpPr>
        <p:spPr>
          <a:xfrm>
            <a:off x="12248388" y="8023860"/>
            <a:ext cx="5280660" cy="0"/>
          </a:xfrm>
          <a:prstGeom prst="line">
            <a:avLst/>
          </a:prstGeom>
          <a:noFill/>
          <a:ln w="12700">
            <a:solidFill>
              <a:srgbClr val="2A3A72"/>
            </a:solidFill>
            <a:prstDash val="solid"/>
          </a:ln>
        </p:spPr>
      </p:sp>
      <p:sp>
        <p:nvSpPr>
          <p:cNvPr id="29" name="Text 26"/>
          <p:cNvSpPr txBox="1"/>
          <p:nvPr/>
        </p:nvSpPr>
        <p:spPr>
          <a:xfrm>
            <a:off x="12248388" y="8229600"/>
            <a:ext cx="5280660" cy="1097280"/>
          </a:xfrm>
          <a:prstGeom prst="rect">
            <a:avLst/>
          </a:prstGeom>
          <a:noFill/>
          <a:ln/>
        </p:spPr>
        <p:txBody>
          <a:bodyPr wrap="square" lIns="0" tIns="0" rIns="0" bIns="0" rtlCol="0" anchor="t"/>
          <a:lstStyle/>
          <a:p>
            <a:r>
              <a:rPr lang="en-US" sz="2100" b="1" dirty="0">
                <a:solidFill>
                  <a:srgbClr val="72C493"/>
                </a:solidFill>
                <a:latin typeface="Arial" pitchFamily="34" charset="0"/>
                <a:ea typeface="Arial" pitchFamily="34" charset="-122"/>
                <a:cs typeface="Arial" pitchFamily="34" charset="-120"/>
              </a:rPr>
              <a:t>Les recrutements continuent, surtout pour les postes du mercredi</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46404" y="644652"/>
            <a:ext cx="12344400" cy="480060"/>
          </a:xfrm>
          <a:prstGeom prst="rect">
            <a:avLst/>
          </a:prstGeom>
          <a:noFill/>
          <a:ln/>
        </p:spPr>
        <p:txBody>
          <a:bodyPr wrap="square" lIns="0" tIns="0" rIns="0" bIns="0" rtlCol="0" anchor="ctr"/>
          <a:lstStyle/>
          <a:p>
            <a:r>
              <a:rPr lang="en-US" sz="1950" b="1" kern="0" spc="300" dirty="0">
                <a:solidFill>
                  <a:srgbClr val="72C493"/>
                </a:solidFill>
                <a:latin typeface="Arial" pitchFamily="34" charset="0"/>
                <a:ea typeface="Arial" pitchFamily="34" charset="-122"/>
                <a:cs typeface="Arial" pitchFamily="34" charset="-120"/>
              </a:rPr>
              <a:t>LES ÉCOLES · LE PÉRISCOLAIRE · PAUSE MÉRIDIENNE</a:t>
            </a:r>
            <a:endParaRPr lang="en-US" sz="1950" dirty="0"/>
          </a:p>
        </p:txBody>
      </p:sp>
      <p:sp>
        <p:nvSpPr>
          <p:cNvPr id="3" name="Text 1"/>
          <p:cNvSpPr txBox="1"/>
          <p:nvPr/>
        </p:nvSpPr>
        <p:spPr>
          <a:xfrm>
            <a:off x="946404" y="1165860"/>
            <a:ext cx="13716000" cy="891540"/>
          </a:xfrm>
          <a:prstGeom prst="rect">
            <a:avLst/>
          </a:prstGeom>
          <a:noFill/>
          <a:ln/>
        </p:spPr>
        <p:txBody>
          <a:bodyPr wrap="square" lIns="0" tIns="0" rIns="0" bIns="0" rtlCol="0" anchor="ctr"/>
          <a:lstStyle/>
          <a:p>
            <a:r>
              <a:rPr lang="en-US" sz="4050" b="1" dirty="0">
                <a:solidFill>
                  <a:srgbClr val="0E1F5B"/>
                </a:solidFill>
                <a:latin typeface="Arial" pitchFamily="34" charset="0"/>
                <a:ea typeface="Arial" pitchFamily="34" charset="-122"/>
                <a:cs typeface="Arial" pitchFamily="34" charset="-120"/>
              </a:rPr>
              <a:t>Plus d’animateurs à la cantine</a:t>
            </a:r>
            <a:endParaRPr lang="en-US" sz="4050" dirty="0"/>
          </a:p>
        </p:txBody>
      </p:sp>
      <p:sp>
        <p:nvSpPr>
          <p:cNvPr id="4" name="Text 2"/>
          <p:cNvSpPr txBox="1"/>
          <p:nvPr/>
        </p:nvSpPr>
        <p:spPr>
          <a:xfrm>
            <a:off x="946404" y="2125980"/>
            <a:ext cx="13716000" cy="548640"/>
          </a:xfrm>
          <a:prstGeom prst="rect">
            <a:avLst/>
          </a:prstGeom>
          <a:noFill/>
          <a:ln/>
        </p:spPr>
        <p:txBody>
          <a:bodyPr wrap="square" lIns="0" tIns="0" rIns="0" bIns="0" rtlCol="0" anchor="ctr"/>
          <a:lstStyle/>
          <a:p>
            <a:r>
              <a:rPr lang="en-US" sz="2100" dirty="0">
                <a:solidFill>
                  <a:srgbClr val="0E1F5B"/>
                </a:solidFill>
                <a:latin typeface="Arial" pitchFamily="34" charset="0"/>
                <a:ea typeface="Arial" pitchFamily="34" charset="-122"/>
                <a:cs typeface="Arial" pitchFamily="34" charset="-120"/>
              </a:rPr>
              <a:t>Rentrée 2026 comparée à la rentrée 2025, dans toute la ville</a:t>
            </a:r>
            <a:endParaRPr lang="en-US" sz="2100" dirty="0"/>
          </a:p>
        </p:txBody>
      </p:sp>
      <p:pic>
        <p:nvPicPr>
          <p:cNvPr id="5" name="Image 0" descr="/tmp/claude-0/-home-user-Operation-robespierre/996c8343-2b29-5be8-89e5-6b613d278f5f/scratchpad/logo_rp_clair_x3.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5910560" y="205740"/>
            <a:ext cx="1824228" cy="1947672"/>
          </a:xfrm>
          <a:prstGeom prst="rect">
            <a:avLst/>
          </a:prstGeom>
        </p:spPr>
      </p:pic>
      <p:sp>
        <p:nvSpPr>
          <p:cNvPr id="6" name="Shape 3"/>
          <p:cNvSpPr/>
          <p:nvPr/>
        </p:nvSpPr>
        <p:spPr>
          <a:xfrm>
            <a:off x="946404" y="3154680"/>
            <a:ext cx="5143500" cy="0"/>
          </a:xfrm>
          <a:prstGeom prst="line">
            <a:avLst/>
          </a:prstGeom>
          <a:noFill/>
          <a:ln w="31750">
            <a:solidFill>
              <a:srgbClr val="72C493"/>
            </a:solidFill>
            <a:prstDash val="solid"/>
          </a:ln>
        </p:spPr>
      </p:sp>
      <p:sp>
        <p:nvSpPr>
          <p:cNvPr id="7" name="Text 4"/>
          <p:cNvSpPr txBox="1"/>
          <p:nvPr/>
        </p:nvSpPr>
        <p:spPr>
          <a:xfrm>
            <a:off x="946404" y="3360420"/>
            <a:ext cx="5143500" cy="54864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ENFANTS ACCUEILLIS</a:t>
            </a:r>
            <a:endParaRPr lang="en-US" sz="2100" dirty="0"/>
          </a:p>
        </p:txBody>
      </p:sp>
      <p:sp>
        <p:nvSpPr>
          <p:cNvPr id="8" name="Text 5"/>
          <p:cNvSpPr txBox="1"/>
          <p:nvPr/>
        </p:nvSpPr>
        <p:spPr>
          <a:xfrm>
            <a:off x="946404" y="418338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2025</a:t>
            </a:r>
            <a:endParaRPr lang="en-US" sz="2100" dirty="0"/>
          </a:p>
        </p:txBody>
      </p:sp>
      <p:sp>
        <p:nvSpPr>
          <p:cNvPr id="9" name="Text 6"/>
          <p:cNvSpPr txBox="1"/>
          <p:nvPr/>
        </p:nvSpPr>
        <p:spPr>
          <a:xfrm>
            <a:off x="2592324" y="4046220"/>
            <a:ext cx="3497580" cy="754380"/>
          </a:xfrm>
          <a:prstGeom prst="rect">
            <a:avLst/>
          </a:prstGeom>
          <a:noFill/>
          <a:ln/>
        </p:spPr>
        <p:txBody>
          <a:bodyPr wrap="square" lIns="0" tIns="0" rIns="0" bIns="0" rtlCol="0" anchor="ctr"/>
          <a:lstStyle/>
          <a:p>
            <a:pPr algn="r"/>
            <a:r>
              <a:rPr lang="en-US" sz="3900" b="1" dirty="0">
                <a:solidFill>
                  <a:srgbClr val="8A90B0"/>
                </a:solidFill>
                <a:latin typeface="Arial" pitchFamily="34" charset="0"/>
                <a:ea typeface="Arial" pitchFamily="34" charset="-122"/>
                <a:cs typeface="Arial" pitchFamily="34" charset="-120"/>
              </a:rPr>
              <a:t>5 543</a:t>
            </a:r>
            <a:endParaRPr lang="en-US" sz="3900" dirty="0"/>
          </a:p>
        </p:txBody>
      </p:sp>
      <p:sp>
        <p:nvSpPr>
          <p:cNvPr id="10" name="Shape 7"/>
          <p:cNvSpPr/>
          <p:nvPr/>
        </p:nvSpPr>
        <p:spPr>
          <a:xfrm>
            <a:off x="946404" y="4937760"/>
            <a:ext cx="5143500" cy="0"/>
          </a:xfrm>
          <a:prstGeom prst="line">
            <a:avLst/>
          </a:prstGeom>
          <a:noFill/>
          <a:ln w="12700">
            <a:solidFill>
              <a:srgbClr val="E2DED6"/>
            </a:solidFill>
            <a:prstDash val="solid"/>
          </a:ln>
        </p:spPr>
      </p:sp>
      <p:sp>
        <p:nvSpPr>
          <p:cNvPr id="11" name="Text 8"/>
          <p:cNvSpPr txBox="1"/>
          <p:nvPr/>
        </p:nvSpPr>
        <p:spPr>
          <a:xfrm>
            <a:off x="946404" y="528066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2026</a:t>
            </a:r>
            <a:endParaRPr lang="en-US" sz="2100" dirty="0"/>
          </a:p>
        </p:txBody>
      </p:sp>
      <p:sp>
        <p:nvSpPr>
          <p:cNvPr id="12" name="Text 9"/>
          <p:cNvSpPr txBox="1"/>
          <p:nvPr/>
        </p:nvSpPr>
        <p:spPr>
          <a:xfrm>
            <a:off x="2318004" y="5006340"/>
            <a:ext cx="3771900" cy="1097280"/>
          </a:xfrm>
          <a:prstGeom prst="rect">
            <a:avLst/>
          </a:prstGeom>
          <a:noFill/>
          <a:ln/>
        </p:spPr>
        <p:txBody>
          <a:bodyPr wrap="square" lIns="0" tIns="0" rIns="0" bIns="0" rtlCol="0" anchor="ctr"/>
          <a:lstStyle/>
          <a:p>
            <a:pPr algn="r"/>
            <a:r>
              <a:rPr lang="en-US" sz="6000" b="1" dirty="0">
                <a:solidFill>
                  <a:srgbClr val="0E1F5B"/>
                </a:solidFill>
                <a:latin typeface="Arial" pitchFamily="34" charset="0"/>
                <a:ea typeface="Arial" pitchFamily="34" charset="-122"/>
                <a:cs typeface="Arial" pitchFamily="34" charset="-120"/>
              </a:rPr>
              <a:t>5 727</a:t>
            </a:r>
            <a:endParaRPr lang="en-US" sz="6000" dirty="0"/>
          </a:p>
        </p:txBody>
      </p:sp>
      <p:sp>
        <p:nvSpPr>
          <p:cNvPr id="13" name="Shape 10"/>
          <p:cNvSpPr/>
          <p:nvPr/>
        </p:nvSpPr>
        <p:spPr>
          <a:xfrm>
            <a:off x="946404" y="6377940"/>
            <a:ext cx="2194560" cy="576072"/>
          </a:xfrm>
          <a:prstGeom prst="rect">
            <a:avLst/>
          </a:prstGeom>
          <a:solidFill>
            <a:srgbClr val="72C493"/>
          </a:solidFill>
          <a:ln/>
        </p:spPr>
      </p:sp>
      <p:sp>
        <p:nvSpPr>
          <p:cNvPr id="14" name="Text 11"/>
          <p:cNvSpPr txBox="1"/>
          <p:nvPr/>
        </p:nvSpPr>
        <p:spPr>
          <a:xfrm>
            <a:off x="1138428" y="6377940"/>
            <a:ext cx="192024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+3,3 %</a:t>
            </a:r>
            <a:endParaRPr lang="en-US" sz="2100" dirty="0"/>
          </a:p>
        </p:txBody>
      </p:sp>
      <p:sp>
        <p:nvSpPr>
          <p:cNvPr id="15" name="Shape 12"/>
          <p:cNvSpPr/>
          <p:nvPr/>
        </p:nvSpPr>
        <p:spPr>
          <a:xfrm>
            <a:off x="6597396" y="3154680"/>
            <a:ext cx="5143500" cy="0"/>
          </a:xfrm>
          <a:prstGeom prst="line">
            <a:avLst/>
          </a:prstGeom>
          <a:noFill/>
          <a:ln w="31750">
            <a:solidFill>
              <a:srgbClr val="72C493"/>
            </a:solidFill>
            <a:prstDash val="solid"/>
          </a:ln>
        </p:spPr>
      </p:sp>
      <p:sp>
        <p:nvSpPr>
          <p:cNvPr id="16" name="Text 13"/>
          <p:cNvSpPr txBox="1"/>
          <p:nvPr/>
        </p:nvSpPr>
        <p:spPr>
          <a:xfrm>
            <a:off x="6597396" y="3360420"/>
            <a:ext cx="5143500" cy="54864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ANIMATEURS EN MATERNELLE</a:t>
            </a:r>
            <a:endParaRPr lang="en-US" sz="2100" dirty="0"/>
          </a:p>
        </p:txBody>
      </p:sp>
      <p:sp>
        <p:nvSpPr>
          <p:cNvPr id="17" name="Text 14"/>
          <p:cNvSpPr txBox="1"/>
          <p:nvPr/>
        </p:nvSpPr>
        <p:spPr>
          <a:xfrm>
            <a:off x="6597396" y="418338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2025</a:t>
            </a:r>
            <a:endParaRPr lang="en-US" sz="2100" dirty="0"/>
          </a:p>
        </p:txBody>
      </p:sp>
      <p:sp>
        <p:nvSpPr>
          <p:cNvPr id="18" name="Text 15"/>
          <p:cNvSpPr txBox="1"/>
          <p:nvPr/>
        </p:nvSpPr>
        <p:spPr>
          <a:xfrm>
            <a:off x="8243316" y="4046220"/>
            <a:ext cx="3497580" cy="754380"/>
          </a:xfrm>
          <a:prstGeom prst="rect">
            <a:avLst/>
          </a:prstGeom>
          <a:noFill/>
          <a:ln/>
        </p:spPr>
        <p:txBody>
          <a:bodyPr wrap="square" lIns="0" tIns="0" rIns="0" bIns="0" rtlCol="0" anchor="ctr"/>
          <a:lstStyle/>
          <a:p>
            <a:pPr algn="r"/>
            <a:r>
              <a:rPr lang="en-US" sz="3900" b="1" dirty="0">
                <a:solidFill>
                  <a:srgbClr val="8A90B0"/>
                </a:solidFill>
                <a:latin typeface="Arial" pitchFamily="34" charset="0"/>
                <a:ea typeface="Arial" pitchFamily="34" charset="-122"/>
                <a:cs typeface="Arial" pitchFamily="34" charset="-120"/>
              </a:rPr>
              <a:t>199</a:t>
            </a:r>
            <a:endParaRPr lang="en-US" sz="3900" dirty="0"/>
          </a:p>
        </p:txBody>
      </p:sp>
      <p:sp>
        <p:nvSpPr>
          <p:cNvPr id="19" name="Shape 16"/>
          <p:cNvSpPr/>
          <p:nvPr/>
        </p:nvSpPr>
        <p:spPr>
          <a:xfrm>
            <a:off x="6597396" y="4937760"/>
            <a:ext cx="5143500" cy="0"/>
          </a:xfrm>
          <a:prstGeom prst="line">
            <a:avLst/>
          </a:prstGeom>
          <a:noFill/>
          <a:ln w="12700">
            <a:solidFill>
              <a:srgbClr val="E2DED6"/>
            </a:solidFill>
            <a:prstDash val="solid"/>
          </a:ln>
        </p:spPr>
      </p:sp>
      <p:sp>
        <p:nvSpPr>
          <p:cNvPr id="20" name="Text 17"/>
          <p:cNvSpPr txBox="1"/>
          <p:nvPr/>
        </p:nvSpPr>
        <p:spPr>
          <a:xfrm>
            <a:off x="6597396" y="528066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2026</a:t>
            </a:r>
            <a:endParaRPr lang="en-US" sz="2100" dirty="0"/>
          </a:p>
        </p:txBody>
      </p:sp>
      <p:sp>
        <p:nvSpPr>
          <p:cNvPr id="21" name="Text 18"/>
          <p:cNvSpPr txBox="1"/>
          <p:nvPr/>
        </p:nvSpPr>
        <p:spPr>
          <a:xfrm>
            <a:off x="7968996" y="5006340"/>
            <a:ext cx="3771900" cy="1097280"/>
          </a:xfrm>
          <a:prstGeom prst="rect">
            <a:avLst/>
          </a:prstGeom>
          <a:noFill/>
          <a:ln/>
        </p:spPr>
        <p:txBody>
          <a:bodyPr wrap="square" lIns="0" tIns="0" rIns="0" bIns="0" rtlCol="0" anchor="ctr"/>
          <a:lstStyle/>
          <a:p>
            <a:pPr algn="r"/>
            <a:r>
              <a:rPr lang="en-US" sz="6000" b="1" dirty="0">
                <a:solidFill>
                  <a:srgbClr val="0E1F5B"/>
                </a:solidFill>
                <a:latin typeface="Arial" pitchFamily="34" charset="0"/>
                <a:ea typeface="Arial" pitchFamily="34" charset="-122"/>
                <a:cs typeface="Arial" pitchFamily="34" charset="-120"/>
              </a:rPr>
              <a:t>248</a:t>
            </a:r>
            <a:endParaRPr lang="en-US" sz="6000" dirty="0"/>
          </a:p>
        </p:txBody>
      </p:sp>
      <p:sp>
        <p:nvSpPr>
          <p:cNvPr id="22" name="Shape 19"/>
          <p:cNvSpPr/>
          <p:nvPr/>
        </p:nvSpPr>
        <p:spPr>
          <a:xfrm>
            <a:off x="6597396" y="6377940"/>
            <a:ext cx="3566160" cy="576072"/>
          </a:xfrm>
          <a:prstGeom prst="rect">
            <a:avLst/>
          </a:prstGeom>
          <a:solidFill>
            <a:srgbClr val="72C493"/>
          </a:solidFill>
          <a:ln/>
        </p:spPr>
      </p:sp>
      <p:sp>
        <p:nvSpPr>
          <p:cNvPr id="23" name="Text 20"/>
          <p:cNvSpPr txBox="1"/>
          <p:nvPr/>
        </p:nvSpPr>
        <p:spPr>
          <a:xfrm>
            <a:off x="6789420" y="6377940"/>
            <a:ext cx="329184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+49 animateurs</a:t>
            </a:r>
            <a:endParaRPr lang="en-US" sz="2100" dirty="0"/>
          </a:p>
        </p:txBody>
      </p:sp>
      <p:sp>
        <p:nvSpPr>
          <p:cNvPr id="24" name="Shape 21"/>
          <p:cNvSpPr/>
          <p:nvPr/>
        </p:nvSpPr>
        <p:spPr>
          <a:xfrm>
            <a:off x="12248388" y="3154680"/>
            <a:ext cx="5143500" cy="0"/>
          </a:xfrm>
          <a:prstGeom prst="line">
            <a:avLst/>
          </a:prstGeom>
          <a:noFill/>
          <a:ln w="31750">
            <a:solidFill>
              <a:srgbClr val="72C493"/>
            </a:solidFill>
            <a:prstDash val="solid"/>
          </a:ln>
        </p:spPr>
      </p:sp>
      <p:sp>
        <p:nvSpPr>
          <p:cNvPr id="25" name="Text 22"/>
          <p:cNvSpPr txBox="1"/>
          <p:nvPr/>
        </p:nvSpPr>
        <p:spPr>
          <a:xfrm>
            <a:off x="12248388" y="3360420"/>
            <a:ext cx="5143500" cy="54864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ANIMATEURS EN ÉLÉMENTAIRE</a:t>
            </a:r>
            <a:endParaRPr lang="en-US" sz="2100" dirty="0"/>
          </a:p>
        </p:txBody>
      </p:sp>
      <p:sp>
        <p:nvSpPr>
          <p:cNvPr id="26" name="Text 23"/>
          <p:cNvSpPr txBox="1"/>
          <p:nvPr/>
        </p:nvSpPr>
        <p:spPr>
          <a:xfrm>
            <a:off x="12248388" y="418338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2025</a:t>
            </a:r>
            <a:endParaRPr lang="en-US" sz="2100" dirty="0"/>
          </a:p>
        </p:txBody>
      </p:sp>
      <p:sp>
        <p:nvSpPr>
          <p:cNvPr id="27" name="Text 24"/>
          <p:cNvSpPr txBox="1"/>
          <p:nvPr/>
        </p:nvSpPr>
        <p:spPr>
          <a:xfrm>
            <a:off x="13894308" y="4046220"/>
            <a:ext cx="3497580" cy="754380"/>
          </a:xfrm>
          <a:prstGeom prst="rect">
            <a:avLst/>
          </a:prstGeom>
          <a:noFill/>
          <a:ln/>
        </p:spPr>
        <p:txBody>
          <a:bodyPr wrap="square" lIns="0" tIns="0" rIns="0" bIns="0" rtlCol="0" anchor="ctr"/>
          <a:lstStyle/>
          <a:p>
            <a:pPr algn="r"/>
            <a:r>
              <a:rPr lang="en-US" sz="3900" b="1" dirty="0">
                <a:solidFill>
                  <a:srgbClr val="8A90B0"/>
                </a:solidFill>
                <a:latin typeface="Arial" pitchFamily="34" charset="0"/>
                <a:ea typeface="Arial" pitchFamily="34" charset="-122"/>
                <a:cs typeface="Arial" pitchFamily="34" charset="-120"/>
              </a:rPr>
              <a:t>123</a:t>
            </a:r>
            <a:endParaRPr lang="en-US" sz="3900" dirty="0"/>
          </a:p>
        </p:txBody>
      </p:sp>
      <p:sp>
        <p:nvSpPr>
          <p:cNvPr id="28" name="Shape 25"/>
          <p:cNvSpPr/>
          <p:nvPr/>
        </p:nvSpPr>
        <p:spPr>
          <a:xfrm>
            <a:off x="12248388" y="4937760"/>
            <a:ext cx="5143500" cy="0"/>
          </a:xfrm>
          <a:prstGeom prst="line">
            <a:avLst/>
          </a:prstGeom>
          <a:noFill/>
          <a:ln w="12700">
            <a:solidFill>
              <a:srgbClr val="E2DED6"/>
            </a:solidFill>
            <a:prstDash val="solid"/>
          </a:ln>
        </p:spPr>
      </p:sp>
      <p:sp>
        <p:nvSpPr>
          <p:cNvPr id="29" name="Text 26"/>
          <p:cNvSpPr txBox="1"/>
          <p:nvPr/>
        </p:nvSpPr>
        <p:spPr>
          <a:xfrm>
            <a:off x="12248388" y="528066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2026</a:t>
            </a:r>
            <a:endParaRPr lang="en-US" sz="2100" dirty="0"/>
          </a:p>
        </p:txBody>
      </p:sp>
      <p:sp>
        <p:nvSpPr>
          <p:cNvPr id="30" name="Text 27"/>
          <p:cNvSpPr txBox="1"/>
          <p:nvPr/>
        </p:nvSpPr>
        <p:spPr>
          <a:xfrm>
            <a:off x="13619988" y="5006340"/>
            <a:ext cx="3771900" cy="1097280"/>
          </a:xfrm>
          <a:prstGeom prst="rect">
            <a:avLst/>
          </a:prstGeom>
          <a:noFill/>
          <a:ln/>
        </p:spPr>
        <p:txBody>
          <a:bodyPr wrap="square" lIns="0" tIns="0" rIns="0" bIns="0" rtlCol="0" anchor="ctr"/>
          <a:lstStyle/>
          <a:p>
            <a:pPr algn="r"/>
            <a:r>
              <a:rPr lang="en-US" sz="6000" b="1" dirty="0">
                <a:solidFill>
                  <a:srgbClr val="0E1F5B"/>
                </a:solidFill>
                <a:latin typeface="Arial" pitchFamily="34" charset="0"/>
                <a:ea typeface="Arial" pitchFamily="34" charset="-122"/>
                <a:cs typeface="Arial" pitchFamily="34" charset="-120"/>
              </a:rPr>
              <a:t>130</a:t>
            </a:r>
            <a:endParaRPr lang="en-US" sz="6000" dirty="0"/>
          </a:p>
        </p:txBody>
      </p:sp>
      <p:sp>
        <p:nvSpPr>
          <p:cNvPr id="31" name="Shape 28"/>
          <p:cNvSpPr/>
          <p:nvPr/>
        </p:nvSpPr>
        <p:spPr>
          <a:xfrm>
            <a:off x="12248388" y="6377940"/>
            <a:ext cx="1783080" cy="576072"/>
          </a:xfrm>
          <a:prstGeom prst="rect">
            <a:avLst/>
          </a:prstGeom>
          <a:solidFill>
            <a:srgbClr val="72C493"/>
          </a:solidFill>
          <a:ln/>
        </p:spPr>
      </p:sp>
      <p:sp>
        <p:nvSpPr>
          <p:cNvPr id="32" name="Text 29"/>
          <p:cNvSpPr txBox="1"/>
          <p:nvPr/>
        </p:nvSpPr>
        <p:spPr>
          <a:xfrm>
            <a:off x="12440412" y="6377940"/>
            <a:ext cx="150876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+5 %</a:t>
            </a:r>
            <a:endParaRPr lang="en-US" sz="2100" dirty="0"/>
          </a:p>
        </p:txBody>
      </p:sp>
      <p:sp>
        <p:nvSpPr>
          <p:cNvPr id="33" name="Shape 30"/>
          <p:cNvSpPr/>
          <p:nvPr/>
        </p:nvSpPr>
        <p:spPr>
          <a:xfrm>
            <a:off x="946404" y="7612380"/>
            <a:ext cx="7886700" cy="2194560"/>
          </a:xfrm>
          <a:prstGeom prst="rect">
            <a:avLst/>
          </a:prstGeom>
          <a:solidFill>
            <a:srgbClr val="0E1F5B"/>
          </a:solidFill>
          <a:ln/>
        </p:spPr>
      </p:sp>
      <p:sp>
        <p:nvSpPr>
          <p:cNvPr id="34" name="Text 31"/>
          <p:cNvSpPr txBox="1"/>
          <p:nvPr/>
        </p:nvSpPr>
        <p:spPr>
          <a:xfrm>
            <a:off x="1426464" y="7955280"/>
            <a:ext cx="68580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MATERNELLE</a:t>
            </a:r>
            <a:endParaRPr lang="en-US" sz="2100" dirty="0"/>
          </a:p>
        </p:txBody>
      </p:sp>
      <p:sp>
        <p:nvSpPr>
          <p:cNvPr id="35" name="Text 32"/>
          <p:cNvSpPr txBox="1"/>
          <p:nvPr/>
        </p:nvSpPr>
        <p:spPr>
          <a:xfrm>
            <a:off x="1426464" y="8503920"/>
            <a:ext cx="6995160" cy="1165860"/>
          </a:xfrm>
          <a:prstGeom prst="rect">
            <a:avLst/>
          </a:prstGeom>
          <a:noFill/>
          <a:ln/>
        </p:spPr>
        <p:txBody>
          <a:bodyPr wrap="square" lIns="0" tIns="0" rIns="0" bIns="0" rtlCol="0" anchor="t"/>
          <a:lstStyle/>
          <a:p>
            <a:r>
              <a:rPr lang="en-US" sz="2400" b="1" dirty="0">
                <a:solidFill>
                  <a:srgbClr val="FFFFFF"/>
                </a:solidFill>
                <a:latin typeface="Arial" pitchFamily="34" charset="0"/>
                <a:ea typeface="Arial" pitchFamily="34" charset="-122"/>
                <a:cs typeface="Arial" pitchFamily="34" charset="-120"/>
              </a:rPr>
              <a:t>96 % des cantines à 1 animateur pour 10 enfants ou mieux, contre 44 % en 2025</a:t>
            </a:r>
            <a:endParaRPr lang="en-US" sz="2400" dirty="0"/>
          </a:p>
        </p:txBody>
      </p:sp>
      <p:sp>
        <p:nvSpPr>
          <p:cNvPr id="36" name="Shape 33"/>
          <p:cNvSpPr/>
          <p:nvPr/>
        </p:nvSpPr>
        <p:spPr>
          <a:xfrm>
            <a:off x="9450324" y="7612380"/>
            <a:ext cx="7886700" cy="2194560"/>
          </a:xfrm>
          <a:prstGeom prst="rect">
            <a:avLst/>
          </a:prstGeom>
          <a:solidFill>
            <a:srgbClr val="0E1F5B"/>
          </a:solidFill>
          <a:ln/>
        </p:spPr>
      </p:sp>
      <p:sp>
        <p:nvSpPr>
          <p:cNvPr id="37" name="Text 34"/>
          <p:cNvSpPr txBox="1"/>
          <p:nvPr/>
        </p:nvSpPr>
        <p:spPr>
          <a:xfrm>
            <a:off x="9930384" y="7955280"/>
            <a:ext cx="68580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ÉLÉMENTAIRE</a:t>
            </a:r>
            <a:endParaRPr lang="en-US" sz="2100" dirty="0"/>
          </a:p>
        </p:txBody>
      </p:sp>
      <p:sp>
        <p:nvSpPr>
          <p:cNvPr id="38" name="Text 35"/>
          <p:cNvSpPr txBox="1"/>
          <p:nvPr/>
        </p:nvSpPr>
        <p:spPr>
          <a:xfrm>
            <a:off x="9930384" y="8503920"/>
            <a:ext cx="6995160" cy="1165860"/>
          </a:xfrm>
          <a:prstGeom prst="rect">
            <a:avLst/>
          </a:prstGeom>
          <a:noFill/>
          <a:ln/>
        </p:spPr>
        <p:txBody>
          <a:bodyPr wrap="square" lIns="0" tIns="0" rIns="0" bIns="0" rtlCol="0" anchor="t"/>
          <a:lstStyle/>
          <a:p>
            <a:r>
              <a:rPr lang="en-US" sz="2400" b="1" dirty="0">
                <a:solidFill>
                  <a:srgbClr val="FFFFFF"/>
                </a:solidFill>
                <a:latin typeface="Arial" pitchFamily="34" charset="0"/>
                <a:ea typeface="Arial" pitchFamily="34" charset="-122"/>
                <a:cs typeface="Arial" pitchFamily="34" charset="-120"/>
              </a:rPr>
              <a:t>14 cantines sur 26 à 1 pour 25, 19 d’ici mi‑octobre. Objectif : toutes d’ici la fin de l’année</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jp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 IGN – BD ORTHO · Lignes et arrêts : Île-de-France Mobilités</a:t>
            </a:r>
          </a:p>
        </p:txBody>
      </p:sp>
      <p:sp>
        <p:nvSpPr>
          <p:cNvPr id="7" name="TextBox 6"/>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8" name="TextBox 7"/>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9" name="TextBox 8"/>
          <p:cNvSpPr txBox="1"/>
          <p:nvPr/>
        </p:nvSpPr>
        <p:spPr>
          <a:xfrm>
            <a:off x="4656815" y="5244391"/>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0" name="TextBox 9"/>
          <p:cNvSpPr txBox="1"/>
          <p:nvPr/>
        </p:nvSpPr>
        <p:spPr>
          <a:xfrm>
            <a:off x="10876876" y="684123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1" name="TextBox 10"/>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12" name="TextBox 1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13" name="TextBox 1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14" name="TextBox 13"/>
          <p:cNvSpPr txBox="1"/>
          <p:nvPr/>
        </p:nvSpPr>
        <p:spPr>
          <a:xfrm>
            <a:off x="385328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15" name="TextBox 14"/>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16" name="TextBox 15"/>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17" name="TextBox 16"/>
          <p:cNvSpPr txBox="1"/>
          <p:nvPr/>
        </p:nvSpPr>
        <p:spPr>
          <a:xfrm>
            <a:off x="5802107" y="5684568"/>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18" name="TextBox 17"/>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19" name="TextBox 18"/>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20" name="TextBox 19"/>
          <p:cNvSpPr txBox="1"/>
          <p:nvPr/>
        </p:nvSpPr>
        <p:spPr>
          <a:xfrm>
            <a:off x="4344542" y="562261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21" name="TextBox 20"/>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22" name="TextBox 21"/>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23" name="TextBox 22"/>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24" name="TextBox 23"/>
          <p:cNvSpPr txBox="1"/>
          <p:nvPr/>
        </p:nvSpPr>
        <p:spPr>
          <a:xfrm>
            <a:off x="8367052" y="6580805"/>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25" name="TextBox 24"/>
          <p:cNvSpPr txBox="1"/>
          <p:nvPr/>
        </p:nvSpPr>
        <p:spPr>
          <a:xfrm>
            <a:off x="12618720" y="2286000"/>
            <a:ext cx="4754880" cy="411480"/>
          </a:xfrm>
          <a:prstGeom prst="rect">
            <a:avLst/>
          </a:prstGeom>
          <a:noFill/>
        </p:spPr>
        <p:txBody>
          <a:bodyPr wrap="square" anchor="t" lIns="0" rIns="0" tIns="0" bIns="0">
            <a:spAutoFit/>
          </a:bodyPr>
          <a:lstStyle/>
          <a:p>
            <a:pPr algn="l"/>
            <a:r>
              <a:rPr sz="1800" b="1" spc="120">
                <a:solidFill>
                  <a:srgbClr val="72C493"/>
                </a:solidFill>
                <a:latin typeface="Arial"/>
              </a:rPr>
              <a:t>LIGNES QUI TRAVERSENT LE QUARTIER</a:t>
            </a:r>
          </a:p>
        </p:txBody>
      </p:sp>
      <p:sp>
        <p:nvSpPr>
          <p:cNvPr id="26" name="Rectangle 25"/>
          <p:cNvSpPr/>
          <p:nvPr/>
        </p:nvSpPr>
        <p:spPr>
          <a:xfrm>
            <a:off x="12618720" y="3035808"/>
            <a:ext cx="914400" cy="201168"/>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0" y="2926080"/>
            <a:ext cx="3566160" cy="457200"/>
          </a:xfrm>
          <a:prstGeom prst="rect">
            <a:avLst/>
          </a:prstGeom>
          <a:noFill/>
        </p:spPr>
        <p:txBody>
          <a:bodyPr wrap="square" anchor="t" lIns="0" rIns="0" tIns="0" bIns="0">
            <a:spAutoFit/>
          </a:bodyPr>
          <a:lstStyle/>
          <a:p>
            <a:pPr algn="l"/>
            <a:r>
              <a:rPr sz="2400" b="1">
                <a:solidFill>
                  <a:srgbClr val="FFFFFF"/>
                </a:solidFill>
                <a:latin typeface="Arial"/>
              </a:rPr>
              <a:t>Ligne 310</a:t>
            </a:r>
          </a:p>
        </p:txBody>
      </p:sp>
      <p:sp>
        <p:nvSpPr>
          <p:cNvPr id="28" name="Rectangle 27"/>
          <p:cNvSpPr/>
          <p:nvPr/>
        </p:nvSpPr>
        <p:spPr>
          <a:xfrm>
            <a:off x="12618720" y="3721608"/>
            <a:ext cx="914400" cy="201168"/>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6000" y="3611880"/>
            <a:ext cx="3566160" cy="457200"/>
          </a:xfrm>
          <a:prstGeom prst="rect">
            <a:avLst/>
          </a:prstGeom>
          <a:noFill/>
        </p:spPr>
        <p:txBody>
          <a:bodyPr wrap="square" anchor="t" lIns="0" rIns="0" tIns="0" bIns="0">
            <a:spAutoFit/>
          </a:bodyPr>
          <a:lstStyle/>
          <a:p>
            <a:pPr algn="l"/>
            <a:r>
              <a:rPr sz="2400" b="1">
                <a:solidFill>
                  <a:srgbClr val="FFFFFF"/>
                </a:solidFill>
                <a:latin typeface="Arial"/>
              </a:rPr>
              <a:t>Ligne 312</a:t>
            </a:r>
          </a:p>
        </p:txBody>
      </p:sp>
      <p:sp>
        <p:nvSpPr>
          <p:cNvPr id="30" name="Rectangle 29"/>
          <p:cNvSpPr/>
          <p:nvPr/>
        </p:nvSpPr>
        <p:spPr>
          <a:xfrm>
            <a:off x="12618720" y="4407408"/>
            <a:ext cx="914400" cy="201168"/>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716000" y="4297680"/>
            <a:ext cx="3566160" cy="457200"/>
          </a:xfrm>
          <a:prstGeom prst="rect">
            <a:avLst/>
          </a:prstGeom>
          <a:noFill/>
        </p:spPr>
        <p:txBody>
          <a:bodyPr wrap="square" anchor="t" lIns="0" rIns="0" tIns="0" bIns="0">
            <a:spAutoFit/>
          </a:bodyPr>
          <a:lstStyle/>
          <a:p>
            <a:pPr algn="l"/>
            <a:r>
              <a:rPr sz="2400" b="1">
                <a:solidFill>
                  <a:srgbClr val="FFFFFF"/>
                </a:solidFill>
                <a:latin typeface="Arial"/>
              </a:rPr>
              <a:t>Ligne 320</a:t>
            </a:r>
          </a:p>
        </p:txBody>
      </p:sp>
      <p:sp>
        <p:nvSpPr>
          <p:cNvPr id="32" name="TextBox 31"/>
          <p:cNvSpPr txBox="1"/>
          <p:nvPr/>
        </p:nvSpPr>
        <p:spPr>
          <a:xfrm>
            <a:off x="12618720" y="5074920"/>
            <a:ext cx="4754880" cy="411480"/>
          </a:xfrm>
          <a:prstGeom prst="rect">
            <a:avLst/>
          </a:prstGeom>
          <a:noFill/>
        </p:spPr>
        <p:txBody>
          <a:bodyPr wrap="square" anchor="t" lIns="0" rIns="0" tIns="0" bIns="0">
            <a:spAutoFit/>
          </a:bodyPr>
          <a:lstStyle/>
          <a:p>
            <a:pPr algn="l"/>
            <a:r>
              <a:rPr sz="1800" b="1" spc="120">
                <a:solidFill>
                  <a:srgbClr val="72C493"/>
                </a:solidFill>
                <a:latin typeface="Arial"/>
              </a:rPr>
              <a:t>SIGNALEMENTS PAR ARRÊT</a:t>
            </a:r>
          </a:p>
        </p:txBody>
      </p:sp>
      <p:sp>
        <p:nvSpPr>
          <p:cNvPr id="33" name="Rectangle 32"/>
          <p:cNvSpPr/>
          <p:nvPr/>
        </p:nvSpPr>
        <p:spPr>
          <a:xfrm>
            <a:off x="12618720" y="5623560"/>
            <a:ext cx="4718304" cy="320040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0" y="5623560"/>
            <a:ext cx="4169664" cy="3200400"/>
          </a:xfrm>
          <a:prstGeom prst="rect">
            <a:avLst/>
          </a:prstGeom>
          <a:noFill/>
        </p:spPr>
        <p:txBody>
          <a:bodyPr wrap="square" anchor="ctr" lIns="0" rIns="0" tIns="0" bIns="0">
            <a:spAutoFit/>
          </a:bodyPr>
          <a:lstStyle/>
          <a:p>
            <a:pPr algn="ctr"/>
            <a:r>
              <a:rPr sz="2200" b="1">
                <a:solidFill>
                  <a:srgbClr val="C9CCDA"/>
                </a:solidFill>
                <a:latin typeface="Arial"/>
              </a:rPr>
              <a:t>[Nombre de signalements par arrêt à compléter]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529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Charmilles</a:t>
            </a:r>
          </a:p>
        </p:txBody>
      </p:sp>
      <p:sp>
        <p:nvSpPr>
          <p:cNvPr id="8" name="TextBox 7"/>
          <p:cNvSpPr txBox="1"/>
          <p:nvPr/>
        </p:nvSpPr>
        <p:spPr>
          <a:xfrm>
            <a:off x="122529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9" name="Oval 8"/>
          <p:cNvSpPr/>
          <p:nvPr/>
        </p:nvSpPr>
        <p:spPr>
          <a:xfrm>
            <a:off x="124358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4533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Étais du réfectoire déposés (mai 2026)</a:t>
            </a:r>
          </a:p>
        </p:txBody>
      </p:sp>
      <p:sp>
        <p:nvSpPr>
          <p:cNvPr id="11" name="Oval 10"/>
          <p:cNvSpPr/>
          <p:nvPr/>
        </p:nvSpPr>
        <p:spPr>
          <a:xfrm>
            <a:off x="1243584" y="432511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45336" y="4233672"/>
            <a:ext cx="3063240" cy="914400"/>
          </a:xfrm>
          <a:prstGeom prst="rect">
            <a:avLst/>
          </a:prstGeom>
          <a:noFill/>
        </p:spPr>
        <p:txBody>
          <a:bodyPr wrap="square" anchor="t" lIns="0" rIns="0" tIns="0" bIns="0">
            <a:spAutoFit/>
          </a:bodyPr>
          <a:lstStyle/>
          <a:p>
            <a:pPr algn="l"/>
            <a:r>
              <a:rPr sz="1700" b="1">
                <a:solidFill>
                  <a:srgbClr val="FAF5EC"/>
                </a:solidFill>
                <a:latin typeface="Arial"/>
              </a:rPr>
              <a:t>Ventilateurs et films anti-UV</a:t>
            </a:r>
          </a:p>
        </p:txBody>
      </p:sp>
      <p:sp>
        <p:nvSpPr>
          <p:cNvPr id="13" name="Oval 12"/>
          <p:cNvSpPr/>
          <p:nvPr/>
        </p:nvSpPr>
        <p:spPr>
          <a:xfrm>
            <a:off x="1243584" y="5020055"/>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45336" y="4928616"/>
            <a:ext cx="3063240" cy="914400"/>
          </a:xfrm>
          <a:prstGeom prst="rect">
            <a:avLst/>
          </a:prstGeom>
          <a:noFill/>
        </p:spPr>
        <p:txBody>
          <a:bodyPr wrap="square" anchor="t" lIns="0" rIns="0" tIns="0" bIns="0">
            <a:spAutoFit/>
          </a:bodyPr>
          <a:lstStyle/>
          <a:p>
            <a:pPr algn="l"/>
            <a:r>
              <a:rPr sz="1700" b="1">
                <a:solidFill>
                  <a:srgbClr val="FAF5EC"/>
                </a:solidFill>
                <a:latin typeface="Arial"/>
              </a:rPr>
              <a:t>Bancs dans la cour</a:t>
            </a:r>
          </a:p>
        </p:txBody>
      </p:sp>
      <p:sp>
        <p:nvSpPr>
          <p:cNvPr id="15" name="Oval 14"/>
          <p:cNvSpPr/>
          <p:nvPr/>
        </p:nvSpPr>
        <p:spPr>
          <a:xfrm>
            <a:off x="1243584" y="5440679"/>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5336" y="5349240"/>
            <a:ext cx="3063240" cy="914400"/>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17" name="TextBox 16"/>
          <p:cNvSpPr txBox="1"/>
          <p:nvPr/>
        </p:nvSpPr>
        <p:spPr>
          <a:xfrm>
            <a:off x="1225296" y="6153912"/>
            <a:ext cx="3429000" cy="365760"/>
          </a:xfrm>
          <a:prstGeom prst="rect">
            <a:avLst/>
          </a:prstGeom>
          <a:noFill/>
        </p:spPr>
        <p:txBody>
          <a:bodyPr wrap="square" anchor="t" lIns="0" rIns="0" tIns="0" bIns="0">
            <a:spAutoFit/>
          </a:bodyPr>
          <a:lstStyle/>
          <a:p>
            <a:pPr algn="l"/>
            <a:r>
              <a:rPr sz="1600" b="1" spc="150">
                <a:solidFill>
                  <a:srgbClr val="72C493"/>
                </a:solidFill>
                <a:latin typeface="Arial"/>
              </a:rPr>
              <a:t>EN COURS</a:t>
            </a:r>
          </a:p>
        </p:txBody>
      </p:sp>
      <p:sp>
        <p:nvSpPr>
          <p:cNvPr id="18" name="Oval 17"/>
          <p:cNvSpPr/>
          <p:nvPr/>
        </p:nvSpPr>
        <p:spPr>
          <a:xfrm>
            <a:off x="1243584" y="662939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45336" y="6537959"/>
            <a:ext cx="3063240" cy="914400"/>
          </a:xfrm>
          <a:prstGeom prst="rect">
            <a:avLst/>
          </a:prstGeom>
          <a:noFill/>
        </p:spPr>
        <p:txBody>
          <a:bodyPr wrap="square" anchor="t" lIns="0" rIns="0" tIns="0" bIns="0">
            <a:spAutoFit/>
          </a:bodyPr>
          <a:lstStyle/>
          <a:p>
            <a:pPr algn="l"/>
            <a:r>
              <a:rPr sz="1700" b="1">
                <a:solidFill>
                  <a:srgbClr val="FAF5EC"/>
                </a:solidFill>
                <a:latin typeface="Arial"/>
              </a:rPr>
              <a:t>Remplacement des dalles de faux plafond abîmées</a:t>
            </a:r>
          </a:p>
        </p:txBody>
      </p:sp>
      <p:sp>
        <p:nvSpPr>
          <p:cNvPr id="20" name="TextBox 19"/>
          <p:cNvSpPr txBox="1"/>
          <p:nvPr/>
        </p:nvSpPr>
        <p:spPr>
          <a:xfrm>
            <a:off x="1225296" y="7342631"/>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21" name="Oval 20"/>
          <p:cNvSpPr/>
          <p:nvPr/>
        </p:nvSpPr>
        <p:spPr>
          <a:xfrm>
            <a:off x="1243584" y="781811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45336" y="7726679"/>
            <a:ext cx="3063240" cy="914400"/>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23" name="Oval 22"/>
          <p:cNvSpPr/>
          <p:nvPr/>
        </p:nvSpPr>
        <p:spPr>
          <a:xfrm>
            <a:off x="1243584" y="8513063"/>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45336" y="8421624"/>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25" name="Rectangle 24"/>
          <p:cNvSpPr/>
          <p:nvPr/>
        </p:nvSpPr>
        <p:spPr>
          <a:xfrm>
            <a:off x="511149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1149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581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Yvris</a:t>
            </a:r>
          </a:p>
        </p:txBody>
      </p:sp>
      <p:sp>
        <p:nvSpPr>
          <p:cNvPr id="28" name="TextBox 27"/>
          <p:cNvSpPr txBox="1"/>
          <p:nvPr/>
        </p:nvSpPr>
        <p:spPr>
          <a:xfrm>
            <a:off x="538581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29" name="Oval 28"/>
          <p:cNvSpPr/>
          <p:nvPr/>
        </p:nvSpPr>
        <p:spPr>
          <a:xfrm>
            <a:off x="540410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0585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Remise en état du drapeau de l'entrée (juin 2026)</a:t>
            </a:r>
          </a:p>
        </p:txBody>
      </p:sp>
      <p:sp>
        <p:nvSpPr>
          <p:cNvPr id="31" name="TextBox 30"/>
          <p:cNvSpPr txBox="1"/>
          <p:nvPr/>
        </p:nvSpPr>
        <p:spPr>
          <a:xfrm>
            <a:off x="5385816"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32" name="Oval 31"/>
          <p:cNvSpPr/>
          <p:nvPr/>
        </p:nvSpPr>
        <p:spPr>
          <a:xfrm>
            <a:off x="5404104"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5856" y="4727448"/>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du hall élémentaire et du bureau de la direction</a:t>
            </a:r>
          </a:p>
        </p:txBody>
      </p:sp>
      <p:sp>
        <p:nvSpPr>
          <p:cNvPr id="34" name="Rectangle 33"/>
          <p:cNvSpPr/>
          <p:nvPr/>
        </p:nvSpPr>
        <p:spPr>
          <a:xfrm>
            <a:off x="927201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7201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4633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Maternelle des Richardets</a:t>
            </a:r>
          </a:p>
        </p:txBody>
      </p:sp>
      <p:sp>
        <p:nvSpPr>
          <p:cNvPr id="37" name="TextBox 36"/>
          <p:cNvSpPr txBox="1"/>
          <p:nvPr/>
        </p:nvSpPr>
        <p:spPr>
          <a:xfrm>
            <a:off x="9546336" y="352044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38" name="Oval 37"/>
          <p:cNvSpPr/>
          <p:nvPr/>
        </p:nvSpPr>
        <p:spPr>
          <a:xfrm>
            <a:off x="9564624" y="399592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66376" y="3904488"/>
            <a:ext cx="3063240" cy="914400"/>
          </a:xfrm>
          <a:prstGeom prst="rect">
            <a:avLst/>
          </a:prstGeom>
          <a:noFill/>
        </p:spPr>
        <p:txBody>
          <a:bodyPr wrap="square" anchor="t" lIns="0" rIns="0" tIns="0" bIns="0">
            <a:spAutoFit/>
          </a:bodyPr>
          <a:lstStyle/>
          <a:p>
            <a:pPr algn="l"/>
            <a:r>
              <a:rPr sz="1700" b="1">
                <a:solidFill>
                  <a:srgbClr val="FAF5EC"/>
                </a:solidFill>
                <a:latin typeface="Arial"/>
              </a:rPr>
              <a:t>Un rafraîchisseur d'air</a:t>
            </a:r>
          </a:p>
        </p:txBody>
      </p:sp>
      <p:sp>
        <p:nvSpPr>
          <p:cNvPr id="40" name="Oval 39"/>
          <p:cNvSpPr/>
          <p:nvPr/>
        </p:nvSpPr>
        <p:spPr>
          <a:xfrm>
            <a:off x="9564624" y="441655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66376" y="4325112"/>
            <a:ext cx="3063240" cy="914400"/>
          </a:xfrm>
          <a:prstGeom prst="rect">
            <a:avLst/>
          </a:prstGeom>
          <a:noFill/>
        </p:spPr>
        <p:txBody>
          <a:bodyPr wrap="square" anchor="t" lIns="0" rIns="0" tIns="0" bIns="0">
            <a:spAutoFit/>
          </a:bodyPr>
          <a:lstStyle/>
          <a:p>
            <a:pPr algn="l"/>
            <a:r>
              <a:rPr sz="1700" b="1">
                <a:solidFill>
                  <a:srgbClr val="FAF5EC"/>
                </a:solidFill>
                <a:latin typeface="Arial"/>
              </a:rPr>
              <a:t>Des films de protection solaire sur les vitrages</a:t>
            </a:r>
          </a:p>
        </p:txBody>
      </p:sp>
      <p:sp>
        <p:nvSpPr>
          <p:cNvPr id="42" name="Rectangle 41"/>
          <p:cNvSpPr/>
          <p:nvPr/>
        </p:nvSpPr>
        <p:spPr>
          <a:xfrm>
            <a:off x="13432535"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32535"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706855" y="2560320"/>
            <a:ext cx="3429000" cy="868680"/>
          </a:xfrm>
          <a:prstGeom prst="rect">
            <a:avLst/>
          </a:prstGeom>
          <a:noFill/>
        </p:spPr>
        <p:txBody>
          <a:bodyPr wrap="square" anchor="t" lIns="0" rIns="0" tIns="0" bIns="0">
            <a:spAutoFit/>
          </a:bodyPr>
          <a:lstStyle/>
          <a:p>
            <a:pPr algn="l"/>
            <a:r>
              <a:rPr sz="2600" b="1">
                <a:solidFill>
                  <a:srgbClr val="FFFFFF"/>
                </a:solidFill>
                <a:latin typeface="Arial"/>
              </a:rPr>
              <a:t>Paul-Serelle</a:t>
            </a:r>
          </a:p>
        </p:txBody>
      </p:sp>
      <p:sp>
        <p:nvSpPr>
          <p:cNvPr id="45" name="TextBox 44"/>
          <p:cNvSpPr txBox="1"/>
          <p:nvPr/>
        </p:nvSpPr>
        <p:spPr>
          <a:xfrm>
            <a:off x="13706855"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L'ÉTUDE</a:t>
            </a:r>
          </a:p>
        </p:txBody>
      </p:sp>
      <p:sp>
        <p:nvSpPr>
          <p:cNvPr id="46" name="Oval 45"/>
          <p:cNvSpPr/>
          <p:nvPr/>
        </p:nvSpPr>
        <p:spPr>
          <a:xfrm>
            <a:off x="13725143" y="363016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026895" y="3538728"/>
            <a:ext cx="3063240" cy="914400"/>
          </a:xfrm>
          <a:prstGeom prst="rect">
            <a:avLst/>
          </a:prstGeom>
          <a:noFill/>
        </p:spPr>
        <p:txBody>
          <a:bodyPr wrap="square" anchor="t" lIns="0" rIns="0" tIns="0" bIns="0">
            <a:spAutoFit/>
          </a:bodyPr>
          <a:lstStyle/>
          <a:p>
            <a:pPr algn="l"/>
            <a:r>
              <a:rPr sz="1700" b="1">
                <a:solidFill>
                  <a:srgbClr val="FAF5EC"/>
                </a:solidFill>
                <a:latin typeface="Arial"/>
              </a:rPr>
              <a:t>Sécurisation du carrefour rue Paul-Serelle</a:t>
            </a:r>
          </a:p>
        </p:txBody>
      </p:sp>
      <p:sp>
        <p:nvSpPr>
          <p:cNvPr id="48" name="TextBox 47"/>
          <p:cNvSpPr txBox="1"/>
          <p:nvPr/>
        </p:nvSpPr>
        <p:spPr>
          <a:xfrm>
            <a:off x="13706855"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RÉALISER</a:t>
            </a:r>
          </a:p>
        </p:txBody>
      </p:sp>
      <p:sp>
        <p:nvSpPr>
          <p:cNvPr id="49" name="Oval 48"/>
          <p:cNvSpPr/>
          <p:nvPr/>
        </p:nvSpPr>
        <p:spPr>
          <a:xfrm>
            <a:off x="13725143"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26895" y="4727448"/>
            <a:ext cx="3063240" cy="914400"/>
          </a:xfrm>
          <a:prstGeom prst="rect">
            <a:avLst/>
          </a:prstGeom>
          <a:noFill/>
        </p:spPr>
        <p:txBody>
          <a:bodyPr wrap="square" anchor="t" lIns="0" rIns="0" tIns="0" bIns="0">
            <a:spAutoFit/>
          </a:bodyPr>
          <a:lstStyle/>
          <a:p>
            <a:pPr algn="l"/>
            <a:r>
              <a:rPr sz="1700" b="1">
                <a:solidFill>
                  <a:srgbClr val="FAF5EC"/>
                </a:solidFill>
                <a:latin typeface="Arial"/>
              </a:rPr>
              <a:t>Réparation des fuites de la salle polyvalente</a:t>
            </a:r>
          </a:p>
        </p:txBody>
      </p:sp>
      <p:sp>
        <p:nvSpPr>
          <p:cNvPr id="51" name="TextBox 50"/>
          <p:cNvSpPr txBox="1"/>
          <p:nvPr/>
        </p:nvSpPr>
        <p:spPr>
          <a:xfrm>
            <a:off x="13706855" y="553212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PROGRAMMER</a:t>
            </a:r>
          </a:p>
        </p:txBody>
      </p:sp>
      <p:sp>
        <p:nvSpPr>
          <p:cNvPr id="52" name="Oval 51"/>
          <p:cNvSpPr/>
          <p:nvPr/>
        </p:nvSpPr>
        <p:spPr>
          <a:xfrm>
            <a:off x="13725143" y="6007607"/>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4026895" y="5916168"/>
            <a:ext cx="3063240" cy="914400"/>
          </a:xfrm>
          <a:prstGeom prst="rect">
            <a:avLst/>
          </a:prstGeom>
          <a:noFill/>
        </p:spPr>
        <p:txBody>
          <a:bodyPr wrap="square" anchor="t" lIns="0" rIns="0" tIns="0" bIns="0">
            <a:spAutoFit/>
          </a:bodyPr>
          <a:lstStyle/>
          <a:p>
            <a:pPr algn="l"/>
            <a:r>
              <a:rPr sz="1700" b="1">
                <a:solidFill>
                  <a:srgbClr val="FAF5EC"/>
                </a:solidFill>
                <a:latin typeface="Arial"/>
              </a:rPr>
              <a:t>Réverbère devant le portail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