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20" r:id="rId56"/>
    <p:sldId id="302" r:id="rId38"/>
    <p:sldId id="303" r:id="rId39"/>
    <p:sldId id="304" r:id="rId40"/>
    <p:sldId id="315" r:id="rId51"/>
    <p:sldId id="316" r:id="rId52"/>
    <p:sldId id="305" r:id="rId41"/>
    <p:sldId id="317" r:id="rId53"/>
    <p:sldId id="306" r:id="rId42"/>
    <p:sldId id="318" r:id="rId54"/>
    <p:sldId id="307" r:id="rId43"/>
    <p:sldId id="308" r:id="rId44"/>
    <p:sldId id="314" r:id="rId50"/>
    <p:sldId id="295" r:id="rId28"/>
    <p:sldId id="309" r:id="rId45"/>
    <p:sldId id="310" r:id="rId46"/>
    <p:sldId id="319" r:id="rId55"/>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discutée dès 2024 entre La Poste et l'ancienne municipalité, sans information des habitants. Courrier du Maire du 10 juin 2026 au délégué territorial de La Poste pour la Seine-Saint-Denis : la nouvelle municipalité n'a été ni informée ni consultée ; le Maire demande de suspendre la fermeture, d'organiser une réunion de travail et de transmettre les éléments ayant fondé la décision (fréquentation, études, correspondances avec l'ancienne municipalité). Le Maire s'est opposé à la fermeture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Direction des Bâtiments et de l'Énergie, service Patrimoine Bâti (courriel du 14 octobre 2026) ; tableau de suivi des travaux en régie 2026 ; comptes rendus des conseils d'école du printemps 2026.</a:t>
            </a:r>
          </a:p>
          <a:p/>
          <a:p>
            <a:r>
              <a:t>École des Gobelins :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a:p/>
          <a:p>
            <a:r>
              <a:t>Les Charmilles : 19 000 € pour la mise en conformité du réseau d'assainissement et 4 000 € d'aménagement et de remise en état du hall (pose de plaques de plâtre et mise en peinture). Les travaux « programmés » (classe de CM1-CM2, office du réfectoire) étaient prévus pour l'été 2026 : leur réalisation reste à confirmer auprès de la Direction des Bâtiments. Même réserve pour la peinture du hall élémentaire des Yvris. Paul-Serelle : un réverbère devant le portail reste à programmer.</a:t>
            </a:r>
          </a:p>
          <a:p/>
          <a:p>
            <a:r>
              <a:t>Demandes en attente, à connaître (non projetées). Charmilles maternelle : fissures,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d'aménagement du carrefour et de la piste cyclable (en rouge), avec la coupe de la voie en encart.</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Parking situé dans le secteur du gymnase des Yvris, chemin de la Noisette, près de l'école élémentaire des Yvris et du collège Saint-Exupéry (point fourni : 48°49'35.57" N, 2°35'00.63" E). Vues : orthophotographies IGN. Règles de la zone bleue à compléter : périmètre, durée de stationnement autorisée, date de mise en place, contrôle.</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Vue aérienne de la partie commerçante de l'avenue Médéric (orthophotographie IGN).</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(14 octobre 2026).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 Id="rId4" Type="http://schemas.openxmlformats.org/officeDocument/2006/relationships/image" Target="../media/image33.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4.png"/><Relationship Id="rId5"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6.jpg"/><Relationship Id="rId5" Type="http://schemas.openxmlformats.org/officeDocument/2006/relationships/image" Target="../media/image3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4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4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6.xml"/><Relationship Id="rId4" Type="http://schemas.openxmlformats.org/officeDocument/2006/relationships/image" Target="../media/image4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7.xml"/><Relationship Id="rId4" Type="http://schemas.openxmlformats.org/officeDocument/2006/relationships/image" Target="../media/image43.jpg"/><Relationship Id="rId5" Type="http://schemas.openxmlformats.org/officeDocument/2006/relationships/image" Target="../media/image44.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8.xml"/><Relationship Id="rId4" Type="http://schemas.openxmlformats.org/officeDocument/2006/relationships/image" Target="../media/image45.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9.xml"/><Relationship Id="rId4" Type="http://schemas.openxmlformats.org/officeDocument/2006/relationships/image" Target="../media/image46.jp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667512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2606040"/>
            <a:ext cx="6035040" cy="457200"/>
          </a:xfrm>
          <a:prstGeom prst="rect">
            <a:avLst/>
          </a:prstGeom>
          <a:noFill/>
        </p:spPr>
        <p:txBody>
          <a:bodyPr wrap="square" anchor="t" lIns="0" rIns="0" tIns="0" bIns="0">
            <a:spAutoFit/>
          </a:bodyPr>
          <a:lstStyle/>
          <a:p>
            <a:pPr algn="l"/>
            <a:r>
              <a:rPr sz="2000" b="1" spc="150">
                <a:solidFill>
                  <a:srgbClr val="72C493"/>
                </a:solidFill>
                <a:latin typeface="Arial"/>
              </a:rPr>
              <a:t>RÉOUVERTURE PRÉVUE EN</a:t>
            </a:r>
          </a:p>
        </p:txBody>
      </p:sp>
      <p:sp>
        <p:nvSpPr>
          <p:cNvPr id="7" name="TextBox 6"/>
          <p:cNvSpPr txBox="1"/>
          <p:nvPr/>
        </p:nvSpPr>
        <p:spPr>
          <a:xfrm>
            <a:off x="1325880" y="3063240"/>
            <a:ext cx="6035040" cy="1097280"/>
          </a:xfrm>
          <a:prstGeom prst="rect">
            <a:avLst/>
          </a:prstGeom>
          <a:noFill/>
        </p:spPr>
        <p:txBody>
          <a:bodyPr wrap="square" anchor="t" lIns="0" rIns="0" tIns="0" bIns="0">
            <a:spAutoFit/>
          </a:bodyPr>
          <a:lstStyle/>
          <a:p>
            <a:pPr algn="l"/>
            <a:r>
              <a:rPr sz="5600" b="1">
                <a:solidFill>
                  <a:srgbClr val="FFFFFF"/>
                </a:solidFill>
                <a:latin typeface="Arial"/>
              </a:rPr>
              <a:t>septembre 2028</a:t>
            </a:r>
          </a:p>
        </p:txBody>
      </p:sp>
      <p:sp>
        <p:nvSpPr>
          <p:cNvPr id="8" name="TextBox 7"/>
          <p:cNvSpPr txBox="1"/>
          <p:nvPr/>
        </p:nvSpPr>
        <p:spPr>
          <a:xfrm>
            <a:off x="1325880" y="4343400"/>
            <a:ext cx="6035040" cy="1463040"/>
          </a:xfrm>
          <a:prstGeom prst="rect">
            <a:avLst/>
          </a:prstGeom>
          <a:noFill/>
        </p:spPr>
        <p:txBody>
          <a:bodyPr wrap="square" anchor="t" lIns="0" rIns="0" tIns="0" bIns="0">
            <a:spAutoFit/>
          </a:bodyPr>
          <a:lstStyle/>
          <a:p>
            <a:pPr algn="l"/>
            <a:r>
              <a:rPr sz="21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320040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2651760" cy="914400"/>
          </a:xfrm>
          <a:prstGeom prst="rect">
            <a:avLst/>
          </a:prstGeom>
          <a:noFill/>
        </p:spPr>
        <p:txBody>
          <a:bodyPr wrap="square" anchor="t" lIns="0" rIns="0" tIns="0" bIns="0">
            <a:spAutoFit/>
          </a:bodyPr>
          <a:lstStyle/>
          <a:p>
            <a:pPr algn="l"/>
            <a:r>
              <a:rPr sz="3400" b="1">
                <a:solidFill>
                  <a:srgbClr val="72C493"/>
                </a:solidFill>
                <a:latin typeface="Arial"/>
              </a:rPr>
              <a:t>Sept. 2026</a:t>
            </a:r>
          </a:p>
        </p:txBody>
      </p:sp>
      <p:sp>
        <p:nvSpPr>
          <p:cNvPr id="11" name="TextBox 10"/>
          <p:cNvSpPr txBox="1"/>
          <p:nvPr/>
        </p:nvSpPr>
        <p:spPr>
          <a:xfrm>
            <a:off x="1271016" y="7150862"/>
            <a:ext cx="265176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4425696" y="6355080"/>
            <a:ext cx="320040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45736" y="6611112"/>
            <a:ext cx="2651760" cy="914400"/>
          </a:xfrm>
          <a:prstGeom prst="rect">
            <a:avLst/>
          </a:prstGeom>
          <a:noFill/>
        </p:spPr>
        <p:txBody>
          <a:bodyPr wrap="square" anchor="t" lIns="0" rIns="0" tIns="0" bIns="0">
            <a:spAutoFit/>
          </a:bodyPr>
          <a:lstStyle/>
          <a:p>
            <a:pPr algn="l"/>
            <a:r>
              <a:rPr sz="3400" b="1">
                <a:solidFill>
                  <a:srgbClr val="72C493"/>
                </a:solidFill>
                <a:latin typeface="Arial"/>
              </a:rPr>
              <a:t>20 mois</a:t>
            </a:r>
          </a:p>
        </p:txBody>
      </p:sp>
      <p:sp>
        <p:nvSpPr>
          <p:cNvPr id="14" name="TextBox 13"/>
          <p:cNvSpPr txBox="1"/>
          <p:nvPr/>
        </p:nvSpPr>
        <p:spPr>
          <a:xfrm>
            <a:off x="4745736" y="7150862"/>
            <a:ext cx="2651760" cy="1737360"/>
          </a:xfrm>
          <a:prstGeom prst="rect">
            <a:avLst/>
          </a:prstGeom>
          <a:noFill/>
        </p:spPr>
        <p:txBody>
          <a:bodyPr wrap="square" anchor="t" lIns="0" rIns="0" tIns="0" bIns="0">
            <a:spAutoFit/>
          </a:bodyPr>
          <a:lstStyle/>
          <a:p>
            <a:pPr algn="l"/>
            <a:r>
              <a:rPr sz="2400" b="1">
                <a:solidFill>
                  <a:srgbClr val="FAF5EC"/>
                </a:solidFill>
                <a:latin typeface="Arial"/>
              </a:rPr>
              <a:t>de travaux, pour une école agrandie et rénovée</a:t>
            </a:r>
          </a:p>
        </p:txBody>
      </p:sp>
      <p:pic>
        <p:nvPicPr>
          <p:cNvPr id="15" name="Picture 14" descr="Ecole_01_perspective_ecole_Richardets.jpg"/>
          <p:cNvPicPr>
            <a:picLocks noChangeAspect="1"/>
          </p:cNvPicPr>
          <p:nvPr/>
        </p:nvPicPr>
        <p:blipFill>
          <a:blip r:embed="rId4"/>
          <a:stretch>
            <a:fillRect/>
          </a:stretch>
        </p:blipFill>
        <p:spPr>
          <a:xfrm>
            <a:off x="8001000" y="2685592"/>
            <a:ext cx="9336024" cy="5601614"/>
          </a:xfrm>
          <a:prstGeom prst="rect">
            <a:avLst/>
          </a:prstGeom>
        </p:spPr>
      </p:pic>
      <p:sp>
        <p:nvSpPr>
          <p:cNvPr id="16" name="Rectangle 15"/>
          <p:cNvSpPr/>
          <p:nvPr/>
        </p:nvSpPr>
        <p:spPr>
          <a:xfrm>
            <a:off x="8001000" y="8287206"/>
            <a:ext cx="9336024"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79" y="8287206"/>
            <a:ext cx="8970264" cy="457200"/>
          </a:xfrm>
          <a:prstGeom prst="rect">
            <a:avLst/>
          </a:prstGeom>
          <a:noFill/>
        </p:spPr>
        <p:txBody>
          <a:bodyPr wrap="square" anchor="ctr" lIns="0" rIns="0" tIns="0" bIns="0">
            <a:spAutoFit/>
          </a:bodyPr>
          <a:lstStyle/>
          <a:p>
            <a:pPr algn="l"/>
            <a:r>
              <a:rPr sz="1600" b="1" spc="100">
                <a:solidFill>
                  <a:srgbClr val="0E1F5B"/>
                </a:solidFill>
                <a:latin typeface="Arial"/>
              </a:rPr>
              <a:t>PERSPECTIVE · LA FUTURE ÉCOLE DES RICHARDETS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1024128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57855" y="3749039"/>
            <a:ext cx="682752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337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2024</a:t>
            </a:r>
          </a:p>
        </p:txBody>
      </p:sp>
      <p:sp>
        <p:nvSpPr>
          <p:cNvPr id="9" name="TextBox 8"/>
          <p:cNvSpPr txBox="1"/>
          <p:nvPr/>
        </p:nvSpPr>
        <p:spPr>
          <a:xfrm>
            <a:off x="1179575"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Discussion entre La Poste et l'ancienne municipalité sur la fermeture (non publique)</a:t>
            </a:r>
          </a:p>
        </p:txBody>
      </p:sp>
      <p:sp>
        <p:nvSpPr>
          <p:cNvPr id="10" name="Oval 9"/>
          <p:cNvSpPr/>
          <p:nvPr/>
        </p:nvSpPr>
        <p:spPr>
          <a:xfrm>
            <a:off x="575157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93336"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10 juin 2026</a:t>
            </a:r>
          </a:p>
        </p:txBody>
      </p:sp>
      <p:sp>
        <p:nvSpPr>
          <p:cNvPr id="12" name="TextBox 11"/>
          <p:cNvSpPr txBox="1"/>
          <p:nvPr/>
        </p:nvSpPr>
        <p:spPr>
          <a:xfrm>
            <a:off x="4593336"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Courrier du Maire au délégué territorial de La Poste</a:t>
            </a:r>
          </a:p>
        </p:txBody>
      </p:sp>
      <p:sp>
        <p:nvSpPr>
          <p:cNvPr id="13" name="Oval 12"/>
          <p:cNvSpPr/>
          <p:nvPr/>
        </p:nvSpPr>
        <p:spPr>
          <a:xfrm>
            <a:off x="916533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8007095" y="4343400"/>
            <a:ext cx="2956559"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5" name="TextBox 14"/>
          <p:cNvSpPr txBox="1"/>
          <p:nvPr/>
        </p:nvSpPr>
        <p:spPr>
          <a:xfrm>
            <a:off x="8007095" y="5029200"/>
            <a:ext cx="2956559"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pic>
        <p:nvPicPr>
          <p:cNvPr id="16" name="Picture 15" descr="Services_01_bureau_de_poste.jpg"/>
          <p:cNvPicPr>
            <a:picLocks noChangeAspect="1"/>
          </p:cNvPicPr>
          <p:nvPr/>
        </p:nvPicPr>
        <p:blipFill>
          <a:blip r:embed="rId4"/>
          <a:stretch>
            <a:fillRect/>
          </a:stretch>
        </p:blipFill>
        <p:spPr>
          <a:xfrm>
            <a:off x="950976" y="7543800"/>
            <a:ext cx="3251200" cy="1828800"/>
          </a:xfrm>
          <a:prstGeom prst="rect">
            <a:avLst/>
          </a:prstGeom>
        </p:spPr>
      </p:pic>
      <p:sp>
        <p:nvSpPr>
          <p:cNvPr id="17" name="Rectangle 16"/>
          <p:cNvSpPr/>
          <p:nvPr/>
        </p:nvSpPr>
        <p:spPr>
          <a:xfrm>
            <a:off x="4572000" y="7543800"/>
            <a:ext cx="6620256" cy="182880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6320" y="7543800"/>
            <a:ext cx="6071616" cy="182880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pic>
        <p:nvPicPr>
          <p:cNvPr id="19" name="Picture 18" descr="Services_02_courrier_Maire_La_Poste_10_juin_2026.png"/>
          <p:cNvPicPr>
            <a:picLocks noChangeAspect="1"/>
          </p:cNvPicPr>
          <p:nvPr/>
        </p:nvPicPr>
        <p:blipFill>
          <a:blip r:embed="rId5"/>
          <a:stretch>
            <a:fillRect/>
          </a:stretch>
        </p:blipFill>
        <p:spPr>
          <a:xfrm>
            <a:off x="12573273" y="2103120"/>
            <a:ext cx="4754606" cy="6720840"/>
          </a:xfrm>
          <a:prstGeom prst="rect">
            <a:avLst/>
          </a:prstGeom>
        </p:spPr>
      </p:pic>
      <p:sp>
        <p:nvSpPr>
          <p:cNvPr id="20" name="Rectangle 19"/>
          <p:cNvSpPr/>
          <p:nvPr/>
        </p:nvSpPr>
        <p:spPr>
          <a:xfrm>
            <a:off x="12573273" y="8869680"/>
            <a:ext cx="4754606"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573273" y="8869680"/>
            <a:ext cx="4754606" cy="457200"/>
          </a:xfrm>
          <a:prstGeom prst="rect">
            <a:avLst/>
          </a:prstGeom>
          <a:noFill/>
        </p:spPr>
        <p:txBody>
          <a:bodyPr wrap="square" anchor="ctr" lIns="0" rIns="0" tIns="0" bIns="0">
            <a:spAutoFit/>
          </a:bodyPr>
          <a:lstStyle/>
          <a:p>
            <a:pPr algn="ctr"/>
            <a:r>
              <a:rPr sz="1500" b="1" spc="100">
                <a:solidFill>
                  <a:srgbClr val="0E1F5B"/>
                </a:solidFill>
                <a:latin typeface="Arial"/>
              </a:rPr>
              <a:t>COURRIER DU MAIRE · 10 JUIN 2026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4206240" cy="70408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2606040"/>
            <a:ext cx="3657600" cy="411480"/>
          </a:xfrm>
          <a:prstGeom prst="rect">
            <a:avLst/>
          </a:prstGeom>
          <a:noFill/>
        </p:spPr>
        <p:txBody>
          <a:bodyPr wrap="square" anchor="t" lIns="0" rIns="0" tIns="0" bIns="0">
            <a:spAutoFit/>
          </a:bodyPr>
          <a:lstStyle/>
          <a:p>
            <a:pPr algn="l"/>
            <a:r>
              <a:rPr sz="2000" b="1" spc="150">
                <a:solidFill>
                  <a:srgbClr val="8A90B0"/>
                </a:solidFill>
                <a:latin typeface="Arial"/>
              </a:rPr>
              <a:t>ANCIEN PROJET</a:t>
            </a:r>
          </a:p>
        </p:txBody>
      </p:sp>
      <p:sp>
        <p:nvSpPr>
          <p:cNvPr id="7" name="TextBox 6"/>
          <p:cNvSpPr txBox="1"/>
          <p:nvPr/>
        </p:nvSpPr>
        <p:spPr>
          <a:xfrm>
            <a:off x="1280160" y="3017520"/>
            <a:ext cx="3657600" cy="731520"/>
          </a:xfrm>
          <a:prstGeom prst="rect">
            <a:avLst/>
          </a:prstGeom>
          <a:noFill/>
        </p:spPr>
        <p:txBody>
          <a:bodyPr wrap="square" anchor="t" lIns="0" rIns="0" tIns="0" bIns="0">
            <a:spAutoFit/>
          </a:bodyPr>
          <a:lstStyle/>
          <a:p>
            <a:pPr algn="l"/>
            <a:r>
              <a:rPr sz="1600" b="0">
                <a:solidFill>
                  <a:srgbClr val="8A90B0"/>
                </a:solidFill>
                <a:latin typeface="Arial"/>
              </a:rPr>
              <a:t>avant l'élection du Maire</a:t>
            </a:r>
          </a:p>
        </p:txBody>
      </p:sp>
      <p:sp>
        <p:nvSpPr>
          <p:cNvPr id="8" name="Oval 7"/>
          <p:cNvSpPr/>
          <p:nvPr/>
        </p:nvSpPr>
        <p:spPr>
          <a:xfrm>
            <a:off x="1280160" y="4069080"/>
            <a:ext cx="566928" cy="56692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4069080"/>
            <a:ext cx="566928" cy="566928"/>
          </a:xfrm>
          <a:prstGeom prst="rect">
            <a:avLst/>
          </a:prstGeom>
          <a:noFill/>
        </p:spPr>
        <p:txBody>
          <a:bodyPr wrap="square" anchor="ctr" lIns="0" rIns="0" tIns="0" bIns="0">
            <a:spAutoFit/>
          </a:bodyPr>
          <a:lstStyle/>
          <a:p>
            <a:pPr algn="ctr"/>
            <a:r>
              <a:rPr sz="2200" b="1">
                <a:solidFill>
                  <a:srgbClr val="0E1F5B"/>
                </a:solidFill>
                <a:latin typeface="Arial"/>
              </a:rPr>
              <a:t>✕</a:t>
            </a:r>
          </a:p>
        </p:txBody>
      </p:sp>
      <p:sp>
        <p:nvSpPr>
          <p:cNvPr id="10" name="TextBox 9"/>
          <p:cNvSpPr txBox="1"/>
          <p:nvPr/>
        </p:nvSpPr>
        <p:spPr>
          <a:xfrm>
            <a:off x="2057400" y="4041648"/>
            <a:ext cx="2926080" cy="1280160"/>
          </a:xfrm>
          <a:prstGeom prst="rect">
            <a:avLst/>
          </a:prstGeom>
          <a:noFill/>
        </p:spPr>
        <p:txBody>
          <a:bodyPr wrap="square" anchor="t" lIns="0" rIns="0" tIns="0" bIns="0">
            <a:spAutoFit/>
          </a:bodyPr>
          <a:lstStyle/>
          <a:p>
            <a:pPr algn="l"/>
            <a:r>
              <a:rPr sz="2600" b="1">
                <a:solidFill>
                  <a:srgbClr val="FAF5EC"/>
                </a:solidFill>
                <a:latin typeface="Arial"/>
              </a:rPr>
              <a:t>Des arbres abattus</a:t>
            </a:r>
          </a:p>
        </p:txBody>
      </p:sp>
      <p:sp>
        <p:nvSpPr>
          <p:cNvPr id="11" name="TextBox 10"/>
          <p:cNvSpPr txBox="1"/>
          <p:nvPr/>
        </p:nvSpPr>
        <p:spPr>
          <a:xfrm>
            <a:off x="5349240" y="5029200"/>
            <a:ext cx="731520" cy="822960"/>
          </a:xfrm>
          <a:prstGeom prst="rect">
            <a:avLst/>
          </a:prstGeom>
          <a:noFill/>
        </p:spPr>
        <p:txBody>
          <a:bodyPr wrap="square" anchor="t" lIns="0" rIns="0" tIns="0" bIns="0">
            <a:spAutoFit/>
          </a:bodyPr>
          <a:lstStyle/>
          <a:p>
            <a:pPr algn="ctr"/>
            <a:r>
              <a:rPr sz="4400" b="0">
                <a:solidFill>
                  <a:srgbClr val="72C493"/>
                </a:solidFill>
                <a:latin typeface="Arial"/>
              </a:rPr>
              <a:t>→</a:t>
            </a:r>
          </a:p>
        </p:txBody>
      </p:sp>
      <p:sp>
        <p:nvSpPr>
          <p:cNvPr id="12" name="Rectangle 11"/>
          <p:cNvSpPr/>
          <p:nvPr/>
        </p:nvSpPr>
        <p:spPr>
          <a:xfrm>
            <a:off x="6263640" y="2286000"/>
            <a:ext cx="5257800" cy="70408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606040"/>
            <a:ext cx="4572000" cy="411480"/>
          </a:xfrm>
          <a:prstGeom prst="rect">
            <a:avLst/>
          </a:prstGeom>
          <a:noFill/>
        </p:spPr>
        <p:txBody>
          <a:bodyPr wrap="square" anchor="t" lIns="0" rIns="0" tIns="0" bIns="0">
            <a:spAutoFit/>
          </a:bodyPr>
          <a:lstStyle/>
          <a:p>
            <a:pPr algn="l"/>
            <a:r>
              <a:rPr sz="2000" b="1" spc="150">
                <a:solidFill>
                  <a:srgbClr val="0E1F5B"/>
                </a:solidFill>
                <a:latin typeface="Arial"/>
              </a:rPr>
              <a:t>NOUVEAU PROJET</a:t>
            </a:r>
          </a:p>
        </p:txBody>
      </p:sp>
      <p:sp>
        <p:nvSpPr>
          <p:cNvPr id="14" name="TextBox 13"/>
          <p:cNvSpPr txBox="1"/>
          <p:nvPr/>
        </p:nvSpPr>
        <p:spPr>
          <a:xfrm>
            <a:off x="6629400" y="3017520"/>
            <a:ext cx="4572000" cy="731520"/>
          </a:xfrm>
          <a:prstGeom prst="rect">
            <a:avLst/>
          </a:prstGeom>
          <a:noFill/>
        </p:spPr>
        <p:txBody>
          <a:bodyPr wrap="square" anchor="t" lIns="0" rIns="0" tIns="0" bIns="0">
            <a:spAutoFit/>
          </a:bodyPr>
          <a:lstStyle/>
          <a:p>
            <a:pPr algn="l"/>
            <a:r>
              <a:rPr sz="1600" b="0">
                <a:solidFill>
                  <a:srgbClr val="0E1F5B"/>
                </a:solidFill>
                <a:latin typeface="Arial"/>
              </a:rPr>
              <a:t>porté par la nouvelle municipalité</a:t>
            </a:r>
          </a:p>
        </p:txBody>
      </p:sp>
      <p:sp>
        <p:nvSpPr>
          <p:cNvPr id="15" name="Oval 14"/>
          <p:cNvSpPr/>
          <p:nvPr/>
        </p:nvSpPr>
        <p:spPr>
          <a:xfrm>
            <a:off x="6629400" y="40690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4069080"/>
            <a:ext cx="566928" cy="566928"/>
          </a:xfrm>
          <a:prstGeom prst="rect">
            <a:avLst/>
          </a:prstGeom>
          <a:noFill/>
        </p:spPr>
        <p:txBody>
          <a:bodyPr wrap="square" anchor="ctr" lIns="0" rIns="0" tIns="0" bIns="0">
            <a:spAutoFit/>
          </a:bodyPr>
          <a:lstStyle/>
          <a:p>
            <a:pPr algn="ctr"/>
            <a:r>
              <a:rPr sz="2200" b="1">
                <a:solidFill>
                  <a:srgbClr val="72C493"/>
                </a:solidFill>
                <a:latin typeface="Arial"/>
              </a:rPr>
              <a:t>1</a:t>
            </a:r>
          </a:p>
        </p:txBody>
      </p:sp>
      <p:sp>
        <p:nvSpPr>
          <p:cNvPr id="17" name="TextBox 16"/>
          <p:cNvSpPr txBox="1"/>
          <p:nvPr/>
        </p:nvSpPr>
        <p:spPr>
          <a:xfrm>
            <a:off x="7406640" y="4041648"/>
            <a:ext cx="3931920" cy="1280160"/>
          </a:xfrm>
          <a:prstGeom prst="rect">
            <a:avLst/>
          </a:prstGeom>
          <a:noFill/>
        </p:spPr>
        <p:txBody>
          <a:bodyPr wrap="square" anchor="t" lIns="0" rIns="0" tIns="0" bIns="0">
            <a:spAutoFit/>
          </a:bodyPr>
          <a:lstStyle/>
          <a:p>
            <a:pPr algn="l"/>
            <a:r>
              <a:rPr sz="2600" b="1">
                <a:solidFill>
                  <a:srgbClr val="0E1F5B"/>
                </a:solidFill>
                <a:latin typeface="Arial"/>
              </a:rPr>
              <a:t>Des toitures solarisées</a:t>
            </a:r>
          </a:p>
        </p:txBody>
      </p:sp>
      <p:sp>
        <p:nvSpPr>
          <p:cNvPr id="18" name="Oval 17"/>
          <p:cNvSpPr/>
          <p:nvPr/>
        </p:nvSpPr>
        <p:spPr>
          <a:xfrm>
            <a:off x="6629400" y="56692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5669280"/>
            <a:ext cx="566928" cy="566928"/>
          </a:xfrm>
          <a:prstGeom prst="rect">
            <a:avLst/>
          </a:prstGeom>
          <a:noFill/>
        </p:spPr>
        <p:txBody>
          <a:bodyPr wrap="square" anchor="ctr" lIns="0" rIns="0" tIns="0" bIns="0">
            <a:spAutoFit/>
          </a:bodyPr>
          <a:lstStyle/>
          <a:p>
            <a:pPr algn="ctr"/>
            <a:r>
              <a:rPr sz="2200" b="1">
                <a:solidFill>
                  <a:srgbClr val="72C493"/>
                </a:solidFill>
                <a:latin typeface="Arial"/>
              </a:rPr>
              <a:t>2</a:t>
            </a:r>
          </a:p>
        </p:txBody>
      </p:sp>
      <p:sp>
        <p:nvSpPr>
          <p:cNvPr id="20" name="TextBox 19"/>
          <p:cNvSpPr txBox="1"/>
          <p:nvPr/>
        </p:nvSpPr>
        <p:spPr>
          <a:xfrm>
            <a:off x="7406640" y="5641848"/>
            <a:ext cx="3931920" cy="1280160"/>
          </a:xfrm>
          <a:prstGeom prst="rect">
            <a:avLst/>
          </a:prstGeom>
          <a:noFill/>
        </p:spPr>
        <p:txBody>
          <a:bodyPr wrap="square" anchor="t" lIns="0" rIns="0" tIns="0" bIns="0">
            <a:spAutoFit/>
          </a:bodyPr>
          <a:lstStyle/>
          <a:p>
            <a:pPr algn="l"/>
            <a:r>
              <a:rPr sz="2600" b="1">
                <a:solidFill>
                  <a:srgbClr val="0E1F5B"/>
                </a:solidFill>
                <a:latin typeface="Arial"/>
              </a:rPr>
              <a:t>Une façade en bois</a:t>
            </a:r>
          </a:p>
        </p:txBody>
      </p:sp>
      <p:sp>
        <p:nvSpPr>
          <p:cNvPr id="21" name="Oval 20"/>
          <p:cNvSpPr/>
          <p:nvPr/>
        </p:nvSpPr>
        <p:spPr>
          <a:xfrm>
            <a:off x="6629400" y="7269480"/>
            <a:ext cx="566928" cy="566928"/>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7269480"/>
            <a:ext cx="566928" cy="566928"/>
          </a:xfrm>
          <a:prstGeom prst="rect">
            <a:avLst/>
          </a:prstGeom>
          <a:noFill/>
        </p:spPr>
        <p:txBody>
          <a:bodyPr wrap="square" anchor="ctr" lIns="0" rIns="0" tIns="0" bIns="0">
            <a:spAutoFit/>
          </a:bodyPr>
          <a:lstStyle/>
          <a:p>
            <a:pPr algn="ctr"/>
            <a:r>
              <a:rPr sz="2200" b="1">
                <a:solidFill>
                  <a:srgbClr val="72C493"/>
                </a:solidFill>
                <a:latin typeface="Arial"/>
              </a:rPr>
              <a:t>3</a:t>
            </a:r>
          </a:p>
        </p:txBody>
      </p:sp>
      <p:sp>
        <p:nvSpPr>
          <p:cNvPr id="23" name="TextBox 22"/>
          <p:cNvSpPr txBox="1"/>
          <p:nvPr/>
        </p:nvSpPr>
        <p:spPr>
          <a:xfrm>
            <a:off x="7406640" y="7242048"/>
            <a:ext cx="3931920" cy="1280160"/>
          </a:xfrm>
          <a:prstGeom prst="rect">
            <a:avLst/>
          </a:prstGeom>
          <a:noFill/>
        </p:spPr>
        <p:txBody>
          <a:bodyPr wrap="square" anchor="t" lIns="0" rIns="0" tIns="0" bIns="0">
            <a:spAutoFit/>
          </a:bodyPr>
          <a:lstStyle/>
          <a:p>
            <a:pPr algn="l"/>
            <a:r>
              <a:rPr sz="2600" b="1">
                <a:solidFill>
                  <a:srgbClr val="0E1F5B"/>
                </a:solidFill>
                <a:latin typeface="Arial"/>
              </a:rPr>
              <a:t>La plantation de nouveaux arbres</a:t>
            </a:r>
          </a:p>
        </p:txBody>
      </p:sp>
      <p:pic>
        <p:nvPicPr>
          <p:cNvPr id="24" name="Picture 23" descr="Equipements_01_stade_Alain_Mimoun.jpg"/>
          <p:cNvPicPr>
            <a:picLocks noChangeAspect="1"/>
          </p:cNvPicPr>
          <p:nvPr/>
        </p:nvPicPr>
        <p:blipFill>
          <a:blip r:embed="rId4"/>
          <a:stretch>
            <a:fillRect/>
          </a:stretch>
        </p:blipFill>
        <p:spPr>
          <a:xfrm>
            <a:off x="11887200" y="4273677"/>
            <a:ext cx="5449824" cy="3065526"/>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2321717" y="2148840"/>
            <a:ext cx="13626276" cy="7315200"/>
          </a:xfrm>
          <a:prstGeom prst="rect">
            <a:avLst/>
          </a:prstGeom>
        </p:spPr>
      </p:pic>
      <p:sp>
        <p:nvSpPr>
          <p:cNvPr id="6" name="Rounded Rectangle 5"/>
          <p:cNvSpPr/>
          <p:nvPr/>
        </p:nvSpPr>
        <p:spPr>
          <a:xfrm>
            <a:off x="2641757" y="2468880"/>
            <a:ext cx="4023360" cy="777240"/>
          </a:xfrm>
          <a:prstGeom prst="roundRect">
            <a:avLst/>
          </a:prstGeom>
          <a:solidFill>
            <a:srgbClr val="72C493"/>
          </a:solidFill>
          <a:ln w="381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41757" y="2468880"/>
            <a:ext cx="4023360" cy="777240"/>
          </a:xfrm>
          <a:prstGeom prst="rect">
            <a:avLst/>
          </a:prstGeom>
          <a:noFill/>
        </p:spPr>
        <p:txBody>
          <a:bodyPr wrap="square" anchor="ctr" lIns="0" rIns="0" tIns="0" bIns="0">
            <a:spAutoFit/>
          </a:bodyPr>
          <a:lstStyle/>
          <a:p>
            <a:pPr algn="ctr"/>
            <a:r>
              <a:rPr sz="2600" b="1" spc="120">
                <a:solidFill>
                  <a:srgbClr val="0E1F5B"/>
                </a:solidFill>
                <a:latin typeface="Arial"/>
              </a:rPr>
              <a:t>EN CONCERTATION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7101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École des Gobelins</a:t>
            </a:r>
          </a:p>
        </p:txBody>
      </p:sp>
      <p:sp>
        <p:nvSpPr>
          <p:cNvPr id="8" name="TextBox 7"/>
          <p:cNvSpPr txBox="1"/>
          <p:nvPr/>
        </p:nvSpPr>
        <p:spPr>
          <a:xfrm>
            <a:off x="127101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accueillir l'école des Richardets</a:t>
            </a:r>
          </a:p>
        </p:txBody>
      </p:sp>
      <p:sp>
        <p:nvSpPr>
          <p:cNvPr id="9" name="TextBox 8"/>
          <p:cNvSpPr txBox="1"/>
          <p:nvPr/>
        </p:nvSpPr>
        <p:spPr>
          <a:xfrm>
            <a:off x="515721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1,3 M€</a:t>
            </a:r>
          </a:p>
        </p:txBody>
      </p:sp>
      <p:sp>
        <p:nvSpPr>
          <p:cNvPr id="10" name="TextBox 9"/>
          <p:cNvSpPr txBox="1"/>
          <p:nvPr/>
        </p:nvSpPr>
        <p:spPr>
          <a:xfrm>
            <a:off x="515721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11" name="TextBox 10"/>
          <p:cNvSpPr txBox="1"/>
          <p:nvPr/>
        </p:nvSpPr>
        <p:spPr>
          <a:xfrm>
            <a:off x="127101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RÉALISÉ CETTE ANNÉE</a:t>
            </a:r>
          </a:p>
        </p:txBody>
      </p:sp>
      <p:sp>
        <p:nvSpPr>
          <p:cNvPr id="12" name="Oval 11"/>
          <p:cNvSpPr/>
          <p:nvPr/>
        </p:nvSpPr>
        <p:spPr>
          <a:xfrm>
            <a:off x="128930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9105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Création de sanitaires</a:t>
            </a:r>
          </a:p>
        </p:txBody>
      </p:sp>
      <p:sp>
        <p:nvSpPr>
          <p:cNvPr id="14" name="Oval 13"/>
          <p:cNvSpPr/>
          <p:nvPr/>
        </p:nvSpPr>
        <p:spPr>
          <a:xfrm>
            <a:off x="128930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Réfection des sols et des peintures</a:t>
            </a:r>
          </a:p>
        </p:txBody>
      </p:sp>
      <p:sp>
        <p:nvSpPr>
          <p:cNvPr id="16" name="Oval 15"/>
          <p:cNvSpPr/>
          <p:nvPr/>
        </p:nvSpPr>
        <p:spPr>
          <a:xfrm>
            <a:off x="128930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9105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Travaux électriques</a:t>
            </a:r>
          </a:p>
        </p:txBody>
      </p:sp>
      <p:sp>
        <p:nvSpPr>
          <p:cNvPr id="18" name="Oval 17"/>
          <p:cNvSpPr/>
          <p:nvPr/>
        </p:nvSpPr>
        <p:spPr>
          <a:xfrm>
            <a:off x="128930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Clôtures et portails</a:t>
            </a:r>
          </a:p>
        </p:txBody>
      </p:sp>
      <p:sp>
        <p:nvSpPr>
          <p:cNvPr id="20" name="Oval 19"/>
          <p:cNvSpPr/>
          <p:nvPr/>
        </p:nvSpPr>
        <p:spPr>
          <a:xfrm>
            <a:off x="128930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9105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Rénovation de la cour et pose de pare-ballons</a:t>
            </a:r>
          </a:p>
        </p:txBody>
      </p:sp>
      <p:sp>
        <p:nvSpPr>
          <p:cNvPr id="22" name="Rectangle 21"/>
          <p:cNvSpPr/>
          <p:nvPr/>
        </p:nvSpPr>
        <p:spPr>
          <a:xfrm>
            <a:off x="927201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9205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Les Charmilles</a:t>
            </a:r>
          </a:p>
        </p:txBody>
      </p:sp>
      <p:sp>
        <p:nvSpPr>
          <p:cNvPr id="25" name="TextBox 24"/>
          <p:cNvSpPr txBox="1"/>
          <p:nvPr/>
        </p:nvSpPr>
        <p:spPr>
          <a:xfrm>
            <a:off x="959205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l'assainissement et le hall du groupe scolaire</a:t>
            </a:r>
          </a:p>
        </p:txBody>
      </p:sp>
      <p:sp>
        <p:nvSpPr>
          <p:cNvPr id="26" name="TextBox 25"/>
          <p:cNvSpPr txBox="1"/>
          <p:nvPr/>
        </p:nvSpPr>
        <p:spPr>
          <a:xfrm>
            <a:off x="1347825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23 000 €</a:t>
            </a:r>
          </a:p>
        </p:txBody>
      </p:sp>
      <p:sp>
        <p:nvSpPr>
          <p:cNvPr id="27" name="TextBox 26"/>
          <p:cNvSpPr txBox="1"/>
          <p:nvPr/>
        </p:nvSpPr>
        <p:spPr>
          <a:xfrm>
            <a:off x="1347825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28" name="TextBox 27"/>
          <p:cNvSpPr txBox="1"/>
          <p:nvPr/>
        </p:nvSpPr>
        <p:spPr>
          <a:xfrm>
            <a:off x="959205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FAIT</a:t>
            </a:r>
          </a:p>
        </p:txBody>
      </p:sp>
      <p:sp>
        <p:nvSpPr>
          <p:cNvPr id="29" name="Oval 28"/>
          <p:cNvSpPr/>
          <p:nvPr/>
        </p:nvSpPr>
        <p:spPr>
          <a:xfrm>
            <a:off x="961034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1209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Mise en conformité du réseau d'assainissement (19 000 €)</a:t>
            </a:r>
          </a:p>
        </p:txBody>
      </p:sp>
      <p:sp>
        <p:nvSpPr>
          <p:cNvPr id="31" name="Oval 30"/>
          <p:cNvSpPr/>
          <p:nvPr/>
        </p:nvSpPr>
        <p:spPr>
          <a:xfrm>
            <a:off x="961034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209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Remise en état du hall : plâtrerie et peinture (4 000 €)</a:t>
            </a:r>
          </a:p>
        </p:txBody>
      </p:sp>
      <p:sp>
        <p:nvSpPr>
          <p:cNvPr id="33" name="Oval 32"/>
          <p:cNvSpPr/>
          <p:nvPr/>
        </p:nvSpPr>
        <p:spPr>
          <a:xfrm>
            <a:off x="961034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1209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Faux plafonds remplacés, étais du réfectoire déposés</a:t>
            </a:r>
          </a:p>
        </p:txBody>
      </p:sp>
      <p:sp>
        <p:nvSpPr>
          <p:cNvPr id="35" name="Oval 34"/>
          <p:cNvSpPr/>
          <p:nvPr/>
        </p:nvSpPr>
        <p:spPr>
          <a:xfrm>
            <a:off x="961034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37" name="Oval 36"/>
          <p:cNvSpPr/>
          <p:nvPr/>
        </p:nvSpPr>
        <p:spPr>
          <a:xfrm>
            <a:off x="961034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1209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Ventilateurs, films anti-UV et bancs dans la cour</a:t>
            </a:r>
          </a:p>
        </p:txBody>
      </p:sp>
      <p:sp>
        <p:nvSpPr>
          <p:cNvPr id="39" name="TextBox 38"/>
          <p:cNvSpPr txBox="1"/>
          <p:nvPr/>
        </p:nvSpPr>
        <p:spPr>
          <a:xfrm>
            <a:off x="9592056" y="5897879"/>
            <a:ext cx="7406640" cy="320040"/>
          </a:xfrm>
          <a:prstGeom prst="rect">
            <a:avLst/>
          </a:prstGeom>
          <a:noFill/>
        </p:spPr>
        <p:txBody>
          <a:bodyPr wrap="square" anchor="t" lIns="0" rIns="0" tIns="0" bIns="0">
            <a:spAutoFit/>
          </a:bodyPr>
          <a:lstStyle/>
          <a:p>
            <a:pPr algn="l"/>
            <a:r>
              <a:rPr sz="1500" b="1" spc="150">
                <a:solidFill>
                  <a:srgbClr val="72C493"/>
                </a:solidFill>
                <a:latin typeface="Arial"/>
              </a:rPr>
              <a:t>PROGRAMMÉ</a:t>
            </a:r>
          </a:p>
        </p:txBody>
      </p:sp>
      <p:sp>
        <p:nvSpPr>
          <p:cNvPr id="40" name="Oval 39"/>
          <p:cNvSpPr/>
          <p:nvPr/>
        </p:nvSpPr>
        <p:spPr>
          <a:xfrm>
            <a:off x="9610344" y="6345936"/>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12096" y="6263640"/>
            <a:ext cx="7086600" cy="347472"/>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42" name="Oval 41"/>
          <p:cNvSpPr/>
          <p:nvPr/>
        </p:nvSpPr>
        <p:spPr>
          <a:xfrm>
            <a:off x="9610344" y="6693407"/>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12096" y="6611112"/>
            <a:ext cx="7086600" cy="347472"/>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44" name="Rectangle 43"/>
          <p:cNvSpPr/>
          <p:nvPr/>
        </p:nvSpPr>
        <p:spPr>
          <a:xfrm>
            <a:off x="950976"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0976"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7607808"/>
            <a:ext cx="4727448" cy="457200"/>
          </a:xfrm>
          <a:prstGeom prst="rect">
            <a:avLst/>
          </a:prstGeom>
          <a:noFill/>
        </p:spPr>
        <p:txBody>
          <a:bodyPr wrap="square" anchor="t" lIns="0" rIns="0" tIns="0" bIns="0">
            <a:spAutoFit/>
          </a:bodyPr>
          <a:lstStyle/>
          <a:p>
            <a:pPr algn="l"/>
            <a:r>
              <a:rPr sz="2200" b="1">
                <a:solidFill>
                  <a:srgbClr val="FFFFFF"/>
                </a:solidFill>
                <a:latin typeface="Arial"/>
              </a:rPr>
              <a:t>Les Yvris</a:t>
            </a:r>
          </a:p>
        </p:txBody>
      </p:sp>
      <p:sp>
        <p:nvSpPr>
          <p:cNvPr id="47" name="Oval 46"/>
          <p:cNvSpPr/>
          <p:nvPr/>
        </p:nvSpPr>
        <p:spPr>
          <a:xfrm>
            <a:off x="1289304"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572768" y="8156448"/>
            <a:ext cx="4407407" cy="640080"/>
          </a:xfrm>
          <a:prstGeom prst="rect">
            <a:avLst/>
          </a:prstGeom>
          <a:noFill/>
        </p:spPr>
        <p:txBody>
          <a:bodyPr wrap="square" anchor="t" lIns="0" rIns="0" tIns="0" bIns="0">
            <a:spAutoFit/>
          </a:bodyPr>
          <a:lstStyle/>
          <a:p>
            <a:pPr algn="l"/>
            <a:r>
              <a:rPr sz="1600" b="1">
                <a:solidFill>
                  <a:srgbClr val="FAF5EC"/>
                </a:solidFill>
                <a:latin typeface="Arial"/>
              </a:rPr>
              <a:t>Drapeau de l'entrée remis en état</a:t>
            </a:r>
          </a:p>
        </p:txBody>
      </p:sp>
      <p:sp>
        <p:nvSpPr>
          <p:cNvPr id="49" name="Oval 48"/>
          <p:cNvSpPr/>
          <p:nvPr/>
        </p:nvSpPr>
        <p:spPr>
          <a:xfrm>
            <a:off x="1289304"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72768" y="8540496"/>
            <a:ext cx="4407407" cy="640080"/>
          </a:xfrm>
          <a:prstGeom prst="rect">
            <a:avLst/>
          </a:prstGeom>
          <a:noFill/>
        </p:spPr>
        <p:txBody>
          <a:bodyPr wrap="square" anchor="t" lIns="0" rIns="0" tIns="0" bIns="0">
            <a:spAutoFit/>
          </a:bodyPr>
          <a:lstStyle/>
          <a:p>
            <a:pPr algn="l"/>
            <a:r>
              <a:rPr sz="1600" b="1">
                <a:solidFill>
                  <a:srgbClr val="FAF5EC"/>
                </a:solidFill>
                <a:latin typeface="Arial"/>
              </a:rPr>
              <a:t>Peinture du hall élémentaire et du bureau de la direction</a:t>
            </a:r>
          </a:p>
        </p:txBody>
      </p:sp>
      <p:sp>
        <p:nvSpPr>
          <p:cNvPr id="51" name="Rectangle 50"/>
          <p:cNvSpPr/>
          <p:nvPr/>
        </p:nvSpPr>
        <p:spPr>
          <a:xfrm>
            <a:off x="6492240"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92240"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12279" y="7607808"/>
            <a:ext cx="4727448" cy="457200"/>
          </a:xfrm>
          <a:prstGeom prst="rect">
            <a:avLst/>
          </a:prstGeom>
          <a:noFill/>
        </p:spPr>
        <p:txBody>
          <a:bodyPr wrap="square" anchor="t" lIns="0" rIns="0" tIns="0" bIns="0">
            <a:spAutoFit/>
          </a:bodyPr>
          <a:lstStyle/>
          <a:p>
            <a:pPr algn="l"/>
            <a:r>
              <a:rPr sz="2200" b="1">
                <a:solidFill>
                  <a:srgbClr val="FFFFFF"/>
                </a:solidFill>
                <a:latin typeface="Arial"/>
              </a:rPr>
              <a:t>Maternelle des Richardets</a:t>
            </a:r>
          </a:p>
        </p:txBody>
      </p:sp>
      <p:sp>
        <p:nvSpPr>
          <p:cNvPr id="54" name="Oval 53"/>
          <p:cNvSpPr/>
          <p:nvPr/>
        </p:nvSpPr>
        <p:spPr>
          <a:xfrm>
            <a:off x="6830568"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14031" y="8156448"/>
            <a:ext cx="4407407" cy="640080"/>
          </a:xfrm>
          <a:prstGeom prst="rect">
            <a:avLst/>
          </a:prstGeom>
          <a:noFill/>
        </p:spPr>
        <p:txBody>
          <a:bodyPr wrap="square" anchor="t" lIns="0" rIns="0" tIns="0" bIns="0">
            <a:spAutoFit/>
          </a:bodyPr>
          <a:lstStyle/>
          <a:p>
            <a:pPr algn="l"/>
            <a:r>
              <a:rPr sz="1600" b="1">
                <a:solidFill>
                  <a:srgbClr val="FAF5EC"/>
                </a:solidFill>
                <a:latin typeface="Arial"/>
              </a:rPr>
              <a:t>Un rafraîchisseur d'air</a:t>
            </a:r>
          </a:p>
        </p:txBody>
      </p:sp>
      <p:sp>
        <p:nvSpPr>
          <p:cNvPr id="56" name="Oval 55"/>
          <p:cNvSpPr/>
          <p:nvPr/>
        </p:nvSpPr>
        <p:spPr>
          <a:xfrm>
            <a:off x="6830568" y="8613648"/>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1" y="8540496"/>
            <a:ext cx="4407407" cy="640080"/>
          </a:xfrm>
          <a:prstGeom prst="rect">
            <a:avLst/>
          </a:prstGeom>
          <a:noFill/>
        </p:spPr>
        <p:txBody>
          <a:bodyPr wrap="square" anchor="t" lIns="0" rIns="0" tIns="0" bIns="0">
            <a:spAutoFit/>
          </a:bodyPr>
          <a:lstStyle/>
          <a:p>
            <a:pPr algn="l"/>
            <a:r>
              <a:rPr sz="1600" b="1">
                <a:solidFill>
                  <a:srgbClr val="FAF5EC"/>
                </a:solidFill>
                <a:latin typeface="Arial"/>
              </a:rPr>
              <a:t>Des films de protection solaire sur les vitrages</a:t>
            </a:r>
          </a:p>
        </p:txBody>
      </p:sp>
      <p:sp>
        <p:nvSpPr>
          <p:cNvPr id="58" name="Rectangle 57"/>
          <p:cNvSpPr/>
          <p:nvPr/>
        </p:nvSpPr>
        <p:spPr>
          <a:xfrm>
            <a:off x="12033504"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033504"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353544" y="7607808"/>
            <a:ext cx="4727448" cy="457200"/>
          </a:xfrm>
          <a:prstGeom prst="rect">
            <a:avLst/>
          </a:prstGeom>
          <a:noFill/>
        </p:spPr>
        <p:txBody>
          <a:bodyPr wrap="square" anchor="t" lIns="0" rIns="0" tIns="0" bIns="0">
            <a:spAutoFit/>
          </a:bodyPr>
          <a:lstStyle/>
          <a:p>
            <a:pPr algn="l"/>
            <a:r>
              <a:rPr sz="2200" b="1">
                <a:solidFill>
                  <a:srgbClr val="FFFFFF"/>
                </a:solidFill>
                <a:latin typeface="Arial"/>
              </a:rPr>
              <a:t>Paul-Serelle</a:t>
            </a:r>
          </a:p>
        </p:txBody>
      </p:sp>
      <p:sp>
        <p:nvSpPr>
          <p:cNvPr id="61" name="Oval 60"/>
          <p:cNvSpPr/>
          <p:nvPr/>
        </p:nvSpPr>
        <p:spPr>
          <a:xfrm>
            <a:off x="12371832" y="8229600"/>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55296" y="8156448"/>
            <a:ext cx="4407407" cy="640080"/>
          </a:xfrm>
          <a:prstGeom prst="rect">
            <a:avLst/>
          </a:prstGeom>
          <a:noFill/>
        </p:spPr>
        <p:txBody>
          <a:bodyPr wrap="square" anchor="t" lIns="0" rIns="0" tIns="0" bIns="0">
            <a:spAutoFit/>
          </a:bodyPr>
          <a:lstStyle/>
          <a:p>
            <a:pPr algn="l"/>
            <a:r>
              <a:rPr sz="1600" b="1">
                <a:solidFill>
                  <a:srgbClr val="FAF5EC"/>
                </a:solidFill>
                <a:latin typeface="Arial"/>
              </a:rPr>
              <a:t>Sécurisation du carrefour, à l'étude</a:t>
            </a:r>
          </a:p>
        </p:txBody>
      </p:sp>
      <p:sp>
        <p:nvSpPr>
          <p:cNvPr id="63" name="Oval 62"/>
          <p:cNvSpPr/>
          <p:nvPr/>
        </p:nvSpPr>
        <p:spPr>
          <a:xfrm>
            <a:off x="12371832"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2655296" y="8540496"/>
            <a:ext cx="4407407" cy="640080"/>
          </a:xfrm>
          <a:prstGeom prst="rect">
            <a:avLst/>
          </a:prstGeom>
          <a:noFill/>
        </p:spPr>
        <p:txBody>
          <a:bodyPr wrap="square" anchor="t" lIns="0" rIns="0" tIns="0" bIns="0">
            <a:spAutoFit/>
          </a:bodyPr>
          <a:lstStyle/>
          <a:p>
            <a:pPr algn="l"/>
            <a:r>
              <a:rPr sz="1600" b="1">
                <a:solidFill>
                  <a:srgbClr val="FAF5EC"/>
                </a:solidFill>
                <a:latin typeface="Arial"/>
              </a:rPr>
              <a:t>Réparation des fuites de la salle polyvalente</a:t>
            </a:r>
          </a:p>
        </p:txBody>
      </p:sp>
      <p:sp>
        <p:nvSpPr>
          <p:cNvPr id="65" name="Oval 64"/>
          <p:cNvSpPr/>
          <p:nvPr/>
        </p:nvSpPr>
        <p:spPr>
          <a:xfrm>
            <a:off x="12801600" y="9628632"/>
            <a:ext cx="137160" cy="13716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03020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réalisé</a:t>
            </a:r>
          </a:p>
        </p:txBody>
      </p:sp>
      <p:sp>
        <p:nvSpPr>
          <p:cNvPr id="67" name="Oval 66"/>
          <p:cNvSpPr/>
          <p:nvPr/>
        </p:nvSpPr>
        <p:spPr>
          <a:xfrm>
            <a:off x="14127480" y="9628632"/>
            <a:ext cx="137160" cy="137160"/>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35608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programmé ou à l'étude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piste cyclable pour joindre le centre</a:t>
            </a:r>
          </a:p>
        </p:txBody>
      </p:sp>
      <p:sp>
        <p:nvSpPr>
          <p:cNvPr id="5" name="Rectangle 4"/>
          <p:cNvSpPr/>
          <p:nvPr/>
        </p:nvSpPr>
        <p:spPr>
          <a:xfrm>
            <a:off x="950976" y="2331720"/>
            <a:ext cx="16367759" cy="6355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bilites_01_piste_cyclable_plan.png"/>
          <p:cNvPicPr>
            <a:picLocks noChangeAspect="1"/>
          </p:cNvPicPr>
          <p:nvPr/>
        </p:nvPicPr>
        <p:blipFill>
          <a:blip r:embed="rId4"/>
          <a:stretch>
            <a:fillRect/>
          </a:stretch>
        </p:blipFill>
        <p:spPr>
          <a:xfrm>
            <a:off x="1088136" y="2790495"/>
            <a:ext cx="16093440" cy="5437528"/>
          </a:xfrm>
          <a:prstGeom prst="rect">
            <a:avLst/>
          </a:prstGeom>
        </p:spPr>
      </p:pic>
      <p:sp>
        <p:nvSpPr>
          <p:cNvPr id="7" name="Rectangle 6"/>
          <p:cNvSpPr/>
          <p:nvPr/>
        </p:nvSpPr>
        <p:spPr>
          <a:xfrm>
            <a:off x="950976" y="9006840"/>
            <a:ext cx="822960" cy="329184"/>
          </a:xfrm>
          <a:prstGeom prst="rect">
            <a:avLst/>
          </a:prstGeom>
          <a:solidFill>
            <a:srgbClr val="E84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965960" y="8961119"/>
            <a:ext cx="7315200" cy="411480"/>
          </a:xfrm>
          <a:prstGeom prst="rect">
            <a:avLst/>
          </a:prstGeom>
          <a:noFill/>
        </p:spPr>
        <p:txBody>
          <a:bodyPr wrap="square" anchor="t" lIns="0" rIns="0" tIns="0" bIns="0">
            <a:spAutoFit/>
          </a:bodyPr>
          <a:lstStyle/>
          <a:p>
            <a:pPr algn="l"/>
            <a:r>
              <a:rPr sz="2200" b="1">
                <a:solidFill>
                  <a:srgbClr val="0E1F5B"/>
                </a:solidFill>
                <a:latin typeface="Arial"/>
              </a:rPr>
              <a:t>Piste cyclable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zones bleues de stationnement</a:t>
            </a:r>
          </a:p>
        </p:txBody>
      </p:sp>
      <p:pic>
        <p:nvPicPr>
          <p:cNvPr id="5" name="Picture 4" descr="Securite_03_zone_bleue_parking.jpg"/>
          <p:cNvPicPr>
            <a:picLocks noChangeAspect="1"/>
          </p:cNvPicPr>
          <p:nvPr/>
        </p:nvPicPr>
        <p:blipFill>
          <a:blip r:embed="rId4"/>
          <a:stretch>
            <a:fillRect/>
          </a:stretch>
        </p:blipFill>
        <p:spPr>
          <a:xfrm>
            <a:off x="950976" y="2255520"/>
            <a:ext cx="10241280" cy="6827519"/>
          </a:xfrm>
          <a:prstGeom prst="rect">
            <a:avLst/>
          </a:prstGeom>
        </p:spPr>
      </p:pic>
      <p:sp>
        <p:nvSpPr>
          <p:cNvPr id="6" name="TextBox 5"/>
          <p:cNvSpPr txBox="1"/>
          <p:nvPr/>
        </p:nvSpPr>
        <p:spPr>
          <a:xfrm>
            <a:off x="950976" y="9156191"/>
            <a:ext cx="10241280" cy="274320"/>
          </a:xfrm>
          <a:prstGeom prst="rect">
            <a:avLst/>
          </a:prstGeom>
          <a:noFill/>
        </p:spPr>
        <p:txBody>
          <a:bodyPr wrap="square" anchor="t" lIns="0" rIns="0" tIns="0" bIns="0">
            <a:spAutoFit/>
          </a:bodyPr>
          <a:lstStyle/>
          <a:p>
            <a:pPr algn="r"/>
            <a:r>
              <a:rPr sz="1100" b="0">
                <a:solidFill>
                  <a:srgbClr val="C9CCDA"/>
                </a:solidFill>
                <a:latin typeface="Arial"/>
              </a:rPr>
              <a:t>© IGN – BD ORTHO</a:t>
            </a:r>
          </a:p>
        </p:txBody>
      </p:sp>
      <p:pic>
        <p:nvPicPr>
          <p:cNvPr id="7" name="Picture 6" descr="Securite_04_zone_bleue_situation.jpg"/>
          <p:cNvPicPr>
            <a:picLocks noChangeAspect="1"/>
          </p:cNvPicPr>
          <p:nvPr/>
        </p:nvPicPr>
        <p:blipFill>
          <a:blip r:embed="rId5"/>
          <a:stretch>
            <a:fillRect/>
          </a:stretch>
        </p:blipFill>
        <p:spPr>
          <a:xfrm>
            <a:off x="11567160" y="2240280"/>
            <a:ext cx="5760720" cy="3840480"/>
          </a:xfrm>
          <a:prstGeom prst="rect">
            <a:avLst/>
          </a:prstGeom>
        </p:spPr>
      </p:pic>
      <p:sp>
        <p:nvSpPr>
          <p:cNvPr id="8" name="TextBox 7"/>
          <p:cNvSpPr txBox="1"/>
          <p:nvPr/>
        </p:nvSpPr>
        <p:spPr>
          <a:xfrm>
            <a:off x="11567160" y="6172200"/>
            <a:ext cx="5760720" cy="731520"/>
          </a:xfrm>
          <a:prstGeom prst="rect">
            <a:avLst/>
          </a:prstGeom>
          <a:noFill/>
        </p:spPr>
        <p:txBody>
          <a:bodyPr wrap="square" anchor="t" lIns="0" rIns="0" tIns="0" bIns="0">
            <a:spAutoFit/>
          </a:bodyPr>
          <a:lstStyle/>
          <a:p>
            <a:pPr algn="l"/>
            <a:r>
              <a:rPr sz="2000" b="1">
                <a:solidFill>
                  <a:srgbClr val="FFFFFF"/>
                </a:solidFill>
                <a:latin typeface="Arial"/>
              </a:rPr>
              <a:t>Secteur du gymnase des Yvris, chemin de la Noisette</a:t>
            </a:r>
          </a:p>
        </p:txBody>
      </p:sp>
      <p:sp>
        <p:nvSpPr>
          <p:cNvPr id="9" name="Rectangle 8"/>
          <p:cNvSpPr/>
          <p:nvPr/>
        </p:nvSpPr>
        <p:spPr>
          <a:xfrm>
            <a:off x="11567160" y="6995160"/>
            <a:ext cx="5760720" cy="210312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41480" y="6995160"/>
            <a:ext cx="5212080" cy="2103120"/>
          </a:xfrm>
          <a:prstGeom prst="rect">
            <a:avLst/>
          </a:prstGeom>
          <a:noFill/>
        </p:spPr>
        <p:txBody>
          <a:bodyPr wrap="square" anchor="ctr" lIns="0" rIns="0" tIns="0" bIns="0">
            <a:spAutoFit/>
          </a:bodyPr>
          <a:lstStyle/>
          <a:p>
            <a:pPr algn="ctr"/>
            <a:r>
              <a:rPr sz="2200" b="1">
                <a:solidFill>
                  <a:srgbClr val="C9CCDA"/>
                </a:solidFill>
                <a:latin typeface="Arial"/>
              </a:rPr>
              <a:t>[Périmètre, durée de stationnement autorisée et date de mise en place à compléter]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commerces de l'avenue Médéric</a:t>
            </a:r>
          </a:p>
        </p:txBody>
      </p:sp>
      <p:pic>
        <p:nvPicPr>
          <p:cNvPr id="5" name="Picture 4" descr="Commerces_01_avenue_Mederic.jpg"/>
          <p:cNvPicPr>
            <a:picLocks noChangeAspect="1"/>
          </p:cNvPicPr>
          <p:nvPr/>
        </p:nvPicPr>
        <p:blipFill>
          <a:blip r:embed="rId4"/>
          <a:stretch>
            <a:fillRect/>
          </a:stretch>
        </p:blipFill>
        <p:spPr>
          <a:xfrm>
            <a:off x="977992" y="2240279"/>
            <a:ext cx="16313727" cy="7178040"/>
          </a:xfrm>
          <a:prstGeom prst="rect">
            <a:avLst/>
          </a:prstGeom>
        </p:spPr>
      </p:pic>
      <p:sp>
        <p:nvSpPr>
          <p:cNvPr id="6" name="TextBox 5"/>
          <p:cNvSpPr txBox="1"/>
          <p:nvPr/>
        </p:nvSpPr>
        <p:spPr>
          <a:xfrm>
            <a:off x="950976" y="9491471"/>
            <a:ext cx="16367759" cy="274320"/>
          </a:xfrm>
          <a:prstGeom prst="rect">
            <a:avLst/>
          </a:prstGeom>
          <a:noFill/>
        </p:spPr>
        <p:txBody>
          <a:bodyPr wrap="square" anchor="t" lIns="0" rIns="0" tIns="0" bIns="0">
            <a:spAutoFit/>
          </a:bodyPr>
          <a:lstStyle/>
          <a:p>
            <a:pPr algn="r"/>
            <a:r>
              <a:rPr sz="1100" b="0">
                <a:solidFill>
                  <a:srgbClr val="C9CCDA"/>
                </a:solidFill>
                <a:latin typeface="Arial"/>
              </a:rPr>
              <a:t>© IGN – BD ORTHO</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L'école des Gobelins, prête pour les élèves</a:t>
            </a:r>
          </a:p>
        </p:txBody>
      </p:sp>
      <p:sp>
        <p:nvSpPr>
          <p:cNvPr id="5" name="Rectangle 4"/>
          <p:cNvSpPr/>
          <p:nvPr/>
        </p:nvSpPr>
        <p:spPr>
          <a:xfrm>
            <a:off x="950976" y="2286000"/>
            <a:ext cx="5486400" cy="32918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25880" y="2560320"/>
            <a:ext cx="4846320" cy="1280160"/>
          </a:xfrm>
          <a:prstGeom prst="rect">
            <a:avLst/>
          </a:prstGeom>
          <a:noFill/>
        </p:spPr>
        <p:txBody>
          <a:bodyPr wrap="square" anchor="t" lIns="0" rIns="0" tIns="0" bIns="0">
            <a:spAutoFit/>
          </a:bodyPr>
          <a:lstStyle/>
          <a:p>
            <a:pPr algn="l"/>
            <a:r>
              <a:rPr sz="8000" b="1">
                <a:solidFill>
                  <a:srgbClr val="72C493"/>
                </a:solidFill>
                <a:latin typeface="Arial"/>
              </a:rPr>
              <a:t>1,3 M€</a:t>
            </a:r>
          </a:p>
        </p:txBody>
      </p:sp>
      <p:sp>
        <p:nvSpPr>
          <p:cNvPr id="7" name="TextBox 6"/>
          <p:cNvSpPr txBox="1"/>
          <p:nvPr/>
        </p:nvSpPr>
        <p:spPr>
          <a:xfrm>
            <a:off x="1325880" y="3886200"/>
            <a:ext cx="4846320" cy="1463040"/>
          </a:xfrm>
          <a:prstGeom prst="rect">
            <a:avLst/>
          </a:prstGeom>
          <a:noFill/>
        </p:spPr>
        <p:txBody>
          <a:bodyPr wrap="square" anchor="t" lIns="0" rIns="0" tIns="0" bIns="0">
            <a:spAutoFit/>
          </a:bodyPr>
          <a:lstStyle/>
          <a:p>
            <a:pPr algn="l"/>
            <a:r>
              <a:rPr sz="2200" b="1">
                <a:solidFill>
                  <a:srgbClr val="FFFFFF"/>
                </a:solidFill>
                <a:latin typeface="Arial"/>
              </a:rPr>
              <a:t>investis cette année pour accueillir l'école des Richardets</a:t>
            </a:r>
          </a:p>
        </p:txBody>
      </p:sp>
      <p:pic>
        <p:nvPicPr>
          <p:cNvPr id="8" name="Picture 7" descr="Ecole_02_ecole_des_Gobelins.jpg"/>
          <p:cNvPicPr>
            <a:picLocks noChangeAspect="1"/>
          </p:cNvPicPr>
          <p:nvPr/>
        </p:nvPicPr>
        <p:blipFill>
          <a:blip r:embed="rId4"/>
          <a:stretch>
            <a:fillRect/>
          </a:stretch>
        </p:blipFill>
        <p:spPr>
          <a:xfrm>
            <a:off x="950976" y="5937904"/>
            <a:ext cx="5486400" cy="3303230"/>
          </a:xfrm>
          <a:prstGeom prst="rect">
            <a:avLst/>
          </a:prstGeom>
        </p:spPr>
      </p:pic>
      <p:sp>
        <p:nvSpPr>
          <p:cNvPr id="9" name="TextBox 8"/>
          <p:cNvSpPr txBox="1"/>
          <p:nvPr/>
        </p:nvSpPr>
        <p:spPr>
          <a:xfrm>
            <a:off x="6949440" y="2286000"/>
            <a:ext cx="10332720" cy="411480"/>
          </a:xfrm>
          <a:prstGeom prst="rect">
            <a:avLst/>
          </a:prstGeom>
          <a:noFill/>
        </p:spPr>
        <p:txBody>
          <a:bodyPr wrap="square" anchor="t" lIns="0" rIns="0" tIns="0" bIns="0">
            <a:spAutoFit/>
          </a:bodyPr>
          <a:lstStyle/>
          <a:p>
            <a:pPr algn="l"/>
            <a:r>
              <a:rPr sz="2000" b="1" spc="150">
                <a:solidFill>
                  <a:srgbClr val="72C493"/>
                </a:solidFill>
                <a:latin typeface="Arial"/>
              </a:rPr>
              <a:t>LES PRINCIPALES OPÉRATIONS D'ADAPTATION</a:t>
            </a:r>
          </a:p>
        </p:txBody>
      </p:sp>
      <p:sp>
        <p:nvSpPr>
          <p:cNvPr id="10" name="Rectangle 9"/>
          <p:cNvSpPr/>
          <p:nvPr/>
        </p:nvSpPr>
        <p:spPr>
          <a:xfrm>
            <a:off x="6949440" y="2880360"/>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178040" y="3127248"/>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8040" y="3127248"/>
            <a:ext cx="603504" cy="603504"/>
          </a:xfrm>
          <a:prstGeom prst="rect">
            <a:avLst/>
          </a:prstGeom>
          <a:noFill/>
        </p:spPr>
        <p:txBody>
          <a:bodyPr wrap="square" anchor="ctr" lIns="0" rIns="0" tIns="0" bIns="0">
            <a:spAutoFit/>
          </a:bodyPr>
          <a:lstStyle/>
          <a:p>
            <a:pPr algn="ctr"/>
            <a:r>
              <a:rPr sz="2200" b="1">
                <a:solidFill>
                  <a:srgbClr val="0E1F5B"/>
                </a:solidFill>
                <a:latin typeface="Arial"/>
              </a:rPr>
              <a:t>1</a:t>
            </a:r>
          </a:p>
        </p:txBody>
      </p:sp>
      <p:sp>
        <p:nvSpPr>
          <p:cNvPr id="13" name="TextBox 12"/>
          <p:cNvSpPr txBox="1"/>
          <p:nvPr/>
        </p:nvSpPr>
        <p:spPr>
          <a:xfrm>
            <a:off x="8092440" y="2880360"/>
            <a:ext cx="9052560" cy="1097280"/>
          </a:xfrm>
          <a:prstGeom prst="rect">
            <a:avLst/>
          </a:prstGeom>
          <a:noFill/>
        </p:spPr>
        <p:txBody>
          <a:bodyPr wrap="square" anchor="ctr" lIns="0" rIns="0" tIns="0" bIns="0">
            <a:spAutoFit/>
          </a:bodyPr>
          <a:lstStyle/>
          <a:p>
            <a:pPr algn="l"/>
            <a:r>
              <a:rPr sz="2600" b="1">
                <a:solidFill>
                  <a:srgbClr val="FFFFFF"/>
                </a:solidFill>
                <a:latin typeface="Arial"/>
              </a:rPr>
              <a:t>Création de sanitaires</a:t>
            </a:r>
          </a:p>
        </p:txBody>
      </p:sp>
      <p:sp>
        <p:nvSpPr>
          <p:cNvPr id="14" name="Rectangle 13"/>
          <p:cNvSpPr/>
          <p:nvPr/>
        </p:nvSpPr>
        <p:spPr>
          <a:xfrm>
            <a:off x="6949440" y="4178808"/>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78040" y="4425696"/>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4425696"/>
            <a:ext cx="603504" cy="603504"/>
          </a:xfrm>
          <a:prstGeom prst="rect">
            <a:avLst/>
          </a:prstGeom>
          <a:noFill/>
        </p:spPr>
        <p:txBody>
          <a:bodyPr wrap="square" anchor="ctr" lIns="0" rIns="0" tIns="0" bIns="0">
            <a:spAutoFit/>
          </a:bodyPr>
          <a:lstStyle/>
          <a:p>
            <a:pPr algn="ctr"/>
            <a:r>
              <a:rPr sz="2200" b="1">
                <a:solidFill>
                  <a:srgbClr val="0E1F5B"/>
                </a:solidFill>
                <a:latin typeface="Arial"/>
              </a:rPr>
              <a:t>2</a:t>
            </a:r>
          </a:p>
        </p:txBody>
      </p:sp>
      <p:sp>
        <p:nvSpPr>
          <p:cNvPr id="17" name="TextBox 16"/>
          <p:cNvSpPr txBox="1"/>
          <p:nvPr/>
        </p:nvSpPr>
        <p:spPr>
          <a:xfrm>
            <a:off x="8092440" y="4178808"/>
            <a:ext cx="9052560" cy="1097280"/>
          </a:xfrm>
          <a:prstGeom prst="rect">
            <a:avLst/>
          </a:prstGeom>
          <a:noFill/>
        </p:spPr>
        <p:txBody>
          <a:bodyPr wrap="square" anchor="ctr" lIns="0" rIns="0" tIns="0" bIns="0">
            <a:spAutoFit/>
          </a:bodyPr>
          <a:lstStyle/>
          <a:p>
            <a:pPr algn="l"/>
            <a:r>
              <a:rPr sz="2600" b="1">
                <a:solidFill>
                  <a:srgbClr val="FFFFFF"/>
                </a:solidFill>
                <a:latin typeface="Arial"/>
              </a:rPr>
              <a:t>Réfection des sols et des peintures</a:t>
            </a:r>
          </a:p>
        </p:txBody>
      </p:sp>
      <p:sp>
        <p:nvSpPr>
          <p:cNvPr id="18" name="Rectangle 17"/>
          <p:cNvSpPr/>
          <p:nvPr/>
        </p:nvSpPr>
        <p:spPr>
          <a:xfrm>
            <a:off x="6949440" y="5477256"/>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78040" y="5724144"/>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5724144"/>
            <a:ext cx="603504" cy="603504"/>
          </a:xfrm>
          <a:prstGeom prst="rect">
            <a:avLst/>
          </a:prstGeom>
          <a:noFill/>
        </p:spPr>
        <p:txBody>
          <a:bodyPr wrap="square" anchor="ctr" lIns="0" rIns="0" tIns="0" bIns="0">
            <a:spAutoFit/>
          </a:bodyPr>
          <a:lstStyle/>
          <a:p>
            <a:pPr algn="ctr"/>
            <a:r>
              <a:rPr sz="2200" b="1">
                <a:solidFill>
                  <a:srgbClr val="0E1F5B"/>
                </a:solidFill>
                <a:latin typeface="Arial"/>
              </a:rPr>
              <a:t>3</a:t>
            </a:r>
          </a:p>
        </p:txBody>
      </p:sp>
      <p:sp>
        <p:nvSpPr>
          <p:cNvPr id="21" name="TextBox 20"/>
          <p:cNvSpPr txBox="1"/>
          <p:nvPr/>
        </p:nvSpPr>
        <p:spPr>
          <a:xfrm>
            <a:off x="8092440" y="5477256"/>
            <a:ext cx="9052560" cy="1097280"/>
          </a:xfrm>
          <a:prstGeom prst="rect">
            <a:avLst/>
          </a:prstGeom>
          <a:noFill/>
        </p:spPr>
        <p:txBody>
          <a:bodyPr wrap="square" anchor="ctr" lIns="0" rIns="0" tIns="0" bIns="0">
            <a:spAutoFit/>
          </a:bodyPr>
          <a:lstStyle/>
          <a:p>
            <a:pPr algn="l"/>
            <a:r>
              <a:rPr sz="2600" b="1">
                <a:solidFill>
                  <a:srgbClr val="FFFFFF"/>
                </a:solidFill>
                <a:latin typeface="Arial"/>
              </a:rPr>
              <a:t>Travaux électriques</a:t>
            </a:r>
          </a:p>
        </p:txBody>
      </p:sp>
      <p:sp>
        <p:nvSpPr>
          <p:cNvPr id="22" name="Rectangle 21"/>
          <p:cNvSpPr/>
          <p:nvPr/>
        </p:nvSpPr>
        <p:spPr>
          <a:xfrm>
            <a:off x="6949440" y="6775704"/>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78040" y="7022592"/>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78040" y="7022592"/>
            <a:ext cx="603504" cy="603504"/>
          </a:xfrm>
          <a:prstGeom prst="rect">
            <a:avLst/>
          </a:prstGeom>
          <a:noFill/>
        </p:spPr>
        <p:txBody>
          <a:bodyPr wrap="square" anchor="ctr" lIns="0" rIns="0" tIns="0" bIns="0">
            <a:spAutoFit/>
          </a:bodyPr>
          <a:lstStyle/>
          <a:p>
            <a:pPr algn="ctr"/>
            <a:r>
              <a:rPr sz="2200" b="1">
                <a:solidFill>
                  <a:srgbClr val="0E1F5B"/>
                </a:solidFill>
                <a:latin typeface="Arial"/>
              </a:rPr>
              <a:t>4</a:t>
            </a:r>
          </a:p>
        </p:txBody>
      </p:sp>
      <p:sp>
        <p:nvSpPr>
          <p:cNvPr id="25" name="TextBox 24"/>
          <p:cNvSpPr txBox="1"/>
          <p:nvPr/>
        </p:nvSpPr>
        <p:spPr>
          <a:xfrm>
            <a:off x="8092440" y="6775704"/>
            <a:ext cx="9052560" cy="1097280"/>
          </a:xfrm>
          <a:prstGeom prst="rect">
            <a:avLst/>
          </a:prstGeom>
          <a:noFill/>
        </p:spPr>
        <p:txBody>
          <a:bodyPr wrap="square" anchor="ctr" lIns="0" rIns="0" tIns="0" bIns="0">
            <a:spAutoFit/>
          </a:bodyPr>
          <a:lstStyle/>
          <a:p>
            <a:pPr algn="l"/>
            <a:r>
              <a:rPr sz="2600" b="1">
                <a:solidFill>
                  <a:srgbClr val="FFFFFF"/>
                </a:solidFill>
                <a:latin typeface="Arial"/>
              </a:rPr>
              <a:t>Clôtures et portails</a:t>
            </a:r>
          </a:p>
        </p:txBody>
      </p:sp>
      <p:sp>
        <p:nvSpPr>
          <p:cNvPr id="26" name="Rectangle 25"/>
          <p:cNvSpPr/>
          <p:nvPr/>
        </p:nvSpPr>
        <p:spPr>
          <a:xfrm>
            <a:off x="6949440" y="8074152"/>
            <a:ext cx="10387584" cy="109728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178040" y="8321040"/>
            <a:ext cx="603504" cy="6035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78040" y="8321040"/>
            <a:ext cx="603504" cy="603504"/>
          </a:xfrm>
          <a:prstGeom prst="rect">
            <a:avLst/>
          </a:prstGeom>
          <a:noFill/>
        </p:spPr>
        <p:txBody>
          <a:bodyPr wrap="square" anchor="ctr" lIns="0" rIns="0" tIns="0" bIns="0">
            <a:spAutoFit/>
          </a:bodyPr>
          <a:lstStyle/>
          <a:p>
            <a:pPr algn="ctr"/>
            <a:r>
              <a:rPr sz="2200" b="1">
                <a:solidFill>
                  <a:srgbClr val="0E1F5B"/>
                </a:solidFill>
                <a:latin typeface="Arial"/>
              </a:rPr>
              <a:t>5</a:t>
            </a:r>
          </a:p>
        </p:txBody>
      </p:sp>
      <p:sp>
        <p:nvSpPr>
          <p:cNvPr id="29" name="TextBox 28"/>
          <p:cNvSpPr txBox="1"/>
          <p:nvPr/>
        </p:nvSpPr>
        <p:spPr>
          <a:xfrm>
            <a:off x="8092440" y="8074152"/>
            <a:ext cx="9052560" cy="1097280"/>
          </a:xfrm>
          <a:prstGeom prst="rect">
            <a:avLst/>
          </a:prstGeom>
          <a:noFill/>
        </p:spPr>
        <p:txBody>
          <a:bodyPr wrap="square" anchor="ctr" lIns="0" rIns="0" tIns="0" bIns="0">
            <a:spAutoFit/>
          </a:bodyPr>
          <a:lstStyle/>
          <a:p>
            <a:pPr algn="l"/>
            <a:r>
              <a:rPr sz="2600" b="1">
                <a:solidFill>
                  <a:srgbClr val="FFFFFF"/>
                </a:solidFill>
                <a:latin typeface="Arial"/>
              </a:rPr>
              <a:t>Rénovation de la cour et pose de pare-ballons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