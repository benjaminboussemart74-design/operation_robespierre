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301" r:id="rId37"/>
    <p:sldId id="302" r:id="rId38"/>
    <p:sldId id="303" r:id="rId39"/>
    <p:sldId id="304" r:id="rId40"/>
    <p:sldId id="315" r:id="rId51"/>
    <p:sldId id="316" r:id="rId52"/>
    <p:sldId id="305" r:id="rId41"/>
    <p:sldId id="317" r:id="rId53"/>
    <p:sldId id="306" r:id="rId42"/>
    <p:sldId id="318" r:id="rId54"/>
    <p:sldId id="307" r:id="rId43"/>
    <p:sldId id="308" r:id="rId44"/>
    <p:sldId id="314" r:id="rId50"/>
    <p:sldId id="295" r:id="rId28"/>
    <p:sldId id="309" r:id="rId45"/>
    <p:sldId id="310" r:id="rId46"/>
    <p:sldId id="319" r:id="rId55"/>
    <p:sldId id="311" r:id="rId47"/>
    <p:sldId id="312" r:id="rId48"/>
    <p:sldId id="313" r:id="rId49"/>
    <p:sldId id="288" r:id="rId29"/>
    <p:sldId id="289" r:id="rId30"/>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194" y="9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commentAuthors" Target="commentAuthors.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 coût de l'annulation des marchés de travaux est difficile à estimer : il pourrait représenter entre plusieurs centaines de milliers d'euros et quelques millions d'euros. Dépenses déjà réalisées : études préalables et diagnostics (environ 150 000 €), études de conception et autorisations dont le permis de construire (environ 400 000 €), déménagement de l'école aux Gobelins (environ 1 300 000 €). Non compté : l'acquisition du bâtiment des Gobelins, pour un peu plus de 5 000 000 €.</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Petits travaux mené cet été dans les écoles ; plan fraîcheur pour mieux protéger les élèves.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décidée par La Poste sans information des habitants. Le Maire s'y est opposé et a demandé un délai ainsi que la sauvegarde d'activités postales.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Formulaire de signalement de la Ville : 400 signalements. Le Maire a obtenu la suspension de la modification non concertée du trajet de la ligne 220.</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base Sirene des entreprises (données ouvertes de la Ville, mise à jour du 15 août 2026), établissements actifs de l'avenue Médéric qui tiennent une boutique ou une salle ouverte au public ; chaque point est placé à l'adresse déclarée (Base Adresse Nationale). Ne sont pas comptés : la vente à distance ou à domicile, les meublés de tourisme, les sièges domiciliés et les cabinets de santé libéraux de l'avenue (deux médecins généralistes au 50, des infirmiers aux 92 et 114, des kinésithérapeutes et ostéopathes). Sirene peut garder actif un commerce fermé sans radiation : liste à confirmer par le service du commerce.</a:t>
            </a:r>
          </a:p>
          <a:p/>
          <a:p>
            <a:r>
              <a:t>Alimentation (6) : Picard (55), Mederic Superette (78), Superette Talbi (83), Boulangerie Du Marche (84), O Petit Biscuit (85), Boucherie Dlr (87)</a:t>
            </a:r>
          </a:p>
          <a:p>
            <a:r>
              <a:t>Restaurants et cafés (10) : Tf L Esperance (45), Thai-Bento (75), Le Paradis Street (77), Raf Raf Pilo (78), Zwin Et Zen (83), Tikida Food (94), Ouchibane Qlf (96), Le 102 (102), Vinalia (131), La Casa (150)</a:t>
            </a:r>
          </a:p>
          <a:p>
            <a:r>
              <a:t>Coiffure et beauté (4) : Grain De Beaute (89), Le Salon T.T.L (91), Noella &amp; Thierry (100), L'Atelier S (118)</a:t>
            </a:r>
          </a:p>
          <a:p>
            <a:r>
              <a:t>Santé (4) : Pharmacie Mederic (58), Etc (81), Henry (101), Mederic Optique (118)</a:t>
            </a:r>
          </a:p>
          <a:p>
            <a:r>
              <a:t>Autres commerces (6) : Societe Du Garage Des Richardets (33), Un Air De Campagne (63), De Salvo (90), B.S.K (92), Sarl Kg Distributions (104), Tissus Mercerie Confection Rideaux (112)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5.xml"/><Relationship Id="rId4" Type="http://schemas.openxmlformats.org/officeDocument/2006/relationships/image" Target="../media/image33.png"/><Relationship Id="rId5"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image" Target="../media/image3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image" Target="../media/image3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9.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3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image" Target="../media/image41.jpg"/><Relationship Id="rId5" Type="http://schemas.openxmlformats.org/officeDocument/2006/relationships/image" Target="../media/image4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anchor="t" lIns="0" rIns="0" tIns="0" bIns="0">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4238625"/>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Un déménagement organisé par la Ville</a:t>
            </a:r>
          </a:p>
        </p:txBody>
      </p:sp>
      <p:cxnSp>
        <p:nvCxnSpPr>
          <p:cNvPr id="5" name="Connector 4"/>
          <p:cNvCxnSpPr/>
          <p:nvPr/>
        </p:nvCxnSpPr>
        <p:spPr>
          <a:xfrm>
            <a:off x="3678936" y="3749039"/>
            <a:ext cx="1091183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35889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7" name="TextBox 6"/>
          <p:cNvSpPr txBox="1"/>
          <p:nvPr/>
        </p:nvSpPr>
        <p:spPr>
          <a:xfrm>
            <a:off x="1179576" y="4343400"/>
            <a:ext cx="499871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8" name="TextBox 7"/>
          <p:cNvSpPr txBox="1"/>
          <p:nvPr/>
        </p:nvSpPr>
        <p:spPr>
          <a:xfrm>
            <a:off x="1179576" y="5029200"/>
            <a:ext cx="499871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9" name="Oval 8"/>
          <p:cNvSpPr/>
          <p:nvPr/>
        </p:nvSpPr>
        <p:spPr>
          <a:xfrm>
            <a:off x="8814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0" name="TextBox 9"/>
          <p:cNvSpPr txBox="1"/>
          <p:nvPr/>
        </p:nvSpPr>
        <p:spPr>
          <a:xfrm>
            <a:off x="6635495" y="4343400"/>
            <a:ext cx="499871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11" name="TextBox 10"/>
          <p:cNvSpPr txBox="1"/>
          <p:nvPr/>
        </p:nvSpPr>
        <p:spPr>
          <a:xfrm>
            <a:off x="6635495" y="5029200"/>
            <a:ext cx="499871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12" name="Oval 11"/>
          <p:cNvSpPr/>
          <p:nvPr/>
        </p:nvSpPr>
        <p:spPr>
          <a:xfrm>
            <a:off x="1427073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3" name="TextBox 12"/>
          <p:cNvSpPr txBox="1"/>
          <p:nvPr/>
        </p:nvSpPr>
        <p:spPr>
          <a:xfrm>
            <a:off x="12091416" y="4343400"/>
            <a:ext cx="499871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14" name="TextBox 13"/>
          <p:cNvSpPr txBox="1"/>
          <p:nvPr/>
        </p:nvSpPr>
        <p:spPr>
          <a:xfrm>
            <a:off x="12091416" y="5029200"/>
            <a:ext cx="499871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7726679"/>
            <a:ext cx="15544800" cy="1417320"/>
          </a:xfrm>
          <a:prstGeom prst="rect">
            <a:avLst/>
          </a:prstGeom>
          <a:noFill/>
        </p:spPr>
        <p:txBody>
          <a:bodyPr wrap="square" anchor="ctr" lIns="0" rIns="0" tIns="0" bIns="0">
            <a:spAutoFit/>
          </a:bodyPr>
          <a:lstStyle/>
          <a:p>
            <a:pPr algn="l"/>
            <a:r>
              <a:rPr sz="2600" b="1">
                <a:solidFill>
                  <a:srgbClr val="0E1F5B"/>
                </a:solidFill>
                <a:latin typeface="Arial"/>
              </a:rPr>
              <a:t>Un déménagement entièrement pris en charge par un prestataire de la Ville : mise en carton, transport et réinstallation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chantier de l'école</a:t>
            </a:r>
          </a:p>
        </p:txBody>
      </p:sp>
      <p:sp>
        <p:nvSpPr>
          <p:cNvPr id="5" name="Rectangle 4"/>
          <p:cNvSpPr/>
          <p:nvPr/>
        </p:nvSpPr>
        <p:spPr>
          <a:xfrm>
            <a:off x="950976" y="2331720"/>
            <a:ext cx="969264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606040"/>
            <a:ext cx="8961120" cy="457200"/>
          </a:xfrm>
          <a:prstGeom prst="rect">
            <a:avLst/>
          </a:prstGeom>
          <a:noFill/>
        </p:spPr>
        <p:txBody>
          <a:bodyPr wrap="square" anchor="t" lIns="0" rIns="0" tIns="0" bIns="0">
            <a:spAutoFit/>
          </a:bodyPr>
          <a:lstStyle/>
          <a:p>
            <a:pPr algn="l"/>
            <a:r>
              <a:rPr sz="2200" b="1" spc="150">
                <a:solidFill>
                  <a:srgbClr val="72C493"/>
                </a:solidFill>
                <a:latin typeface="Arial"/>
              </a:rPr>
              <a:t>RÉOUVERTURE PRÉVUE EN</a:t>
            </a:r>
          </a:p>
        </p:txBody>
      </p:sp>
      <p:sp>
        <p:nvSpPr>
          <p:cNvPr id="7" name="TextBox 6"/>
          <p:cNvSpPr txBox="1"/>
          <p:nvPr/>
        </p:nvSpPr>
        <p:spPr>
          <a:xfrm>
            <a:off x="1371600" y="3063240"/>
            <a:ext cx="8961120" cy="1463040"/>
          </a:xfrm>
          <a:prstGeom prst="rect">
            <a:avLst/>
          </a:prstGeom>
          <a:noFill/>
        </p:spPr>
        <p:txBody>
          <a:bodyPr wrap="square" anchor="t" lIns="0" rIns="0" tIns="0" bIns="0">
            <a:spAutoFit/>
          </a:bodyPr>
          <a:lstStyle/>
          <a:p>
            <a:pPr algn="l"/>
            <a:r>
              <a:rPr sz="8000" b="1">
                <a:solidFill>
                  <a:srgbClr val="FFFFFF"/>
                </a:solidFill>
                <a:latin typeface="Arial"/>
              </a:rPr>
              <a:t>septembre 2028</a:t>
            </a:r>
          </a:p>
        </p:txBody>
      </p:sp>
      <p:sp>
        <p:nvSpPr>
          <p:cNvPr id="8" name="TextBox 7"/>
          <p:cNvSpPr txBox="1"/>
          <p:nvPr/>
        </p:nvSpPr>
        <p:spPr>
          <a:xfrm>
            <a:off x="1371600" y="4572000"/>
            <a:ext cx="8961120" cy="1280160"/>
          </a:xfrm>
          <a:prstGeom prst="rect">
            <a:avLst/>
          </a:prstGeom>
          <a:noFill/>
        </p:spPr>
        <p:txBody>
          <a:bodyPr wrap="square" anchor="t" lIns="0" rIns="0" tIns="0" bIns="0">
            <a:spAutoFit/>
          </a:bodyPr>
          <a:lstStyle/>
          <a:p>
            <a:pPr algn="l"/>
            <a:r>
              <a:rPr sz="24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470916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71016" y="6611112"/>
            <a:ext cx="4160520" cy="914400"/>
          </a:xfrm>
          <a:prstGeom prst="rect">
            <a:avLst/>
          </a:prstGeom>
          <a:noFill/>
        </p:spPr>
        <p:txBody>
          <a:bodyPr wrap="square" anchor="t" lIns="0" rIns="0" tIns="0" bIns="0">
            <a:spAutoFit/>
          </a:bodyPr>
          <a:lstStyle/>
          <a:p>
            <a:pPr algn="l"/>
            <a:r>
              <a:rPr sz="4800" b="1">
                <a:solidFill>
                  <a:srgbClr val="72C493"/>
                </a:solidFill>
                <a:latin typeface="Arial"/>
              </a:rPr>
              <a:t>Sept. 2026</a:t>
            </a:r>
          </a:p>
        </p:txBody>
      </p:sp>
      <p:sp>
        <p:nvSpPr>
          <p:cNvPr id="11" name="TextBox 10"/>
          <p:cNvSpPr txBox="1"/>
          <p:nvPr/>
        </p:nvSpPr>
        <p:spPr>
          <a:xfrm>
            <a:off x="1271016" y="7373112"/>
            <a:ext cx="4160520" cy="1737360"/>
          </a:xfrm>
          <a:prstGeom prst="rect">
            <a:avLst/>
          </a:prstGeom>
          <a:noFill/>
        </p:spPr>
        <p:txBody>
          <a:bodyPr wrap="square" anchor="t" lIns="0" rIns="0" tIns="0" bIns="0">
            <a:spAutoFit/>
          </a:bodyPr>
          <a:lstStyle/>
          <a:p>
            <a:pPr algn="l"/>
            <a:r>
              <a:rPr sz="2400" b="1">
                <a:solidFill>
                  <a:srgbClr val="FAF5EC"/>
                </a:solidFill>
                <a:latin typeface="Arial"/>
              </a:rPr>
              <a:t>démarrage des travaux</a:t>
            </a:r>
          </a:p>
        </p:txBody>
      </p:sp>
      <p:sp>
        <p:nvSpPr>
          <p:cNvPr id="12" name="Rectangle 11"/>
          <p:cNvSpPr/>
          <p:nvPr/>
        </p:nvSpPr>
        <p:spPr>
          <a:xfrm>
            <a:off x="5934456" y="6355080"/>
            <a:ext cx="470916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6611112"/>
            <a:ext cx="4160520" cy="914400"/>
          </a:xfrm>
          <a:prstGeom prst="rect">
            <a:avLst/>
          </a:prstGeom>
          <a:noFill/>
        </p:spPr>
        <p:txBody>
          <a:bodyPr wrap="square" anchor="t" lIns="0" rIns="0" tIns="0" bIns="0">
            <a:spAutoFit/>
          </a:bodyPr>
          <a:lstStyle/>
          <a:p>
            <a:pPr algn="l"/>
            <a:r>
              <a:rPr sz="4800" b="1">
                <a:solidFill>
                  <a:srgbClr val="72C493"/>
                </a:solidFill>
                <a:latin typeface="Arial"/>
              </a:rPr>
              <a:t>20 mois</a:t>
            </a:r>
          </a:p>
        </p:txBody>
      </p:sp>
      <p:sp>
        <p:nvSpPr>
          <p:cNvPr id="14" name="TextBox 13"/>
          <p:cNvSpPr txBox="1"/>
          <p:nvPr/>
        </p:nvSpPr>
        <p:spPr>
          <a:xfrm>
            <a:off x="6254496" y="7373112"/>
            <a:ext cx="4160520" cy="1737360"/>
          </a:xfrm>
          <a:prstGeom prst="rect">
            <a:avLst/>
          </a:prstGeom>
          <a:noFill/>
        </p:spPr>
        <p:txBody>
          <a:bodyPr wrap="square" anchor="t" lIns="0" rIns="0" tIns="0" bIns="0">
            <a:spAutoFit/>
          </a:bodyPr>
          <a:lstStyle/>
          <a:p>
            <a:pPr algn="l"/>
            <a:r>
              <a:rPr sz="2400" b="1">
                <a:solidFill>
                  <a:srgbClr val="FAF5EC"/>
                </a:solidFill>
                <a:latin typeface="Arial"/>
              </a:rPr>
              <a:t>de travaux prévus, pour une école agrandie et rénovée</a:t>
            </a:r>
          </a:p>
        </p:txBody>
      </p:sp>
      <p:sp>
        <p:nvSpPr>
          <p:cNvPr id="15" name="Rectangle 14"/>
          <p:cNvSpPr/>
          <p:nvPr/>
        </p:nvSpPr>
        <p:spPr>
          <a:xfrm>
            <a:off x="11155680" y="2331720"/>
            <a:ext cx="6181344" cy="704088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0" y="2331720"/>
            <a:ext cx="5632704" cy="7040880"/>
          </a:xfrm>
          <a:prstGeom prst="rect">
            <a:avLst/>
          </a:prstGeom>
          <a:noFill/>
        </p:spPr>
        <p:txBody>
          <a:bodyPr wrap="square" anchor="ctr" lIns="0" rIns="0" tIns="0" bIns="0">
            <a:spAutoFit/>
          </a:bodyPr>
          <a:lstStyle/>
          <a:p>
            <a:pPr algn="ctr"/>
            <a:r>
              <a:rPr sz="2200" b="1">
                <a:solidFill>
                  <a:srgbClr val="8A90B0"/>
                </a:solidFill>
                <a:latin typeface="Arial"/>
              </a:rPr>
              <a:t>[Photo du chantier à fournir]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 coût d'une annulation</a:t>
            </a:r>
          </a:p>
        </p:txBody>
      </p:sp>
      <p:sp>
        <p:nvSpPr>
          <p:cNvPr id="5" name="TextBox 4"/>
          <p:cNvSpPr txBox="1"/>
          <p:nvPr/>
        </p:nvSpPr>
        <p:spPr>
          <a:xfrm>
            <a:off x="950976" y="2331720"/>
            <a:ext cx="16367759" cy="2194560"/>
          </a:xfrm>
          <a:prstGeom prst="rect">
            <a:avLst/>
          </a:prstGeom>
          <a:noFill/>
        </p:spPr>
        <p:txBody>
          <a:bodyPr wrap="square" anchor="t" lIns="0" rIns="0" tIns="0" bIns="0">
            <a:spAutoFit/>
          </a:bodyPr>
          <a:lstStyle/>
          <a:p>
            <a:pPr algn="l">
              <a:lnSpc>
                <a:spcPct val="105000"/>
              </a:lnSpc>
            </a:pPr>
            <a:r>
              <a:rPr sz="5000" b="1">
                <a:solidFill>
                  <a:srgbClr val="72C493"/>
                </a:solidFill>
                <a:latin typeface="Arial"/>
              </a:rPr>
              <a:t>De plusieurs centaines de milliers d'euros</a:t>
            </a:r>
          </a:p>
          <a:p>
            <a:pPr algn="l">
              <a:lnSpc>
                <a:spcPct val="105000"/>
              </a:lnSpc>
            </a:pPr>
            <a:r>
              <a:rPr sz="5000" b="1">
                <a:solidFill>
                  <a:srgbClr val="72C493"/>
                </a:solidFill>
                <a:latin typeface="Arial"/>
              </a:rPr>
              <a:t>à quelques millions d'euros</a:t>
            </a:r>
          </a:p>
        </p:txBody>
      </p:sp>
      <p:sp>
        <p:nvSpPr>
          <p:cNvPr id="6" name="TextBox 5"/>
          <p:cNvSpPr txBox="1"/>
          <p:nvPr/>
        </p:nvSpPr>
        <p:spPr>
          <a:xfrm>
            <a:off x="950976" y="4434840"/>
            <a:ext cx="16367759" cy="548640"/>
          </a:xfrm>
          <a:prstGeom prst="rect">
            <a:avLst/>
          </a:prstGeom>
          <a:noFill/>
        </p:spPr>
        <p:txBody>
          <a:bodyPr wrap="square" anchor="t" lIns="0" rIns="0" tIns="0" bIns="0">
            <a:spAutoFit/>
          </a:bodyPr>
          <a:lstStyle/>
          <a:p>
            <a:pPr algn="l"/>
            <a:r>
              <a:rPr sz="2800" b="1">
                <a:solidFill>
                  <a:srgbClr val="FFFFFF"/>
                </a:solidFill>
                <a:latin typeface="Arial"/>
              </a:rPr>
              <a:t>Le coût qu'aurait représenté l'annulation de la construction de l'école</a:t>
            </a:r>
          </a:p>
        </p:txBody>
      </p:sp>
      <p:sp>
        <p:nvSpPr>
          <p:cNvPr id="7" name="TextBox 6"/>
          <p:cNvSpPr txBox="1"/>
          <p:nvPr/>
        </p:nvSpPr>
        <p:spPr>
          <a:xfrm>
            <a:off x="950976" y="5486400"/>
            <a:ext cx="16367759" cy="457200"/>
          </a:xfrm>
          <a:prstGeom prst="rect">
            <a:avLst/>
          </a:prstGeom>
          <a:noFill/>
        </p:spPr>
        <p:txBody>
          <a:bodyPr wrap="square" anchor="t" lIns="0" rIns="0" tIns="0" bIns="0">
            <a:spAutoFit/>
          </a:bodyPr>
          <a:lstStyle/>
          <a:p>
            <a:pPr algn="l"/>
            <a:r>
              <a:rPr sz="2100" b="1" spc="150">
                <a:solidFill>
                  <a:srgbClr val="72C493"/>
                </a:solidFill>
                <a:latin typeface="Arial"/>
              </a:rPr>
              <a:t>DÉJÀ ENGAGÉ</a:t>
            </a:r>
          </a:p>
        </p:txBody>
      </p:sp>
      <p:sp>
        <p:nvSpPr>
          <p:cNvPr id="8" name="Rectangle 7"/>
          <p:cNvSpPr/>
          <p:nvPr/>
        </p:nvSpPr>
        <p:spPr>
          <a:xfrm>
            <a:off x="950976" y="6035040"/>
            <a:ext cx="5230368" cy="301752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1016" y="6291072"/>
            <a:ext cx="4681728" cy="914400"/>
          </a:xfrm>
          <a:prstGeom prst="rect">
            <a:avLst/>
          </a:prstGeom>
          <a:noFill/>
        </p:spPr>
        <p:txBody>
          <a:bodyPr wrap="square" anchor="t" lIns="0" rIns="0" tIns="0" bIns="0">
            <a:spAutoFit/>
          </a:bodyPr>
          <a:lstStyle/>
          <a:p>
            <a:pPr algn="l"/>
            <a:r>
              <a:rPr sz="3400" b="1">
                <a:solidFill>
                  <a:srgbClr val="72C493"/>
                </a:solidFill>
                <a:latin typeface="Arial"/>
              </a:rPr>
              <a:t>Environ 150 000 €</a:t>
            </a:r>
          </a:p>
        </p:txBody>
      </p:sp>
      <p:sp>
        <p:nvSpPr>
          <p:cNvPr id="10" name="TextBox 9"/>
          <p:cNvSpPr txBox="1"/>
          <p:nvPr/>
        </p:nvSpPr>
        <p:spPr>
          <a:xfrm>
            <a:off x="1271016" y="6830822"/>
            <a:ext cx="4681728" cy="1737360"/>
          </a:xfrm>
          <a:prstGeom prst="rect">
            <a:avLst/>
          </a:prstGeom>
          <a:noFill/>
        </p:spPr>
        <p:txBody>
          <a:bodyPr wrap="square" anchor="t" lIns="0" rIns="0" tIns="0" bIns="0">
            <a:spAutoFit/>
          </a:bodyPr>
          <a:lstStyle/>
          <a:p>
            <a:pPr algn="l"/>
            <a:r>
              <a:rPr sz="2400" b="1">
                <a:solidFill>
                  <a:srgbClr val="FAF5EC"/>
                </a:solidFill>
                <a:latin typeface="Arial"/>
              </a:rPr>
              <a:t>études préalables et diagnostics</a:t>
            </a:r>
          </a:p>
        </p:txBody>
      </p:sp>
      <p:sp>
        <p:nvSpPr>
          <p:cNvPr id="11" name="Rectangle 10"/>
          <p:cNvSpPr/>
          <p:nvPr/>
        </p:nvSpPr>
        <p:spPr>
          <a:xfrm>
            <a:off x="6519672" y="6035040"/>
            <a:ext cx="5230368" cy="301752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9712" y="6291072"/>
            <a:ext cx="4681728" cy="914400"/>
          </a:xfrm>
          <a:prstGeom prst="rect">
            <a:avLst/>
          </a:prstGeom>
          <a:noFill/>
        </p:spPr>
        <p:txBody>
          <a:bodyPr wrap="square" anchor="t" lIns="0" rIns="0" tIns="0" bIns="0">
            <a:spAutoFit/>
          </a:bodyPr>
          <a:lstStyle/>
          <a:p>
            <a:pPr algn="l"/>
            <a:r>
              <a:rPr sz="3400" b="1">
                <a:solidFill>
                  <a:srgbClr val="72C493"/>
                </a:solidFill>
                <a:latin typeface="Arial"/>
              </a:rPr>
              <a:t>Environ 400 000 €</a:t>
            </a:r>
          </a:p>
        </p:txBody>
      </p:sp>
      <p:sp>
        <p:nvSpPr>
          <p:cNvPr id="13" name="TextBox 12"/>
          <p:cNvSpPr txBox="1"/>
          <p:nvPr/>
        </p:nvSpPr>
        <p:spPr>
          <a:xfrm>
            <a:off x="6839712" y="6830822"/>
            <a:ext cx="4681728" cy="1737360"/>
          </a:xfrm>
          <a:prstGeom prst="rect">
            <a:avLst/>
          </a:prstGeom>
          <a:noFill/>
        </p:spPr>
        <p:txBody>
          <a:bodyPr wrap="square" anchor="t" lIns="0" rIns="0" tIns="0" bIns="0">
            <a:spAutoFit/>
          </a:bodyPr>
          <a:lstStyle/>
          <a:p>
            <a:pPr algn="l"/>
            <a:r>
              <a:rPr sz="2400" b="1">
                <a:solidFill>
                  <a:srgbClr val="FAF5EC"/>
                </a:solidFill>
                <a:latin typeface="Arial"/>
              </a:rPr>
              <a:t>études de conception et autorisations, dont le permis de construire</a:t>
            </a:r>
          </a:p>
        </p:txBody>
      </p:sp>
      <p:sp>
        <p:nvSpPr>
          <p:cNvPr id="14" name="Rectangle 13"/>
          <p:cNvSpPr/>
          <p:nvPr/>
        </p:nvSpPr>
        <p:spPr>
          <a:xfrm>
            <a:off x="12088367" y="6035040"/>
            <a:ext cx="5230368" cy="301752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408407" y="6291072"/>
            <a:ext cx="4681728" cy="914400"/>
          </a:xfrm>
          <a:prstGeom prst="rect">
            <a:avLst/>
          </a:prstGeom>
          <a:noFill/>
        </p:spPr>
        <p:txBody>
          <a:bodyPr wrap="square" anchor="t" lIns="0" rIns="0" tIns="0" bIns="0">
            <a:spAutoFit/>
          </a:bodyPr>
          <a:lstStyle/>
          <a:p>
            <a:pPr algn="l"/>
            <a:r>
              <a:rPr sz="3400" b="1">
                <a:solidFill>
                  <a:srgbClr val="72C493"/>
                </a:solidFill>
                <a:latin typeface="Arial"/>
              </a:rPr>
              <a:t>Environ 1 300 000 €</a:t>
            </a:r>
          </a:p>
        </p:txBody>
      </p:sp>
      <p:sp>
        <p:nvSpPr>
          <p:cNvPr id="16" name="TextBox 15"/>
          <p:cNvSpPr txBox="1"/>
          <p:nvPr/>
        </p:nvSpPr>
        <p:spPr>
          <a:xfrm>
            <a:off x="12408407" y="6830822"/>
            <a:ext cx="4681728" cy="1737360"/>
          </a:xfrm>
          <a:prstGeom prst="rect">
            <a:avLst/>
          </a:prstGeom>
          <a:noFill/>
        </p:spPr>
        <p:txBody>
          <a:bodyPr wrap="square" anchor="t" lIns="0" rIns="0" tIns="0" bIns="0">
            <a:spAutoFit/>
          </a:bodyPr>
          <a:lstStyle/>
          <a:p>
            <a:pPr algn="l"/>
            <a:r>
              <a:rPr sz="2400" b="1">
                <a:solidFill>
                  <a:srgbClr val="FAF5EC"/>
                </a:solidFill>
                <a:latin typeface="Arial"/>
              </a:rPr>
              <a:t>déménagement de l'école aux Gobelins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 · ET LES AUTRES ÉCOLES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plan Petits travaux dans les écoles</a:t>
            </a:r>
          </a:p>
        </p:txBody>
      </p:sp>
      <p:sp>
        <p:nvSpPr>
          <p:cNvPr id="5" name="TextBox 4"/>
          <p:cNvSpPr txBox="1"/>
          <p:nvPr/>
        </p:nvSpPr>
        <p:spPr>
          <a:xfrm>
            <a:off x="950976" y="2286000"/>
            <a:ext cx="3657600" cy="1828800"/>
          </a:xfrm>
          <a:prstGeom prst="rect">
            <a:avLst/>
          </a:prstGeom>
          <a:noFill/>
        </p:spPr>
        <p:txBody>
          <a:bodyPr wrap="square" anchor="t" lIns="0" rIns="0" tIns="0" bIns="0">
            <a:spAutoFit/>
          </a:bodyPr>
          <a:lstStyle/>
          <a:p>
            <a:pPr algn="l"/>
            <a:r>
              <a:rPr sz="12000" b="1">
                <a:solidFill>
                  <a:srgbClr val="0E1F5B"/>
                </a:solidFill>
                <a:latin typeface="Arial"/>
              </a:rPr>
              <a:t>35</a:t>
            </a:r>
          </a:p>
        </p:txBody>
      </p:sp>
      <p:sp>
        <p:nvSpPr>
          <p:cNvPr id="6" name="TextBox 5"/>
          <p:cNvSpPr txBox="1"/>
          <p:nvPr/>
        </p:nvSpPr>
        <p:spPr>
          <a:xfrm>
            <a:off x="3840480" y="2697480"/>
            <a:ext cx="13441680" cy="128016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800" b="1">
                <a:solidFill>
                  <a:srgbClr val="0E1F5B"/>
                </a:solidFill>
                <a:latin typeface="Arial"/>
              </a:rPr>
              <a:t>opérations sur 19 sites cet été</a:t>
            </a:r>
          </a:p>
        </p:txBody>
      </p:sp>
      <p:sp>
        <p:nvSpPr>
          <p:cNvPr id="7" name="TextBox 6"/>
          <p:cNvSpPr txBox="1"/>
          <p:nvPr/>
        </p:nvSpPr>
        <p:spPr>
          <a:xfrm>
            <a:off x="950976" y="4343400"/>
            <a:ext cx="16367759" cy="457200"/>
          </a:xfrm>
          <a:prstGeom prst="rect">
            <a:avLst/>
          </a:prstGeom>
          <a:noFill/>
        </p:spPr>
        <p:txBody>
          <a:bodyPr wrap="square" anchor="t" lIns="0" rIns="0" tIns="0" bIns="0">
            <a:spAutoFit/>
          </a:bodyPr>
          <a:lstStyle/>
          <a:p>
            <a:pPr algn="l"/>
            <a:r>
              <a:rPr sz="2100" b="1" spc="150">
                <a:solidFill>
                  <a:srgbClr val="72C493"/>
                </a:solidFill>
                <a:latin typeface="Arial"/>
              </a:rPr>
              <a:t>PLAN FRAÎCHEUR</a:t>
            </a:r>
          </a:p>
        </p:txBody>
      </p:sp>
      <p:sp>
        <p:nvSpPr>
          <p:cNvPr id="8" name="Rectangle 7"/>
          <p:cNvSpPr/>
          <p:nvPr/>
        </p:nvSpPr>
        <p:spPr>
          <a:xfrm>
            <a:off x="950976" y="4846320"/>
            <a:ext cx="3822191" cy="23774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1016" y="5102352"/>
            <a:ext cx="3273551" cy="914400"/>
          </a:xfrm>
          <a:prstGeom prst="rect">
            <a:avLst/>
          </a:prstGeom>
          <a:noFill/>
        </p:spPr>
        <p:txBody>
          <a:bodyPr wrap="square" anchor="t" lIns="0" rIns="0" tIns="0" bIns="0">
            <a:spAutoFit/>
          </a:bodyPr>
          <a:lstStyle/>
          <a:p>
            <a:pPr algn="l"/>
            <a:r>
              <a:rPr sz="5400" b="1">
                <a:solidFill>
                  <a:srgbClr val="72C493"/>
                </a:solidFill>
                <a:latin typeface="Arial"/>
              </a:rPr>
              <a:t>3 600 m</a:t>
            </a:r>
          </a:p>
        </p:txBody>
      </p:sp>
      <p:sp>
        <p:nvSpPr>
          <p:cNvPr id="10" name="TextBox 9"/>
          <p:cNvSpPr txBox="1"/>
          <p:nvPr/>
        </p:nvSpPr>
        <p:spPr>
          <a:xfrm>
            <a:off x="1271016" y="5959602"/>
            <a:ext cx="3273551" cy="1097280"/>
          </a:xfrm>
          <a:prstGeom prst="rect">
            <a:avLst/>
          </a:prstGeom>
          <a:noFill/>
        </p:spPr>
        <p:txBody>
          <a:bodyPr wrap="square" anchor="t" lIns="0" rIns="0" tIns="0" bIns="0">
            <a:spAutoFit/>
          </a:bodyPr>
          <a:lstStyle/>
          <a:p>
            <a:pPr algn="l"/>
            <a:r>
              <a:rPr sz="2400" b="1">
                <a:solidFill>
                  <a:srgbClr val="FAF5EC"/>
                </a:solidFill>
                <a:latin typeface="Arial"/>
              </a:rPr>
              <a:t>de film solaire</a:t>
            </a:r>
          </a:p>
        </p:txBody>
      </p:sp>
      <p:sp>
        <p:nvSpPr>
          <p:cNvPr id="11" name="Rectangle 10"/>
          <p:cNvSpPr/>
          <p:nvPr/>
        </p:nvSpPr>
        <p:spPr>
          <a:xfrm>
            <a:off x="5065776" y="4846320"/>
            <a:ext cx="3822191" cy="23774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85816" y="5102352"/>
            <a:ext cx="3273551" cy="914400"/>
          </a:xfrm>
          <a:prstGeom prst="rect">
            <a:avLst/>
          </a:prstGeom>
          <a:noFill/>
        </p:spPr>
        <p:txBody>
          <a:bodyPr wrap="square" anchor="t" lIns="0" rIns="0" tIns="0" bIns="0">
            <a:spAutoFit/>
          </a:bodyPr>
          <a:lstStyle/>
          <a:p>
            <a:pPr algn="l"/>
            <a:r>
              <a:rPr sz="5400" b="1">
                <a:solidFill>
                  <a:srgbClr val="72C493"/>
                </a:solidFill>
                <a:latin typeface="Arial"/>
              </a:rPr>
              <a:t>67</a:t>
            </a:r>
          </a:p>
        </p:txBody>
      </p:sp>
      <p:sp>
        <p:nvSpPr>
          <p:cNvPr id="13" name="TextBox 12"/>
          <p:cNvSpPr txBox="1"/>
          <p:nvPr/>
        </p:nvSpPr>
        <p:spPr>
          <a:xfrm>
            <a:off x="5385816" y="5959602"/>
            <a:ext cx="3273551" cy="1097280"/>
          </a:xfrm>
          <a:prstGeom prst="rect">
            <a:avLst/>
          </a:prstGeom>
          <a:noFill/>
        </p:spPr>
        <p:txBody>
          <a:bodyPr wrap="square" anchor="t" lIns="0" rIns="0" tIns="0" bIns="0">
            <a:spAutoFit/>
          </a:bodyPr>
          <a:lstStyle/>
          <a:p>
            <a:pPr algn="l"/>
            <a:r>
              <a:rPr sz="2400" b="1">
                <a:solidFill>
                  <a:srgbClr val="FAF5EC"/>
                </a:solidFill>
                <a:latin typeface="Arial"/>
              </a:rPr>
              <a:t>climatiseurs</a:t>
            </a:r>
          </a:p>
        </p:txBody>
      </p:sp>
      <p:sp>
        <p:nvSpPr>
          <p:cNvPr id="14" name="Rectangle 13"/>
          <p:cNvSpPr/>
          <p:nvPr/>
        </p:nvSpPr>
        <p:spPr>
          <a:xfrm>
            <a:off x="9180576" y="4846320"/>
            <a:ext cx="3822191" cy="23774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0615" y="5102352"/>
            <a:ext cx="3273551" cy="914400"/>
          </a:xfrm>
          <a:prstGeom prst="rect">
            <a:avLst/>
          </a:prstGeom>
          <a:noFill/>
        </p:spPr>
        <p:txBody>
          <a:bodyPr wrap="square" anchor="t" lIns="0" rIns="0" tIns="0" bIns="0">
            <a:spAutoFit/>
          </a:bodyPr>
          <a:lstStyle/>
          <a:p>
            <a:pPr algn="l"/>
            <a:r>
              <a:rPr sz="5400" b="1">
                <a:solidFill>
                  <a:srgbClr val="72C493"/>
                </a:solidFill>
                <a:latin typeface="Arial"/>
              </a:rPr>
              <a:t>400</a:t>
            </a:r>
          </a:p>
        </p:txBody>
      </p:sp>
      <p:sp>
        <p:nvSpPr>
          <p:cNvPr id="16" name="TextBox 15"/>
          <p:cNvSpPr txBox="1"/>
          <p:nvPr/>
        </p:nvSpPr>
        <p:spPr>
          <a:xfrm>
            <a:off x="9500615" y="5959602"/>
            <a:ext cx="3273551" cy="1097280"/>
          </a:xfrm>
          <a:prstGeom prst="rect">
            <a:avLst/>
          </a:prstGeom>
          <a:noFill/>
        </p:spPr>
        <p:txBody>
          <a:bodyPr wrap="square" anchor="t" lIns="0" rIns="0" tIns="0" bIns="0">
            <a:spAutoFit/>
          </a:bodyPr>
          <a:lstStyle/>
          <a:p>
            <a:pPr algn="l"/>
            <a:r>
              <a:rPr sz="2400" b="1">
                <a:solidFill>
                  <a:srgbClr val="FAF5EC"/>
                </a:solidFill>
                <a:latin typeface="Arial"/>
              </a:rPr>
              <a:t>brumisateurs</a:t>
            </a:r>
          </a:p>
        </p:txBody>
      </p:sp>
      <p:sp>
        <p:nvSpPr>
          <p:cNvPr id="17" name="Rectangle 16"/>
          <p:cNvSpPr/>
          <p:nvPr/>
        </p:nvSpPr>
        <p:spPr>
          <a:xfrm>
            <a:off x="13295376" y="4846320"/>
            <a:ext cx="3822191" cy="23774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615415" y="5102352"/>
            <a:ext cx="3273551" cy="914400"/>
          </a:xfrm>
          <a:prstGeom prst="rect">
            <a:avLst/>
          </a:prstGeom>
          <a:noFill/>
        </p:spPr>
        <p:txBody>
          <a:bodyPr wrap="square" anchor="t" lIns="0" rIns="0" tIns="0" bIns="0">
            <a:spAutoFit/>
          </a:bodyPr>
          <a:lstStyle/>
          <a:p>
            <a:pPr algn="l"/>
            <a:r>
              <a:rPr sz="5400" b="1">
                <a:solidFill>
                  <a:srgbClr val="72C493"/>
                </a:solidFill>
                <a:latin typeface="Arial"/>
              </a:rPr>
              <a:t>618</a:t>
            </a:r>
          </a:p>
        </p:txBody>
      </p:sp>
      <p:sp>
        <p:nvSpPr>
          <p:cNvPr id="19" name="TextBox 18"/>
          <p:cNvSpPr txBox="1"/>
          <p:nvPr/>
        </p:nvSpPr>
        <p:spPr>
          <a:xfrm>
            <a:off x="13615415" y="5959602"/>
            <a:ext cx="3273551" cy="1097280"/>
          </a:xfrm>
          <a:prstGeom prst="rect">
            <a:avLst/>
          </a:prstGeom>
          <a:noFill/>
        </p:spPr>
        <p:txBody>
          <a:bodyPr wrap="square" anchor="t" lIns="0" rIns="0" tIns="0" bIns="0">
            <a:spAutoFit/>
          </a:bodyPr>
          <a:lstStyle/>
          <a:p>
            <a:pPr algn="l"/>
            <a:r>
              <a:rPr sz="2400" b="1">
                <a:solidFill>
                  <a:srgbClr val="FAF5EC"/>
                </a:solidFill>
                <a:latin typeface="Arial"/>
              </a:rPr>
              <a:t>ventilateurs</a:t>
            </a:r>
          </a:p>
        </p:txBody>
      </p:sp>
      <p:sp>
        <p:nvSpPr>
          <p:cNvPr id="20" name="Rectangle 19"/>
          <p:cNvSpPr/>
          <p:nvPr/>
        </p:nvSpPr>
        <p:spPr>
          <a:xfrm>
            <a:off x="950976" y="7543800"/>
            <a:ext cx="16367759" cy="178308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5296" y="7543800"/>
            <a:ext cx="15819119" cy="1783080"/>
          </a:xfrm>
          <a:prstGeom prst="rect">
            <a:avLst/>
          </a:prstGeom>
          <a:noFill/>
        </p:spPr>
        <p:txBody>
          <a:bodyPr wrap="square" anchor="ctr" lIns="0" rIns="0" tIns="0" bIns="0">
            <a:spAutoFit/>
          </a:bodyPr>
          <a:lstStyle/>
          <a:p>
            <a:pPr algn="ctr"/>
            <a:r>
              <a:rPr sz="2200" b="1">
                <a:solidFill>
                  <a:srgbClr val="8A90B0"/>
                </a:solidFill>
                <a:latin typeface="Arial"/>
              </a:rPr>
              <a:t>[Travaux réalisés à l'école des Gobelins et à la maternelle des Yvris à compléter]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Circulation aux abords des écoles</a:t>
            </a: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anchor="t" lIns="0" rIns="0" tIns="0" bIns="0">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0096" y="4389120"/>
            <a:ext cx="3273552" cy="2011680"/>
          </a:xfrm>
          <a:prstGeom prst="rect">
            <a:avLst/>
          </a:prstGeom>
          <a:noFill/>
        </p:spPr>
        <p:txBody>
          <a:bodyPr wrap="square" anchor="t" lIns="0" rIns="0" tIns="0" bIns="0">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54896" y="4389120"/>
            <a:ext cx="3273552" cy="2011680"/>
          </a:xfrm>
          <a:prstGeom prst="rect">
            <a:avLst/>
          </a:prstGeom>
          <a:noFill/>
        </p:spPr>
        <p:txBody>
          <a:bodyPr wrap="square" anchor="t" lIns="0" rIns="0" tIns="0" bIns="0">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569696" y="4389120"/>
            <a:ext cx="3273552" cy="2011680"/>
          </a:xfrm>
          <a:prstGeom prst="rect">
            <a:avLst/>
          </a:prstGeom>
          <a:noFill/>
        </p:spPr>
        <p:txBody>
          <a:bodyPr wrap="square" anchor="t" lIns="0" rIns="0" tIns="0" bIns="0">
            <a:spAutoFit/>
          </a:bodyPr>
          <a:lstStyle/>
          <a:p>
            <a:pPr algn="ctr"/>
            <a:r>
              <a:rPr sz="2400" b="1">
                <a:solidFill>
                  <a:srgbClr val="FFFFFF"/>
                </a:solidFill>
                <a:latin typeface="Arial"/>
              </a:rPr>
              <a:t>Vitesse excessive avenue Médéric</a:t>
            </a:r>
          </a:p>
        </p:txBody>
      </p:sp>
      <p:sp>
        <p:nvSpPr>
          <p:cNvPr id="32" name="Rectangle 31"/>
          <p:cNvSpPr/>
          <p:nvPr/>
        </p:nvSpPr>
        <p:spPr>
          <a:xfrm>
            <a:off x="950976" y="6903720"/>
            <a:ext cx="16367759" cy="242316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25296" y="6903720"/>
            <a:ext cx="15819119" cy="2423160"/>
          </a:xfrm>
          <a:prstGeom prst="rect">
            <a:avLst/>
          </a:prstGeom>
          <a:noFill/>
        </p:spPr>
        <p:txBody>
          <a:bodyPr wrap="square" anchor="ctr" lIns="0" rIns="0" tIns="0" bIns="0">
            <a:spAutoFit/>
          </a:bodyPr>
          <a:lstStyle/>
          <a:p>
            <a:pPr algn="ctr"/>
            <a:r>
              <a:rPr sz="2200" b="1">
                <a:solidFill>
                  <a:srgbClr val="C9CCDA"/>
                </a:solidFill>
                <a:latin typeface="Arial"/>
              </a:rPr>
              <a:t>[Mesures prises à compléter]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8466627"/>
            <a:ext cx="3840480" cy="411480"/>
          </a:xfrm>
          <a:prstGeom prst="rect">
            <a:avLst/>
          </a:prstGeom>
          <a:noFill/>
        </p:spPr>
        <p:txBody>
          <a:bodyPr wrap="square" anchor="t" lIns="0" rIns="0" tIns="0" bIns="0">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86984" y="8466627"/>
            <a:ext cx="5943600" cy="411480"/>
          </a:xfrm>
          <a:prstGeom prst="rect">
            <a:avLst/>
          </a:prstGeom>
          <a:noFill/>
        </p:spPr>
        <p:txBody>
          <a:bodyPr wrap="square" anchor="t" lIns="0" rIns="0" tIns="0" bIns="0">
            <a:spAutoFit/>
          </a:bodyPr>
          <a:lstStyle/>
          <a:p>
            <a:pPr algn="l"/>
            <a:r>
              <a:rPr sz="2200" b="1">
                <a:solidFill>
                  <a:srgbClr val="0E1F5B"/>
                </a:solidFill>
                <a:latin typeface="Arial"/>
              </a:rPr>
              <a:t>Caméra en cours d'installation</a:t>
            </a: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73000" y="2496312"/>
            <a:ext cx="4535424" cy="914400"/>
          </a:xfrm>
          <a:prstGeom prst="rect">
            <a:avLst/>
          </a:prstGeom>
          <a:noFill/>
        </p:spPr>
        <p:txBody>
          <a:bodyPr wrap="square" anchor="t" lIns="0" rIns="0" tIns="0" bIns="0">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anchor="t" lIns="0" rIns="0" tIns="0" bIns="0">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573000" y="5010912"/>
            <a:ext cx="4535424" cy="914400"/>
          </a:xfrm>
          <a:prstGeom prst="rect">
            <a:avLst/>
          </a:prstGeom>
          <a:noFill/>
        </p:spPr>
        <p:txBody>
          <a:bodyPr wrap="square" anchor="t" lIns="0" rIns="0" tIns="0" bIns="0">
            <a:spAutoFit/>
          </a:bodyPr>
          <a:lstStyle/>
          <a:p>
            <a:pPr algn="l"/>
            <a:r>
              <a:rPr sz="6600" b="1">
                <a:solidFill>
                  <a:srgbClr val="72C493"/>
                </a:solidFill>
                <a:latin typeface="Arial"/>
              </a:rPr>
              <a:t>2</a:t>
            </a:r>
          </a:p>
        </p:txBody>
      </p:sp>
      <p:sp>
        <p:nvSpPr>
          <p:cNvPr id="15" name="TextBox 14"/>
          <p:cNvSpPr txBox="1"/>
          <p:nvPr/>
        </p:nvSpPr>
        <p:spPr>
          <a:xfrm>
            <a:off x="12573000" y="6058662"/>
            <a:ext cx="4535424" cy="1051560"/>
          </a:xfrm>
          <a:prstGeom prst="rect">
            <a:avLst/>
          </a:prstGeom>
          <a:noFill/>
        </p:spPr>
        <p:txBody>
          <a:bodyPr wrap="square" anchor="t" lIns="0" rIns="0" tIns="0" bIns="0">
            <a:spAutoFit/>
          </a:bodyPr>
          <a:lstStyle/>
          <a:p>
            <a:pPr algn="l"/>
            <a:r>
              <a:rPr sz="2400" b="1">
                <a:solidFill>
                  <a:srgbClr val="FAF5EC"/>
                </a:solidFill>
                <a:latin typeface="Arial"/>
              </a:rPr>
              <a:t>caméras en cours d'installation</a:t>
            </a: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9966960" cy="1097280"/>
          </a:xfrm>
          <a:prstGeom prst="rect">
            <a:avLst/>
          </a:prstGeom>
          <a:noFill/>
        </p:spPr>
        <p:txBody>
          <a:bodyPr wrap="square" anchor="t" lIns="0" rIns="0" tIns="0" bIns="0">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12136" y="4069079"/>
            <a:ext cx="664464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292095" y="3749039"/>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663440"/>
            <a:ext cx="2865120" cy="548640"/>
          </a:xfrm>
          <a:prstGeom prst="rect">
            <a:avLst/>
          </a:prstGeom>
          <a:noFill/>
        </p:spPr>
        <p:txBody>
          <a:bodyPr wrap="square" anchor="t" lIns="0" rIns="0" tIns="0" bIns="0">
            <a:spAutoFit/>
          </a:bodyPr>
          <a:lstStyle/>
          <a:p>
            <a:pPr algn="ctr"/>
            <a:r>
              <a:rPr sz="3000" b="1">
                <a:solidFill>
                  <a:srgbClr val="72C493"/>
                </a:solidFill>
                <a:latin typeface="Arial"/>
              </a:rPr>
              <a:t>15 juin 2026</a:t>
            </a:r>
          </a:p>
        </p:txBody>
      </p:sp>
      <p:sp>
        <p:nvSpPr>
          <p:cNvPr id="9" name="TextBox 8"/>
          <p:cNvSpPr txBox="1"/>
          <p:nvPr/>
        </p:nvSpPr>
        <p:spPr>
          <a:xfrm>
            <a:off x="1179575" y="5349240"/>
            <a:ext cx="2865120" cy="1828800"/>
          </a:xfrm>
          <a:prstGeom prst="rect">
            <a:avLst/>
          </a:prstGeom>
          <a:noFill/>
        </p:spPr>
        <p:txBody>
          <a:bodyPr wrap="square" anchor="t" lIns="0" rIns="0" tIns="0" bIns="0">
            <a:spAutoFit/>
          </a:bodyPr>
          <a:lstStyle/>
          <a:p>
            <a:pPr algn="ctr"/>
            <a:r>
              <a:rPr sz="2400" b="0">
                <a:solidFill>
                  <a:srgbClr val="FAF5EC"/>
                </a:solidFill>
                <a:latin typeface="Arial"/>
              </a:rPr>
              <a:t>Courrier du Maire à La Poste</a:t>
            </a:r>
          </a:p>
        </p:txBody>
      </p:sp>
      <p:sp>
        <p:nvSpPr>
          <p:cNvPr id="10" name="Oval 9"/>
          <p:cNvSpPr/>
          <p:nvPr/>
        </p:nvSpPr>
        <p:spPr>
          <a:xfrm>
            <a:off x="5614416" y="3749039"/>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01896" y="4663440"/>
            <a:ext cx="2865120" cy="548640"/>
          </a:xfrm>
          <a:prstGeom prst="rect">
            <a:avLst/>
          </a:prstGeom>
          <a:noFill/>
        </p:spPr>
        <p:txBody>
          <a:bodyPr wrap="square" anchor="t" lIns="0" rIns="0" tIns="0" bIns="0">
            <a:spAutoFit/>
          </a:bodyPr>
          <a:lstStyle/>
          <a:p>
            <a:pPr algn="ctr"/>
            <a:r>
              <a:rPr sz="3000" b="1">
                <a:solidFill>
                  <a:srgbClr val="72C493"/>
                </a:solidFill>
                <a:latin typeface="Arial"/>
              </a:rPr>
              <a:t>Juin 2026</a:t>
            </a:r>
          </a:p>
        </p:txBody>
      </p:sp>
      <p:sp>
        <p:nvSpPr>
          <p:cNvPr id="12" name="TextBox 11"/>
          <p:cNvSpPr txBox="1"/>
          <p:nvPr/>
        </p:nvSpPr>
        <p:spPr>
          <a:xfrm>
            <a:off x="4501896" y="5349240"/>
            <a:ext cx="2865120" cy="1828800"/>
          </a:xfrm>
          <a:prstGeom prst="rect">
            <a:avLst/>
          </a:prstGeom>
          <a:noFill/>
        </p:spPr>
        <p:txBody>
          <a:bodyPr wrap="square" anchor="t" lIns="0" rIns="0" tIns="0" bIns="0">
            <a:spAutoFit/>
          </a:bodyPr>
          <a:lstStyle/>
          <a:p>
            <a:pPr algn="ctr"/>
            <a:r>
              <a:rPr sz="2400" b="0">
                <a:solidFill>
                  <a:srgbClr val="FAF5EC"/>
                </a:solidFill>
                <a:latin typeface="Arial"/>
              </a:rPr>
              <a:t>Le Maire reçoit le délégué de La Poste et s'oppose à la fermeture</a:t>
            </a:r>
          </a:p>
        </p:txBody>
      </p:sp>
      <p:sp>
        <p:nvSpPr>
          <p:cNvPr id="13" name="Oval 12"/>
          <p:cNvSpPr/>
          <p:nvPr/>
        </p:nvSpPr>
        <p:spPr>
          <a:xfrm>
            <a:off x="8936736" y="3749039"/>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7824216" y="4663440"/>
            <a:ext cx="2865120" cy="548640"/>
          </a:xfrm>
          <a:prstGeom prst="rect">
            <a:avLst/>
          </a:prstGeom>
          <a:noFill/>
        </p:spPr>
        <p:txBody>
          <a:bodyPr wrap="square" anchor="t" lIns="0" rIns="0" tIns="0" bIns="0">
            <a:spAutoFit/>
          </a:bodyPr>
          <a:lstStyle/>
          <a:p>
            <a:pPr algn="ctr"/>
            <a:r>
              <a:rPr sz="3000" b="1">
                <a:solidFill>
                  <a:srgbClr val="72C493"/>
                </a:solidFill>
                <a:latin typeface="Arial"/>
              </a:rPr>
              <a:t>10 juillet 2026</a:t>
            </a:r>
          </a:p>
        </p:txBody>
      </p:sp>
      <p:sp>
        <p:nvSpPr>
          <p:cNvPr id="15" name="TextBox 14"/>
          <p:cNvSpPr txBox="1"/>
          <p:nvPr/>
        </p:nvSpPr>
        <p:spPr>
          <a:xfrm>
            <a:off x="7824216" y="5349240"/>
            <a:ext cx="2865120" cy="1828800"/>
          </a:xfrm>
          <a:prstGeom prst="rect">
            <a:avLst/>
          </a:prstGeom>
          <a:noFill/>
        </p:spPr>
        <p:txBody>
          <a:bodyPr wrap="square" anchor="t" lIns="0" rIns="0" tIns="0" bIns="0">
            <a:spAutoFit/>
          </a:bodyPr>
          <a:lstStyle/>
          <a:p>
            <a:pPr algn="ctr"/>
            <a:r>
              <a:rPr sz="2400" b="0">
                <a:solidFill>
                  <a:srgbClr val="FAF5EC"/>
                </a:solidFill>
                <a:latin typeface="Arial"/>
              </a:rPr>
              <a:t>Nouvel échange entre le Maire et La Poste</a:t>
            </a:r>
          </a:p>
        </p:txBody>
      </p:sp>
      <p:pic>
        <p:nvPicPr>
          <p:cNvPr id="16" name="Picture 15" descr="Services_01_bureau_de_poste.jpg"/>
          <p:cNvPicPr>
            <a:picLocks noChangeAspect="1"/>
          </p:cNvPicPr>
          <p:nvPr/>
        </p:nvPicPr>
        <p:blipFill>
          <a:blip r:embed="rId4"/>
          <a:stretch>
            <a:fillRect/>
          </a:stretch>
        </p:blipFill>
        <p:spPr>
          <a:xfrm>
            <a:off x="11384280" y="2854642"/>
            <a:ext cx="5943600" cy="3343275"/>
          </a:xfrm>
          <a:prstGeom prst="rect">
            <a:avLst/>
          </a:prstGeom>
        </p:spPr>
      </p:pic>
      <p:sp>
        <p:nvSpPr>
          <p:cNvPr id="17" name="Rectangle 16"/>
          <p:cNvSpPr/>
          <p:nvPr/>
        </p:nvSpPr>
        <p:spPr>
          <a:xfrm>
            <a:off x="11384280" y="7086600"/>
            <a:ext cx="5943600" cy="224028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58600" y="7086600"/>
            <a:ext cx="5394960" cy="2240280"/>
          </a:xfrm>
          <a:prstGeom prst="rect">
            <a:avLst/>
          </a:prstGeom>
          <a:noFill/>
        </p:spPr>
        <p:txBody>
          <a:bodyPr wrap="square" anchor="ctr" lIns="0" rIns="0" tIns="0" bIns="0">
            <a:spAutoFit/>
          </a:bodyPr>
          <a:lstStyle/>
          <a:p>
            <a:pPr algn="ctr"/>
            <a:r>
              <a:rPr sz="2200" b="1">
                <a:solidFill>
                  <a:srgbClr val="C9CCDA"/>
                </a:solidFill>
                <a:latin typeface="Arial"/>
              </a:rPr>
              <a:t>[Situation actuelle du bureau à compléter]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réseau de bus</a:t>
            </a:r>
          </a:p>
        </p:txBody>
      </p:sp>
      <p:sp>
        <p:nvSpPr>
          <p:cNvPr id="5" name="Rectangle 4"/>
          <p:cNvSpPr/>
          <p:nvPr/>
        </p:nvSpPr>
        <p:spPr>
          <a:xfrm>
            <a:off x="950976" y="2286000"/>
            <a:ext cx="6035040" cy="585216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697480"/>
            <a:ext cx="5303520" cy="1828800"/>
          </a:xfrm>
          <a:prstGeom prst="rect">
            <a:avLst/>
          </a:prstGeom>
          <a:noFill/>
        </p:spPr>
        <p:txBody>
          <a:bodyPr wrap="square" anchor="t" lIns="0" rIns="0" tIns="0" bIns="0">
            <a:spAutoFit/>
          </a:bodyPr>
          <a:lstStyle/>
          <a:p>
            <a:pPr algn="l"/>
            <a:r>
              <a:rPr sz="12000" b="1">
                <a:solidFill>
                  <a:srgbClr val="72C493"/>
                </a:solidFill>
                <a:latin typeface="Arial"/>
              </a:rPr>
              <a:t>400</a:t>
            </a:r>
          </a:p>
        </p:txBody>
      </p:sp>
      <p:sp>
        <p:nvSpPr>
          <p:cNvPr id="7" name="TextBox 6"/>
          <p:cNvSpPr txBox="1"/>
          <p:nvPr/>
        </p:nvSpPr>
        <p:spPr>
          <a:xfrm>
            <a:off x="1371600" y="4572000"/>
            <a:ext cx="5303520" cy="1463040"/>
          </a:xfrm>
          <a:prstGeom prst="rect">
            <a:avLst/>
          </a:prstGeom>
          <a:noFill/>
        </p:spPr>
        <p:txBody>
          <a:bodyPr wrap="square" anchor="t" lIns="0" rIns="0" tIns="0" bIns="0">
            <a:spAutoFit/>
          </a:bodyPr>
          <a:lstStyle/>
          <a:p>
            <a:pPr algn="l"/>
            <a:r>
              <a:rPr sz="3000" b="1">
                <a:solidFill>
                  <a:srgbClr val="FFFFFF"/>
                </a:solidFill>
                <a:latin typeface="Arial"/>
              </a:rPr>
              <a:t>signalements recueillis par la Ville</a:t>
            </a:r>
          </a:p>
        </p:txBody>
      </p:sp>
      <p:sp>
        <p:nvSpPr>
          <p:cNvPr id="8" name="Rectangle 7"/>
          <p:cNvSpPr/>
          <p:nvPr/>
        </p:nvSpPr>
        <p:spPr>
          <a:xfrm>
            <a:off x="7589520" y="2395728"/>
            <a:ext cx="566928" cy="5669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50" b="1">
                <a:solidFill>
                  <a:srgbClr val="0E1F5B"/>
                </a:solidFill>
                <a:latin typeface="Arial"/>
              </a:rPr>
              <a:t>01</a:t>
            </a:r>
          </a:p>
        </p:txBody>
      </p:sp>
      <p:sp>
        <p:nvSpPr>
          <p:cNvPr id="9" name="TextBox 8"/>
          <p:cNvSpPr txBox="1"/>
          <p:nvPr/>
        </p:nvSpPr>
        <p:spPr>
          <a:xfrm>
            <a:off x="8412480" y="2377440"/>
            <a:ext cx="8869680" cy="1874519"/>
          </a:xfrm>
          <a:prstGeom prst="rect">
            <a:avLst/>
          </a:prstGeom>
          <a:noFill/>
        </p:spPr>
        <p:txBody>
          <a:bodyPr wrap="square" anchor="t" lIns="0" rIns="0" tIns="0" bIns="0">
            <a:spAutoFit/>
          </a:bodyPr>
          <a:lstStyle/>
          <a:p>
            <a:pPr algn="l"/>
            <a:r>
              <a:rPr sz="2600" b="1">
                <a:solidFill>
                  <a:srgbClr val="0E1F5B"/>
                </a:solidFill>
                <a:latin typeface="Arial"/>
              </a:rPr>
              <a:t>Le Maire a rencontré deux fois Île-de-France Mobilités</a:t>
            </a:r>
          </a:p>
        </p:txBody>
      </p:sp>
      <p:sp>
        <p:nvSpPr>
          <p:cNvPr id="10" name="Rectangle 9"/>
          <p:cNvSpPr/>
          <p:nvPr/>
        </p:nvSpPr>
        <p:spPr>
          <a:xfrm>
            <a:off x="7589520" y="4270248"/>
            <a:ext cx="566928" cy="5669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50" b="1">
                <a:solidFill>
                  <a:srgbClr val="0E1F5B"/>
                </a:solidFill>
                <a:latin typeface="Arial"/>
              </a:rPr>
              <a:t>02</a:t>
            </a:r>
          </a:p>
        </p:txBody>
      </p:sp>
      <p:sp>
        <p:nvSpPr>
          <p:cNvPr id="11" name="TextBox 10"/>
          <p:cNvSpPr txBox="1"/>
          <p:nvPr/>
        </p:nvSpPr>
        <p:spPr>
          <a:xfrm>
            <a:off x="8412480" y="4251960"/>
            <a:ext cx="8869680" cy="1874519"/>
          </a:xfrm>
          <a:prstGeom prst="rect">
            <a:avLst/>
          </a:prstGeom>
          <a:noFill/>
        </p:spPr>
        <p:txBody>
          <a:bodyPr wrap="square" anchor="t" lIns="0" rIns="0" tIns="0" bIns="0">
            <a:spAutoFit/>
          </a:bodyPr>
          <a:lstStyle/>
          <a:p>
            <a:pPr algn="l"/>
            <a:r>
              <a:rPr sz="2600" b="1">
                <a:solidFill>
                  <a:srgbClr val="0E1F5B"/>
                </a:solidFill>
                <a:latin typeface="Arial"/>
              </a:rPr>
              <a:t>La modification non concertée du trajet de la ligne 220 a été suspendue</a:t>
            </a:r>
          </a:p>
        </p:txBody>
      </p:sp>
      <p:sp>
        <p:nvSpPr>
          <p:cNvPr id="12" name="Rectangle 11"/>
          <p:cNvSpPr/>
          <p:nvPr/>
        </p:nvSpPr>
        <p:spPr>
          <a:xfrm>
            <a:off x="7589520" y="6144767"/>
            <a:ext cx="566928" cy="5669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50" b="1">
                <a:solidFill>
                  <a:srgbClr val="0E1F5B"/>
                </a:solidFill>
                <a:latin typeface="Arial"/>
              </a:rPr>
              <a:t>03</a:t>
            </a:r>
          </a:p>
        </p:txBody>
      </p:sp>
      <p:sp>
        <p:nvSpPr>
          <p:cNvPr id="13" name="TextBox 12"/>
          <p:cNvSpPr txBox="1"/>
          <p:nvPr/>
        </p:nvSpPr>
        <p:spPr>
          <a:xfrm>
            <a:off x="8412480" y="6126479"/>
            <a:ext cx="8869680" cy="1874519"/>
          </a:xfrm>
          <a:prstGeom prst="rect">
            <a:avLst/>
          </a:prstGeom>
          <a:noFill/>
        </p:spPr>
        <p:txBody>
          <a:bodyPr wrap="square" anchor="t" lIns="0" rIns="0" tIns="0" bIns="0">
            <a:spAutoFit/>
          </a:bodyPr>
          <a:lstStyle/>
          <a:p>
            <a:pPr algn="l"/>
            <a:r>
              <a:rPr sz="2600" b="1">
                <a:solidFill>
                  <a:srgbClr val="0E1F5B"/>
                </a:solidFill>
                <a:latin typeface="Arial"/>
              </a:rPr>
              <a:t>Un courrier aux exploitants pour exiger un retour au niveau de service prévu et l'application des pénalités</a:t>
            </a:r>
          </a:p>
        </p:txBody>
      </p:sp>
      <p:cxnSp>
        <p:nvCxnSpPr>
          <p:cNvPr id="14" name="Connector 13"/>
          <p:cNvCxnSpPr/>
          <p:nvPr/>
        </p:nvCxnSpPr>
        <p:spPr>
          <a:xfrm>
            <a:off x="950976" y="8549640"/>
            <a:ext cx="16386048"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50976" y="8732520"/>
            <a:ext cx="16367759" cy="548640"/>
          </a:xfrm>
          <a:prstGeom prst="rect">
            <a:avLst/>
          </a:prstGeom>
          <a:noFill/>
        </p:spPr>
        <p:txBody>
          <a:bodyPr wrap="square" anchor="t" lIns="0" rIns="0" tIns="0" bIns="0">
            <a:spAutoFit/>
          </a:bodyPr>
          <a:lstStyle/>
          <a:p>
            <a:pPr algn="l"/>
            <a:r>
              <a:rPr sz="2200" b="0">
                <a:solidFill>
                  <a:srgbClr val="0E1F5B"/>
                </a:solidFill>
                <a:latin typeface="Arial"/>
              </a:rPr>
              <a:t>Le réseau est organisé par Île-de-France Mobilités et exploité par Keolis et RATP Cap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5074920" cy="49834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286000"/>
            <a:ext cx="50749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6736" y="2651760"/>
            <a:ext cx="4389120" cy="457200"/>
          </a:xfrm>
          <a:prstGeom prst="rect">
            <a:avLst/>
          </a:prstGeom>
          <a:noFill/>
        </p:spPr>
        <p:txBody>
          <a:bodyPr wrap="square" anchor="t" lIns="0" rIns="0" tIns="0" bIns="0">
            <a:spAutoFit/>
          </a:bodyPr>
          <a:lstStyle/>
          <a:p>
            <a:pPr algn="l"/>
            <a:r>
              <a:rPr sz="2200" b="1" spc="150">
                <a:solidFill>
                  <a:srgbClr val="72C493"/>
                </a:solidFill>
                <a:latin typeface="Arial"/>
              </a:rPr>
              <a:t>LE BÂTIMENT</a:t>
            </a:r>
          </a:p>
        </p:txBody>
      </p:sp>
      <p:sp>
        <p:nvSpPr>
          <p:cNvPr id="8" name="Oval 7"/>
          <p:cNvSpPr/>
          <p:nvPr/>
        </p:nvSpPr>
        <p:spPr>
          <a:xfrm>
            <a:off x="1316736" y="3493008"/>
            <a:ext cx="237744" cy="23774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73936" y="3383280"/>
            <a:ext cx="3977639" cy="1188720"/>
          </a:xfrm>
          <a:prstGeom prst="rect">
            <a:avLst/>
          </a:prstGeom>
          <a:noFill/>
        </p:spPr>
        <p:txBody>
          <a:bodyPr wrap="square" anchor="t" lIns="0" rIns="0" tIns="0" bIns="0">
            <a:spAutoFit/>
          </a:bodyPr>
          <a:lstStyle/>
          <a:p>
            <a:pPr algn="l"/>
            <a:r>
              <a:rPr sz="2400" b="1">
                <a:solidFill>
                  <a:srgbClr val="FFFFFF"/>
                </a:solidFill>
                <a:latin typeface="Arial"/>
              </a:rPr>
              <a:t>Des toitures solarisées</a:t>
            </a:r>
          </a:p>
        </p:txBody>
      </p:sp>
      <p:sp>
        <p:nvSpPr>
          <p:cNvPr id="10" name="Oval 9"/>
          <p:cNvSpPr/>
          <p:nvPr/>
        </p:nvSpPr>
        <p:spPr>
          <a:xfrm>
            <a:off x="1316736" y="4754880"/>
            <a:ext cx="237744" cy="23774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73936" y="4645152"/>
            <a:ext cx="3977639" cy="1188720"/>
          </a:xfrm>
          <a:prstGeom prst="rect">
            <a:avLst/>
          </a:prstGeom>
          <a:noFill/>
        </p:spPr>
        <p:txBody>
          <a:bodyPr wrap="square" anchor="t" lIns="0" rIns="0" tIns="0" bIns="0">
            <a:spAutoFit/>
          </a:bodyPr>
          <a:lstStyle/>
          <a:p>
            <a:pPr algn="l"/>
            <a:r>
              <a:rPr sz="2400" b="1">
                <a:solidFill>
                  <a:srgbClr val="FFFFFF"/>
                </a:solidFill>
                <a:latin typeface="Arial"/>
              </a:rPr>
              <a:t>Une façade végétalisée</a:t>
            </a:r>
          </a:p>
        </p:txBody>
      </p:sp>
      <p:sp>
        <p:nvSpPr>
          <p:cNvPr id="12" name="Oval 11"/>
          <p:cNvSpPr/>
          <p:nvPr/>
        </p:nvSpPr>
        <p:spPr>
          <a:xfrm>
            <a:off x="1316736" y="6016752"/>
            <a:ext cx="237744" cy="23774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73936" y="5907024"/>
            <a:ext cx="3977639" cy="1188720"/>
          </a:xfrm>
          <a:prstGeom prst="rect">
            <a:avLst/>
          </a:prstGeom>
          <a:noFill/>
        </p:spPr>
        <p:txBody>
          <a:bodyPr wrap="square" anchor="t" lIns="0" rIns="0" tIns="0" bIns="0">
            <a:spAutoFit/>
          </a:bodyPr>
          <a:lstStyle/>
          <a:p>
            <a:pPr algn="l"/>
            <a:r>
              <a:rPr sz="2400" b="1">
                <a:solidFill>
                  <a:srgbClr val="FFFFFF"/>
                </a:solidFill>
                <a:latin typeface="Arial"/>
              </a:rPr>
              <a:t>L'installation des sièges</a:t>
            </a:r>
          </a:p>
        </p:txBody>
      </p:sp>
      <p:sp>
        <p:nvSpPr>
          <p:cNvPr id="14" name="Rectangle 13"/>
          <p:cNvSpPr/>
          <p:nvPr/>
        </p:nvSpPr>
        <p:spPr>
          <a:xfrm>
            <a:off x="6300216" y="2286000"/>
            <a:ext cx="5074920" cy="49834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0216" y="2286000"/>
            <a:ext cx="50749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5976" y="2651760"/>
            <a:ext cx="4389120" cy="457200"/>
          </a:xfrm>
          <a:prstGeom prst="rect">
            <a:avLst/>
          </a:prstGeom>
          <a:noFill/>
        </p:spPr>
        <p:txBody>
          <a:bodyPr wrap="square" anchor="t" lIns="0" rIns="0" tIns="0" bIns="0">
            <a:spAutoFit/>
          </a:bodyPr>
          <a:lstStyle/>
          <a:p>
            <a:pPr algn="l"/>
            <a:r>
              <a:rPr sz="2200" b="1" spc="150">
                <a:solidFill>
                  <a:srgbClr val="72C493"/>
                </a:solidFill>
                <a:latin typeface="Arial"/>
              </a:rPr>
              <a:t>LES ESPACES VERTS</a:t>
            </a:r>
          </a:p>
        </p:txBody>
      </p:sp>
      <p:sp>
        <p:nvSpPr>
          <p:cNvPr id="17" name="Oval 16"/>
          <p:cNvSpPr/>
          <p:nvPr/>
        </p:nvSpPr>
        <p:spPr>
          <a:xfrm>
            <a:off x="6665976" y="3493008"/>
            <a:ext cx="237744" cy="23774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23176" y="3383280"/>
            <a:ext cx="3977639" cy="1188720"/>
          </a:xfrm>
          <a:prstGeom prst="rect">
            <a:avLst/>
          </a:prstGeom>
          <a:noFill/>
        </p:spPr>
        <p:txBody>
          <a:bodyPr wrap="square" anchor="t" lIns="0" rIns="0" tIns="0" bIns="0">
            <a:spAutoFit/>
          </a:bodyPr>
          <a:lstStyle/>
          <a:p>
            <a:pPr algn="l"/>
            <a:r>
              <a:rPr sz="2400" b="1">
                <a:solidFill>
                  <a:srgbClr val="FFFFFF"/>
                </a:solidFill>
                <a:latin typeface="Arial"/>
              </a:rPr>
              <a:t>Les arbres replantés avant tout abattage</a:t>
            </a:r>
          </a:p>
        </p:txBody>
      </p:sp>
      <p:sp>
        <p:nvSpPr>
          <p:cNvPr id="19" name="Oval 18"/>
          <p:cNvSpPr/>
          <p:nvPr/>
        </p:nvSpPr>
        <p:spPr>
          <a:xfrm>
            <a:off x="6665976" y="4754880"/>
            <a:ext cx="237744" cy="23774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23176" y="4645152"/>
            <a:ext cx="3977639" cy="1188720"/>
          </a:xfrm>
          <a:prstGeom prst="rect">
            <a:avLst/>
          </a:prstGeom>
          <a:noFill/>
        </p:spPr>
        <p:txBody>
          <a:bodyPr wrap="square" anchor="t" lIns="0" rIns="0" tIns="0" bIns="0">
            <a:spAutoFit/>
          </a:bodyPr>
          <a:lstStyle/>
          <a:p>
            <a:pPr algn="l"/>
            <a:r>
              <a:rPr sz="2400" b="1">
                <a:solidFill>
                  <a:srgbClr val="FFFFFF"/>
                </a:solidFill>
                <a:latin typeface="Arial"/>
              </a:rPr>
              <a:t>Une compensation végétale doublée</a:t>
            </a:r>
          </a:p>
        </p:txBody>
      </p:sp>
      <p:sp>
        <p:nvSpPr>
          <p:cNvPr id="21" name="Oval 20"/>
          <p:cNvSpPr/>
          <p:nvPr/>
        </p:nvSpPr>
        <p:spPr>
          <a:xfrm>
            <a:off x="6665976" y="6016752"/>
            <a:ext cx="237744" cy="23774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3176" y="5907024"/>
            <a:ext cx="3977639" cy="1188720"/>
          </a:xfrm>
          <a:prstGeom prst="rect">
            <a:avLst/>
          </a:prstGeom>
          <a:noFill/>
        </p:spPr>
        <p:txBody>
          <a:bodyPr wrap="square" anchor="t" lIns="0" rIns="0" tIns="0" bIns="0">
            <a:spAutoFit/>
          </a:bodyPr>
          <a:lstStyle/>
          <a:p>
            <a:pPr algn="l"/>
            <a:r>
              <a:rPr sz="2400" b="1">
                <a:solidFill>
                  <a:srgbClr val="FFFFFF"/>
                </a:solidFill>
                <a:latin typeface="Arial"/>
              </a:rPr>
              <a:t>Une haie contre les nuisances sonores</a:t>
            </a:r>
          </a:p>
        </p:txBody>
      </p:sp>
      <p:sp>
        <p:nvSpPr>
          <p:cNvPr id="23" name="Rectangle 22"/>
          <p:cNvSpPr/>
          <p:nvPr/>
        </p:nvSpPr>
        <p:spPr>
          <a:xfrm>
            <a:off x="950976" y="7589520"/>
            <a:ext cx="10424160" cy="173736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5296" y="7589520"/>
            <a:ext cx="9875520" cy="1737360"/>
          </a:xfrm>
          <a:prstGeom prst="rect">
            <a:avLst/>
          </a:prstGeom>
          <a:noFill/>
        </p:spPr>
        <p:txBody>
          <a:bodyPr wrap="square" anchor="ctr" lIns="0" rIns="0" tIns="0" bIns="0">
            <a:spAutoFit/>
          </a:bodyPr>
          <a:lstStyle/>
          <a:p>
            <a:pPr algn="ctr"/>
            <a:r>
              <a:rPr sz="2200" b="1">
                <a:solidFill>
                  <a:srgbClr val="C9CCDA"/>
                </a:solidFill>
                <a:latin typeface="Arial"/>
              </a:rPr>
              <a:t>[Montant et calendrier à compléter]</a:t>
            </a:r>
          </a:p>
        </p:txBody>
      </p:sp>
      <p:pic>
        <p:nvPicPr>
          <p:cNvPr id="25" name="Picture 24" descr="Equipements_01_stade_Alain_Mimoun.jpg"/>
          <p:cNvPicPr>
            <a:picLocks noChangeAspect="1"/>
          </p:cNvPicPr>
          <p:nvPr/>
        </p:nvPicPr>
        <p:blipFill>
          <a:blip r:embed="rId4"/>
          <a:stretch>
            <a:fillRect/>
          </a:stretch>
        </p:blipFill>
        <p:spPr>
          <a:xfrm>
            <a:off x="11841480" y="3234690"/>
            <a:ext cx="5486400" cy="3086100"/>
          </a:xfrm>
          <a:prstGeom prst="rect">
            <a:avLst/>
          </a:prstGeom>
        </p:spPr>
      </p:pic>
      <p:sp>
        <p:nvSpPr>
          <p:cNvPr id="26" name="Rectangle 25"/>
          <p:cNvSpPr/>
          <p:nvPr/>
        </p:nvSpPr>
        <p:spPr>
          <a:xfrm>
            <a:off x="11841480" y="7589520"/>
            <a:ext cx="5486400" cy="173736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115800" y="7589520"/>
            <a:ext cx="4937760" cy="1737360"/>
          </a:xfrm>
          <a:prstGeom prst="rect">
            <a:avLst/>
          </a:prstGeom>
          <a:noFill/>
        </p:spPr>
        <p:txBody>
          <a:bodyPr wrap="square" anchor="ctr" lIns="0" rIns="0" tIns="0" bIns="0">
            <a:spAutoFit/>
          </a:bodyPr>
          <a:lstStyle/>
          <a:p>
            <a:pPr algn="ctr"/>
            <a:r>
              <a:rPr sz="2200" b="1">
                <a:solidFill>
                  <a:srgbClr val="C9CCDA"/>
                </a:solidFill>
                <a:latin typeface="Arial"/>
              </a:rPr>
              <a:t>[Perspective de la tribune à fournir]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950976" y="2325929"/>
            <a:ext cx="10241280" cy="5497981"/>
          </a:xfrm>
          <a:prstGeom prst="rect">
            <a:avLst/>
          </a:prstGeom>
        </p:spPr>
      </p:pic>
      <p:sp>
        <p:nvSpPr>
          <p:cNvPr id="6" name="TextBox 5"/>
          <p:cNvSpPr txBox="1"/>
          <p:nvPr/>
        </p:nvSpPr>
        <p:spPr>
          <a:xfrm>
            <a:off x="11658600" y="2240280"/>
            <a:ext cx="5669280" cy="411480"/>
          </a:xfrm>
          <a:prstGeom prst="rect">
            <a:avLst/>
          </a:prstGeom>
          <a:noFill/>
        </p:spPr>
        <p:txBody>
          <a:bodyPr wrap="square" anchor="t" lIns="0" rIns="0" tIns="0" bIns="0">
            <a:spAutoFit/>
          </a:bodyPr>
          <a:lstStyle/>
          <a:p>
            <a:pPr algn="l"/>
            <a:r>
              <a:rPr sz="2100" b="1" spc="150">
                <a:solidFill>
                  <a:srgbClr val="72C493"/>
                </a:solidFill>
                <a:latin typeface="Arial"/>
              </a:rPr>
              <a:t>LE SQUARE</a:t>
            </a:r>
          </a:p>
        </p:txBody>
      </p:sp>
      <p:sp>
        <p:nvSpPr>
          <p:cNvPr id="7" name="Oval 6"/>
          <p:cNvSpPr/>
          <p:nvPr/>
        </p:nvSpPr>
        <p:spPr>
          <a:xfrm>
            <a:off x="11658600" y="2907791"/>
            <a:ext cx="219456" cy="219456"/>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80" y="2788920"/>
            <a:ext cx="5257800" cy="1234440"/>
          </a:xfrm>
          <a:prstGeom prst="rect">
            <a:avLst/>
          </a:prstGeom>
          <a:noFill/>
        </p:spPr>
        <p:txBody>
          <a:bodyPr wrap="square" anchor="t" lIns="0" rIns="0" tIns="0" bIns="0">
            <a:spAutoFit/>
          </a:bodyPr>
          <a:lstStyle/>
          <a:p>
            <a:pPr algn="l"/>
            <a:r>
              <a:rPr sz="2200" b="1">
                <a:solidFill>
                  <a:srgbClr val="0E1F5B"/>
                </a:solidFill>
                <a:latin typeface="Arial"/>
              </a:rPr>
              <a:t>Square du boulevard des Astronautes, rue de la Chapelle</a:t>
            </a:r>
          </a:p>
        </p:txBody>
      </p:sp>
      <p:sp>
        <p:nvSpPr>
          <p:cNvPr id="9" name="Oval 8"/>
          <p:cNvSpPr/>
          <p:nvPr/>
        </p:nvSpPr>
        <p:spPr>
          <a:xfrm>
            <a:off x="11658600" y="4206240"/>
            <a:ext cx="219456" cy="219456"/>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70080" y="4087368"/>
            <a:ext cx="5257800" cy="1234440"/>
          </a:xfrm>
          <a:prstGeom prst="rect">
            <a:avLst/>
          </a:prstGeom>
          <a:noFill/>
        </p:spPr>
        <p:txBody>
          <a:bodyPr wrap="square" anchor="t" lIns="0" rIns="0" tIns="0" bIns="0">
            <a:spAutoFit/>
          </a:bodyPr>
          <a:lstStyle/>
          <a:p>
            <a:pPr algn="l"/>
            <a:r>
              <a:rPr sz="2200" b="1">
                <a:solidFill>
                  <a:srgbClr val="0E1F5B"/>
                </a:solidFill>
                <a:latin typeface="Arial"/>
              </a:rPr>
              <a:t>Des jeux pour les enfants de 1 an à 10-12 ans</a:t>
            </a:r>
          </a:p>
        </p:txBody>
      </p:sp>
      <p:sp>
        <p:nvSpPr>
          <p:cNvPr id="11" name="Oval 10"/>
          <p:cNvSpPr/>
          <p:nvPr/>
        </p:nvSpPr>
        <p:spPr>
          <a:xfrm>
            <a:off x="11658600" y="5504688"/>
            <a:ext cx="219456" cy="219456"/>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0" y="5385816"/>
            <a:ext cx="5257800" cy="1234440"/>
          </a:xfrm>
          <a:prstGeom prst="rect">
            <a:avLst/>
          </a:prstGeom>
          <a:noFill/>
        </p:spPr>
        <p:txBody>
          <a:bodyPr wrap="square" anchor="t" lIns="0" rIns="0" tIns="0" bIns="0">
            <a:spAutoFit/>
          </a:bodyPr>
          <a:lstStyle/>
          <a:p>
            <a:pPr algn="l"/>
            <a:r>
              <a:rPr sz="2200" b="1">
                <a:solidFill>
                  <a:srgbClr val="0E1F5B"/>
                </a:solidFill>
                <a:latin typeface="Arial"/>
              </a:rPr>
              <a:t>Sol souple, bancs, chaises longues et tables de jeux en plastique recyclé</a:t>
            </a:r>
          </a:p>
        </p:txBody>
      </p:sp>
      <p:sp>
        <p:nvSpPr>
          <p:cNvPr id="13" name="Oval 12"/>
          <p:cNvSpPr/>
          <p:nvPr/>
        </p:nvSpPr>
        <p:spPr>
          <a:xfrm>
            <a:off x="11658600" y="6803136"/>
            <a:ext cx="219456" cy="219456"/>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70080" y="6684264"/>
            <a:ext cx="5257800" cy="1234440"/>
          </a:xfrm>
          <a:prstGeom prst="rect">
            <a:avLst/>
          </a:prstGeom>
          <a:noFill/>
        </p:spPr>
        <p:txBody>
          <a:bodyPr wrap="square" anchor="t" lIns="0" rIns="0" tIns="0" bIns="0">
            <a:spAutoFit/>
          </a:bodyPr>
          <a:lstStyle/>
          <a:p>
            <a:pPr algn="l"/>
            <a:r>
              <a:rPr sz="2200" b="1">
                <a:solidFill>
                  <a:srgbClr val="0E1F5B"/>
                </a:solidFill>
                <a:latin typeface="Arial"/>
              </a:rPr>
              <a:t>Le séquoia géant et les arbres existants conservés</a:t>
            </a:r>
          </a:p>
        </p:txBody>
      </p:sp>
      <p:cxnSp>
        <p:nvCxnSpPr>
          <p:cNvPr id="15" name="Connector 14"/>
          <p:cNvCxnSpPr/>
          <p:nvPr/>
        </p:nvCxnSpPr>
        <p:spPr>
          <a:xfrm>
            <a:off x="3678936" y="8321040"/>
            <a:ext cx="1091183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358896" y="8001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7" name="TextBox 16"/>
          <p:cNvSpPr txBox="1"/>
          <p:nvPr/>
        </p:nvSpPr>
        <p:spPr>
          <a:xfrm>
            <a:off x="1179576" y="8750808"/>
            <a:ext cx="4998719" cy="548640"/>
          </a:xfrm>
          <a:prstGeom prst="rect">
            <a:avLst/>
          </a:prstGeom>
          <a:noFill/>
        </p:spPr>
        <p:txBody>
          <a:bodyPr wrap="square" anchor="t" lIns="0" rIns="0" tIns="0" bIns="0">
            <a:spAutoFit/>
          </a:bodyPr>
          <a:lstStyle/>
          <a:p>
            <a:pPr algn="ctr"/>
            <a:r>
              <a:rPr sz="2800" b="1">
                <a:solidFill>
                  <a:srgbClr val="0E1F5B"/>
                </a:solidFill>
                <a:latin typeface="Arial"/>
              </a:rPr>
              <a:t>Cet hiver</a:t>
            </a:r>
          </a:p>
        </p:txBody>
      </p:sp>
      <p:sp>
        <p:nvSpPr>
          <p:cNvPr id="18" name="TextBox 17"/>
          <p:cNvSpPr txBox="1"/>
          <p:nvPr/>
        </p:nvSpPr>
        <p:spPr>
          <a:xfrm>
            <a:off x="1179576" y="9299448"/>
            <a:ext cx="4998719" cy="1828800"/>
          </a:xfrm>
          <a:prstGeom prst="rect">
            <a:avLst/>
          </a:prstGeom>
          <a:noFill/>
        </p:spPr>
        <p:txBody>
          <a:bodyPr wrap="square" anchor="t" lIns="0" rIns="0" tIns="0" bIns="0">
            <a:spAutoFit/>
          </a:bodyPr>
          <a:lstStyle/>
          <a:p>
            <a:pPr algn="ctr"/>
            <a:r>
              <a:rPr sz="2400" b="0">
                <a:solidFill>
                  <a:srgbClr val="0E1F5B"/>
                </a:solidFill>
                <a:latin typeface="Arial"/>
              </a:rPr>
              <a:t>Concertation avec les riverains</a:t>
            </a:r>
          </a:p>
        </p:txBody>
      </p:sp>
      <p:sp>
        <p:nvSpPr>
          <p:cNvPr id="19" name="Oval 18"/>
          <p:cNvSpPr/>
          <p:nvPr/>
        </p:nvSpPr>
        <p:spPr>
          <a:xfrm>
            <a:off x="8814815" y="8001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0" name="TextBox 19"/>
          <p:cNvSpPr txBox="1"/>
          <p:nvPr/>
        </p:nvSpPr>
        <p:spPr>
          <a:xfrm>
            <a:off x="6635495" y="8750808"/>
            <a:ext cx="4998719" cy="548640"/>
          </a:xfrm>
          <a:prstGeom prst="rect">
            <a:avLst/>
          </a:prstGeom>
          <a:noFill/>
        </p:spPr>
        <p:txBody>
          <a:bodyPr wrap="square" anchor="t" lIns="0" rIns="0" tIns="0" bIns="0">
            <a:spAutoFit/>
          </a:bodyPr>
          <a:lstStyle/>
          <a:p>
            <a:pPr algn="ctr"/>
            <a:r>
              <a:rPr sz="2800" b="1">
                <a:solidFill>
                  <a:srgbClr val="0E1F5B"/>
                </a:solidFill>
                <a:latin typeface="Arial"/>
              </a:rPr>
              <a:t>Fin du printemps</a:t>
            </a:r>
          </a:p>
        </p:txBody>
      </p:sp>
      <p:sp>
        <p:nvSpPr>
          <p:cNvPr id="21" name="TextBox 20"/>
          <p:cNvSpPr txBox="1"/>
          <p:nvPr/>
        </p:nvSpPr>
        <p:spPr>
          <a:xfrm>
            <a:off x="6635495" y="9299448"/>
            <a:ext cx="4998719" cy="1828800"/>
          </a:xfrm>
          <a:prstGeom prst="rect">
            <a:avLst/>
          </a:prstGeom>
          <a:noFill/>
        </p:spPr>
        <p:txBody>
          <a:bodyPr wrap="square" anchor="t" lIns="0" rIns="0" tIns="0" bIns="0">
            <a:spAutoFit/>
          </a:bodyPr>
          <a:lstStyle/>
          <a:p>
            <a:pPr algn="ctr"/>
            <a:r>
              <a:rPr sz="2400" b="0">
                <a:solidFill>
                  <a:srgbClr val="0E1F5B"/>
                </a:solidFill>
                <a:latin typeface="Arial"/>
              </a:rPr>
              <a:t>Travaux</a:t>
            </a:r>
          </a:p>
        </p:txBody>
      </p:sp>
      <p:sp>
        <p:nvSpPr>
          <p:cNvPr id="22" name="Oval 21"/>
          <p:cNvSpPr/>
          <p:nvPr/>
        </p:nvSpPr>
        <p:spPr>
          <a:xfrm>
            <a:off x="14270735" y="8001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3" name="TextBox 22"/>
          <p:cNvSpPr txBox="1"/>
          <p:nvPr/>
        </p:nvSpPr>
        <p:spPr>
          <a:xfrm>
            <a:off x="12091416" y="8750808"/>
            <a:ext cx="4998719" cy="548640"/>
          </a:xfrm>
          <a:prstGeom prst="rect">
            <a:avLst/>
          </a:prstGeom>
          <a:noFill/>
        </p:spPr>
        <p:txBody>
          <a:bodyPr wrap="square" anchor="t" lIns="0" rIns="0" tIns="0" bIns="0">
            <a:spAutoFit/>
          </a:bodyPr>
          <a:lstStyle/>
          <a:p>
            <a:pPr algn="ctr"/>
            <a:r>
              <a:rPr sz="2800" b="1">
                <a:solidFill>
                  <a:srgbClr val="0E1F5B"/>
                </a:solidFill>
                <a:latin typeface="Arial"/>
              </a:rPr>
              <a:t>À l'automne</a:t>
            </a:r>
          </a:p>
        </p:txBody>
      </p:sp>
      <p:sp>
        <p:nvSpPr>
          <p:cNvPr id="24" name="TextBox 23"/>
          <p:cNvSpPr txBox="1"/>
          <p:nvPr/>
        </p:nvSpPr>
        <p:spPr>
          <a:xfrm>
            <a:off x="12091416" y="9299448"/>
            <a:ext cx="4998719" cy="1828800"/>
          </a:xfrm>
          <a:prstGeom prst="rect">
            <a:avLst/>
          </a:prstGeom>
          <a:noFill/>
        </p:spPr>
        <p:txBody>
          <a:bodyPr wrap="square" anchor="t" lIns="0" rIns="0" tIns="0" bIns="0">
            <a:spAutoFit/>
          </a:bodyPr>
          <a:lstStyle/>
          <a:p>
            <a:pPr algn="ctr"/>
            <a:r>
              <a:rPr sz="2400" b="0">
                <a:solidFill>
                  <a:srgbClr val="0E1F5B"/>
                </a:solidFill>
                <a:latin typeface="Arial"/>
              </a:rPr>
              <a:t>Plantations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950976" y="2575560"/>
            <a:ext cx="9692640" cy="6461760"/>
          </a:xfrm>
          <a:prstGeom prst="rect">
            <a:avLst/>
          </a:prstGeom>
        </p:spPr>
      </p:pic>
      <p:sp>
        <p:nvSpPr>
          <p:cNvPr id="6" name="Rectangle 5"/>
          <p:cNvSpPr/>
          <p:nvPr/>
        </p:nvSpPr>
        <p:spPr>
          <a:xfrm>
            <a:off x="11155680" y="2286000"/>
            <a:ext cx="6181344" cy="704088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2286000"/>
            <a:ext cx="5632704" cy="7040880"/>
          </a:xfrm>
          <a:prstGeom prst="rect">
            <a:avLst/>
          </a:prstGeom>
          <a:noFill/>
        </p:spPr>
        <p:txBody>
          <a:bodyPr wrap="square" anchor="ctr" lIns="0" rIns="0" tIns="0" bIns="0">
            <a:spAutoFit/>
          </a:bodyPr>
          <a:lstStyle/>
          <a:p>
            <a:pPr algn="ctr"/>
            <a:r>
              <a:rPr sz="2200" b="1">
                <a:solidFill>
                  <a:srgbClr val="C9CCDA"/>
                </a:solidFill>
                <a:latin typeface="Arial"/>
              </a:rPr>
              <a:t>[Contenu à compléter]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25296" y="2377440"/>
            <a:ext cx="15819119" cy="6949440"/>
          </a:xfrm>
          <a:prstGeom prst="rect">
            <a:avLst/>
          </a:prstGeom>
          <a:noFill/>
        </p:spPr>
        <p:txBody>
          <a:bodyPr wrap="square" anchor="ctr" lIns="0" rIns="0" tIns="0" bIns="0">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Un projet de maison de retraite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25296" y="2377440"/>
            <a:ext cx="15819119" cy="6949440"/>
          </a:xfrm>
          <a:prstGeom prst="rect">
            <a:avLst/>
          </a:prstGeom>
          <a:noFill/>
        </p:spPr>
        <p:txBody>
          <a:bodyPr wrap="square" anchor="ctr" lIns="0" rIns="0" tIns="0" bIns="0">
            <a:spAutoFit/>
          </a:bodyPr>
          <a:lstStyle/>
          <a:p>
            <a:pPr algn="ctr"/>
            <a:r>
              <a:rPr sz="2200" b="1">
                <a:solidFill>
                  <a:srgbClr val="C9CCDA"/>
                </a:solidFill>
                <a:latin typeface="Arial"/>
              </a:rPr>
              <a:t>[Contenu à compléter : type d'établissement, nombre de places, état d'avancement]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anchor="t" lIns="0" rIns="0" tIns="0" bIns="0">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anchor="t" lIns="45720" rIns="45720" tIns="0" bIns="0"/>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anchor="t" lIns="45720" rIns="45720" tIns="0" bIns="0"/>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anchor="t" lIns="45720" rIns="45720" tIns="0" bIns="0"/>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anchor="t" lIns="45720" rIns="45720" tIns="0" bIns="0"/>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anchor="t" lIns="45720" rIns="45720" tIns="0" bIns="0"/>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anchor="t" lIns="45720" rIns="45720" tIns="0" bIns="0"/>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anchor="t" lIns="45720" rIns="45720" tIns="0" bIns="0"/>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anchor="t" lIns="45720" rIns="45720" tIns="0" bIns="0"/>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anchor="t" lIns="45720" rIns="45720" tIns="0" bIns="0"/>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anchor="t" lIns="45720" rIns="45720" tIns="0" bIns="0"/>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anchor="t" lIns="45720" rIns="45720" tIns="0" bIns="0"/>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anchor="t" lIns="45720" rIns="45720" tIns="0" bIns="0"/>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anchor="t" lIns="45720" rIns="45720" tIns="0" bIns="0"/>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anchor="t" lIns="45720" rIns="45720" tIns="0" bIns="0"/>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anchor="t" lIns="45720" rIns="45720" tIns="0" bIns="0"/>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anchor="t" lIns="45720" rIns="45720" tIns="0" bIns="0"/>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anchor="t" lIns="45720" rIns="45720" tIns="0" bIns="0"/>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anchor="t" lIns="45720" rIns="45720" tIns="0" bIns="0"/>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19656" y="8950833"/>
            <a:ext cx="1463040" cy="411480"/>
          </a:xfrm>
          <a:prstGeom prst="rect">
            <a:avLst/>
          </a:prstGeom>
          <a:noFill/>
        </p:spPr>
        <p:txBody>
          <a:bodyPr wrap="square" anchor="t" lIns="0" rIns="0" tIns="0" bIns="0">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97096" y="8950833"/>
            <a:ext cx="1463040" cy="411480"/>
          </a:xfrm>
          <a:prstGeom prst="rect">
            <a:avLst/>
          </a:prstGeom>
          <a:noFill/>
        </p:spPr>
        <p:txBody>
          <a:bodyPr wrap="square" anchor="t" lIns="0" rIns="0" tIns="0" bIns="0">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74536" y="8950833"/>
            <a:ext cx="1463040" cy="411480"/>
          </a:xfrm>
          <a:prstGeom prst="rect">
            <a:avLst/>
          </a:prstGeom>
          <a:noFill/>
        </p:spPr>
        <p:txBody>
          <a:bodyPr wrap="square" anchor="t" lIns="0" rIns="0" tIns="0" bIns="0">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anchor="t" lIns="0" rIns="0" tIns="0" bIns="0">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anchor="t" lIns="0" rIns="0" tIns="0" bIns="0">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anchor="t" lIns="0" rIns="0" tIns="0" bIns="0">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anchor="t" lIns="0" rIns="0" tIns="0" bIns="0">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anchor="t" lIns="0" rIns="0" tIns="0" bIns="0">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anchor="t" lIns="0" rIns="0" tIns="0" bIns="0">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anchor="t" lIns="0" rIns="0" tIns="0" bIns="0">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anchor="t" lIns="0" rIns="0" tIns="0" bIns="0">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anchor="t" lIns="0" rIns="0" tIns="0" bIns="0">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anchor="t" lIns="0" rIns="0" tIns="0" bIns="0">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anchor="t" lIns="0" rIns="0" tIns="0" bIns="0">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anchor="t" lIns="0" rIns="0" tIns="0" bIns="0">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anchor="t" lIns="0" rIns="0" tIns="0" bIns="0">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anchor="t" lIns="0" rIns="0" tIns="0" bIns="0">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6642080" y="7708392"/>
            <a:ext cx="731520" cy="320040"/>
          </a:xfrm>
          <a:prstGeom prst="rect">
            <a:avLst/>
          </a:prstGeom>
          <a:noFill/>
        </p:spPr>
        <p:txBody>
          <a:bodyPr wrap="square" anchor="t" lIns="0" rIns="0" tIns="0" bIns="0">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anchor="t" lIns="0" rIns="0" tIns="0" bIns="0">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4645874" y="8366760"/>
            <a:ext cx="731520" cy="320040"/>
          </a:xfrm>
          <a:prstGeom prst="rect">
            <a:avLst/>
          </a:prstGeom>
          <a:noFill/>
        </p:spPr>
        <p:txBody>
          <a:bodyPr wrap="square" anchor="t" lIns="0" rIns="0" tIns="0" bIns="0">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anchor="t" lIns="0" rIns="0" tIns="0" bIns="0">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645874" y="9025128"/>
            <a:ext cx="731520" cy="320040"/>
          </a:xfrm>
          <a:prstGeom prst="rect">
            <a:avLst/>
          </a:prstGeom>
          <a:noFill/>
        </p:spPr>
        <p:txBody>
          <a:bodyPr wrap="square" anchor="t" lIns="0" rIns="0" tIns="0" bIns="0">
            <a:spAutoFit/>
          </a:bodyPr>
          <a:lstStyle/>
          <a:p>
            <a:pPr algn="l"/>
            <a:r>
              <a:rPr sz="1500" b="1">
                <a:solidFill>
                  <a:srgbClr val="72C493"/>
                </a:solidFill>
                <a:latin typeface="Arial"/>
              </a:rPr>
              <a:t>32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560320"/>
            <a:ext cx="4206240" cy="548640"/>
          </a:xfrm>
          <a:prstGeom prst="rect">
            <a:avLst/>
          </a:prstGeom>
          <a:noFill/>
        </p:spPr>
        <p:txBody>
          <a:bodyPr wrap="square" anchor="t" lIns="0" rIns="0" tIns="0" bIns="0">
            <a:spAutoFit/>
          </a:bodyPr>
          <a:lstStyle/>
          <a:p>
            <a:pPr algn="l"/>
            <a:r>
              <a:rPr sz="2800" b="1">
                <a:solidFill>
                  <a:srgbClr val="FFFFFF"/>
                </a:solidFill>
                <a:latin typeface="Arial"/>
              </a:rPr>
              <a:t>École des Gobelins</a:t>
            </a:r>
          </a:p>
        </p:txBody>
      </p:sp>
      <p:sp>
        <p:nvSpPr>
          <p:cNvPr id="8" name="TextBox 7"/>
          <p:cNvSpPr txBox="1"/>
          <p:nvPr/>
        </p:nvSpPr>
        <p:spPr>
          <a:xfrm>
            <a:off x="1271016" y="3108960"/>
            <a:ext cx="4480560" cy="640080"/>
          </a:xfrm>
          <a:prstGeom prst="rect">
            <a:avLst/>
          </a:prstGeom>
          <a:noFill/>
        </p:spPr>
        <p:txBody>
          <a:bodyPr wrap="square" anchor="t" lIns="0" rIns="0" tIns="0" bIns="0">
            <a:spAutoFit/>
          </a:bodyPr>
          <a:lstStyle/>
          <a:p>
            <a:pPr algn="l"/>
            <a:r>
              <a:rPr sz="1600" b="0">
                <a:solidFill>
                  <a:srgbClr val="8A90B0"/>
                </a:solidFill>
                <a:latin typeface="Arial"/>
              </a:rPr>
              <a:t>pour accueillir l'école des Richardets</a:t>
            </a:r>
          </a:p>
        </p:txBody>
      </p:sp>
      <p:sp>
        <p:nvSpPr>
          <p:cNvPr id="9" name="TextBox 8"/>
          <p:cNvSpPr txBox="1"/>
          <p:nvPr/>
        </p:nvSpPr>
        <p:spPr>
          <a:xfrm>
            <a:off x="5157216" y="2496312"/>
            <a:ext cx="3520440" cy="822960"/>
          </a:xfrm>
          <a:prstGeom prst="rect">
            <a:avLst/>
          </a:prstGeom>
          <a:noFill/>
        </p:spPr>
        <p:txBody>
          <a:bodyPr wrap="square" anchor="t" lIns="0" rIns="0" tIns="0" bIns="0">
            <a:spAutoFit/>
          </a:bodyPr>
          <a:lstStyle/>
          <a:p>
            <a:pPr algn="r"/>
            <a:r>
              <a:rPr sz="4800" b="1">
                <a:solidFill>
                  <a:srgbClr val="72C493"/>
                </a:solidFill>
                <a:latin typeface="Arial"/>
              </a:rPr>
              <a:t>1,3 M€</a:t>
            </a:r>
          </a:p>
        </p:txBody>
      </p:sp>
      <p:sp>
        <p:nvSpPr>
          <p:cNvPr id="10" name="TextBox 9"/>
          <p:cNvSpPr txBox="1"/>
          <p:nvPr/>
        </p:nvSpPr>
        <p:spPr>
          <a:xfrm>
            <a:off x="5157216" y="3291840"/>
            <a:ext cx="3520440" cy="320040"/>
          </a:xfrm>
          <a:prstGeom prst="rect">
            <a:avLst/>
          </a:prstGeom>
          <a:noFill/>
        </p:spPr>
        <p:txBody>
          <a:bodyPr wrap="square" anchor="t" lIns="0" rIns="0" tIns="0" bIns="0">
            <a:spAutoFit/>
          </a:bodyPr>
          <a:lstStyle/>
          <a:p>
            <a:pPr algn="r"/>
            <a:r>
              <a:rPr sz="1300" b="1" spc="150">
                <a:solidFill>
                  <a:srgbClr val="72C493"/>
                </a:solidFill>
                <a:latin typeface="Arial"/>
              </a:rPr>
              <a:t>INVESTIS CETTE ANNÉE</a:t>
            </a:r>
          </a:p>
        </p:txBody>
      </p:sp>
      <p:sp>
        <p:nvSpPr>
          <p:cNvPr id="11" name="TextBox 10"/>
          <p:cNvSpPr txBox="1"/>
          <p:nvPr/>
        </p:nvSpPr>
        <p:spPr>
          <a:xfrm>
            <a:off x="1271016" y="3749039"/>
            <a:ext cx="7406640" cy="320040"/>
          </a:xfrm>
          <a:prstGeom prst="rect">
            <a:avLst/>
          </a:prstGeom>
          <a:noFill/>
        </p:spPr>
        <p:txBody>
          <a:bodyPr wrap="square" anchor="t" lIns="0" rIns="0" tIns="0" bIns="0">
            <a:spAutoFit/>
          </a:bodyPr>
          <a:lstStyle/>
          <a:p>
            <a:pPr algn="l"/>
            <a:r>
              <a:rPr sz="1500" b="1" spc="150">
                <a:solidFill>
                  <a:srgbClr val="72C493"/>
                </a:solidFill>
                <a:latin typeface="Arial"/>
              </a:rPr>
              <a:t>RÉALISÉ CETTE ANNÉE</a:t>
            </a:r>
          </a:p>
        </p:txBody>
      </p:sp>
      <p:sp>
        <p:nvSpPr>
          <p:cNvPr id="12" name="Oval 11"/>
          <p:cNvSpPr/>
          <p:nvPr/>
        </p:nvSpPr>
        <p:spPr>
          <a:xfrm>
            <a:off x="128930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91056" y="4114800"/>
            <a:ext cx="7086600" cy="347472"/>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4" name="Oval 13"/>
          <p:cNvSpPr/>
          <p:nvPr/>
        </p:nvSpPr>
        <p:spPr>
          <a:xfrm>
            <a:off x="128930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91056" y="4462272"/>
            <a:ext cx="7086600" cy="347472"/>
          </a:xfrm>
          <a:prstGeom prst="rect">
            <a:avLst/>
          </a:prstGeom>
          <a:noFill/>
        </p:spPr>
        <p:txBody>
          <a:bodyPr wrap="square" anchor="t" lIns="0" rIns="0" tIns="0" bIns="0">
            <a:spAutoFit/>
          </a:bodyPr>
          <a:lstStyle/>
          <a:p>
            <a:pPr algn="l"/>
            <a:r>
              <a:rPr sz="1700" b="1">
                <a:solidFill>
                  <a:srgbClr val="FAF5EC"/>
                </a:solidFill>
                <a:latin typeface="Arial"/>
              </a:rPr>
              <a:t>Réfection des sols et des peintures</a:t>
            </a:r>
          </a:p>
        </p:txBody>
      </p:sp>
      <p:sp>
        <p:nvSpPr>
          <p:cNvPr id="16" name="Oval 15"/>
          <p:cNvSpPr/>
          <p:nvPr/>
        </p:nvSpPr>
        <p:spPr>
          <a:xfrm>
            <a:off x="128930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91056" y="4809744"/>
            <a:ext cx="7086600" cy="347472"/>
          </a:xfrm>
          <a:prstGeom prst="rect">
            <a:avLst/>
          </a:prstGeom>
          <a:noFill/>
        </p:spPr>
        <p:txBody>
          <a:bodyPr wrap="square" anchor="t" lIns="0" rIns="0" tIns="0" bIns="0">
            <a:spAutoFit/>
          </a:bodyPr>
          <a:lstStyle/>
          <a:p>
            <a:pPr algn="l"/>
            <a:r>
              <a:rPr sz="1700" b="1">
                <a:solidFill>
                  <a:srgbClr val="FAF5EC"/>
                </a:solidFill>
                <a:latin typeface="Arial"/>
              </a:rPr>
              <a:t>Travaux électriques</a:t>
            </a:r>
          </a:p>
        </p:txBody>
      </p:sp>
      <p:sp>
        <p:nvSpPr>
          <p:cNvPr id="18" name="Oval 17"/>
          <p:cNvSpPr/>
          <p:nvPr/>
        </p:nvSpPr>
        <p:spPr>
          <a:xfrm>
            <a:off x="128930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91056" y="5157216"/>
            <a:ext cx="7086600" cy="347472"/>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20" name="Oval 19"/>
          <p:cNvSpPr/>
          <p:nvPr/>
        </p:nvSpPr>
        <p:spPr>
          <a:xfrm>
            <a:off x="128930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91056" y="5504688"/>
            <a:ext cx="7086600" cy="347472"/>
          </a:xfrm>
          <a:prstGeom prst="rect">
            <a:avLst/>
          </a:prstGeom>
          <a:noFill/>
        </p:spPr>
        <p:txBody>
          <a:bodyPr wrap="square" anchor="t" lIns="0" rIns="0" tIns="0" bIns="0">
            <a:spAutoFit/>
          </a:bodyPr>
          <a:lstStyle/>
          <a:p>
            <a:pPr algn="l"/>
            <a:r>
              <a:rPr sz="1700" b="1">
                <a:solidFill>
                  <a:srgbClr val="FAF5EC"/>
                </a:solidFill>
                <a:latin typeface="Arial"/>
              </a:rPr>
              <a:t>Rénovation de la cour et pose de pare-ballons</a:t>
            </a:r>
          </a:p>
        </p:txBody>
      </p:sp>
      <p:sp>
        <p:nvSpPr>
          <p:cNvPr id="22" name="Rectangle 21"/>
          <p:cNvSpPr/>
          <p:nvPr/>
        </p:nvSpPr>
        <p:spPr>
          <a:xfrm>
            <a:off x="927201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201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92056" y="2560320"/>
            <a:ext cx="4206240" cy="548640"/>
          </a:xfrm>
          <a:prstGeom prst="rect">
            <a:avLst/>
          </a:prstGeom>
          <a:noFill/>
        </p:spPr>
        <p:txBody>
          <a:bodyPr wrap="square" anchor="t" lIns="0" rIns="0" tIns="0" bIns="0">
            <a:spAutoFit/>
          </a:bodyPr>
          <a:lstStyle/>
          <a:p>
            <a:pPr algn="l"/>
            <a:r>
              <a:rPr sz="2800" b="1">
                <a:solidFill>
                  <a:srgbClr val="FFFFFF"/>
                </a:solidFill>
                <a:latin typeface="Arial"/>
              </a:rPr>
              <a:t>Les Charmilles</a:t>
            </a:r>
          </a:p>
        </p:txBody>
      </p:sp>
      <p:sp>
        <p:nvSpPr>
          <p:cNvPr id="25" name="TextBox 24"/>
          <p:cNvSpPr txBox="1"/>
          <p:nvPr/>
        </p:nvSpPr>
        <p:spPr>
          <a:xfrm>
            <a:off x="9592056" y="3108960"/>
            <a:ext cx="4480560" cy="640080"/>
          </a:xfrm>
          <a:prstGeom prst="rect">
            <a:avLst/>
          </a:prstGeom>
          <a:noFill/>
        </p:spPr>
        <p:txBody>
          <a:bodyPr wrap="square" anchor="t" lIns="0" rIns="0" tIns="0" bIns="0">
            <a:spAutoFit/>
          </a:bodyPr>
          <a:lstStyle/>
          <a:p>
            <a:pPr algn="l"/>
            <a:r>
              <a:rPr sz="1600" b="0">
                <a:solidFill>
                  <a:srgbClr val="8A90B0"/>
                </a:solidFill>
                <a:latin typeface="Arial"/>
              </a:rPr>
              <a:t>pour l'assainissement et le hall du groupe scolaire</a:t>
            </a:r>
          </a:p>
        </p:txBody>
      </p:sp>
      <p:sp>
        <p:nvSpPr>
          <p:cNvPr id="26" name="TextBox 25"/>
          <p:cNvSpPr txBox="1"/>
          <p:nvPr/>
        </p:nvSpPr>
        <p:spPr>
          <a:xfrm>
            <a:off x="13478256" y="2496312"/>
            <a:ext cx="3520440" cy="822960"/>
          </a:xfrm>
          <a:prstGeom prst="rect">
            <a:avLst/>
          </a:prstGeom>
          <a:noFill/>
        </p:spPr>
        <p:txBody>
          <a:bodyPr wrap="square" anchor="t" lIns="0" rIns="0" tIns="0" bIns="0">
            <a:spAutoFit/>
          </a:bodyPr>
          <a:lstStyle/>
          <a:p>
            <a:pPr algn="r"/>
            <a:r>
              <a:rPr sz="4800" b="1">
                <a:solidFill>
                  <a:srgbClr val="72C493"/>
                </a:solidFill>
                <a:latin typeface="Arial"/>
              </a:rPr>
              <a:t>23 000 €</a:t>
            </a:r>
          </a:p>
        </p:txBody>
      </p:sp>
      <p:sp>
        <p:nvSpPr>
          <p:cNvPr id="27" name="TextBox 26"/>
          <p:cNvSpPr txBox="1"/>
          <p:nvPr/>
        </p:nvSpPr>
        <p:spPr>
          <a:xfrm>
            <a:off x="13478256" y="3291840"/>
            <a:ext cx="3520440" cy="320040"/>
          </a:xfrm>
          <a:prstGeom prst="rect">
            <a:avLst/>
          </a:prstGeom>
          <a:noFill/>
        </p:spPr>
        <p:txBody>
          <a:bodyPr wrap="square" anchor="t" lIns="0" rIns="0" tIns="0" bIns="0">
            <a:spAutoFit/>
          </a:bodyPr>
          <a:lstStyle/>
          <a:p>
            <a:pPr algn="r"/>
            <a:r>
              <a:rPr sz="1300" b="1" spc="150">
                <a:solidFill>
                  <a:srgbClr val="72C493"/>
                </a:solidFill>
                <a:latin typeface="Arial"/>
              </a:rPr>
              <a:t>INVESTIS CETTE ANNÉE</a:t>
            </a:r>
          </a:p>
        </p:txBody>
      </p:sp>
      <p:sp>
        <p:nvSpPr>
          <p:cNvPr id="28" name="TextBox 27"/>
          <p:cNvSpPr txBox="1"/>
          <p:nvPr/>
        </p:nvSpPr>
        <p:spPr>
          <a:xfrm>
            <a:off x="9592056" y="3749039"/>
            <a:ext cx="7406640" cy="320040"/>
          </a:xfrm>
          <a:prstGeom prst="rect">
            <a:avLst/>
          </a:prstGeom>
          <a:noFill/>
        </p:spPr>
        <p:txBody>
          <a:bodyPr wrap="square" anchor="t" lIns="0" rIns="0" tIns="0" bIns="0">
            <a:spAutoFit/>
          </a:bodyPr>
          <a:lstStyle/>
          <a:p>
            <a:pPr algn="l"/>
            <a:r>
              <a:rPr sz="1500" b="1" spc="150">
                <a:solidFill>
                  <a:srgbClr val="72C493"/>
                </a:solidFill>
                <a:latin typeface="Arial"/>
              </a:rPr>
              <a:t>FAIT</a:t>
            </a:r>
          </a:p>
        </p:txBody>
      </p:sp>
      <p:sp>
        <p:nvSpPr>
          <p:cNvPr id="29" name="Oval 28"/>
          <p:cNvSpPr/>
          <p:nvPr/>
        </p:nvSpPr>
        <p:spPr>
          <a:xfrm>
            <a:off x="961034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12096" y="4114800"/>
            <a:ext cx="7086600" cy="347472"/>
          </a:xfrm>
          <a:prstGeom prst="rect">
            <a:avLst/>
          </a:prstGeom>
          <a:noFill/>
        </p:spPr>
        <p:txBody>
          <a:bodyPr wrap="square" anchor="t" lIns="0" rIns="0" tIns="0" bIns="0">
            <a:spAutoFit/>
          </a:bodyPr>
          <a:lstStyle/>
          <a:p>
            <a:pPr algn="l"/>
            <a:r>
              <a:rPr sz="1700" b="1">
                <a:solidFill>
                  <a:srgbClr val="FAF5EC"/>
                </a:solidFill>
                <a:latin typeface="Arial"/>
              </a:rPr>
              <a:t>Mise en conformité du réseau d'assainissement (19 000 €)</a:t>
            </a:r>
          </a:p>
        </p:txBody>
      </p:sp>
      <p:sp>
        <p:nvSpPr>
          <p:cNvPr id="31" name="Oval 30"/>
          <p:cNvSpPr/>
          <p:nvPr/>
        </p:nvSpPr>
        <p:spPr>
          <a:xfrm>
            <a:off x="961034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12096" y="4462272"/>
            <a:ext cx="7086600" cy="347472"/>
          </a:xfrm>
          <a:prstGeom prst="rect">
            <a:avLst/>
          </a:prstGeom>
          <a:noFill/>
        </p:spPr>
        <p:txBody>
          <a:bodyPr wrap="square" anchor="t" lIns="0" rIns="0" tIns="0" bIns="0">
            <a:spAutoFit/>
          </a:bodyPr>
          <a:lstStyle/>
          <a:p>
            <a:pPr algn="l"/>
            <a:r>
              <a:rPr sz="1700" b="1">
                <a:solidFill>
                  <a:srgbClr val="FAF5EC"/>
                </a:solidFill>
                <a:latin typeface="Arial"/>
              </a:rPr>
              <a:t>Remise en état du hall : plâtrerie et peinture (4 000 €)</a:t>
            </a:r>
          </a:p>
        </p:txBody>
      </p:sp>
      <p:sp>
        <p:nvSpPr>
          <p:cNvPr id="33" name="Oval 32"/>
          <p:cNvSpPr/>
          <p:nvPr/>
        </p:nvSpPr>
        <p:spPr>
          <a:xfrm>
            <a:off x="961034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12096" y="4809744"/>
            <a:ext cx="7086600" cy="347472"/>
          </a:xfrm>
          <a:prstGeom prst="rect">
            <a:avLst/>
          </a:prstGeom>
          <a:noFill/>
        </p:spPr>
        <p:txBody>
          <a:bodyPr wrap="square" anchor="t" lIns="0" rIns="0" tIns="0" bIns="0">
            <a:spAutoFit/>
          </a:bodyPr>
          <a:lstStyle/>
          <a:p>
            <a:pPr algn="l"/>
            <a:r>
              <a:rPr sz="1700" b="1">
                <a:solidFill>
                  <a:srgbClr val="FAF5EC"/>
                </a:solidFill>
                <a:latin typeface="Arial"/>
              </a:rPr>
              <a:t>Faux plafonds remplacés, étais du réfectoire déposés</a:t>
            </a:r>
          </a:p>
        </p:txBody>
      </p:sp>
      <p:sp>
        <p:nvSpPr>
          <p:cNvPr id="35" name="Oval 34"/>
          <p:cNvSpPr/>
          <p:nvPr/>
        </p:nvSpPr>
        <p:spPr>
          <a:xfrm>
            <a:off x="961034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5157216"/>
            <a:ext cx="7086600" cy="347472"/>
          </a:xfrm>
          <a:prstGeom prst="rect">
            <a:avLst/>
          </a:prstGeom>
          <a:noFill/>
        </p:spPr>
        <p:txBody>
          <a:bodyPr wrap="square" anchor="t" lIns="0" rIns="0" tIns="0" bIns="0">
            <a:spAutoFit/>
          </a:bodyPr>
          <a:lstStyle/>
          <a:p>
            <a:pPr algn="l"/>
            <a:r>
              <a:rPr sz="1700" b="1">
                <a:solidFill>
                  <a:srgbClr val="FAF5EC"/>
                </a:solidFill>
                <a:latin typeface="Arial"/>
              </a:rPr>
              <a:t>Portes réglées, poignée remplacée</a:t>
            </a:r>
          </a:p>
        </p:txBody>
      </p:sp>
      <p:sp>
        <p:nvSpPr>
          <p:cNvPr id="37" name="Oval 36"/>
          <p:cNvSpPr/>
          <p:nvPr/>
        </p:nvSpPr>
        <p:spPr>
          <a:xfrm>
            <a:off x="961034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12096" y="5504688"/>
            <a:ext cx="7086600" cy="347472"/>
          </a:xfrm>
          <a:prstGeom prst="rect">
            <a:avLst/>
          </a:prstGeom>
          <a:noFill/>
        </p:spPr>
        <p:txBody>
          <a:bodyPr wrap="square" anchor="t" lIns="0" rIns="0" tIns="0" bIns="0">
            <a:spAutoFit/>
          </a:bodyPr>
          <a:lstStyle/>
          <a:p>
            <a:pPr algn="l"/>
            <a:r>
              <a:rPr sz="1700" b="1">
                <a:solidFill>
                  <a:srgbClr val="FAF5EC"/>
                </a:solidFill>
                <a:latin typeface="Arial"/>
              </a:rPr>
              <a:t>Ventilateurs, films anti-UV et bancs dans la cour</a:t>
            </a:r>
          </a:p>
        </p:txBody>
      </p:sp>
      <p:sp>
        <p:nvSpPr>
          <p:cNvPr id="39" name="TextBox 38"/>
          <p:cNvSpPr txBox="1"/>
          <p:nvPr/>
        </p:nvSpPr>
        <p:spPr>
          <a:xfrm>
            <a:off x="9592056" y="5897879"/>
            <a:ext cx="7406640" cy="320040"/>
          </a:xfrm>
          <a:prstGeom prst="rect">
            <a:avLst/>
          </a:prstGeom>
          <a:noFill/>
        </p:spPr>
        <p:txBody>
          <a:bodyPr wrap="square" anchor="t" lIns="0" rIns="0" tIns="0" bIns="0">
            <a:spAutoFit/>
          </a:bodyPr>
          <a:lstStyle/>
          <a:p>
            <a:pPr algn="l"/>
            <a:r>
              <a:rPr sz="1500" b="1" spc="150">
                <a:solidFill>
                  <a:srgbClr val="72C493"/>
                </a:solidFill>
                <a:latin typeface="Arial"/>
              </a:rPr>
              <a:t>PROGRAMMÉ</a:t>
            </a:r>
          </a:p>
        </p:txBody>
      </p:sp>
      <p:sp>
        <p:nvSpPr>
          <p:cNvPr id="40" name="Oval 39"/>
          <p:cNvSpPr/>
          <p:nvPr/>
        </p:nvSpPr>
        <p:spPr>
          <a:xfrm>
            <a:off x="9610344" y="6345936"/>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12096" y="6263640"/>
            <a:ext cx="7086600" cy="347472"/>
          </a:xfrm>
          <a:prstGeom prst="rect">
            <a:avLst/>
          </a:prstGeom>
          <a:noFill/>
        </p:spPr>
        <p:txBody>
          <a:bodyPr wrap="square" anchor="t" lIns="0" rIns="0" tIns="0" bIns="0">
            <a:spAutoFit/>
          </a:bodyPr>
          <a:lstStyle/>
          <a:p>
            <a:pPr algn="l"/>
            <a:r>
              <a:rPr sz="1700" b="1">
                <a:solidFill>
                  <a:srgbClr val="FAF5EC"/>
                </a:solidFill>
                <a:latin typeface="Arial"/>
              </a:rPr>
              <a:t>Infiltration et peinture, classe de CM1-CM2</a:t>
            </a:r>
          </a:p>
        </p:txBody>
      </p:sp>
      <p:sp>
        <p:nvSpPr>
          <p:cNvPr id="42" name="Oval 41"/>
          <p:cNvSpPr/>
          <p:nvPr/>
        </p:nvSpPr>
        <p:spPr>
          <a:xfrm>
            <a:off x="9610344" y="6693407"/>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12096" y="6611112"/>
            <a:ext cx="7086600" cy="347472"/>
          </a:xfrm>
          <a:prstGeom prst="rect">
            <a:avLst/>
          </a:prstGeom>
          <a:noFill/>
        </p:spPr>
        <p:txBody>
          <a:bodyPr wrap="square" anchor="t" lIns="0" rIns="0" tIns="0" bIns="0">
            <a:spAutoFit/>
          </a:bodyPr>
          <a:lstStyle/>
          <a:p>
            <a:pPr algn="l"/>
            <a:r>
              <a:rPr sz="1700" b="1">
                <a:solidFill>
                  <a:srgbClr val="FAF5EC"/>
                </a:solidFill>
                <a:latin typeface="Arial"/>
              </a:rPr>
              <a:t>Peinture de l'office du réfectoire</a:t>
            </a:r>
          </a:p>
        </p:txBody>
      </p:sp>
      <p:sp>
        <p:nvSpPr>
          <p:cNvPr id="44" name="Rectangle 43"/>
          <p:cNvSpPr/>
          <p:nvPr/>
        </p:nvSpPr>
        <p:spPr>
          <a:xfrm>
            <a:off x="950976"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0976"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71016" y="7607808"/>
            <a:ext cx="4727448" cy="457200"/>
          </a:xfrm>
          <a:prstGeom prst="rect">
            <a:avLst/>
          </a:prstGeom>
          <a:noFill/>
        </p:spPr>
        <p:txBody>
          <a:bodyPr wrap="square" anchor="t" lIns="0" rIns="0" tIns="0" bIns="0">
            <a:spAutoFit/>
          </a:bodyPr>
          <a:lstStyle/>
          <a:p>
            <a:pPr algn="l"/>
            <a:r>
              <a:rPr sz="2200" b="1">
                <a:solidFill>
                  <a:srgbClr val="FFFFFF"/>
                </a:solidFill>
                <a:latin typeface="Arial"/>
              </a:rPr>
              <a:t>Les Yvris</a:t>
            </a:r>
          </a:p>
        </p:txBody>
      </p:sp>
      <p:sp>
        <p:nvSpPr>
          <p:cNvPr id="47" name="Oval 46"/>
          <p:cNvSpPr/>
          <p:nvPr/>
        </p:nvSpPr>
        <p:spPr>
          <a:xfrm>
            <a:off x="1289304"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72768" y="8156448"/>
            <a:ext cx="4407407" cy="640080"/>
          </a:xfrm>
          <a:prstGeom prst="rect">
            <a:avLst/>
          </a:prstGeom>
          <a:noFill/>
        </p:spPr>
        <p:txBody>
          <a:bodyPr wrap="square" anchor="t" lIns="0" rIns="0" tIns="0" bIns="0">
            <a:spAutoFit/>
          </a:bodyPr>
          <a:lstStyle/>
          <a:p>
            <a:pPr algn="l"/>
            <a:r>
              <a:rPr sz="1600" b="1">
                <a:solidFill>
                  <a:srgbClr val="FAF5EC"/>
                </a:solidFill>
                <a:latin typeface="Arial"/>
              </a:rPr>
              <a:t>Drapeau de l'entrée remis en état</a:t>
            </a:r>
          </a:p>
        </p:txBody>
      </p:sp>
      <p:sp>
        <p:nvSpPr>
          <p:cNvPr id="49" name="Oval 48"/>
          <p:cNvSpPr/>
          <p:nvPr/>
        </p:nvSpPr>
        <p:spPr>
          <a:xfrm>
            <a:off x="1289304"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72768" y="8540496"/>
            <a:ext cx="4407407" cy="640080"/>
          </a:xfrm>
          <a:prstGeom prst="rect">
            <a:avLst/>
          </a:prstGeom>
          <a:noFill/>
        </p:spPr>
        <p:txBody>
          <a:bodyPr wrap="square" anchor="t" lIns="0" rIns="0" tIns="0" bIns="0">
            <a:spAutoFit/>
          </a:bodyPr>
          <a:lstStyle/>
          <a:p>
            <a:pPr algn="l"/>
            <a:r>
              <a:rPr sz="1600" b="1">
                <a:solidFill>
                  <a:srgbClr val="FAF5EC"/>
                </a:solidFill>
                <a:latin typeface="Arial"/>
              </a:rPr>
              <a:t>Peinture du hall élémentaire et du bureau de la direction</a:t>
            </a:r>
          </a:p>
        </p:txBody>
      </p:sp>
      <p:sp>
        <p:nvSpPr>
          <p:cNvPr id="51" name="Rectangle 50"/>
          <p:cNvSpPr/>
          <p:nvPr/>
        </p:nvSpPr>
        <p:spPr>
          <a:xfrm>
            <a:off x="6492240"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92240"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12279" y="7607808"/>
            <a:ext cx="4727448" cy="457200"/>
          </a:xfrm>
          <a:prstGeom prst="rect">
            <a:avLst/>
          </a:prstGeom>
          <a:noFill/>
        </p:spPr>
        <p:txBody>
          <a:bodyPr wrap="square" anchor="t" lIns="0" rIns="0" tIns="0" bIns="0">
            <a:spAutoFit/>
          </a:bodyPr>
          <a:lstStyle/>
          <a:p>
            <a:pPr algn="l"/>
            <a:r>
              <a:rPr sz="2200" b="1">
                <a:solidFill>
                  <a:srgbClr val="FFFFFF"/>
                </a:solidFill>
                <a:latin typeface="Arial"/>
              </a:rPr>
              <a:t>Maternelle des Richardets</a:t>
            </a:r>
          </a:p>
        </p:txBody>
      </p:sp>
      <p:sp>
        <p:nvSpPr>
          <p:cNvPr id="54" name="Oval 53"/>
          <p:cNvSpPr/>
          <p:nvPr/>
        </p:nvSpPr>
        <p:spPr>
          <a:xfrm>
            <a:off x="6830568"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14031" y="8156448"/>
            <a:ext cx="4407407" cy="640080"/>
          </a:xfrm>
          <a:prstGeom prst="rect">
            <a:avLst/>
          </a:prstGeom>
          <a:noFill/>
        </p:spPr>
        <p:txBody>
          <a:bodyPr wrap="square" anchor="t" lIns="0" rIns="0" tIns="0" bIns="0">
            <a:spAutoFit/>
          </a:bodyPr>
          <a:lstStyle/>
          <a:p>
            <a:pPr algn="l"/>
            <a:r>
              <a:rPr sz="1600" b="1">
                <a:solidFill>
                  <a:srgbClr val="FAF5EC"/>
                </a:solidFill>
                <a:latin typeface="Arial"/>
              </a:rPr>
              <a:t>Un rafraîchisseur d'air</a:t>
            </a:r>
          </a:p>
        </p:txBody>
      </p:sp>
      <p:sp>
        <p:nvSpPr>
          <p:cNvPr id="56" name="Oval 55"/>
          <p:cNvSpPr/>
          <p:nvPr/>
        </p:nvSpPr>
        <p:spPr>
          <a:xfrm>
            <a:off x="6830568" y="861364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14031" y="8540496"/>
            <a:ext cx="4407407" cy="640080"/>
          </a:xfrm>
          <a:prstGeom prst="rect">
            <a:avLst/>
          </a:prstGeom>
          <a:noFill/>
        </p:spPr>
        <p:txBody>
          <a:bodyPr wrap="square" anchor="t" lIns="0" rIns="0" tIns="0" bIns="0">
            <a:spAutoFit/>
          </a:bodyPr>
          <a:lstStyle/>
          <a:p>
            <a:pPr algn="l"/>
            <a:r>
              <a:rPr sz="1600" b="1">
                <a:solidFill>
                  <a:srgbClr val="FAF5EC"/>
                </a:solidFill>
                <a:latin typeface="Arial"/>
              </a:rPr>
              <a:t>Des films de protection solaire sur les vitrages</a:t>
            </a:r>
          </a:p>
        </p:txBody>
      </p:sp>
      <p:sp>
        <p:nvSpPr>
          <p:cNvPr id="58" name="Rectangle 57"/>
          <p:cNvSpPr/>
          <p:nvPr/>
        </p:nvSpPr>
        <p:spPr>
          <a:xfrm>
            <a:off x="12033504"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2033504"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353544" y="7607808"/>
            <a:ext cx="4727448" cy="457200"/>
          </a:xfrm>
          <a:prstGeom prst="rect">
            <a:avLst/>
          </a:prstGeom>
          <a:noFill/>
        </p:spPr>
        <p:txBody>
          <a:bodyPr wrap="square" anchor="t" lIns="0" rIns="0" tIns="0" bIns="0">
            <a:spAutoFit/>
          </a:bodyPr>
          <a:lstStyle/>
          <a:p>
            <a:pPr algn="l"/>
            <a:r>
              <a:rPr sz="2200" b="1">
                <a:solidFill>
                  <a:srgbClr val="FFFFFF"/>
                </a:solidFill>
                <a:latin typeface="Arial"/>
              </a:rPr>
              <a:t>Paul-Serelle</a:t>
            </a:r>
          </a:p>
        </p:txBody>
      </p:sp>
      <p:sp>
        <p:nvSpPr>
          <p:cNvPr id="61" name="Oval 60"/>
          <p:cNvSpPr/>
          <p:nvPr/>
        </p:nvSpPr>
        <p:spPr>
          <a:xfrm>
            <a:off x="12371832" y="8229600"/>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655296" y="8156448"/>
            <a:ext cx="4407407" cy="640080"/>
          </a:xfrm>
          <a:prstGeom prst="rect">
            <a:avLst/>
          </a:prstGeom>
          <a:noFill/>
        </p:spPr>
        <p:txBody>
          <a:bodyPr wrap="square" anchor="t" lIns="0" rIns="0" tIns="0" bIns="0">
            <a:spAutoFit/>
          </a:bodyPr>
          <a:lstStyle/>
          <a:p>
            <a:pPr algn="l"/>
            <a:r>
              <a:rPr sz="1600" b="1">
                <a:solidFill>
                  <a:srgbClr val="FAF5EC"/>
                </a:solidFill>
                <a:latin typeface="Arial"/>
              </a:rPr>
              <a:t>Sécurisation du carrefour, à l'étude</a:t>
            </a:r>
          </a:p>
        </p:txBody>
      </p:sp>
      <p:sp>
        <p:nvSpPr>
          <p:cNvPr id="63" name="Oval 62"/>
          <p:cNvSpPr/>
          <p:nvPr/>
        </p:nvSpPr>
        <p:spPr>
          <a:xfrm>
            <a:off x="12371832"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655296" y="8540496"/>
            <a:ext cx="4407407" cy="640080"/>
          </a:xfrm>
          <a:prstGeom prst="rect">
            <a:avLst/>
          </a:prstGeom>
          <a:noFill/>
        </p:spPr>
        <p:txBody>
          <a:bodyPr wrap="square" anchor="t" lIns="0" rIns="0" tIns="0" bIns="0">
            <a:spAutoFit/>
          </a:bodyPr>
          <a:lstStyle/>
          <a:p>
            <a:pPr algn="l"/>
            <a:r>
              <a:rPr sz="1600" b="1">
                <a:solidFill>
                  <a:srgbClr val="FAF5EC"/>
                </a:solidFill>
                <a:latin typeface="Arial"/>
              </a:rPr>
              <a:t>Réparation des fuites de la salle polyvalente</a:t>
            </a:r>
          </a:p>
        </p:txBody>
      </p:sp>
      <p:sp>
        <p:nvSpPr>
          <p:cNvPr id="65" name="Oval 64"/>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67" name="Oval 66"/>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anchor="t" lIns="0" rIns="0" tIns="0" bIns="0">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anchor="t" lIns="0" rIns="0" tIns="0" bIns="0">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anchor="t" lIns="0" rIns="0" tIns="0" bIns="0">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anchor="t" lIns="0" rIns="0" tIns="0" bIns="0">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anchor="t" lIns="0" rIns="0" tIns="0" bIns="0">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anchor="t" lIns="0" rIns="0" tIns="0" bIns="0">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anchor="t" lIns="0" rIns="0" tIns="0" bIns="0">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anchor="t" lIns="0" rIns="0" tIns="0" bIns="0">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anchor="t" lIns="0" rIns="0" tIns="0" bIns="0">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anchor="t" lIns="0" rIns="0" tIns="0" bIns="0">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anchor="t" lIns="0" rIns="0" tIns="0" bIns="0">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anchor="t" lIns="0" rIns="0" tIns="0" bIns="0">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anchor="t" lIns="0" rIns="0" tIns="0" bIns="0">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anchor="t" lIns="0" rIns="0" tIns="0" bIns="0">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anchor="t" lIns="0" rIns="0" tIns="0" bIns="0">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anchor="t" lIns="0" rIns="0" tIns="0" bIns="0">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anchor="t" lIns="0" rIns="0" tIns="0" bIns="0">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anchor="t" lIns="0" rIns="0" tIns="0" bIns="0">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anchor="t" lIns="0" rIns="0" tIns="0" bIns="0">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anchor="t" lIns="0" rIns="0" tIns="0" bIns="0">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anchor="t" lIns="0" rIns="0" tIns="0" bIns="0">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anchor="t" lIns="0" rIns="0" tIns="0" bIns="0">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anchor="t" lIns="0" rIns="0" tIns="0" bIns="0">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anchor="t" lIns="0" rIns="0" tIns="0" bIns="0">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anchor="t" lIns="0" rIns="0" tIns="0" bIns="0">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anchor="t" lIns="0" rIns="0" tIns="0" bIns="0">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anchor="t" lIns="0" rIns="0" tIns="0" bIns="0">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anchor="t" lIns="0" rIns="0" tIns="0" bIns="0">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anchor="t" lIns="0" rIns="0" tIns="0" bIns="0">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anchor="t" lIns="0" rIns="0" tIns="0" bIns="0">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anchor="t" lIns="0" rIns="0" tIns="0" bIns="0">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anchor="t" lIns="0" rIns="0" tIns="0" bIns="0">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anchor="t" lIns="0" rIns="0" tIns="0" bIns="0">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71016" y="8092440"/>
            <a:ext cx="7315200" cy="365760"/>
          </a:xfrm>
          <a:prstGeom prst="rect">
            <a:avLst/>
          </a:prstGeom>
          <a:noFill/>
        </p:spPr>
        <p:txBody>
          <a:bodyPr wrap="square" anchor="t" lIns="0" rIns="0" tIns="0" bIns="0">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anchor="t" lIns="0" rIns="0" tIns="0" bIns="0">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01784" y="8092440"/>
            <a:ext cx="7315200" cy="365760"/>
          </a:xfrm>
          <a:prstGeom prst="rect">
            <a:avLst/>
          </a:prstGeom>
          <a:noFill/>
        </p:spPr>
        <p:txBody>
          <a:bodyPr wrap="square" anchor="t" lIns="0" rIns="0" tIns="0" bIns="0">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anchor="t" lIns="0" rIns="0" tIns="0" bIns="0">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8961119"/>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sp>
        <p:nvSpPr>
          <p:cNvPr id="6" name="TextBox 5"/>
          <p:cNvSpPr txBox="1"/>
          <p:nvPr/>
        </p:nvSpPr>
        <p:spPr>
          <a:xfrm>
            <a:off x="950976" y="9156191"/>
            <a:ext cx="10241280" cy="274320"/>
          </a:xfrm>
          <a:prstGeom prst="rect">
            <a:avLst/>
          </a:prstGeom>
          <a:noFill/>
        </p:spPr>
        <p:txBody>
          <a:bodyPr wrap="square" anchor="t" lIns="0" rIns="0" tIns="0" bIns="0">
            <a:spAutoFit/>
          </a:bodyPr>
          <a:lstStyle/>
          <a:p>
            <a:pPr algn="r"/>
            <a:r>
              <a:rPr sz="1100" b="0">
                <a:solidFill>
                  <a:srgbClr val="C9CCDA"/>
                </a:solidFill>
                <a:latin typeface="Arial"/>
              </a:rPr>
              <a:t>© IGN – BD ORTHO</a:t>
            </a:r>
          </a:p>
        </p:txBody>
      </p:sp>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anchor="t" lIns="0" rIns="0" tIns="0" bIns="0">
            <a:spAutoFit/>
          </a:bodyPr>
          <a:lstStyle/>
          <a:p>
            <a:pPr algn="l"/>
            <a:r>
              <a:rPr sz="2000" b="1">
                <a:solidFill>
                  <a:srgbClr val="FFFFFF"/>
                </a:solidFill>
                <a:latin typeface="Arial"/>
              </a:rPr>
              <a:t>Secteur du gymnase des Yvris, chemin de la Noisette</a:t>
            </a:r>
          </a:p>
        </p:txBody>
      </p:sp>
      <p:sp>
        <p:nvSpPr>
          <p:cNvPr id="9" name="Rectangle 8"/>
          <p:cNvSpPr/>
          <p:nvPr/>
        </p:nvSpPr>
        <p:spPr>
          <a:xfrm>
            <a:off x="11567160" y="6995160"/>
            <a:ext cx="5760720" cy="210312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41480" y="6995160"/>
            <a:ext cx="5212080" cy="2103120"/>
          </a:xfrm>
          <a:prstGeom prst="rect">
            <a:avLst/>
          </a:prstGeom>
          <a:noFill/>
        </p:spPr>
        <p:txBody>
          <a:bodyPr wrap="square" anchor="ctr" lIns="0" rIns="0" tIns="0" bIns="0">
            <a:spAutoFit/>
          </a:bodyPr>
          <a:lstStyle/>
          <a:p>
            <a:pPr algn="ctr"/>
            <a:r>
              <a:rPr sz="2200" b="1">
                <a:solidFill>
                  <a:srgbClr val="C9CCDA"/>
                </a:solidFill>
                <a:latin typeface="Arial"/>
              </a:rPr>
              <a:t>[Périmètre, durée de stationnement autorisée et date de mise en place à compléter]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commerces de l'avenue Médéric</a:t>
            </a:r>
          </a:p>
        </p:txBody>
      </p:sp>
      <p:pic>
        <p:nvPicPr>
          <p:cNvPr id="5" name="Picture 4" descr="fond_plan_mederic.png"/>
          <p:cNvPicPr>
            <a:picLocks noChangeAspect="1"/>
          </p:cNvPicPr>
          <p:nvPr/>
        </p:nvPicPr>
        <p:blipFill>
          <a:blip r:embed="rId4"/>
          <a:stretch>
            <a:fillRect/>
          </a:stretch>
        </p:blipFill>
        <p:spPr>
          <a:xfrm>
            <a:off x="950976" y="2240280"/>
            <a:ext cx="16367759" cy="4028987"/>
          </a:xfrm>
          <a:prstGeom prst="rect">
            <a:avLst/>
          </a:prstGeom>
        </p:spPr>
      </p:pic>
      <p:sp>
        <p:nvSpPr>
          <p:cNvPr id="6" name="TextBox 5"/>
          <p:cNvSpPr txBox="1"/>
          <p:nvPr/>
        </p:nvSpPr>
        <p:spPr>
          <a:xfrm>
            <a:off x="950976" y="6324131"/>
            <a:ext cx="16367759" cy="274320"/>
          </a:xfrm>
          <a:prstGeom prst="rect">
            <a:avLst/>
          </a:prstGeom>
          <a:noFill/>
        </p:spPr>
        <p:txBody>
          <a:bodyPr wrap="square" anchor="t" lIns="0" rIns="0" tIns="0" bIns="0">
            <a:spAutoFit/>
          </a:bodyPr>
          <a:lstStyle/>
          <a:p>
            <a:pPr algn="r"/>
            <a:r>
              <a:rPr sz="1100" b="0">
                <a:solidFill>
                  <a:srgbClr val="C9CCDA"/>
                </a:solidFill>
                <a:latin typeface="Arial"/>
              </a:rPr>
              <a:t>Rues : IGN – BD TOPO · Commerces : base Sirene (Insee), établissements actifs en août 2026</a:t>
            </a:r>
          </a:p>
        </p:txBody>
      </p:sp>
      <p:sp>
        <p:nvSpPr>
          <p:cNvPr id="7" name="Pharmacie Mederic (58)"/>
          <p:cNvSpPr/>
          <p:nvPr/>
        </p:nvSpPr>
        <p:spPr>
          <a:xfrm>
            <a:off x="4437336" y="4378793"/>
            <a:ext cx="219456" cy="219456"/>
          </a:xfrm>
          <a:prstGeom prst="ellipse">
            <a:avLst/>
          </a:prstGeom>
          <a:solidFill>
            <a:srgbClr val="6FB7E9"/>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deric Superette (78)"/>
          <p:cNvSpPr/>
          <p:nvPr/>
        </p:nvSpPr>
        <p:spPr>
          <a:xfrm>
            <a:off x="6303041" y="4820277"/>
            <a:ext cx="219456" cy="219456"/>
          </a:xfrm>
          <a:prstGeom prst="ellipse">
            <a:avLst/>
          </a:prstGeom>
          <a:solidFill>
            <a:srgbClr val="72C493"/>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f Raf Pilo (78)"/>
          <p:cNvSpPr/>
          <p:nvPr/>
        </p:nvSpPr>
        <p:spPr>
          <a:xfrm>
            <a:off x="6572461" y="4871894"/>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ulangerie Du Marche (84)"/>
          <p:cNvSpPr/>
          <p:nvPr/>
        </p:nvSpPr>
        <p:spPr>
          <a:xfrm>
            <a:off x="6840024" y="4923707"/>
            <a:ext cx="219456" cy="219456"/>
          </a:xfrm>
          <a:prstGeom prst="ellipse">
            <a:avLst/>
          </a:prstGeom>
          <a:solidFill>
            <a:srgbClr val="72C493"/>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 Salvo (90)"/>
          <p:cNvSpPr/>
          <p:nvPr/>
        </p:nvSpPr>
        <p:spPr>
          <a:xfrm>
            <a:off x="7110520" y="4977225"/>
            <a:ext cx="219456" cy="219456"/>
          </a:xfrm>
          <a:prstGeom prst="ellipse">
            <a:avLst/>
          </a:prstGeom>
          <a:solidFill>
            <a:srgbClr val="F28C6B"/>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S.K (92)"/>
          <p:cNvSpPr/>
          <p:nvPr/>
        </p:nvSpPr>
        <p:spPr>
          <a:xfrm>
            <a:off x="7387207" y="5029754"/>
            <a:ext cx="219456" cy="219456"/>
          </a:xfrm>
          <a:prstGeom prst="ellipse">
            <a:avLst/>
          </a:prstGeom>
          <a:solidFill>
            <a:srgbClr val="F28C6B"/>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ikida Food (94)"/>
          <p:cNvSpPr/>
          <p:nvPr/>
        </p:nvSpPr>
        <p:spPr>
          <a:xfrm>
            <a:off x="7661610" y="5071800"/>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uchibane Qlf (96)"/>
          <p:cNvSpPr/>
          <p:nvPr/>
        </p:nvSpPr>
        <p:spPr>
          <a:xfrm>
            <a:off x="7945729" y="5106931"/>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oella &amp; Thierry (100)"/>
          <p:cNvSpPr/>
          <p:nvPr/>
        </p:nvSpPr>
        <p:spPr>
          <a:xfrm>
            <a:off x="8213892" y="5136635"/>
            <a:ext cx="219456" cy="219456"/>
          </a:xfrm>
          <a:prstGeom prst="ellipse">
            <a:avLst/>
          </a:prstGeom>
          <a:solidFill>
            <a:srgbClr val="C49BE0"/>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 102 (102)"/>
          <p:cNvSpPr/>
          <p:nvPr/>
        </p:nvSpPr>
        <p:spPr>
          <a:xfrm>
            <a:off x="8499680" y="5167205"/>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arl Kg Distributions (104)"/>
          <p:cNvSpPr/>
          <p:nvPr/>
        </p:nvSpPr>
        <p:spPr>
          <a:xfrm>
            <a:off x="8989597" y="5161066"/>
            <a:ext cx="219456" cy="219456"/>
          </a:xfrm>
          <a:prstGeom prst="ellipse">
            <a:avLst/>
          </a:prstGeom>
          <a:solidFill>
            <a:srgbClr val="F28C6B"/>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issus Mercerie Confection Rideaux (112)"/>
          <p:cNvSpPr/>
          <p:nvPr/>
        </p:nvSpPr>
        <p:spPr>
          <a:xfrm>
            <a:off x="10349078" y="5012145"/>
            <a:ext cx="219456" cy="219456"/>
          </a:xfrm>
          <a:prstGeom prst="ellipse">
            <a:avLst/>
          </a:prstGeom>
          <a:solidFill>
            <a:srgbClr val="F28C6B"/>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Atelier S (118)"/>
          <p:cNvSpPr/>
          <p:nvPr/>
        </p:nvSpPr>
        <p:spPr>
          <a:xfrm>
            <a:off x="11198115" y="4931597"/>
            <a:ext cx="219456" cy="219456"/>
          </a:xfrm>
          <a:prstGeom prst="ellipse">
            <a:avLst/>
          </a:prstGeom>
          <a:solidFill>
            <a:srgbClr val="C49BE0"/>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deric Optique (118)"/>
          <p:cNvSpPr/>
          <p:nvPr/>
        </p:nvSpPr>
        <p:spPr>
          <a:xfrm>
            <a:off x="11471264" y="4906276"/>
            <a:ext cx="219456" cy="219456"/>
          </a:xfrm>
          <a:prstGeom prst="ellipse">
            <a:avLst/>
          </a:prstGeom>
          <a:solidFill>
            <a:srgbClr val="6FB7E9"/>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 Casa (150)"/>
          <p:cNvSpPr/>
          <p:nvPr/>
        </p:nvSpPr>
        <p:spPr>
          <a:xfrm>
            <a:off x="16348898" y="4457302"/>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ociete Du Garage Des Richardets (33)"/>
          <p:cNvSpPr/>
          <p:nvPr/>
        </p:nvSpPr>
        <p:spPr>
          <a:xfrm>
            <a:off x="1769143" y="3110534"/>
            <a:ext cx="219456" cy="219456"/>
          </a:xfrm>
          <a:prstGeom prst="ellipse">
            <a:avLst/>
          </a:prstGeom>
          <a:solidFill>
            <a:srgbClr val="F28C6B"/>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f L Esperance (45)"/>
          <p:cNvSpPr/>
          <p:nvPr/>
        </p:nvSpPr>
        <p:spPr>
          <a:xfrm>
            <a:off x="4085028" y="3721936"/>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card (55)"/>
          <p:cNvSpPr/>
          <p:nvPr/>
        </p:nvSpPr>
        <p:spPr>
          <a:xfrm>
            <a:off x="5839458" y="4169298"/>
            <a:ext cx="219456" cy="219456"/>
          </a:xfrm>
          <a:prstGeom prst="ellipse">
            <a:avLst/>
          </a:prstGeom>
          <a:solidFill>
            <a:srgbClr val="72C493"/>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n Air De Campagne (63)"/>
          <p:cNvSpPr/>
          <p:nvPr/>
        </p:nvSpPr>
        <p:spPr>
          <a:xfrm>
            <a:off x="6331363" y="4267085"/>
            <a:ext cx="219456" cy="219456"/>
          </a:xfrm>
          <a:prstGeom prst="ellipse">
            <a:avLst/>
          </a:prstGeom>
          <a:solidFill>
            <a:srgbClr val="F28C6B"/>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hai-Bento (75)"/>
          <p:cNvSpPr/>
          <p:nvPr/>
        </p:nvSpPr>
        <p:spPr>
          <a:xfrm>
            <a:off x="7341058" y="4462795"/>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e Paradis Street (77)"/>
          <p:cNvSpPr/>
          <p:nvPr/>
        </p:nvSpPr>
        <p:spPr>
          <a:xfrm>
            <a:off x="7601236" y="4507516"/>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tc (81)"/>
          <p:cNvSpPr/>
          <p:nvPr/>
        </p:nvSpPr>
        <p:spPr>
          <a:xfrm>
            <a:off x="7860689" y="4545834"/>
            <a:ext cx="219456" cy="219456"/>
          </a:xfrm>
          <a:prstGeom prst="ellipse">
            <a:avLst/>
          </a:prstGeom>
          <a:solidFill>
            <a:srgbClr val="6FB7E9"/>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uperette Talbi (83)"/>
          <p:cNvSpPr/>
          <p:nvPr/>
        </p:nvSpPr>
        <p:spPr>
          <a:xfrm>
            <a:off x="8133407" y="4575442"/>
            <a:ext cx="219456" cy="219456"/>
          </a:xfrm>
          <a:prstGeom prst="ellipse">
            <a:avLst/>
          </a:prstGeom>
          <a:solidFill>
            <a:srgbClr val="72C493"/>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Zwin Et Zen (83)"/>
          <p:cNvSpPr/>
          <p:nvPr/>
        </p:nvSpPr>
        <p:spPr>
          <a:xfrm>
            <a:off x="8402969" y="4606565"/>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 Petit Biscuit (85)"/>
          <p:cNvSpPr/>
          <p:nvPr/>
        </p:nvSpPr>
        <p:spPr>
          <a:xfrm>
            <a:off x="8650858" y="4621498"/>
            <a:ext cx="219456" cy="219456"/>
          </a:xfrm>
          <a:prstGeom prst="ellipse">
            <a:avLst/>
          </a:prstGeom>
          <a:solidFill>
            <a:srgbClr val="72C493"/>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ucherie Dlr (87)"/>
          <p:cNvSpPr/>
          <p:nvPr/>
        </p:nvSpPr>
        <p:spPr>
          <a:xfrm>
            <a:off x="8902522" y="4618482"/>
            <a:ext cx="219456" cy="219456"/>
          </a:xfrm>
          <a:prstGeom prst="ellipse">
            <a:avLst/>
          </a:prstGeom>
          <a:solidFill>
            <a:srgbClr val="72C493"/>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rain De Beaute (89)"/>
          <p:cNvSpPr/>
          <p:nvPr/>
        </p:nvSpPr>
        <p:spPr>
          <a:xfrm>
            <a:off x="9168185" y="4593303"/>
            <a:ext cx="219456" cy="219456"/>
          </a:xfrm>
          <a:prstGeom prst="ellipse">
            <a:avLst/>
          </a:prstGeom>
          <a:solidFill>
            <a:srgbClr val="C49BE0"/>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e Salon T.T.L (91)"/>
          <p:cNvSpPr/>
          <p:nvPr/>
        </p:nvSpPr>
        <p:spPr>
          <a:xfrm>
            <a:off x="9439567" y="4562943"/>
            <a:ext cx="219456" cy="219456"/>
          </a:xfrm>
          <a:prstGeom prst="ellipse">
            <a:avLst/>
          </a:prstGeom>
          <a:solidFill>
            <a:srgbClr val="C49BE0"/>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enry (101)"/>
          <p:cNvSpPr/>
          <p:nvPr/>
        </p:nvSpPr>
        <p:spPr>
          <a:xfrm>
            <a:off x="11751227" y="4329172"/>
            <a:ext cx="219456" cy="219456"/>
          </a:xfrm>
          <a:prstGeom prst="ellipse">
            <a:avLst/>
          </a:prstGeom>
          <a:solidFill>
            <a:srgbClr val="6FB7E9"/>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Vinalia (131)"/>
          <p:cNvSpPr/>
          <p:nvPr/>
        </p:nvSpPr>
        <p:spPr>
          <a:xfrm>
            <a:off x="14618201" y="4075445"/>
            <a:ext cx="219456" cy="219456"/>
          </a:xfrm>
          <a:prstGeom prst="ellipse">
            <a:avLst/>
          </a:prstGeom>
          <a:solidFill>
            <a:srgbClr val="F2D43A"/>
          </a:solidFill>
          <a:ln w="1905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Nom de l'avenue"/>
          <p:cNvSpPr txBox="1"/>
          <p:nvPr/>
        </p:nvSpPr>
        <p:spPr>
          <a:xfrm>
            <a:off x="1179576" y="2404872"/>
            <a:ext cx="3291840" cy="365760"/>
          </a:xfrm>
          <a:prstGeom prst="rect">
            <a:avLst/>
          </a:prstGeom>
          <a:noFill/>
        </p:spPr>
        <p:txBody>
          <a:bodyPr wrap="square" anchor="t" lIns="0" rIns="0" tIns="0" bIns="0">
            <a:spAutoFit/>
          </a:bodyPr>
          <a:lstStyle/>
          <a:p>
            <a:pPr algn="l"/>
            <a:r>
              <a:rPr sz="1800" b="1">
                <a:solidFill>
                  <a:srgbClr val="FFFFFF"/>
                </a:solidFill>
                <a:latin typeface="Arial"/>
              </a:rPr>
              <a:t>Avenue Médéric</a:t>
            </a:r>
          </a:p>
        </p:txBody>
      </p:sp>
      <p:sp>
        <p:nvSpPr>
          <p:cNvPr id="38" name="TextBox 37"/>
          <p:cNvSpPr txBox="1"/>
          <p:nvPr/>
        </p:nvSpPr>
        <p:spPr>
          <a:xfrm>
            <a:off x="950976" y="6680747"/>
            <a:ext cx="3017520" cy="1188720"/>
          </a:xfrm>
          <a:prstGeom prst="rect">
            <a:avLst/>
          </a:prstGeom>
          <a:noFill/>
        </p:spPr>
        <p:txBody>
          <a:bodyPr wrap="square" anchor="t" lIns="0" rIns="0" tIns="0" bIns="0">
            <a:spAutoFit/>
          </a:bodyPr>
          <a:lstStyle/>
          <a:p>
            <a:pPr algn="l"/>
            <a:r>
              <a:rPr sz="8800" b="1">
                <a:solidFill>
                  <a:srgbClr val="72C493"/>
                </a:solidFill>
                <a:latin typeface="Arial"/>
              </a:rPr>
              <a:t>30</a:t>
            </a:r>
          </a:p>
        </p:txBody>
      </p:sp>
      <p:sp>
        <p:nvSpPr>
          <p:cNvPr id="39" name="TextBox 38"/>
          <p:cNvSpPr txBox="1"/>
          <p:nvPr/>
        </p:nvSpPr>
        <p:spPr>
          <a:xfrm>
            <a:off x="950976" y="8006627"/>
            <a:ext cx="3017520" cy="1188720"/>
          </a:xfrm>
          <a:prstGeom prst="rect">
            <a:avLst/>
          </a:prstGeom>
          <a:noFill/>
        </p:spPr>
        <p:txBody>
          <a:bodyPr wrap="square" anchor="t" lIns="0" rIns="0" tIns="0" bIns="0">
            <a:spAutoFit/>
          </a:bodyPr>
          <a:lstStyle/>
          <a:p>
            <a:pPr algn="l"/>
            <a:r>
              <a:rPr sz="2000" b="1">
                <a:solidFill>
                  <a:srgbClr val="FFFFFF"/>
                </a:solidFill>
                <a:latin typeface="Arial"/>
              </a:rPr>
              <a:t>commerces et services ouverts au public</a:t>
            </a:r>
          </a:p>
        </p:txBody>
      </p:sp>
      <p:sp>
        <p:nvSpPr>
          <p:cNvPr id="40" name="Rectangle 39"/>
          <p:cNvSpPr/>
          <p:nvPr/>
        </p:nvSpPr>
        <p:spPr>
          <a:xfrm>
            <a:off x="4242816" y="6772187"/>
            <a:ext cx="2454249" cy="2874732"/>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17136" y="7073939"/>
            <a:ext cx="274320" cy="27432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28616" y="6863627"/>
            <a:ext cx="1585569" cy="685800"/>
          </a:xfrm>
          <a:prstGeom prst="rect">
            <a:avLst/>
          </a:prstGeom>
          <a:noFill/>
        </p:spPr>
        <p:txBody>
          <a:bodyPr wrap="square" anchor="t" lIns="0" rIns="0" tIns="0" bIns="0">
            <a:spAutoFit/>
          </a:bodyPr>
          <a:lstStyle/>
          <a:p>
            <a:pPr algn="l"/>
            <a:r>
              <a:rPr sz="4000" b="1">
                <a:solidFill>
                  <a:srgbClr val="FFFFFF"/>
                </a:solidFill>
                <a:latin typeface="Arial"/>
              </a:rPr>
              <a:t>6</a:t>
            </a:r>
          </a:p>
        </p:txBody>
      </p:sp>
      <p:sp>
        <p:nvSpPr>
          <p:cNvPr id="43" name="TextBox 42"/>
          <p:cNvSpPr txBox="1"/>
          <p:nvPr/>
        </p:nvSpPr>
        <p:spPr>
          <a:xfrm>
            <a:off x="4517136" y="7640867"/>
            <a:ext cx="1951329" cy="685800"/>
          </a:xfrm>
          <a:prstGeom prst="rect">
            <a:avLst/>
          </a:prstGeom>
          <a:noFill/>
        </p:spPr>
        <p:txBody>
          <a:bodyPr wrap="square" anchor="t" lIns="0" rIns="0" tIns="0" bIns="0">
            <a:spAutoFit/>
          </a:bodyPr>
          <a:lstStyle/>
          <a:p>
            <a:pPr algn="l"/>
            <a:r>
              <a:rPr sz="1900" b="1">
                <a:solidFill>
                  <a:srgbClr val="72C493"/>
                </a:solidFill>
                <a:latin typeface="Arial"/>
              </a:rPr>
              <a:t>Alimentation</a:t>
            </a:r>
          </a:p>
        </p:txBody>
      </p:sp>
      <p:sp>
        <p:nvSpPr>
          <p:cNvPr id="44" name="TextBox 43"/>
          <p:cNvSpPr txBox="1"/>
          <p:nvPr/>
        </p:nvSpPr>
        <p:spPr>
          <a:xfrm>
            <a:off x="4517136" y="8372387"/>
            <a:ext cx="1951329" cy="1137372"/>
          </a:xfrm>
          <a:prstGeom prst="rect">
            <a:avLst/>
          </a:prstGeom>
          <a:noFill/>
        </p:spPr>
        <p:txBody>
          <a:bodyPr wrap="square" anchor="t" lIns="0" rIns="0" tIns="0" bIns="0">
            <a:spAutoFit/>
          </a:bodyPr>
          <a:lstStyle/>
          <a:p>
            <a:pPr algn="l"/>
            <a:r>
              <a:rPr sz="1500" b="0">
                <a:solidFill>
                  <a:srgbClr val="FAF5EC"/>
                </a:solidFill>
                <a:latin typeface="Arial"/>
              </a:rPr>
              <a:t>boulangeries, boucherie, supérettes, surgelés</a:t>
            </a:r>
          </a:p>
        </p:txBody>
      </p:sp>
      <p:sp>
        <p:nvSpPr>
          <p:cNvPr id="45" name="Rectangle 44"/>
          <p:cNvSpPr/>
          <p:nvPr/>
        </p:nvSpPr>
        <p:spPr>
          <a:xfrm>
            <a:off x="6898233" y="6772187"/>
            <a:ext cx="2454249" cy="2874732"/>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172553" y="7073939"/>
            <a:ext cx="274320" cy="274320"/>
          </a:xfrm>
          <a:prstGeom prst="ellipse">
            <a:avLst/>
          </a:prstGeom>
          <a:solidFill>
            <a:srgbClr val="F2D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84033" y="6863627"/>
            <a:ext cx="1585569" cy="685800"/>
          </a:xfrm>
          <a:prstGeom prst="rect">
            <a:avLst/>
          </a:prstGeom>
          <a:noFill/>
        </p:spPr>
        <p:txBody>
          <a:bodyPr wrap="square" anchor="t" lIns="0" rIns="0" tIns="0" bIns="0">
            <a:spAutoFit/>
          </a:bodyPr>
          <a:lstStyle/>
          <a:p>
            <a:pPr algn="l"/>
            <a:r>
              <a:rPr sz="4000" b="1">
                <a:solidFill>
                  <a:srgbClr val="FFFFFF"/>
                </a:solidFill>
                <a:latin typeface="Arial"/>
              </a:rPr>
              <a:t>10</a:t>
            </a:r>
          </a:p>
        </p:txBody>
      </p:sp>
      <p:sp>
        <p:nvSpPr>
          <p:cNvPr id="48" name="TextBox 47"/>
          <p:cNvSpPr txBox="1"/>
          <p:nvPr/>
        </p:nvSpPr>
        <p:spPr>
          <a:xfrm>
            <a:off x="7172553" y="7640867"/>
            <a:ext cx="1951329" cy="685800"/>
          </a:xfrm>
          <a:prstGeom prst="rect">
            <a:avLst/>
          </a:prstGeom>
          <a:noFill/>
        </p:spPr>
        <p:txBody>
          <a:bodyPr wrap="square" anchor="t" lIns="0" rIns="0" tIns="0" bIns="0">
            <a:spAutoFit/>
          </a:bodyPr>
          <a:lstStyle/>
          <a:p>
            <a:pPr algn="l"/>
            <a:r>
              <a:rPr sz="1900" b="1">
                <a:solidFill>
                  <a:srgbClr val="72C493"/>
                </a:solidFill>
                <a:latin typeface="Arial"/>
              </a:rPr>
              <a:t>Restaurants et cafés</a:t>
            </a:r>
          </a:p>
        </p:txBody>
      </p:sp>
      <p:sp>
        <p:nvSpPr>
          <p:cNvPr id="49" name="TextBox 48"/>
          <p:cNvSpPr txBox="1"/>
          <p:nvPr/>
        </p:nvSpPr>
        <p:spPr>
          <a:xfrm>
            <a:off x="7172553" y="8372387"/>
            <a:ext cx="1951329" cy="1137372"/>
          </a:xfrm>
          <a:prstGeom prst="rect">
            <a:avLst/>
          </a:prstGeom>
          <a:noFill/>
        </p:spPr>
        <p:txBody>
          <a:bodyPr wrap="square" anchor="t" lIns="0" rIns="0" tIns="0" bIns="0">
            <a:spAutoFit/>
          </a:bodyPr>
          <a:lstStyle/>
          <a:p>
            <a:pPr algn="l"/>
            <a:r>
              <a:rPr sz="1500" b="0">
                <a:solidFill>
                  <a:srgbClr val="FAF5EC"/>
                </a:solidFill>
                <a:latin typeface="Arial"/>
              </a:rPr>
              <a:t>restaurants, restauration rapide, cafés</a:t>
            </a:r>
          </a:p>
        </p:txBody>
      </p:sp>
      <p:sp>
        <p:nvSpPr>
          <p:cNvPr id="50" name="Rectangle 49"/>
          <p:cNvSpPr/>
          <p:nvPr/>
        </p:nvSpPr>
        <p:spPr>
          <a:xfrm>
            <a:off x="9553651" y="6772187"/>
            <a:ext cx="2454249" cy="2874732"/>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827971" y="7073939"/>
            <a:ext cx="274320" cy="274320"/>
          </a:xfrm>
          <a:prstGeom prst="ellipse">
            <a:avLst/>
          </a:prstGeom>
          <a:solidFill>
            <a:srgbClr val="C4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39451" y="6863627"/>
            <a:ext cx="1585569" cy="685800"/>
          </a:xfrm>
          <a:prstGeom prst="rect">
            <a:avLst/>
          </a:prstGeom>
          <a:noFill/>
        </p:spPr>
        <p:txBody>
          <a:bodyPr wrap="square" anchor="t" lIns="0" rIns="0" tIns="0" bIns="0">
            <a:spAutoFit/>
          </a:bodyPr>
          <a:lstStyle/>
          <a:p>
            <a:pPr algn="l"/>
            <a:r>
              <a:rPr sz="4000" b="1">
                <a:solidFill>
                  <a:srgbClr val="FFFFFF"/>
                </a:solidFill>
                <a:latin typeface="Arial"/>
              </a:rPr>
              <a:t>4</a:t>
            </a:r>
          </a:p>
        </p:txBody>
      </p:sp>
      <p:sp>
        <p:nvSpPr>
          <p:cNvPr id="53" name="TextBox 52"/>
          <p:cNvSpPr txBox="1"/>
          <p:nvPr/>
        </p:nvSpPr>
        <p:spPr>
          <a:xfrm>
            <a:off x="9827971" y="7640867"/>
            <a:ext cx="1951329" cy="685800"/>
          </a:xfrm>
          <a:prstGeom prst="rect">
            <a:avLst/>
          </a:prstGeom>
          <a:noFill/>
        </p:spPr>
        <p:txBody>
          <a:bodyPr wrap="square" anchor="t" lIns="0" rIns="0" tIns="0" bIns="0">
            <a:spAutoFit/>
          </a:bodyPr>
          <a:lstStyle/>
          <a:p>
            <a:pPr algn="l"/>
            <a:r>
              <a:rPr sz="1900" b="1">
                <a:solidFill>
                  <a:srgbClr val="72C493"/>
                </a:solidFill>
                <a:latin typeface="Arial"/>
              </a:rPr>
              <a:t>Coiffure et beauté</a:t>
            </a:r>
          </a:p>
        </p:txBody>
      </p:sp>
      <p:sp>
        <p:nvSpPr>
          <p:cNvPr id="54" name="TextBox 53"/>
          <p:cNvSpPr txBox="1"/>
          <p:nvPr/>
        </p:nvSpPr>
        <p:spPr>
          <a:xfrm>
            <a:off x="9827971" y="8372387"/>
            <a:ext cx="1951329" cy="1137372"/>
          </a:xfrm>
          <a:prstGeom prst="rect">
            <a:avLst/>
          </a:prstGeom>
          <a:noFill/>
        </p:spPr>
        <p:txBody>
          <a:bodyPr wrap="square" anchor="t" lIns="0" rIns="0" tIns="0" bIns="0">
            <a:spAutoFit/>
          </a:bodyPr>
          <a:lstStyle/>
          <a:p>
            <a:pPr algn="l"/>
            <a:r>
              <a:rPr sz="1500" b="0">
                <a:solidFill>
                  <a:srgbClr val="FAF5EC"/>
                </a:solidFill>
                <a:latin typeface="Arial"/>
              </a:rPr>
              <a:t>salons de coiffure, institut de beauté</a:t>
            </a:r>
          </a:p>
        </p:txBody>
      </p:sp>
      <p:sp>
        <p:nvSpPr>
          <p:cNvPr id="55" name="Rectangle 54"/>
          <p:cNvSpPr/>
          <p:nvPr/>
        </p:nvSpPr>
        <p:spPr>
          <a:xfrm>
            <a:off x="12209068" y="6772187"/>
            <a:ext cx="2454249" cy="2874732"/>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2483388" y="7073939"/>
            <a:ext cx="274320" cy="274320"/>
          </a:xfrm>
          <a:prstGeom prst="ellipse">
            <a:avLst/>
          </a:prstGeom>
          <a:solidFill>
            <a:srgbClr val="6FB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894868" y="6863627"/>
            <a:ext cx="1585569" cy="685800"/>
          </a:xfrm>
          <a:prstGeom prst="rect">
            <a:avLst/>
          </a:prstGeom>
          <a:noFill/>
        </p:spPr>
        <p:txBody>
          <a:bodyPr wrap="square" anchor="t" lIns="0" rIns="0" tIns="0" bIns="0">
            <a:spAutoFit/>
          </a:bodyPr>
          <a:lstStyle/>
          <a:p>
            <a:pPr algn="l"/>
            <a:r>
              <a:rPr sz="4000" b="1">
                <a:solidFill>
                  <a:srgbClr val="FFFFFF"/>
                </a:solidFill>
                <a:latin typeface="Arial"/>
              </a:rPr>
              <a:t>4</a:t>
            </a:r>
          </a:p>
        </p:txBody>
      </p:sp>
      <p:sp>
        <p:nvSpPr>
          <p:cNvPr id="58" name="TextBox 57"/>
          <p:cNvSpPr txBox="1"/>
          <p:nvPr/>
        </p:nvSpPr>
        <p:spPr>
          <a:xfrm>
            <a:off x="12483388" y="7640867"/>
            <a:ext cx="1951329" cy="685800"/>
          </a:xfrm>
          <a:prstGeom prst="rect">
            <a:avLst/>
          </a:prstGeom>
          <a:noFill/>
        </p:spPr>
        <p:txBody>
          <a:bodyPr wrap="square" anchor="t" lIns="0" rIns="0" tIns="0" bIns="0">
            <a:spAutoFit/>
          </a:bodyPr>
          <a:lstStyle/>
          <a:p>
            <a:pPr algn="l"/>
            <a:r>
              <a:rPr sz="1900" b="1">
                <a:solidFill>
                  <a:srgbClr val="72C493"/>
                </a:solidFill>
                <a:latin typeface="Arial"/>
              </a:rPr>
              <a:t>Santé</a:t>
            </a:r>
          </a:p>
        </p:txBody>
      </p:sp>
      <p:sp>
        <p:nvSpPr>
          <p:cNvPr id="59" name="TextBox 58"/>
          <p:cNvSpPr txBox="1"/>
          <p:nvPr/>
        </p:nvSpPr>
        <p:spPr>
          <a:xfrm>
            <a:off x="12483388" y="8372387"/>
            <a:ext cx="1951329" cy="1137372"/>
          </a:xfrm>
          <a:prstGeom prst="rect">
            <a:avLst/>
          </a:prstGeom>
          <a:noFill/>
        </p:spPr>
        <p:txBody>
          <a:bodyPr wrap="square" anchor="t" lIns="0" rIns="0" tIns="0" bIns="0">
            <a:spAutoFit/>
          </a:bodyPr>
          <a:lstStyle/>
          <a:p>
            <a:pPr algn="l"/>
            <a:r>
              <a:rPr sz="1500" b="0">
                <a:solidFill>
                  <a:srgbClr val="FAF5EC"/>
                </a:solidFill>
                <a:latin typeface="Arial"/>
              </a:rPr>
              <a:t>pharmacie, opticiens, vétérinaire</a:t>
            </a:r>
          </a:p>
        </p:txBody>
      </p:sp>
      <p:sp>
        <p:nvSpPr>
          <p:cNvPr id="60" name="Rectangle 59"/>
          <p:cNvSpPr/>
          <p:nvPr/>
        </p:nvSpPr>
        <p:spPr>
          <a:xfrm>
            <a:off x="14864486" y="6772187"/>
            <a:ext cx="2454249" cy="2874732"/>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5138806" y="7073939"/>
            <a:ext cx="274320" cy="274320"/>
          </a:xfrm>
          <a:prstGeom prst="ellipse">
            <a:avLst/>
          </a:prstGeom>
          <a:solidFill>
            <a:srgbClr val="F28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550286" y="6863627"/>
            <a:ext cx="1585569" cy="685800"/>
          </a:xfrm>
          <a:prstGeom prst="rect">
            <a:avLst/>
          </a:prstGeom>
          <a:noFill/>
        </p:spPr>
        <p:txBody>
          <a:bodyPr wrap="square" anchor="t" lIns="0" rIns="0" tIns="0" bIns="0">
            <a:spAutoFit/>
          </a:bodyPr>
          <a:lstStyle/>
          <a:p>
            <a:pPr algn="l"/>
            <a:r>
              <a:rPr sz="4000" b="1">
                <a:solidFill>
                  <a:srgbClr val="FFFFFF"/>
                </a:solidFill>
                <a:latin typeface="Arial"/>
              </a:rPr>
              <a:t>6</a:t>
            </a:r>
          </a:p>
        </p:txBody>
      </p:sp>
      <p:sp>
        <p:nvSpPr>
          <p:cNvPr id="63" name="TextBox 62"/>
          <p:cNvSpPr txBox="1"/>
          <p:nvPr/>
        </p:nvSpPr>
        <p:spPr>
          <a:xfrm>
            <a:off x="15138806" y="7640867"/>
            <a:ext cx="1951329" cy="685800"/>
          </a:xfrm>
          <a:prstGeom prst="rect">
            <a:avLst/>
          </a:prstGeom>
          <a:noFill/>
        </p:spPr>
        <p:txBody>
          <a:bodyPr wrap="square" anchor="t" lIns="0" rIns="0" tIns="0" bIns="0">
            <a:spAutoFit/>
          </a:bodyPr>
          <a:lstStyle/>
          <a:p>
            <a:pPr algn="l"/>
            <a:r>
              <a:rPr sz="1900" b="1">
                <a:solidFill>
                  <a:srgbClr val="72C493"/>
                </a:solidFill>
                <a:latin typeface="Arial"/>
              </a:rPr>
              <a:t>Autres commerces</a:t>
            </a:r>
          </a:p>
        </p:txBody>
      </p:sp>
      <p:sp>
        <p:nvSpPr>
          <p:cNvPr id="64" name="TextBox 63"/>
          <p:cNvSpPr txBox="1"/>
          <p:nvPr/>
        </p:nvSpPr>
        <p:spPr>
          <a:xfrm>
            <a:off x="15138806" y="8372387"/>
            <a:ext cx="1951329" cy="1137372"/>
          </a:xfrm>
          <a:prstGeom prst="rect">
            <a:avLst/>
          </a:prstGeom>
          <a:noFill/>
        </p:spPr>
        <p:txBody>
          <a:bodyPr wrap="square" anchor="t" lIns="0" rIns="0" tIns="0" bIns="0">
            <a:spAutoFit/>
          </a:bodyPr>
          <a:lstStyle/>
          <a:p>
            <a:pPr algn="l"/>
            <a:r>
              <a:rPr sz="1500" b="0">
                <a:solidFill>
                  <a:srgbClr val="FAF5EC"/>
                </a:solidFill>
                <a:latin typeface="Arial"/>
              </a:rPr>
              <a:t>garage, station-service, fleuriste, électroménager, mercerie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2646</Words>
  <Application>Microsoft Office PowerPoint</Application>
  <PresentationFormat>Personnalisé</PresentationFormat>
  <Paragraphs>305</Paragraphs>
  <Slides>29</Slides>
  <Notes>29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29</vt:i4>
      </vt:variant>
    </vt:vector>
  </HeadingPairs>
  <TitlesOfParts>
    <vt:vector size="3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27</cp:revision>
  <cp:lastPrinted>2026-10-12T16:29:05Z</cp:lastPrinted>
  <dcterms:created xsi:type="dcterms:W3CDTF">2026-10-12T08:47:28Z</dcterms:created>
  <dcterms:modified xsi:type="dcterms:W3CDTF">2026-10-12T16:41:58Z</dcterms:modified>
</cp:coreProperties>
</file>