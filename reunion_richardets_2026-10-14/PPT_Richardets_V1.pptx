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02" r:id="rId38"/>
    <p:sldId id="303" r:id="rId39"/>
    <p:sldId id="304" r:id="rId40"/>
    <p:sldId id="315" r:id="rId51"/>
    <p:sldId id="316" r:id="rId52"/>
    <p:sldId id="305" r:id="rId41"/>
    <p:sldId id="317" r:id="rId53"/>
    <p:sldId id="306" r:id="rId42"/>
    <p:sldId id="318" r:id="rId54"/>
    <p:sldId id="307" r:id="rId43"/>
    <p:sldId id="308" r:id="rId44"/>
    <p:sldId id="314" r:id="rId50"/>
    <p:sldId id="295" r:id="rId28"/>
    <p:sldId id="309" r:id="rId45"/>
    <p:sldId id="310" r:id="rId46"/>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décidée par La Poste sans information des habitants. Le Maire s'y est opposé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pastilles vertes indiquent le nombre de signalements recueillis par le formulaire de la Ville pour chaque arrêt (472 signalements au total ; 156 rattachés avec certitude à un arrêt du quartier, les saisies ambiguës ne sont pas comptées). Les problèmes sont comptés en mentions : un signalement peut en citer plusieurs. Dans toute la ville : ligne 310, 312 signalements ; ligne 320, 76 ; ligne 312, 13 ; ligne 220, 51.</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Direction des Bâtiments et de l'Énergie, service Patrimoine Bâti (courriel du 14 octobre 2026) ; tableau de suivi des travaux en régie 2026 ; comptes rendus des conseils d'école du printemps 2026.</a:t>
            </a:r>
          </a:p>
          <a:p/>
          <a:p>
            <a:r>
              <a:t>École des Gobelins :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a:p/>
          <a:p>
            <a:r>
              <a:t>Les Charmilles : 19 000 € pour la mise en conformité du réseau d'assainissement et 4 000 € d'aménagement et de remise en état du hall (pose de plaques de plâtre et mise en peinture). Les travaux « programmés » (classe de CM1-CM2, office du réfectoire) étaient prévus pour l'été 2026 : leur réalisation reste à confirmer auprès de la Direction des Bâtiments. Même réserve pour la peinture du hall élémentaire des Yvris. Paul-Serelle : un réverbère devant le portail reste à programmer.</a:t>
            </a:r>
          </a:p>
          <a:p/>
          <a:p>
            <a:r>
              <a:t>Demandes en attente, à connaître (non projetées). Charmilles maternelle : fissures,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d'aménagement du carrefour et de la piste cyclable (en rouge), avec la coupe de la voie en encart.</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Parking situé dans le secteur du gymnase des Yvris, chemin de la Noisette, près de l'école élémentaire des Yvris et du collège Saint-Exupéry (point fourni : 48°49'35.57" N, 2°35'00.63" E). Vues : orthophotographies IGN. Règles de la zone bleue à compléter : périmètre, durée de stationnement autorisée, date de mise en place, contrôle.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3.png"/><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3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6.xml"/><Relationship Id="rId4"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7.xml"/><Relationship Id="rId4" Type="http://schemas.openxmlformats.org/officeDocument/2006/relationships/image" Target="../media/image41.jpg"/><Relationship Id="rId5" Type="http://schemas.openxmlformats.org/officeDocument/2006/relationships/image" Target="../media/image42.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969264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06040"/>
            <a:ext cx="8961120" cy="457200"/>
          </a:xfrm>
          <a:prstGeom prst="rect">
            <a:avLst/>
          </a:prstGeom>
          <a:noFill/>
        </p:spPr>
        <p:txBody>
          <a:bodyPr wrap="square" anchor="t" lIns="0" rIns="0" tIns="0" bIns="0">
            <a:spAutoFit/>
          </a:bodyPr>
          <a:lstStyle/>
          <a:p>
            <a:pPr algn="l"/>
            <a:r>
              <a:rPr sz="2200" b="1" spc="150">
                <a:solidFill>
                  <a:srgbClr val="72C493"/>
                </a:solidFill>
                <a:latin typeface="Arial"/>
              </a:rPr>
              <a:t>RÉOUVERTURE PRÉVUE EN</a:t>
            </a:r>
          </a:p>
        </p:txBody>
      </p:sp>
      <p:sp>
        <p:nvSpPr>
          <p:cNvPr id="7" name="TextBox 6"/>
          <p:cNvSpPr txBox="1"/>
          <p:nvPr/>
        </p:nvSpPr>
        <p:spPr>
          <a:xfrm>
            <a:off x="1371600" y="3063240"/>
            <a:ext cx="8961120" cy="1463040"/>
          </a:xfrm>
          <a:prstGeom prst="rect">
            <a:avLst/>
          </a:prstGeom>
          <a:noFill/>
        </p:spPr>
        <p:txBody>
          <a:bodyPr wrap="square" anchor="t" lIns="0" rIns="0" tIns="0" bIns="0">
            <a:spAutoFit/>
          </a:bodyPr>
          <a:lstStyle/>
          <a:p>
            <a:pPr algn="l"/>
            <a:r>
              <a:rPr sz="8000" b="1">
                <a:solidFill>
                  <a:srgbClr val="FFFFFF"/>
                </a:solidFill>
                <a:latin typeface="Arial"/>
              </a:rPr>
              <a:t>septembre 2028</a:t>
            </a:r>
          </a:p>
        </p:txBody>
      </p:sp>
      <p:sp>
        <p:nvSpPr>
          <p:cNvPr id="8" name="TextBox 7"/>
          <p:cNvSpPr txBox="1"/>
          <p:nvPr/>
        </p:nvSpPr>
        <p:spPr>
          <a:xfrm>
            <a:off x="1371600" y="4572000"/>
            <a:ext cx="8961120" cy="1280160"/>
          </a:xfrm>
          <a:prstGeom prst="rect">
            <a:avLst/>
          </a:prstGeom>
          <a:noFill/>
        </p:spPr>
        <p:txBody>
          <a:bodyPr wrap="square" anchor="t" lIns="0" rIns="0" tIns="0" bIns="0">
            <a:spAutoFit/>
          </a:bodyPr>
          <a:lstStyle/>
          <a:p>
            <a:pPr algn="l"/>
            <a:r>
              <a:rPr sz="24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Sept. 2026</a:t>
            </a:r>
          </a:p>
        </p:txBody>
      </p:sp>
      <p:sp>
        <p:nvSpPr>
          <p:cNvPr id="11" name="TextBox 10"/>
          <p:cNvSpPr txBox="1"/>
          <p:nvPr/>
        </p:nvSpPr>
        <p:spPr>
          <a:xfrm>
            <a:off x="127101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593445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449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20 mois</a:t>
            </a:r>
          </a:p>
        </p:txBody>
      </p:sp>
      <p:sp>
        <p:nvSpPr>
          <p:cNvPr id="14" name="TextBox 13"/>
          <p:cNvSpPr txBox="1"/>
          <p:nvPr/>
        </p:nvSpPr>
        <p:spPr>
          <a:xfrm>
            <a:off x="625449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de travaux prévus, pour une école agrandie et rénovée</a:t>
            </a:r>
          </a:p>
        </p:txBody>
      </p:sp>
      <p:sp>
        <p:nvSpPr>
          <p:cNvPr id="15" name="Rectangle 14"/>
          <p:cNvSpPr/>
          <p:nvPr/>
        </p:nvSpPr>
        <p:spPr>
          <a:xfrm>
            <a:off x="11155680" y="233172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0" y="2331720"/>
            <a:ext cx="5632704" cy="7040880"/>
          </a:xfrm>
          <a:prstGeom prst="rect">
            <a:avLst/>
          </a:prstGeom>
          <a:noFill/>
        </p:spPr>
        <p:txBody>
          <a:bodyPr wrap="square" anchor="ctr" lIns="0" rIns="0" tIns="0" bIns="0">
            <a:spAutoFit/>
          </a:bodyPr>
          <a:lstStyle/>
          <a:p>
            <a:pPr algn="ctr"/>
            <a:r>
              <a:rPr sz="2200" b="1">
                <a:solidFill>
                  <a:srgbClr val="8A90B0"/>
                </a:solidFill>
                <a:latin typeface="Arial"/>
              </a:rPr>
              <a:t>[Photo du chantier à fournir]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996696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12136" y="4069079"/>
            <a:ext cx="664464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92095"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15 juin 2026</a:t>
            </a:r>
          </a:p>
        </p:txBody>
      </p:sp>
      <p:sp>
        <p:nvSpPr>
          <p:cNvPr id="9" name="TextBox 8"/>
          <p:cNvSpPr txBox="1"/>
          <p:nvPr/>
        </p:nvSpPr>
        <p:spPr>
          <a:xfrm>
            <a:off x="1179575"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Courrier du Maire à La Poste</a:t>
            </a:r>
          </a:p>
        </p:txBody>
      </p:sp>
      <p:sp>
        <p:nvSpPr>
          <p:cNvPr id="10" name="Oval 9"/>
          <p:cNvSpPr/>
          <p:nvPr/>
        </p:nvSpPr>
        <p:spPr>
          <a:xfrm>
            <a:off x="561441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0189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2" name="TextBox 11"/>
          <p:cNvSpPr txBox="1"/>
          <p:nvPr/>
        </p:nvSpPr>
        <p:spPr>
          <a:xfrm>
            <a:off x="450189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sp>
        <p:nvSpPr>
          <p:cNvPr id="13" name="Oval 12"/>
          <p:cNvSpPr/>
          <p:nvPr/>
        </p:nvSpPr>
        <p:spPr>
          <a:xfrm>
            <a:off x="893673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782421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10 juillet 2026</a:t>
            </a:r>
          </a:p>
        </p:txBody>
      </p:sp>
      <p:sp>
        <p:nvSpPr>
          <p:cNvPr id="15" name="TextBox 14"/>
          <p:cNvSpPr txBox="1"/>
          <p:nvPr/>
        </p:nvSpPr>
        <p:spPr>
          <a:xfrm>
            <a:off x="782421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Nouvel échange entre le Maire et La Poste</a:t>
            </a:r>
          </a:p>
        </p:txBody>
      </p:sp>
      <p:pic>
        <p:nvPicPr>
          <p:cNvPr id="16" name="Picture 15" descr="Services_01_bureau_de_poste.jpg"/>
          <p:cNvPicPr>
            <a:picLocks noChangeAspect="1"/>
          </p:cNvPicPr>
          <p:nvPr/>
        </p:nvPicPr>
        <p:blipFill>
          <a:blip r:embed="rId4"/>
          <a:stretch>
            <a:fillRect/>
          </a:stretch>
        </p:blipFill>
        <p:spPr>
          <a:xfrm>
            <a:off x="11384280" y="2854642"/>
            <a:ext cx="5943600" cy="3343275"/>
          </a:xfrm>
          <a:prstGeom prst="rect">
            <a:avLst/>
          </a:prstGeom>
        </p:spPr>
      </p:pic>
      <p:sp>
        <p:nvSpPr>
          <p:cNvPr id="17" name="Rectangle 16"/>
          <p:cNvSpPr/>
          <p:nvPr/>
        </p:nvSpPr>
        <p:spPr>
          <a:xfrm>
            <a:off x="11384280" y="7086600"/>
            <a:ext cx="5943600" cy="22402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58600" y="7086600"/>
            <a:ext cx="5394960" cy="224028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1673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 BÂTIMENT</a:t>
            </a:r>
          </a:p>
        </p:txBody>
      </p:sp>
      <p:sp>
        <p:nvSpPr>
          <p:cNvPr id="8" name="Oval 7"/>
          <p:cNvSpPr/>
          <p:nvPr/>
        </p:nvSpPr>
        <p:spPr>
          <a:xfrm>
            <a:off x="131673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393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Des toitures solarisées</a:t>
            </a:r>
          </a:p>
        </p:txBody>
      </p:sp>
      <p:sp>
        <p:nvSpPr>
          <p:cNvPr id="10" name="Oval 9"/>
          <p:cNvSpPr/>
          <p:nvPr/>
        </p:nvSpPr>
        <p:spPr>
          <a:xfrm>
            <a:off x="131673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7393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façade végétalisée</a:t>
            </a:r>
          </a:p>
        </p:txBody>
      </p:sp>
      <p:sp>
        <p:nvSpPr>
          <p:cNvPr id="12" name="Oval 11"/>
          <p:cNvSpPr/>
          <p:nvPr/>
        </p:nvSpPr>
        <p:spPr>
          <a:xfrm>
            <a:off x="131673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393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L'installation des sièges</a:t>
            </a:r>
          </a:p>
        </p:txBody>
      </p:sp>
      <p:sp>
        <p:nvSpPr>
          <p:cNvPr id="14" name="Rectangle 13"/>
          <p:cNvSpPr/>
          <p:nvPr/>
        </p:nvSpPr>
        <p:spPr>
          <a:xfrm>
            <a:off x="630021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021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6597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LES ESPACES VERTS</a:t>
            </a:r>
          </a:p>
        </p:txBody>
      </p:sp>
      <p:sp>
        <p:nvSpPr>
          <p:cNvPr id="17" name="Oval 16"/>
          <p:cNvSpPr/>
          <p:nvPr/>
        </p:nvSpPr>
        <p:spPr>
          <a:xfrm>
            <a:off x="666597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2317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Les arbres replantés avant tout abattage</a:t>
            </a:r>
          </a:p>
        </p:txBody>
      </p:sp>
      <p:sp>
        <p:nvSpPr>
          <p:cNvPr id="19" name="Oval 18"/>
          <p:cNvSpPr/>
          <p:nvPr/>
        </p:nvSpPr>
        <p:spPr>
          <a:xfrm>
            <a:off x="666597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compensation végétale doublée</a:t>
            </a:r>
          </a:p>
        </p:txBody>
      </p:sp>
      <p:sp>
        <p:nvSpPr>
          <p:cNvPr id="21" name="Oval 20"/>
          <p:cNvSpPr/>
          <p:nvPr/>
        </p:nvSpPr>
        <p:spPr>
          <a:xfrm>
            <a:off x="666597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Une haie contre les nuisances sonores</a:t>
            </a:r>
          </a:p>
        </p:txBody>
      </p:sp>
      <p:sp>
        <p:nvSpPr>
          <p:cNvPr id="23" name="Rectangle 22"/>
          <p:cNvSpPr/>
          <p:nvPr/>
        </p:nvSpPr>
        <p:spPr>
          <a:xfrm>
            <a:off x="950976" y="7589520"/>
            <a:ext cx="1042416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25296" y="7589520"/>
            <a:ext cx="9875520" cy="1737360"/>
          </a:xfrm>
          <a:prstGeom prst="rect">
            <a:avLst/>
          </a:prstGeom>
          <a:noFill/>
        </p:spPr>
        <p:txBody>
          <a:bodyPr wrap="square" anchor="ctr" lIns="0" rIns="0" tIns="0" bIns="0">
            <a:spAutoFit/>
          </a:bodyPr>
          <a:lstStyle/>
          <a:p>
            <a:pPr algn="ctr"/>
            <a:r>
              <a:rPr sz="2200" b="1">
                <a:solidFill>
                  <a:srgbClr val="C9CCDA"/>
                </a:solidFill>
                <a:latin typeface="Arial"/>
              </a:rPr>
              <a:t>[Montant et calendrier à compléter]</a:t>
            </a:r>
          </a:p>
        </p:txBody>
      </p:sp>
      <p:pic>
        <p:nvPicPr>
          <p:cNvPr id="25" name="Picture 24" descr="Equipements_01_stade_Alain_Mimoun.jpg"/>
          <p:cNvPicPr>
            <a:picLocks noChangeAspect="1"/>
          </p:cNvPicPr>
          <p:nvPr/>
        </p:nvPicPr>
        <p:blipFill>
          <a:blip r:embed="rId4"/>
          <a:stretch>
            <a:fillRect/>
          </a:stretch>
        </p:blipFill>
        <p:spPr>
          <a:xfrm>
            <a:off x="11841480" y="3234690"/>
            <a:ext cx="5486400" cy="3086100"/>
          </a:xfrm>
          <a:prstGeom prst="rect">
            <a:avLst/>
          </a:prstGeom>
        </p:spPr>
      </p:pic>
      <p:sp>
        <p:nvSpPr>
          <p:cNvPr id="26" name="Rectangle 25"/>
          <p:cNvSpPr/>
          <p:nvPr/>
        </p:nvSpPr>
        <p:spPr>
          <a:xfrm>
            <a:off x="11841480" y="7589520"/>
            <a:ext cx="548640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15800" y="7589520"/>
            <a:ext cx="4937760" cy="1737360"/>
          </a:xfrm>
          <a:prstGeom prst="rect">
            <a:avLst/>
          </a:prstGeom>
          <a:noFill/>
        </p:spPr>
        <p:txBody>
          <a:bodyPr wrap="square" anchor="ctr" lIns="0" rIns="0" tIns="0" bIns="0">
            <a:spAutoFit/>
          </a:bodyPr>
          <a:lstStyle/>
          <a:p>
            <a:pPr algn="ctr"/>
            <a:r>
              <a:rPr sz="2200" b="1">
                <a:solidFill>
                  <a:srgbClr val="C9CCDA"/>
                </a:solidFill>
                <a:latin typeface="Arial"/>
              </a:rPr>
              <a:t>[Perspective de la tribune à fournir]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950976" y="2325929"/>
            <a:ext cx="10241280" cy="5497981"/>
          </a:xfrm>
          <a:prstGeom prst="rect">
            <a:avLst/>
          </a:prstGeom>
        </p:spPr>
      </p:pic>
      <p:sp>
        <p:nvSpPr>
          <p:cNvPr id="6" name="TextBox 5"/>
          <p:cNvSpPr txBox="1"/>
          <p:nvPr/>
        </p:nvSpPr>
        <p:spPr>
          <a:xfrm>
            <a:off x="11658600" y="2240280"/>
            <a:ext cx="5669280" cy="411480"/>
          </a:xfrm>
          <a:prstGeom prst="rect">
            <a:avLst/>
          </a:prstGeom>
          <a:noFill/>
        </p:spPr>
        <p:txBody>
          <a:bodyPr wrap="square" anchor="t" lIns="0" rIns="0" tIns="0" bIns="0">
            <a:spAutoFit/>
          </a:bodyPr>
          <a:lstStyle/>
          <a:p>
            <a:pPr algn="l"/>
            <a:r>
              <a:rPr sz="2100" b="1" spc="150">
                <a:solidFill>
                  <a:srgbClr val="72C493"/>
                </a:solidFill>
                <a:latin typeface="Arial"/>
              </a:rPr>
              <a:t>LE SQUARE</a:t>
            </a:r>
          </a:p>
        </p:txBody>
      </p:sp>
      <p:sp>
        <p:nvSpPr>
          <p:cNvPr id="7" name="Oval 6"/>
          <p:cNvSpPr/>
          <p:nvPr/>
        </p:nvSpPr>
        <p:spPr>
          <a:xfrm>
            <a:off x="11658600" y="2907791"/>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0" y="2788920"/>
            <a:ext cx="5257800" cy="1234440"/>
          </a:xfrm>
          <a:prstGeom prst="rect">
            <a:avLst/>
          </a:prstGeom>
          <a:noFill/>
        </p:spPr>
        <p:txBody>
          <a:bodyPr wrap="square" anchor="t" lIns="0" rIns="0" tIns="0" bIns="0">
            <a:spAutoFit/>
          </a:bodyPr>
          <a:lstStyle/>
          <a:p>
            <a:pPr algn="l"/>
            <a:r>
              <a:rPr sz="2200" b="1">
                <a:solidFill>
                  <a:srgbClr val="0E1F5B"/>
                </a:solidFill>
                <a:latin typeface="Arial"/>
              </a:rPr>
              <a:t>Square du boulevard des Astronautes, rue de la Chapelle</a:t>
            </a:r>
          </a:p>
        </p:txBody>
      </p:sp>
      <p:sp>
        <p:nvSpPr>
          <p:cNvPr id="9" name="Oval 8"/>
          <p:cNvSpPr/>
          <p:nvPr/>
        </p:nvSpPr>
        <p:spPr>
          <a:xfrm>
            <a:off x="11658600" y="4206240"/>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0" y="4087368"/>
            <a:ext cx="5257800" cy="1234440"/>
          </a:xfrm>
          <a:prstGeom prst="rect">
            <a:avLst/>
          </a:prstGeom>
          <a:noFill/>
        </p:spPr>
        <p:txBody>
          <a:bodyPr wrap="square" anchor="t" lIns="0" rIns="0" tIns="0" bIns="0">
            <a:spAutoFit/>
          </a:bodyPr>
          <a:lstStyle/>
          <a:p>
            <a:pPr algn="l"/>
            <a:r>
              <a:rPr sz="2200" b="1">
                <a:solidFill>
                  <a:srgbClr val="0E1F5B"/>
                </a:solidFill>
                <a:latin typeface="Arial"/>
              </a:rPr>
              <a:t>Des jeux pour les enfants de 1 an à 10-12 ans</a:t>
            </a:r>
          </a:p>
        </p:txBody>
      </p:sp>
      <p:sp>
        <p:nvSpPr>
          <p:cNvPr id="11" name="Oval 10"/>
          <p:cNvSpPr/>
          <p:nvPr/>
        </p:nvSpPr>
        <p:spPr>
          <a:xfrm>
            <a:off x="11658600" y="5504688"/>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0" y="5385816"/>
            <a:ext cx="5257800" cy="1234440"/>
          </a:xfrm>
          <a:prstGeom prst="rect">
            <a:avLst/>
          </a:prstGeom>
          <a:noFill/>
        </p:spPr>
        <p:txBody>
          <a:bodyPr wrap="square" anchor="t" lIns="0" rIns="0" tIns="0" bIns="0">
            <a:spAutoFit/>
          </a:bodyPr>
          <a:lstStyle/>
          <a:p>
            <a:pPr algn="l"/>
            <a:r>
              <a:rPr sz="2200" b="1">
                <a:solidFill>
                  <a:srgbClr val="0E1F5B"/>
                </a:solidFill>
                <a:latin typeface="Arial"/>
              </a:rPr>
              <a:t>Sol souple, bancs, chaises longues et tables de jeux en plastique recyclé</a:t>
            </a:r>
          </a:p>
        </p:txBody>
      </p:sp>
      <p:sp>
        <p:nvSpPr>
          <p:cNvPr id="13" name="Oval 12"/>
          <p:cNvSpPr/>
          <p:nvPr/>
        </p:nvSpPr>
        <p:spPr>
          <a:xfrm>
            <a:off x="11658600" y="6803136"/>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0" y="6684264"/>
            <a:ext cx="5257800" cy="1234440"/>
          </a:xfrm>
          <a:prstGeom prst="rect">
            <a:avLst/>
          </a:prstGeom>
          <a:noFill/>
        </p:spPr>
        <p:txBody>
          <a:bodyPr wrap="square" anchor="t" lIns="0" rIns="0" tIns="0" bIns="0">
            <a:spAutoFit/>
          </a:bodyPr>
          <a:lstStyle/>
          <a:p>
            <a:pPr algn="l"/>
            <a:r>
              <a:rPr sz="2200" b="1">
                <a:solidFill>
                  <a:srgbClr val="0E1F5B"/>
                </a:solidFill>
                <a:latin typeface="Arial"/>
              </a:rPr>
              <a:t>Le séquoia géant et les arbres existants conservés</a:t>
            </a:r>
          </a:p>
        </p:txBody>
      </p:sp>
      <p:cxnSp>
        <p:nvCxnSpPr>
          <p:cNvPr id="15" name="Connector 14"/>
          <p:cNvCxnSpPr/>
          <p:nvPr/>
        </p:nvCxnSpPr>
        <p:spPr>
          <a:xfrm>
            <a:off x="3678936" y="8321040"/>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358896"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17" name="TextBox 16"/>
          <p:cNvSpPr txBox="1"/>
          <p:nvPr/>
        </p:nvSpPr>
        <p:spPr>
          <a:xfrm>
            <a:off x="117957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Cet hiver</a:t>
            </a:r>
          </a:p>
        </p:txBody>
      </p:sp>
      <p:sp>
        <p:nvSpPr>
          <p:cNvPr id="18" name="TextBox 17"/>
          <p:cNvSpPr txBox="1"/>
          <p:nvPr/>
        </p:nvSpPr>
        <p:spPr>
          <a:xfrm>
            <a:off x="117957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Concertation avec les riverains</a:t>
            </a:r>
          </a:p>
        </p:txBody>
      </p:sp>
      <p:sp>
        <p:nvSpPr>
          <p:cNvPr id="19" name="Oval 18"/>
          <p:cNvSpPr/>
          <p:nvPr/>
        </p:nvSpPr>
        <p:spPr>
          <a:xfrm>
            <a:off x="881481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20" name="TextBox 19"/>
          <p:cNvSpPr txBox="1"/>
          <p:nvPr/>
        </p:nvSpPr>
        <p:spPr>
          <a:xfrm>
            <a:off x="6635495"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Fin du printemps</a:t>
            </a:r>
          </a:p>
        </p:txBody>
      </p:sp>
      <p:sp>
        <p:nvSpPr>
          <p:cNvPr id="21" name="TextBox 20"/>
          <p:cNvSpPr txBox="1"/>
          <p:nvPr/>
        </p:nvSpPr>
        <p:spPr>
          <a:xfrm>
            <a:off x="6635495"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Travaux</a:t>
            </a:r>
          </a:p>
        </p:txBody>
      </p:sp>
      <p:sp>
        <p:nvSpPr>
          <p:cNvPr id="22" name="Oval 21"/>
          <p:cNvSpPr/>
          <p:nvPr/>
        </p:nvSpPr>
        <p:spPr>
          <a:xfrm>
            <a:off x="1427073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23" name="TextBox 22"/>
          <p:cNvSpPr txBox="1"/>
          <p:nvPr/>
        </p:nvSpPr>
        <p:spPr>
          <a:xfrm>
            <a:off x="1209141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À l'automne</a:t>
            </a:r>
          </a:p>
        </p:txBody>
      </p:sp>
      <p:sp>
        <p:nvSpPr>
          <p:cNvPr id="24" name="TextBox 23"/>
          <p:cNvSpPr txBox="1"/>
          <p:nvPr/>
        </p:nvSpPr>
        <p:spPr>
          <a:xfrm>
            <a:off x="1209141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Plantations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pn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Rues : IGN – BD TOPO · Lignes et arrêts : Île-de-France Mobilités</a:t>
            </a:r>
          </a:p>
        </p:txBody>
      </p:sp>
      <p:sp>
        <p:nvSpPr>
          <p:cNvPr id="7" name="Rounded Rectangle 6"/>
          <p:cNvSpPr/>
          <p:nvPr/>
        </p:nvSpPr>
        <p:spPr>
          <a:xfrm>
            <a:off x="9839192" y="5758856"/>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8" name="Rounded Rectangle 7"/>
          <p:cNvSpPr/>
          <p:nvPr/>
        </p:nvSpPr>
        <p:spPr>
          <a:xfrm>
            <a:off x="4471284" y="5250820"/>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9" name="Rounded Rectangle 8"/>
          <p:cNvSpPr/>
          <p:nvPr/>
        </p:nvSpPr>
        <p:spPr>
          <a:xfrm>
            <a:off x="8305864" y="4002849"/>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0" name="Rounded Rectangle 9"/>
          <p:cNvSpPr/>
          <p:nvPr/>
        </p:nvSpPr>
        <p:spPr>
          <a:xfrm>
            <a:off x="9452604" y="7512750"/>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1" name="Rounded Rectangle 10"/>
          <p:cNvSpPr/>
          <p:nvPr/>
        </p:nvSpPr>
        <p:spPr>
          <a:xfrm>
            <a:off x="6009677" y="4296885"/>
            <a:ext cx="603504" cy="347472"/>
          </a:xfrm>
          <a:prstGeom prst="roundRect">
            <a:avLst/>
          </a:prstGeom>
          <a:solidFill>
            <a:srgbClr val="DC96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320</a:t>
            </a:r>
          </a:p>
        </p:txBody>
      </p:sp>
      <p:sp>
        <p:nvSpPr>
          <p:cNvPr id="12" name="TextBox 11"/>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13" name="Rectangle 12"/>
          <p:cNvSpPr/>
          <p:nvPr/>
        </p:nvSpPr>
        <p:spPr>
          <a:xfrm>
            <a:off x="8354880" y="36622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4" name="TextBox 13"/>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15" name="Rectangle 14"/>
          <p:cNvSpPr/>
          <p:nvPr/>
        </p:nvSpPr>
        <p:spPr>
          <a:xfrm>
            <a:off x="8902208" y="521566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6" name="TextBox 15"/>
          <p:cNvSpPr txBox="1"/>
          <p:nvPr/>
        </p:nvSpPr>
        <p:spPr>
          <a:xfrm>
            <a:off x="2645135" y="5134663"/>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7" name="Rectangle 16"/>
          <p:cNvSpPr/>
          <p:nvPr/>
        </p:nvSpPr>
        <p:spPr>
          <a:xfrm>
            <a:off x="3864327" y="51346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28</a:t>
            </a:r>
          </a:p>
        </p:txBody>
      </p:sp>
      <p:sp>
        <p:nvSpPr>
          <p:cNvPr id="18" name="TextBox 17"/>
          <p:cNvSpPr txBox="1"/>
          <p:nvPr/>
        </p:nvSpPr>
        <p:spPr>
          <a:xfrm>
            <a:off x="8682316" y="652119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9" name="Rectangle 18"/>
          <p:cNvSpPr/>
          <p:nvPr/>
        </p:nvSpPr>
        <p:spPr>
          <a:xfrm>
            <a:off x="10050932" y="652119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20" name="TextBox 19"/>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21" name="Rectangle 20"/>
          <p:cNvSpPr/>
          <p:nvPr/>
        </p:nvSpPr>
        <p:spPr>
          <a:xfrm>
            <a:off x="6249050" y="460832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a:t>
            </a:r>
          </a:p>
        </p:txBody>
      </p:sp>
      <p:sp>
        <p:nvSpPr>
          <p:cNvPr id="22" name="TextBox 2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23" name="TextBox 2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24" name="Rectangle 23"/>
          <p:cNvSpPr/>
          <p:nvPr/>
        </p:nvSpPr>
        <p:spPr>
          <a:xfrm>
            <a:off x="7766865" y="26696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4</a:t>
            </a:r>
          </a:p>
        </p:txBody>
      </p:sp>
      <p:sp>
        <p:nvSpPr>
          <p:cNvPr id="25" name="TextBox 24"/>
          <p:cNvSpPr txBox="1"/>
          <p:nvPr/>
        </p:nvSpPr>
        <p:spPr>
          <a:xfrm>
            <a:off x="307604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26" name="Rectangle 25"/>
          <p:cNvSpPr/>
          <p:nvPr/>
        </p:nvSpPr>
        <p:spPr>
          <a:xfrm>
            <a:off x="3702108" y="425175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12</a:t>
            </a:r>
          </a:p>
        </p:txBody>
      </p:sp>
      <p:sp>
        <p:nvSpPr>
          <p:cNvPr id="27" name="TextBox 26"/>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28" name="TextBox 27"/>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29" name="Rectangle 28"/>
          <p:cNvSpPr/>
          <p:nvPr/>
        </p:nvSpPr>
        <p:spPr>
          <a:xfrm>
            <a:off x="10894075" y="53779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30" name="TextBox 29"/>
          <p:cNvSpPr txBox="1"/>
          <p:nvPr/>
        </p:nvSpPr>
        <p:spPr>
          <a:xfrm>
            <a:off x="6670787" y="5748576"/>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31" name="Rectangle 30"/>
          <p:cNvSpPr/>
          <p:nvPr/>
        </p:nvSpPr>
        <p:spPr>
          <a:xfrm>
            <a:off x="8524979" y="574857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2" name="TextBox 31"/>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33" name="Rectangle 32"/>
          <p:cNvSpPr/>
          <p:nvPr/>
        </p:nvSpPr>
        <p:spPr>
          <a:xfrm>
            <a:off x="9270199" y="776244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4" name="TextBox 33"/>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35" name="TextBox 34"/>
          <p:cNvSpPr txBox="1"/>
          <p:nvPr/>
        </p:nvSpPr>
        <p:spPr>
          <a:xfrm>
            <a:off x="4710302" y="571405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36" name="Rectangle 35"/>
          <p:cNvSpPr/>
          <p:nvPr/>
        </p:nvSpPr>
        <p:spPr>
          <a:xfrm>
            <a:off x="6056098" y="571405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23</a:t>
            </a:r>
          </a:p>
        </p:txBody>
      </p:sp>
      <p:sp>
        <p:nvSpPr>
          <p:cNvPr id="37" name="TextBox 36"/>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38" name="Rectangle 37"/>
          <p:cNvSpPr/>
          <p:nvPr/>
        </p:nvSpPr>
        <p:spPr>
          <a:xfrm>
            <a:off x="6028898" y="379130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6</a:t>
            </a:r>
          </a:p>
        </p:txBody>
      </p:sp>
      <p:sp>
        <p:nvSpPr>
          <p:cNvPr id="39" name="TextBox 38"/>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40" name="Rectangle 39"/>
          <p:cNvSpPr/>
          <p:nvPr/>
        </p:nvSpPr>
        <p:spPr>
          <a:xfrm>
            <a:off x="9742499" y="471231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1" name="TextBox 40"/>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42" name="Rectangle 41"/>
          <p:cNvSpPr/>
          <p:nvPr/>
        </p:nvSpPr>
        <p:spPr>
          <a:xfrm>
            <a:off x="10563358" y="3886101"/>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25</a:t>
            </a:r>
          </a:p>
        </p:txBody>
      </p:sp>
      <p:sp>
        <p:nvSpPr>
          <p:cNvPr id="43" name="TextBox 42"/>
          <p:cNvSpPr txBox="1"/>
          <p:nvPr/>
        </p:nvSpPr>
        <p:spPr>
          <a:xfrm>
            <a:off x="6629692" y="6553373"/>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44" name="Rectangle 43"/>
          <p:cNvSpPr/>
          <p:nvPr/>
        </p:nvSpPr>
        <p:spPr>
          <a:xfrm>
            <a:off x="7600043" y="655337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5" name="Rectangle 44"/>
          <p:cNvSpPr/>
          <p:nvPr/>
        </p:nvSpPr>
        <p:spPr>
          <a:xfrm>
            <a:off x="950976" y="9069705"/>
            <a:ext cx="731520" cy="182880"/>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1965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310</a:t>
            </a:r>
          </a:p>
        </p:txBody>
      </p:sp>
      <p:sp>
        <p:nvSpPr>
          <p:cNvPr id="47" name="Rectangle 46"/>
          <p:cNvSpPr/>
          <p:nvPr/>
        </p:nvSpPr>
        <p:spPr>
          <a:xfrm>
            <a:off x="3328416" y="9069705"/>
            <a:ext cx="731520" cy="182880"/>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9709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312</a:t>
            </a:r>
          </a:p>
        </p:txBody>
      </p:sp>
      <p:sp>
        <p:nvSpPr>
          <p:cNvPr id="49" name="Rectangle 48"/>
          <p:cNvSpPr/>
          <p:nvPr/>
        </p:nvSpPr>
        <p:spPr>
          <a:xfrm>
            <a:off x="5705856" y="9069705"/>
            <a:ext cx="731520" cy="182880"/>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7453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320</a:t>
            </a:r>
          </a:p>
        </p:txBody>
      </p:sp>
      <p:sp>
        <p:nvSpPr>
          <p:cNvPr id="51" name="TextBox 50"/>
          <p:cNvSpPr txBox="1"/>
          <p:nvPr/>
        </p:nvSpPr>
        <p:spPr>
          <a:xfrm>
            <a:off x="12618720" y="2148840"/>
            <a:ext cx="4754880" cy="1097280"/>
          </a:xfrm>
          <a:prstGeom prst="rect">
            <a:avLst/>
          </a:prstGeom>
          <a:noFill/>
        </p:spPr>
        <p:txBody>
          <a:bodyPr wrap="square" anchor="t" lIns="0" rIns="0" tIns="0" bIns="0">
            <a:spAutoFit/>
          </a:bodyPr>
          <a:lstStyle/>
          <a:p>
            <a:pPr algn="l"/>
            <a:r>
              <a:rPr sz="7200" b="1">
                <a:solidFill>
                  <a:srgbClr val="72C493"/>
                </a:solidFill>
                <a:latin typeface="Arial"/>
              </a:rPr>
              <a:t>156</a:t>
            </a:r>
          </a:p>
        </p:txBody>
      </p:sp>
      <p:sp>
        <p:nvSpPr>
          <p:cNvPr id="52" name="TextBox 51"/>
          <p:cNvSpPr txBox="1"/>
          <p:nvPr/>
        </p:nvSpPr>
        <p:spPr>
          <a:xfrm>
            <a:off x="12618720" y="3246120"/>
            <a:ext cx="4754880" cy="731520"/>
          </a:xfrm>
          <a:prstGeom prst="rect">
            <a:avLst/>
          </a:prstGeom>
          <a:noFill/>
        </p:spPr>
        <p:txBody>
          <a:bodyPr wrap="square" anchor="t" lIns="0" rIns="0" tIns="0" bIns="0">
            <a:spAutoFit/>
          </a:bodyPr>
          <a:lstStyle/>
          <a:p>
            <a:pPr algn="l"/>
            <a:r>
              <a:rPr sz="2200" b="1">
                <a:solidFill>
                  <a:srgbClr val="FFFFFF"/>
                </a:solidFill>
                <a:latin typeface="Arial"/>
              </a:rPr>
              <a:t>signalements aux arrêts du quartier</a:t>
            </a:r>
          </a:p>
        </p:txBody>
      </p:sp>
      <p:sp>
        <p:nvSpPr>
          <p:cNvPr id="53" name="TextBox 52"/>
          <p:cNvSpPr txBox="1"/>
          <p:nvPr/>
        </p:nvSpPr>
        <p:spPr>
          <a:xfrm>
            <a:off x="12618720" y="3931920"/>
            <a:ext cx="4754880" cy="411480"/>
          </a:xfrm>
          <a:prstGeom prst="rect">
            <a:avLst/>
          </a:prstGeom>
          <a:noFill/>
        </p:spPr>
        <p:txBody>
          <a:bodyPr wrap="square" anchor="t" lIns="0" rIns="0" tIns="0" bIns="0">
            <a:spAutoFit/>
          </a:bodyPr>
          <a:lstStyle/>
          <a:p>
            <a:pPr algn="l"/>
            <a:r>
              <a:rPr sz="1700" b="0">
                <a:solidFill>
                  <a:srgbClr val="8A90B0"/>
                </a:solidFill>
                <a:latin typeface="Arial"/>
              </a:rPr>
              <a:t>sur 472 dans toute la ville</a:t>
            </a:r>
          </a:p>
        </p:txBody>
      </p:sp>
      <p:sp>
        <p:nvSpPr>
          <p:cNvPr id="54" name="TextBox 53"/>
          <p:cNvSpPr txBox="1"/>
          <p:nvPr/>
        </p:nvSpPr>
        <p:spPr>
          <a:xfrm>
            <a:off x="12618720" y="4572000"/>
            <a:ext cx="4754880" cy="365760"/>
          </a:xfrm>
          <a:prstGeom prst="rect">
            <a:avLst/>
          </a:prstGeom>
          <a:noFill/>
        </p:spPr>
        <p:txBody>
          <a:bodyPr wrap="square" anchor="t" lIns="0" rIns="0" tIns="0" bIns="0">
            <a:spAutoFit/>
          </a:bodyPr>
          <a:lstStyle/>
          <a:p>
            <a:pPr algn="l"/>
            <a:r>
              <a:rPr sz="1600" b="1" spc="120">
                <a:solidFill>
                  <a:srgbClr val="72C493"/>
                </a:solidFill>
                <a:latin typeface="Arial"/>
              </a:rPr>
              <a:t>ARRÊTS LES PLUS SIGNALÉS</a:t>
            </a:r>
          </a:p>
        </p:txBody>
      </p:sp>
      <p:sp>
        <p:nvSpPr>
          <p:cNvPr id="55" name="TextBox 54"/>
          <p:cNvSpPr txBox="1"/>
          <p:nvPr/>
        </p:nvSpPr>
        <p:spPr>
          <a:xfrm>
            <a:off x="12618720" y="5029200"/>
            <a:ext cx="731520" cy="411480"/>
          </a:xfrm>
          <a:prstGeom prst="rect">
            <a:avLst/>
          </a:prstGeom>
          <a:noFill/>
        </p:spPr>
        <p:txBody>
          <a:bodyPr wrap="square" anchor="t" lIns="0" rIns="0" tIns="0" bIns="0">
            <a:spAutoFit/>
          </a:bodyPr>
          <a:lstStyle/>
          <a:p>
            <a:pPr algn="l"/>
            <a:r>
              <a:rPr sz="2200" b="1">
                <a:solidFill>
                  <a:srgbClr val="72C493"/>
                </a:solidFill>
                <a:latin typeface="Arial"/>
              </a:rPr>
              <a:t>28</a:t>
            </a:r>
          </a:p>
        </p:txBody>
      </p:sp>
      <p:sp>
        <p:nvSpPr>
          <p:cNvPr id="56" name="TextBox 55"/>
          <p:cNvSpPr txBox="1"/>
          <p:nvPr/>
        </p:nvSpPr>
        <p:spPr>
          <a:xfrm>
            <a:off x="13350240" y="5065776"/>
            <a:ext cx="4023360" cy="411480"/>
          </a:xfrm>
          <a:prstGeom prst="rect">
            <a:avLst/>
          </a:prstGeom>
          <a:noFill/>
        </p:spPr>
        <p:txBody>
          <a:bodyPr wrap="square" anchor="t" lIns="0" rIns="0" tIns="0" bIns="0">
            <a:spAutoFit/>
          </a:bodyPr>
          <a:lstStyle/>
          <a:p>
            <a:pPr algn="l"/>
            <a:r>
              <a:rPr sz="1800" b="1">
                <a:solidFill>
                  <a:srgbClr val="FFFFFF"/>
                </a:solidFill>
                <a:latin typeface="Arial"/>
              </a:rPr>
              <a:t>Cité des Hêtres</a:t>
            </a:r>
          </a:p>
        </p:txBody>
      </p:sp>
      <p:sp>
        <p:nvSpPr>
          <p:cNvPr id="57" name="TextBox 56"/>
          <p:cNvSpPr txBox="1"/>
          <p:nvPr/>
        </p:nvSpPr>
        <p:spPr>
          <a:xfrm>
            <a:off x="12618720" y="5486400"/>
            <a:ext cx="731520" cy="411480"/>
          </a:xfrm>
          <a:prstGeom prst="rect">
            <a:avLst/>
          </a:prstGeom>
          <a:noFill/>
        </p:spPr>
        <p:txBody>
          <a:bodyPr wrap="square" anchor="t" lIns="0" rIns="0" tIns="0" bIns="0">
            <a:spAutoFit/>
          </a:bodyPr>
          <a:lstStyle/>
          <a:p>
            <a:pPr algn="l"/>
            <a:r>
              <a:rPr sz="2200" b="1">
                <a:solidFill>
                  <a:srgbClr val="72C493"/>
                </a:solidFill>
                <a:latin typeface="Arial"/>
              </a:rPr>
              <a:t>25</a:t>
            </a:r>
          </a:p>
        </p:txBody>
      </p:sp>
      <p:sp>
        <p:nvSpPr>
          <p:cNvPr id="58" name="TextBox 57"/>
          <p:cNvSpPr txBox="1"/>
          <p:nvPr/>
        </p:nvSpPr>
        <p:spPr>
          <a:xfrm>
            <a:off x="13350240" y="5522976"/>
            <a:ext cx="4023360" cy="411480"/>
          </a:xfrm>
          <a:prstGeom prst="rect">
            <a:avLst/>
          </a:prstGeom>
          <a:noFill/>
        </p:spPr>
        <p:txBody>
          <a:bodyPr wrap="square" anchor="t" lIns="0" rIns="0" tIns="0" bIns="0">
            <a:spAutoFit/>
          </a:bodyPr>
          <a:lstStyle/>
          <a:p>
            <a:pPr algn="l"/>
            <a:r>
              <a:rPr sz="1800" b="1">
                <a:solidFill>
                  <a:srgbClr val="FFFFFF"/>
                </a:solidFill>
                <a:latin typeface="Arial"/>
              </a:rPr>
              <a:t>Rue du Ballon</a:t>
            </a:r>
          </a:p>
        </p:txBody>
      </p:sp>
      <p:sp>
        <p:nvSpPr>
          <p:cNvPr id="59" name="TextBox 58"/>
          <p:cNvSpPr txBox="1"/>
          <p:nvPr/>
        </p:nvSpPr>
        <p:spPr>
          <a:xfrm>
            <a:off x="12618720" y="5943600"/>
            <a:ext cx="731520" cy="411480"/>
          </a:xfrm>
          <a:prstGeom prst="rect">
            <a:avLst/>
          </a:prstGeom>
          <a:noFill/>
        </p:spPr>
        <p:txBody>
          <a:bodyPr wrap="square" anchor="t" lIns="0" rIns="0" tIns="0" bIns="0">
            <a:spAutoFit/>
          </a:bodyPr>
          <a:lstStyle/>
          <a:p>
            <a:pPr algn="l"/>
            <a:r>
              <a:rPr sz="2200" b="1">
                <a:solidFill>
                  <a:srgbClr val="72C493"/>
                </a:solidFill>
                <a:latin typeface="Arial"/>
              </a:rPr>
              <a:t>23</a:t>
            </a:r>
          </a:p>
        </p:txBody>
      </p:sp>
      <p:sp>
        <p:nvSpPr>
          <p:cNvPr id="60" name="TextBox 59"/>
          <p:cNvSpPr txBox="1"/>
          <p:nvPr/>
        </p:nvSpPr>
        <p:spPr>
          <a:xfrm>
            <a:off x="13350240" y="5980176"/>
            <a:ext cx="4023360" cy="411480"/>
          </a:xfrm>
          <a:prstGeom prst="rect">
            <a:avLst/>
          </a:prstGeom>
          <a:noFill/>
        </p:spPr>
        <p:txBody>
          <a:bodyPr wrap="square" anchor="t" lIns="0" rIns="0" tIns="0" bIns="0">
            <a:spAutoFit/>
          </a:bodyPr>
          <a:lstStyle/>
          <a:p>
            <a:pPr algn="l"/>
            <a:r>
              <a:rPr sz="1800" b="1">
                <a:solidFill>
                  <a:srgbClr val="FFFFFF"/>
                </a:solidFill>
                <a:latin typeface="Arial"/>
              </a:rPr>
              <a:t>Place du Combat</a:t>
            </a:r>
          </a:p>
        </p:txBody>
      </p:sp>
      <p:sp>
        <p:nvSpPr>
          <p:cNvPr id="61" name="TextBox 60"/>
          <p:cNvSpPr txBox="1"/>
          <p:nvPr/>
        </p:nvSpPr>
        <p:spPr>
          <a:xfrm>
            <a:off x="12618720" y="6400800"/>
            <a:ext cx="731520" cy="411480"/>
          </a:xfrm>
          <a:prstGeom prst="rect">
            <a:avLst/>
          </a:prstGeom>
          <a:noFill/>
        </p:spPr>
        <p:txBody>
          <a:bodyPr wrap="square" anchor="t" lIns="0" rIns="0" tIns="0" bIns="0">
            <a:spAutoFit/>
          </a:bodyPr>
          <a:lstStyle/>
          <a:p>
            <a:pPr algn="l"/>
            <a:r>
              <a:rPr sz="2200" b="1">
                <a:solidFill>
                  <a:srgbClr val="72C493"/>
                </a:solidFill>
                <a:latin typeface="Arial"/>
              </a:rPr>
              <a:t>19</a:t>
            </a:r>
          </a:p>
        </p:txBody>
      </p:sp>
      <p:sp>
        <p:nvSpPr>
          <p:cNvPr id="62" name="TextBox 61"/>
          <p:cNvSpPr txBox="1"/>
          <p:nvPr/>
        </p:nvSpPr>
        <p:spPr>
          <a:xfrm>
            <a:off x="13350240" y="6437376"/>
            <a:ext cx="4023360" cy="411480"/>
          </a:xfrm>
          <a:prstGeom prst="rect">
            <a:avLst/>
          </a:prstGeom>
          <a:noFill/>
        </p:spPr>
        <p:txBody>
          <a:bodyPr wrap="square" anchor="t" lIns="0" rIns="0" tIns="0" bIns="0">
            <a:spAutoFit/>
          </a:bodyPr>
          <a:lstStyle/>
          <a:p>
            <a:pPr algn="l"/>
            <a:r>
              <a:rPr sz="1800" b="1">
                <a:solidFill>
                  <a:srgbClr val="FFFFFF"/>
                </a:solidFill>
                <a:latin typeface="Arial"/>
              </a:rPr>
              <a:t>Les Richardets – Centre</a:t>
            </a:r>
          </a:p>
        </p:txBody>
      </p:sp>
      <p:sp>
        <p:nvSpPr>
          <p:cNvPr id="63" name="TextBox 62"/>
          <p:cNvSpPr txBox="1"/>
          <p:nvPr/>
        </p:nvSpPr>
        <p:spPr>
          <a:xfrm>
            <a:off x="12618720" y="6995160"/>
            <a:ext cx="4754880" cy="365760"/>
          </a:xfrm>
          <a:prstGeom prst="rect">
            <a:avLst/>
          </a:prstGeom>
          <a:noFill/>
        </p:spPr>
        <p:txBody>
          <a:bodyPr wrap="square" anchor="t" lIns="0" rIns="0" tIns="0" bIns="0">
            <a:spAutoFit/>
          </a:bodyPr>
          <a:lstStyle/>
          <a:p>
            <a:pPr algn="l"/>
            <a:r>
              <a:rPr sz="1600" b="1" spc="120">
                <a:solidFill>
                  <a:srgbClr val="72C493"/>
                </a:solidFill>
                <a:latin typeface="Arial"/>
              </a:rPr>
              <a:t>PROBLÈMES LES PLUS CITÉS</a:t>
            </a:r>
          </a:p>
        </p:txBody>
      </p:sp>
      <p:sp>
        <p:nvSpPr>
          <p:cNvPr id="64" name="TextBox 63"/>
          <p:cNvSpPr txBox="1"/>
          <p:nvPr/>
        </p:nvSpPr>
        <p:spPr>
          <a:xfrm>
            <a:off x="12618720" y="7452360"/>
            <a:ext cx="4754880" cy="320040"/>
          </a:xfrm>
          <a:prstGeom prst="rect">
            <a:avLst/>
          </a:prstGeom>
          <a:noFill/>
        </p:spPr>
        <p:txBody>
          <a:bodyPr wrap="square" anchor="t" lIns="0" rIns="0" tIns="0" bIns="0">
            <a:spAutoFit/>
          </a:bodyPr>
          <a:lstStyle/>
          <a:p>
            <a:pPr algn="l"/>
            <a:r>
              <a:rPr sz="1500" b="0">
                <a:solidFill>
                  <a:srgbClr val="FFFFFF"/>
                </a:solidFill>
                <a:latin typeface="Arial"/>
              </a:rPr>
              <a:t>Non passage du bus</a:t>
            </a:r>
          </a:p>
        </p:txBody>
      </p:sp>
      <p:sp>
        <p:nvSpPr>
          <p:cNvPr id="65" name="Rectangle 64"/>
          <p:cNvSpPr/>
          <p:nvPr/>
        </p:nvSpPr>
        <p:spPr>
          <a:xfrm>
            <a:off x="12618720" y="7781544"/>
            <a:ext cx="3931920"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42080" y="7708392"/>
            <a:ext cx="731520" cy="320040"/>
          </a:xfrm>
          <a:prstGeom prst="rect">
            <a:avLst/>
          </a:prstGeom>
          <a:noFill/>
        </p:spPr>
        <p:txBody>
          <a:bodyPr wrap="square" anchor="t" lIns="0" rIns="0" tIns="0" bIns="0">
            <a:spAutoFit/>
          </a:bodyPr>
          <a:lstStyle/>
          <a:p>
            <a:pPr algn="l"/>
            <a:r>
              <a:rPr sz="1500" b="1">
                <a:solidFill>
                  <a:srgbClr val="72C493"/>
                </a:solidFill>
                <a:latin typeface="Arial"/>
              </a:rPr>
              <a:t>65</a:t>
            </a:r>
          </a:p>
        </p:txBody>
      </p:sp>
      <p:sp>
        <p:nvSpPr>
          <p:cNvPr id="67" name="TextBox 66"/>
          <p:cNvSpPr txBox="1"/>
          <p:nvPr/>
        </p:nvSpPr>
        <p:spPr>
          <a:xfrm>
            <a:off x="12618720" y="8110728"/>
            <a:ext cx="4754880" cy="320040"/>
          </a:xfrm>
          <a:prstGeom prst="rect">
            <a:avLst/>
          </a:prstGeom>
          <a:noFill/>
        </p:spPr>
        <p:txBody>
          <a:bodyPr wrap="square" anchor="t" lIns="0" rIns="0" tIns="0" bIns="0">
            <a:spAutoFit/>
          </a:bodyPr>
          <a:lstStyle/>
          <a:p>
            <a:pPr algn="l"/>
            <a:r>
              <a:rPr sz="1500" b="0">
                <a:solidFill>
                  <a:srgbClr val="FFFFFF"/>
                </a:solidFill>
                <a:latin typeface="Arial"/>
              </a:rPr>
              <a:t>Retard inférieur à 15 min</a:t>
            </a:r>
          </a:p>
        </p:txBody>
      </p:sp>
      <p:sp>
        <p:nvSpPr>
          <p:cNvPr id="68" name="Rectangle 67"/>
          <p:cNvSpPr/>
          <p:nvPr/>
        </p:nvSpPr>
        <p:spPr>
          <a:xfrm>
            <a:off x="12618720" y="8439912"/>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45874" y="8366760"/>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
        <p:nvSpPr>
          <p:cNvPr id="70" name="TextBox 69"/>
          <p:cNvSpPr txBox="1"/>
          <p:nvPr/>
        </p:nvSpPr>
        <p:spPr>
          <a:xfrm>
            <a:off x="12618720" y="8769096"/>
            <a:ext cx="4754880" cy="320040"/>
          </a:xfrm>
          <a:prstGeom prst="rect">
            <a:avLst/>
          </a:prstGeom>
          <a:noFill/>
        </p:spPr>
        <p:txBody>
          <a:bodyPr wrap="square" anchor="t" lIns="0" rIns="0" tIns="0" bIns="0">
            <a:spAutoFit/>
          </a:bodyPr>
          <a:lstStyle/>
          <a:p>
            <a:pPr algn="l"/>
            <a:r>
              <a:rPr sz="1500" b="0">
                <a:solidFill>
                  <a:srgbClr val="FFFFFF"/>
                </a:solidFill>
                <a:latin typeface="Arial"/>
              </a:rPr>
              <a:t>Affichage en temps réel erroné</a:t>
            </a:r>
          </a:p>
        </p:txBody>
      </p:sp>
      <p:sp>
        <p:nvSpPr>
          <p:cNvPr id="71" name="Rectangle 70"/>
          <p:cNvSpPr/>
          <p:nvPr/>
        </p:nvSpPr>
        <p:spPr>
          <a:xfrm>
            <a:off x="12618720" y="9098280"/>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645874" y="9025128"/>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7101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École des Gobelins</a:t>
            </a:r>
          </a:p>
        </p:txBody>
      </p:sp>
      <p:sp>
        <p:nvSpPr>
          <p:cNvPr id="8" name="TextBox 7"/>
          <p:cNvSpPr txBox="1"/>
          <p:nvPr/>
        </p:nvSpPr>
        <p:spPr>
          <a:xfrm>
            <a:off x="127101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accueillir l'école des Richardets</a:t>
            </a:r>
          </a:p>
        </p:txBody>
      </p:sp>
      <p:sp>
        <p:nvSpPr>
          <p:cNvPr id="9" name="TextBox 8"/>
          <p:cNvSpPr txBox="1"/>
          <p:nvPr/>
        </p:nvSpPr>
        <p:spPr>
          <a:xfrm>
            <a:off x="515721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1,3 M€</a:t>
            </a:r>
          </a:p>
        </p:txBody>
      </p:sp>
      <p:sp>
        <p:nvSpPr>
          <p:cNvPr id="10" name="TextBox 9"/>
          <p:cNvSpPr txBox="1"/>
          <p:nvPr/>
        </p:nvSpPr>
        <p:spPr>
          <a:xfrm>
            <a:off x="515721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11" name="TextBox 10"/>
          <p:cNvSpPr txBox="1"/>
          <p:nvPr/>
        </p:nvSpPr>
        <p:spPr>
          <a:xfrm>
            <a:off x="127101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RÉALISÉ CETTE ANNÉE</a:t>
            </a:r>
          </a:p>
        </p:txBody>
      </p:sp>
      <p:sp>
        <p:nvSpPr>
          <p:cNvPr id="12" name="Oval 11"/>
          <p:cNvSpPr/>
          <p:nvPr/>
        </p:nvSpPr>
        <p:spPr>
          <a:xfrm>
            <a:off x="128930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9105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Création de sanitaires</a:t>
            </a:r>
          </a:p>
        </p:txBody>
      </p:sp>
      <p:sp>
        <p:nvSpPr>
          <p:cNvPr id="14" name="Oval 13"/>
          <p:cNvSpPr/>
          <p:nvPr/>
        </p:nvSpPr>
        <p:spPr>
          <a:xfrm>
            <a:off x="128930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Réfection des sols et des peintures</a:t>
            </a:r>
          </a:p>
        </p:txBody>
      </p:sp>
      <p:sp>
        <p:nvSpPr>
          <p:cNvPr id="16" name="Oval 15"/>
          <p:cNvSpPr/>
          <p:nvPr/>
        </p:nvSpPr>
        <p:spPr>
          <a:xfrm>
            <a:off x="128930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9105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Travaux électriques</a:t>
            </a:r>
          </a:p>
        </p:txBody>
      </p:sp>
      <p:sp>
        <p:nvSpPr>
          <p:cNvPr id="18" name="Oval 17"/>
          <p:cNvSpPr/>
          <p:nvPr/>
        </p:nvSpPr>
        <p:spPr>
          <a:xfrm>
            <a:off x="128930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Clôtures et portails</a:t>
            </a:r>
          </a:p>
        </p:txBody>
      </p:sp>
      <p:sp>
        <p:nvSpPr>
          <p:cNvPr id="20" name="Oval 19"/>
          <p:cNvSpPr/>
          <p:nvPr/>
        </p:nvSpPr>
        <p:spPr>
          <a:xfrm>
            <a:off x="128930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9105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Rénovation de la cour et pose de pare-ballons</a:t>
            </a:r>
          </a:p>
        </p:txBody>
      </p:sp>
      <p:sp>
        <p:nvSpPr>
          <p:cNvPr id="22" name="Rectangle 21"/>
          <p:cNvSpPr/>
          <p:nvPr/>
        </p:nvSpPr>
        <p:spPr>
          <a:xfrm>
            <a:off x="927201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201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9205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Les Charmilles</a:t>
            </a:r>
          </a:p>
        </p:txBody>
      </p:sp>
      <p:sp>
        <p:nvSpPr>
          <p:cNvPr id="25" name="TextBox 24"/>
          <p:cNvSpPr txBox="1"/>
          <p:nvPr/>
        </p:nvSpPr>
        <p:spPr>
          <a:xfrm>
            <a:off x="959205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l'assainissement et le hall du groupe scolaire</a:t>
            </a:r>
          </a:p>
        </p:txBody>
      </p:sp>
      <p:sp>
        <p:nvSpPr>
          <p:cNvPr id="26" name="TextBox 25"/>
          <p:cNvSpPr txBox="1"/>
          <p:nvPr/>
        </p:nvSpPr>
        <p:spPr>
          <a:xfrm>
            <a:off x="1347825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23 000 €</a:t>
            </a:r>
          </a:p>
        </p:txBody>
      </p:sp>
      <p:sp>
        <p:nvSpPr>
          <p:cNvPr id="27" name="TextBox 26"/>
          <p:cNvSpPr txBox="1"/>
          <p:nvPr/>
        </p:nvSpPr>
        <p:spPr>
          <a:xfrm>
            <a:off x="1347825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28" name="TextBox 27"/>
          <p:cNvSpPr txBox="1"/>
          <p:nvPr/>
        </p:nvSpPr>
        <p:spPr>
          <a:xfrm>
            <a:off x="959205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FAIT</a:t>
            </a:r>
          </a:p>
        </p:txBody>
      </p:sp>
      <p:sp>
        <p:nvSpPr>
          <p:cNvPr id="29" name="Oval 28"/>
          <p:cNvSpPr/>
          <p:nvPr/>
        </p:nvSpPr>
        <p:spPr>
          <a:xfrm>
            <a:off x="961034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1209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Mise en conformité du réseau d'assainissement (19 000 €)</a:t>
            </a:r>
          </a:p>
        </p:txBody>
      </p:sp>
      <p:sp>
        <p:nvSpPr>
          <p:cNvPr id="31" name="Oval 30"/>
          <p:cNvSpPr/>
          <p:nvPr/>
        </p:nvSpPr>
        <p:spPr>
          <a:xfrm>
            <a:off x="961034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209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Remise en état du hall : plâtrerie et peinture (4 000 €)</a:t>
            </a:r>
          </a:p>
        </p:txBody>
      </p:sp>
      <p:sp>
        <p:nvSpPr>
          <p:cNvPr id="33" name="Oval 32"/>
          <p:cNvSpPr/>
          <p:nvPr/>
        </p:nvSpPr>
        <p:spPr>
          <a:xfrm>
            <a:off x="961034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1209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Faux plafonds remplacés, étais du réfectoire déposés</a:t>
            </a:r>
          </a:p>
        </p:txBody>
      </p:sp>
      <p:sp>
        <p:nvSpPr>
          <p:cNvPr id="35" name="Oval 34"/>
          <p:cNvSpPr/>
          <p:nvPr/>
        </p:nvSpPr>
        <p:spPr>
          <a:xfrm>
            <a:off x="961034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37" name="Oval 36"/>
          <p:cNvSpPr/>
          <p:nvPr/>
        </p:nvSpPr>
        <p:spPr>
          <a:xfrm>
            <a:off x="961034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1209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Ventilateurs, films anti-UV et bancs dans la cour</a:t>
            </a:r>
          </a:p>
        </p:txBody>
      </p:sp>
      <p:sp>
        <p:nvSpPr>
          <p:cNvPr id="39" name="TextBox 38"/>
          <p:cNvSpPr txBox="1"/>
          <p:nvPr/>
        </p:nvSpPr>
        <p:spPr>
          <a:xfrm>
            <a:off x="9592056" y="5897879"/>
            <a:ext cx="7406640" cy="320040"/>
          </a:xfrm>
          <a:prstGeom prst="rect">
            <a:avLst/>
          </a:prstGeom>
          <a:noFill/>
        </p:spPr>
        <p:txBody>
          <a:bodyPr wrap="square" anchor="t" lIns="0" rIns="0" tIns="0" bIns="0">
            <a:spAutoFit/>
          </a:bodyPr>
          <a:lstStyle/>
          <a:p>
            <a:pPr algn="l"/>
            <a:r>
              <a:rPr sz="1500" b="1" spc="150">
                <a:solidFill>
                  <a:srgbClr val="72C493"/>
                </a:solidFill>
                <a:latin typeface="Arial"/>
              </a:rPr>
              <a:t>PROGRAMMÉ</a:t>
            </a:r>
          </a:p>
        </p:txBody>
      </p:sp>
      <p:sp>
        <p:nvSpPr>
          <p:cNvPr id="40" name="Oval 39"/>
          <p:cNvSpPr/>
          <p:nvPr/>
        </p:nvSpPr>
        <p:spPr>
          <a:xfrm>
            <a:off x="9610344" y="6345936"/>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12096" y="6263640"/>
            <a:ext cx="7086600" cy="347472"/>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42" name="Oval 41"/>
          <p:cNvSpPr/>
          <p:nvPr/>
        </p:nvSpPr>
        <p:spPr>
          <a:xfrm>
            <a:off x="9610344" y="6693407"/>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12096" y="6611112"/>
            <a:ext cx="7086600" cy="347472"/>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44" name="Rectangle 43"/>
          <p:cNvSpPr/>
          <p:nvPr/>
        </p:nvSpPr>
        <p:spPr>
          <a:xfrm>
            <a:off x="950976"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0976"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7607808"/>
            <a:ext cx="4727448" cy="457200"/>
          </a:xfrm>
          <a:prstGeom prst="rect">
            <a:avLst/>
          </a:prstGeom>
          <a:noFill/>
        </p:spPr>
        <p:txBody>
          <a:bodyPr wrap="square" anchor="t" lIns="0" rIns="0" tIns="0" bIns="0">
            <a:spAutoFit/>
          </a:bodyPr>
          <a:lstStyle/>
          <a:p>
            <a:pPr algn="l"/>
            <a:r>
              <a:rPr sz="2200" b="1">
                <a:solidFill>
                  <a:srgbClr val="FFFFFF"/>
                </a:solidFill>
                <a:latin typeface="Arial"/>
              </a:rPr>
              <a:t>Les Yvris</a:t>
            </a:r>
          </a:p>
        </p:txBody>
      </p:sp>
      <p:sp>
        <p:nvSpPr>
          <p:cNvPr id="47" name="Oval 46"/>
          <p:cNvSpPr/>
          <p:nvPr/>
        </p:nvSpPr>
        <p:spPr>
          <a:xfrm>
            <a:off x="1289304"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572768" y="8156448"/>
            <a:ext cx="4407407" cy="640080"/>
          </a:xfrm>
          <a:prstGeom prst="rect">
            <a:avLst/>
          </a:prstGeom>
          <a:noFill/>
        </p:spPr>
        <p:txBody>
          <a:bodyPr wrap="square" anchor="t" lIns="0" rIns="0" tIns="0" bIns="0">
            <a:spAutoFit/>
          </a:bodyPr>
          <a:lstStyle/>
          <a:p>
            <a:pPr algn="l"/>
            <a:r>
              <a:rPr sz="1600" b="1">
                <a:solidFill>
                  <a:srgbClr val="FAF5EC"/>
                </a:solidFill>
                <a:latin typeface="Arial"/>
              </a:rPr>
              <a:t>Drapeau de l'entrée remis en état</a:t>
            </a:r>
          </a:p>
        </p:txBody>
      </p:sp>
      <p:sp>
        <p:nvSpPr>
          <p:cNvPr id="49" name="Oval 48"/>
          <p:cNvSpPr/>
          <p:nvPr/>
        </p:nvSpPr>
        <p:spPr>
          <a:xfrm>
            <a:off x="1289304"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72768" y="8540496"/>
            <a:ext cx="4407407" cy="640080"/>
          </a:xfrm>
          <a:prstGeom prst="rect">
            <a:avLst/>
          </a:prstGeom>
          <a:noFill/>
        </p:spPr>
        <p:txBody>
          <a:bodyPr wrap="square" anchor="t" lIns="0" rIns="0" tIns="0" bIns="0">
            <a:spAutoFit/>
          </a:bodyPr>
          <a:lstStyle/>
          <a:p>
            <a:pPr algn="l"/>
            <a:r>
              <a:rPr sz="1600" b="1">
                <a:solidFill>
                  <a:srgbClr val="FAF5EC"/>
                </a:solidFill>
                <a:latin typeface="Arial"/>
              </a:rPr>
              <a:t>Peinture du hall élémentaire et du bureau de la direction</a:t>
            </a:r>
          </a:p>
        </p:txBody>
      </p:sp>
      <p:sp>
        <p:nvSpPr>
          <p:cNvPr id="51" name="Rectangle 50"/>
          <p:cNvSpPr/>
          <p:nvPr/>
        </p:nvSpPr>
        <p:spPr>
          <a:xfrm>
            <a:off x="6492240"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92240"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12279" y="7607808"/>
            <a:ext cx="4727448" cy="457200"/>
          </a:xfrm>
          <a:prstGeom prst="rect">
            <a:avLst/>
          </a:prstGeom>
          <a:noFill/>
        </p:spPr>
        <p:txBody>
          <a:bodyPr wrap="square" anchor="t" lIns="0" rIns="0" tIns="0" bIns="0">
            <a:spAutoFit/>
          </a:bodyPr>
          <a:lstStyle/>
          <a:p>
            <a:pPr algn="l"/>
            <a:r>
              <a:rPr sz="2200" b="1">
                <a:solidFill>
                  <a:srgbClr val="FFFFFF"/>
                </a:solidFill>
                <a:latin typeface="Arial"/>
              </a:rPr>
              <a:t>Maternelle des Richardets</a:t>
            </a:r>
          </a:p>
        </p:txBody>
      </p:sp>
      <p:sp>
        <p:nvSpPr>
          <p:cNvPr id="54" name="Oval 53"/>
          <p:cNvSpPr/>
          <p:nvPr/>
        </p:nvSpPr>
        <p:spPr>
          <a:xfrm>
            <a:off x="6830568"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14031" y="8156448"/>
            <a:ext cx="4407407" cy="640080"/>
          </a:xfrm>
          <a:prstGeom prst="rect">
            <a:avLst/>
          </a:prstGeom>
          <a:noFill/>
        </p:spPr>
        <p:txBody>
          <a:bodyPr wrap="square" anchor="t" lIns="0" rIns="0" tIns="0" bIns="0">
            <a:spAutoFit/>
          </a:bodyPr>
          <a:lstStyle/>
          <a:p>
            <a:pPr algn="l"/>
            <a:r>
              <a:rPr sz="1600" b="1">
                <a:solidFill>
                  <a:srgbClr val="FAF5EC"/>
                </a:solidFill>
                <a:latin typeface="Arial"/>
              </a:rPr>
              <a:t>Un rafraîchisseur d'air</a:t>
            </a:r>
          </a:p>
        </p:txBody>
      </p:sp>
      <p:sp>
        <p:nvSpPr>
          <p:cNvPr id="56" name="Oval 55"/>
          <p:cNvSpPr/>
          <p:nvPr/>
        </p:nvSpPr>
        <p:spPr>
          <a:xfrm>
            <a:off x="6830568" y="8613648"/>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14031" y="8540496"/>
            <a:ext cx="4407407" cy="640080"/>
          </a:xfrm>
          <a:prstGeom prst="rect">
            <a:avLst/>
          </a:prstGeom>
          <a:noFill/>
        </p:spPr>
        <p:txBody>
          <a:bodyPr wrap="square" anchor="t" lIns="0" rIns="0" tIns="0" bIns="0">
            <a:spAutoFit/>
          </a:bodyPr>
          <a:lstStyle/>
          <a:p>
            <a:pPr algn="l"/>
            <a:r>
              <a:rPr sz="1600" b="1">
                <a:solidFill>
                  <a:srgbClr val="FAF5EC"/>
                </a:solidFill>
                <a:latin typeface="Arial"/>
              </a:rPr>
              <a:t>Des films de protection solaire sur les vitrages</a:t>
            </a:r>
          </a:p>
        </p:txBody>
      </p:sp>
      <p:sp>
        <p:nvSpPr>
          <p:cNvPr id="58" name="Rectangle 57"/>
          <p:cNvSpPr/>
          <p:nvPr/>
        </p:nvSpPr>
        <p:spPr>
          <a:xfrm>
            <a:off x="12033504"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033504"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353544" y="7607808"/>
            <a:ext cx="4727448" cy="457200"/>
          </a:xfrm>
          <a:prstGeom prst="rect">
            <a:avLst/>
          </a:prstGeom>
          <a:noFill/>
        </p:spPr>
        <p:txBody>
          <a:bodyPr wrap="square" anchor="t" lIns="0" rIns="0" tIns="0" bIns="0">
            <a:spAutoFit/>
          </a:bodyPr>
          <a:lstStyle/>
          <a:p>
            <a:pPr algn="l"/>
            <a:r>
              <a:rPr sz="2200" b="1">
                <a:solidFill>
                  <a:srgbClr val="FFFFFF"/>
                </a:solidFill>
                <a:latin typeface="Arial"/>
              </a:rPr>
              <a:t>Paul-Serelle</a:t>
            </a:r>
          </a:p>
        </p:txBody>
      </p:sp>
      <p:sp>
        <p:nvSpPr>
          <p:cNvPr id="61" name="Oval 60"/>
          <p:cNvSpPr/>
          <p:nvPr/>
        </p:nvSpPr>
        <p:spPr>
          <a:xfrm>
            <a:off x="12371832" y="8229600"/>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55296" y="8156448"/>
            <a:ext cx="4407407" cy="640080"/>
          </a:xfrm>
          <a:prstGeom prst="rect">
            <a:avLst/>
          </a:prstGeom>
          <a:noFill/>
        </p:spPr>
        <p:txBody>
          <a:bodyPr wrap="square" anchor="t" lIns="0" rIns="0" tIns="0" bIns="0">
            <a:spAutoFit/>
          </a:bodyPr>
          <a:lstStyle/>
          <a:p>
            <a:pPr algn="l"/>
            <a:r>
              <a:rPr sz="1600" b="1">
                <a:solidFill>
                  <a:srgbClr val="FAF5EC"/>
                </a:solidFill>
                <a:latin typeface="Arial"/>
              </a:rPr>
              <a:t>Sécurisation du carrefour, à l'étude</a:t>
            </a:r>
          </a:p>
        </p:txBody>
      </p:sp>
      <p:sp>
        <p:nvSpPr>
          <p:cNvPr id="63" name="Oval 62"/>
          <p:cNvSpPr/>
          <p:nvPr/>
        </p:nvSpPr>
        <p:spPr>
          <a:xfrm>
            <a:off x="12371832"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2655296" y="8540496"/>
            <a:ext cx="4407407" cy="640080"/>
          </a:xfrm>
          <a:prstGeom prst="rect">
            <a:avLst/>
          </a:prstGeom>
          <a:noFill/>
        </p:spPr>
        <p:txBody>
          <a:bodyPr wrap="square" anchor="t" lIns="0" rIns="0" tIns="0" bIns="0">
            <a:spAutoFit/>
          </a:bodyPr>
          <a:lstStyle/>
          <a:p>
            <a:pPr algn="l"/>
            <a:r>
              <a:rPr sz="1600" b="1">
                <a:solidFill>
                  <a:srgbClr val="FAF5EC"/>
                </a:solidFill>
                <a:latin typeface="Arial"/>
              </a:rPr>
              <a:t>Réparation des fuites de la salle polyvalente</a:t>
            </a:r>
          </a:p>
        </p:txBody>
      </p:sp>
      <p:sp>
        <p:nvSpPr>
          <p:cNvPr id="65" name="Oval 64"/>
          <p:cNvSpPr/>
          <p:nvPr/>
        </p:nvSpPr>
        <p:spPr>
          <a:xfrm>
            <a:off x="12801600" y="9628632"/>
            <a:ext cx="137160" cy="13716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303020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réalisé</a:t>
            </a:r>
          </a:p>
        </p:txBody>
      </p:sp>
      <p:sp>
        <p:nvSpPr>
          <p:cNvPr id="67" name="Oval 66"/>
          <p:cNvSpPr/>
          <p:nvPr/>
        </p:nvSpPr>
        <p:spPr>
          <a:xfrm>
            <a:off x="14127480" y="9628632"/>
            <a:ext cx="137160" cy="137160"/>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35608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programmé ou à l'étude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anchor="t" lIns="0" rIns="0" tIns="0" bIns="0">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anchor="t" lIns="0" rIns="0" tIns="0" bIns="0">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anchor="t" lIns="0" rIns="0" tIns="0" bIns="0">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anchor="t" lIns="0" rIns="0" tIns="0" bIns="0">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anchor="t" lIns="0" rIns="0" tIns="0" bIns="0">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anchor="t" lIns="0" rIns="0" tIns="0" bIns="0">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anchor="t" lIns="0" rIns="0" tIns="0" bIns="0">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anchor="t" lIns="0" rIns="0" tIns="0" bIns="0">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anchor="t" lIns="0" rIns="0" tIns="0" bIns="0">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anchor="t" lIns="0" rIns="0" tIns="0" bIns="0">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anchor="t" lIns="0" rIns="0" tIns="0" bIns="0">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anchor="t" lIns="0" rIns="0" tIns="0" bIns="0">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01784"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anchor="t" lIns="0" rIns="0" tIns="0" bIns="0">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piste cyclable pour joindre le centre</a:t>
            </a:r>
          </a:p>
        </p:txBody>
      </p:sp>
      <p:sp>
        <p:nvSpPr>
          <p:cNvPr id="5" name="Rectangle 4"/>
          <p:cNvSpPr/>
          <p:nvPr/>
        </p:nvSpPr>
        <p:spPr>
          <a:xfrm>
            <a:off x="950976" y="2331720"/>
            <a:ext cx="16367759" cy="6355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bilites_01_piste_cyclable_plan.png"/>
          <p:cNvPicPr>
            <a:picLocks noChangeAspect="1"/>
          </p:cNvPicPr>
          <p:nvPr/>
        </p:nvPicPr>
        <p:blipFill>
          <a:blip r:embed="rId4"/>
          <a:stretch>
            <a:fillRect/>
          </a:stretch>
        </p:blipFill>
        <p:spPr>
          <a:xfrm>
            <a:off x="1088136" y="2790495"/>
            <a:ext cx="16093440" cy="5437528"/>
          </a:xfrm>
          <a:prstGeom prst="rect">
            <a:avLst/>
          </a:prstGeom>
        </p:spPr>
      </p:pic>
      <p:sp>
        <p:nvSpPr>
          <p:cNvPr id="7" name="Rectangle 6"/>
          <p:cNvSpPr/>
          <p:nvPr/>
        </p:nvSpPr>
        <p:spPr>
          <a:xfrm>
            <a:off x="950976" y="9006840"/>
            <a:ext cx="822960" cy="329184"/>
          </a:xfrm>
          <a:prstGeom prst="rect">
            <a:avLst/>
          </a:prstGeom>
          <a:solidFill>
            <a:srgbClr val="E84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65960" y="8961119"/>
            <a:ext cx="7315200" cy="411480"/>
          </a:xfrm>
          <a:prstGeom prst="rect">
            <a:avLst/>
          </a:prstGeom>
          <a:noFill/>
        </p:spPr>
        <p:txBody>
          <a:bodyPr wrap="square" anchor="t" lIns="0" rIns="0" tIns="0" bIns="0">
            <a:spAutoFit/>
          </a:bodyPr>
          <a:lstStyle/>
          <a:p>
            <a:pPr algn="l"/>
            <a:r>
              <a:rPr sz="2200" b="1">
                <a:solidFill>
                  <a:srgbClr val="0E1F5B"/>
                </a:solidFill>
                <a:latin typeface="Arial"/>
              </a:rPr>
              <a:t>Piste cyclable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zones bleues de stationnement</a:t>
            </a:r>
          </a:p>
        </p:txBody>
      </p:sp>
      <p:pic>
        <p:nvPicPr>
          <p:cNvPr id="5" name="Picture 4" descr="Securite_03_zone_bleue_parking.jpg"/>
          <p:cNvPicPr>
            <a:picLocks noChangeAspect="1"/>
          </p:cNvPicPr>
          <p:nvPr/>
        </p:nvPicPr>
        <p:blipFill>
          <a:blip r:embed="rId4"/>
          <a:stretch>
            <a:fillRect/>
          </a:stretch>
        </p:blipFill>
        <p:spPr>
          <a:xfrm>
            <a:off x="950976" y="2255520"/>
            <a:ext cx="10241280" cy="6827519"/>
          </a:xfrm>
          <a:prstGeom prst="rect">
            <a:avLst/>
          </a:prstGeom>
        </p:spPr>
      </p:pic>
      <p:sp>
        <p:nvSpPr>
          <p:cNvPr id="6" name="TextBox 5"/>
          <p:cNvSpPr txBox="1"/>
          <p:nvPr/>
        </p:nvSpPr>
        <p:spPr>
          <a:xfrm>
            <a:off x="950976" y="9156191"/>
            <a:ext cx="10241280" cy="274320"/>
          </a:xfrm>
          <a:prstGeom prst="rect">
            <a:avLst/>
          </a:prstGeom>
          <a:noFill/>
        </p:spPr>
        <p:txBody>
          <a:bodyPr wrap="square" anchor="t" lIns="0" rIns="0" tIns="0" bIns="0">
            <a:spAutoFit/>
          </a:bodyPr>
          <a:lstStyle/>
          <a:p>
            <a:pPr algn="r"/>
            <a:r>
              <a:rPr sz="1100" b="0">
                <a:solidFill>
                  <a:srgbClr val="C9CCDA"/>
                </a:solidFill>
                <a:latin typeface="Arial"/>
              </a:rPr>
              <a:t>© IGN – BD ORTHO</a:t>
            </a:r>
          </a:p>
        </p:txBody>
      </p:sp>
      <p:pic>
        <p:nvPicPr>
          <p:cNvPr id="7" name="Picture 6" descr="Securite_04_zone_bleue_situation.jpg"/>
          <p:cNvPicPr>
            <a:picLocks noChangeAspect="1"/>
          </p:cNvPicPr>
          <p:nvPr/>
        </p:nvPicPr>
        <p:blipFill>
          <a:blip r:embed="rId5"/>
          <a:stretch>
            <a:fillRect/>
          </a:stretch>
        </p:blipFill>
        <p:spPr>
          <a:xfrm>
            <a:off x="11567160" y="2240280"/>
            <a:ext cx="5760720" cy="3840480"/>
          </a:xfrm>
          <a:prstGeom prst="rect">
            <a:avLst/>
          </a:prstGeom>
        </p:spPr>
      </p:pic>
      <p:sp>
        <p:nvSpPr>
          <p:cNvPr id="8" name="TextBox 7"/>
          <p:cNvSpPr txBox="1"/>
          <p:nvPr/>
        </p:nvSpPr>
        <p:spPr>
          <a:xfrm>
            <a:off x="11567160" y="6172200"/>
            <a:ext cx="5760720" cy="731520"/>
          </a:xfrm>
          <a:prstGeom prst="rect">
            <a:avLst/>
          </a:prstGeom>
          <a:noFill/>
        </p:spPr>
        <p:txBody>
          <a:bodyPr wrap="square" anchor="t" lIns="0" rIns="0" tIns="0" bIns="0">
            <a:spAutoFit/>
          </a:bodyPr>
          <a:lstStyle/>
          <a:p>
            <a:pPr algn="l"/>
            <a:r>
              <a:rPr sz="2000" b="1">
                <a:solidFill>
                  <a:srgbClr val="FFFFFF"/>
                </a:solidFill>
                <a:latin typeface="Arial"/>
              </a:rPr>
              <a:t>Secteur du gymnase des Yvris, chemin de la Noisette</a:t>
            </a:r>
          </a:p>
        </p:txBody>
      </p:sp>
      <p:sp>
        <p:nvSpPr>
          <p:cNvPr id="9" name="Rectangle 8"/>
          <p:cNvSpPr/>
          <p:nvPr/>
        </p:nvSpPr>
        <p:spPr>
          <a:xfrm>
            <a:off x="11567160" y="6995160"/>
            <a:ext cx="5760720" cy="210312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41480" y="6995160"/>
            <a:ext cx="5212080" cy="2103120"/>
          </a:xfrm>
          <a:prstGeom prst="rect">
            <a:avLst/>
          </a:prstGeom>
          <a:noFill/>
        </p:spPr>
        <p:txBody>
          <a:bodyPr wrap="square" anchor="ctr" lIns="0" rIns="0" tIns="0" bIns="0">
            <a:spAutoFit/>
          </a:bodyPr>
          <a:lstStyle/>
          <a:p>
            <a:pPr algn="ctr"/>
            <a:r>
              <a:rPr sz="2200" b="1">
                <a:solidFill>
                  <a:srgbClr val="C9CCDA"/>
                </a:solidFill>
                <a:latin typeface="Arial"/>
              </a:rPr>
              <a:t>[Périmètre, durée de stationnement autorisée et date de mise en place à compléter]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