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20" r:id="rId56"/>
    <p:sldId id="302" r:id="rId38"/>
    <p:sldId id="303" r:id="rId39"/>
    <p:sldId id="304" r:id="rId40"/>
    <p:sldId id="315" r:id="rId51"/>
    <p:sldId id="316" r:id="rId52"/>
    <p:sldId id="305" r:id="rId41"/>
    <p:sldId id="317" r:id="rId53"/>
    <p:sldId id="306" r:id="rId42"/>
    <p:sldId id="318" r:id="rId54"/>
    <p:sldId id="307" r:id="rId43"/>
    <p:sldId id="308" r:id="rId44"/>
    <p:sldId id="314" r:id="rId50"/>
    <p:sldId id="295" r:id="rId28"/>
    <p:sldId id="321" r:id="rId57"/>
    <p:sldId id="322" r:id="rId58"/>
    <p:sldId id="309" r:id="rId45"/>
    <p:sldId id="310" r:id="rId46"/>
    <p:sldId id="319" r:id="rId55"/>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discutée dès 2024 entre La Poste et l'ancienne municipalité, sans information des habitants. Courrier du Maire du 10 juin 2026 au délégué territorial de La Poste pour la Seine-Saint-Denis : la nouvelle municipalité n'a été ni informée ni consultée ; le Maire demande de suspendre la fermeture, d'organiser une réunion de travail et de transmettre les éléments ayant fondé la décision (fréquentation, études, correspondances avec l'ancienne municipalité). Le Maire s'est opposé à la fermeture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Parking situé dans le secteur du gymnase des Yvris, chemin de la Noisette, près de l'école élémentaire des Yvris et du collège Saint-Exupéry (point fourni : 48°49'35.57" N, 2°35'00.63" E). Vues : orthophotographies IGN. Règles de la zone bleue à compléter : périmètre, durée de stationnement autorisée, date de mise en place, contrôle.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Vue aérienne de la partie commerçante de l'avenue Médéric (orthophotographie IGN).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(14 octobre 2026).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visuel : création d'une troisième voie ; reconstruction de la gare des Yvris – Noisy-le-Grand avec un nouveau bâtiment voyageurs, accès aux quais par une passerelle et des ascenseurs (mise aux normes d'accessibilité) ; reconstruction des ponts Paul-Serelle et des Yvris avec un tablier pour les modes doux ; démolition d'un passage souterrain et construction d'une passerelle piétonne accessible aux personnes à mobilité réduite ; rénovation de 4 ponts dans les bois Saint-Martin et de Célie pour faciliter le passage de la faune.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Présentation à l'oral par la Direction de l'Environnement et de l'Espace Public. Éléments du plan projeté : parvis ouest avec square de proximité et dépose-minute ; parvis est avec kiosque, consigne vélos et arceaux ; terminus de la ligne 310 et local chauffeurs ; bus en passage avenue du Bois Saint-Martin ; piste cyclable ; accès RER sud-est ; parking végétalisé de 175 places.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 Id="rId4" Type="http://schemas.openxmlformats.org/officeDocument/2006/relationships/image" Target="../media/image3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4.png"/><Relationship Id="rId5"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6.jpg"/><Relationship Id="rId5"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7.xml"/><Relationship Id="rId4" Type="http://schemas.openxmlformats.org/officeDocument/2006/relationships/image" Target="../media/image43.jpg"/><Relationship Id="rId5" Type="http://schemas.openxmlformats.org/officeDocument/2006/relationships/image" Target="../media/image4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 Id="rId4" Type="http://schemas.openxmlformats.org/officeDocument/2006/relationships/image" Target="../media/image45.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9.xml"/><Relationship Id="rId4" Type="http://schemas.openxmlformats.org/officeDocument/2006/relationships/image" Target="../media/image4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0.xml"/><Relationship Id="rId4" Type="http://schemas.openxmlformats.org/officeDocument/2006/relationships/image" Target="../media/image47.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1.xml"/><Relationship Id="rId4" Type="http://schemas.openxmlformats.org/officeDocument/2006/relationships/image" Target="../media/image48.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667512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606040"/>
            <a:ext cx="6035040" cy="457200"/>
          </a:xfrm>
          <a:prstGeom prst="rect">
            <a:avLst/>
          </a:prstGeom>
          <a:noFill/>
        </p:spPr>
        <p:txBody>
          <a:bodyPr wrap="square" anchor="t" lIns="0" rIns="0" tIns="0" bIns="0">
            <a:spAutoFit/>
          </a:bodyPr>
          <a:lstStyle/>
          <a:p>
            <a:pPr algn="l"/>
            <a:r>
              <a:rPr sz="2000" b="1" spc="150">
                <a:solidFill>
                  <a:srgbClr val="72C493"/>
                </a:solidFill>
                <a:latin typeface="Arial"/>
              </a:rPr>
              <a:t>RÉOUVERTURE PRÉVUE EN</a:t>
            </a:r>
          </a:p>
        </p:txBody>
      </p:sp>
      <p:sp>
        <p:nvSpPr>
          <p:cNvPr id="7" name="TextBox 6"/>
          <p:cNvSpPr txBox="1"/>
          <p:nvPr/>
        </p:nvSpPr>
        <p:spPr>
          <a:xfrm>
            <a:off x="1325880" y="3063240"/>
            <a:ext cx="6035040" cy="1097280"/>
          </a:xfrm>
          <a:prstGeom prst="rect">
            <a:avLst/>
          </a:prstGeom>
          <a:noFill/>
        </p:spPr>
        <p:txBody>
          <a:bodyPr wrap="square" anchor="t" lIns="0" rIns="0" tIns="0" bIns="0">
            <a:spAutoFit/>
          </a:bodyPr>
          <a:lstStyle/>
          <a:p>
            <a:pPr algn="l"/>
            <a:r>
              <a:rPr sz="5600" b="1">
                <a:solidFill>
                  <a:srgbClr val="FFFFFF"/>
                </a:solidFill>
                <a:latin typeface="Arial"/>
              </a:rPr>
              <a:t>septembre 2028</a:t>
            </a:r>
          </a:p>
        </p:txBody>
      </p:sp>
      <p:sp>
        <p:nvSpPr>
          <p:cNvPr id="8" name="TextBox 7"/>
          <p:cNvSpPr txBox="1"/>
          <p:nvPr/>
        </p:nvSpPr>
        <p:spPr>
          <a:xfrm>
            <a:off x="1325880" y="4343400"/>
            <a:ext cx="6035040" cy="1463040"/>
          </a:xfrm>
          <a:prstGeom prst="rect">
            <a:avLst/>
          </a:prstGeom>
          <a:noFill/>
        </p:spPr>
        <p:txBody>
          <a:bodyPr wrap="square" anchor="t" lIns="0" rIns="0" tIns="0" bIns="0">
            <a:spAutoFit/>
          </a:bodyPr>
          <a:lstStyle/>
          <a:p>
            <a:pPr algn="l"/>
            <a:r>
              <a:rPr sz="21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Sept. 2026</a:t>
            </a:r>
          </a:p>
        </p:txBody>
      </p:sp>
      <p:sp>
        <p:nvSpPr>
          <p:cNvPr id="11" name="TextBox 10"/>
          <p:cNvSpPr txBox="1"/>
          <p:nvPr/>
        </p:nvSpPr>
        <p:spPr>
          <a:xfrm>
            <a:off x="127101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442569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20 mois</a:t>
            </a:r>
          </a:p>
        </p:txBody>
      </p:sp>
      <p:sp>
        <p:nvSpPr>
          <p:cNvPr id="14" name="TextBox 13"/>
          <p:cNvSpPr txBox="1"/>
          <p:nvPr/>
        </p:nvSpPr>
        <p:spPr>
          <a:xfrm>
            <a:off x="474573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de travaux, pour une école agrandie et rénovée</a:t>
            </a:r>
          </a:p>
        </p:txBody>
      </p:sp>
      <p:pic>
        <p:nvPicPr>
          <p:cNvPr id="15" name="Picture 14" descr="Ecole_01_perspective_ecole_Richardets.jpg"/>
          <p:cNvPicPr>
            <a:picLocks noChangeAspect="1"/>
          </p:cNvPicPr>
          <p:nvPr/>
        </p:nvPicPr>
        <p:blipFill>
          <a:blip r:embed="rId4"/>
          <a:stretch>
            <a:fillRect/>
          </a:stretch>
        </p:blipFill>
        <p:spPr>
          <a:xfrm>
            <a:off x="8001000" y="2685592"/>
            <a:ext cx="9336024" cy="5601614"/>
          </a:xfrm>
          <a:prstGeom prst="rect">
            <a:avLst/>
          </a:prstGeom>
        </p:spPr>
      </p:pic>
      <p:sp>
        <p:nvSpPr>
          <p:cNvPr id="16" name="Rectangle 15"/>
          <p:cNvSpPr/>
          <p:nvPr/>
        </p:nvSpPr>
        <p:spPr>
          <a:xfrm>
            <a:off x="8001000" y="8287206"/>
            <a:ext cx="9336024"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8287206"/>
            <a:ext cx="8970264" cy="457200"/>
          </a:xfrm>
          <a:prstGeom prst="rect">
            <a:avLst/>
          </a:prstGeom>
          <a:noFill/>
        </p:spPr>
        <p:txBody>
          <a:bodyPr wrap="square" anchor="ctr" lIns="0" rIns="0" tIns="0" bIns="0">
            <a:spAutoFit/>
          </a:bodyPr>
          <a:lstStyle/>
          <a:p>
            <a:pPr algn="l"/>
            <a:r>
              <a:rPr sz="1600" b="1" spc="100">
                <a:solidFill>
                  <a:srgbClr val="0E1F5B"/>
                </a:solidFill>
                <a:latin typeface="Arial"/>
              </a:rPr>
              <a:t>PERSPECTIVE · LA FUTURE ÉCOLE DES RICHARDETS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1024128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57855" y="3749039"/>
            <a:ext cx="682752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337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2024</a:t>
            </a:r>
          </a:p>
        </p:txBody>
      </p:sp>
      <p:sp>
        <p:nvSpPr>
          <p:cNvPr id="9" name="TextBox 8"/>
          <p:cNvSpPr txBox="1"/>
          <p:nvPr/>
        </p:nvSpPr>
        <p:spPr>
          <a:xfrm>
            <a:off x="117957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Discussion entre La Poste et l'ancienne municipalité sur la fermeture (non publique)</a:t>
            </a:r>
          </a:p>
        </p:txBody>
      </p:sp>
      <p:sp>
        <p:nvSpPr>
          <p:cNvPr id="10" name="Oval 9"/>
          <p:cNvSpPr/>
          <p:nvPr/>
        </p:nvSpPr>
        <p:spPr>
          <a:xfrm>
            <a:off x="575157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93336"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10 juin 2026</a:t>
            </a:r>
          </a:p>
        </p:txBody>
      </p:sp>
      <p:sp>
        <p:nvSpPr>
          <p:cNvPr id="12" name="TextBox 11"/>
          <p:cNvSpPr txBox="1"/>
          <p:nvPr/>
        </p:nvSpPr>
        <p:spPr>
          <a:xfrm>
            <a:off x="4593336"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Courrier du Maire au délégué territorial de La Poste</a:t>
            </a:r>
          </a:p>
        </p:txBody>
      </p:sp>
      <p:sp>
        <p:nvSpPr>
          <p:cNvPr id="13" name="Oval 12"/>
          <p:cNvSpPr/>
          <p:nvPr/>
        </p:nvSpPr>
        <p:spPr>
          <a:xfrm>
            <a:off x="916533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800709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5" name="TextBox 14"/>
          <p:cNvSpPr txBox="1"/>
          <p:nvPr/>
        </p:nvSpPr>
        <p:spPr>
          <a:xfrm>
            <a:off x="800709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pic>
        <p:nvPicPr>
          <p:cNvPr id="16" name="Picture 15" descr="Services_01_bureau_de_poste.jpg"/>
          <p:cNvPicPr>
            <a:picLocks noChangeAspect="1"/>
          </p:cNvPicPr>
          <p:nvPr/>
        </p:nvPicPr>
        <p:blipFill>
          <a:blip r:embed="rId4"/>
          <a:stretch>
            <a:fillRect/>
          </a:stretch>
        </p:blipFill>
        <p:spPr>
          <a:xfrm>
            <a:off x="950976" y="7543800"/>
            <a:ext cx="3251200" cy="1828800"/>
          </a:xfrm>
          <a:prstGeom prst="rect">
            <a:avLst/>
          </a:prstGeom>
        </p:spPr>
      </p:pic>
      <p:sp>
        <p:nvSpPr>
          <p:cNvPr id="17" name="Rectangle 16"/>
          <p:cNvSpPr/>
          <p:nvPr/>
        </p:nvSpPr>
        <p:spPr>
          <a:xfrm>
            <a:off x="4572000" y="7543800"/>
            <a:ext cx="6620256" cy="18288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6320" y="7543800"/>
            <a:ext cx="6071616" cy="182880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pic>
        <p:nvPicPr>
          <p:cNvPr id="19" name="Picture 18" descr="Services_02_courrier_Maire_La_Poste_10_juin_2026.png"/>
          <p:cNvPicPr>
            <a:picLocks noChangeAspect="1"/>
          </p:cNvPicPr>
          <p:nvPr/>
        </p:nvPicPr>
        <p:blipFill>
          <a:blip r:embed="rId5"/>
          <a:stretch>
            <a:fillRect/>
          </a:stretch>
        </p:blipFill>
        <p:spPr>
          <a:xfrm>
            <a:off x="12573273" y="2103120"/>
            <a:ext cx="4754606" cy="6720840"/>
          </a:xfrm>
          <a:prstGeom prst="rect">
            <a:avLst/>
          </a:prstGeom>
        </p:spPr>
      </p:pic>
      <p:sp>
        <p:nvSpPr>
          <p:cNvPr id="20" name="Rectangle 19"/>
          <p:cNvSpPr/>
          <p:nvPr/>
        </p:nvSpPr>
        <p:spPr>
          <a:xfrm>
            <a:off x="12573273" y="8869680"/>
            <a:ext cx="4754606"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573273" y="8869680"/>
            <a:ext cx="4754606" cy="457200"/>
          </a:xfrm>
          <a:prstGeom prst="rect">
            <a:avLst/>
          </a:prstGeom>
          <a:noFill/>
        </p:spPr>
        <p:txBody>
          <a:bodyPr wrap="square" anchor="ctr" lIns="0" rIns="0" tIns="0" bIns="0">
            <a:spAutoFit/>
          </a:bodyPr>
          <a:lstStyle/>
          <a:p>
            <a:pPr algn="ctr"/>
            <a:r>
              <a:rPr sz="1500" b="1" spc="100">
                <a:solidFill>
                  <a:srgbClr val="0E1F5B"/>
                </a:solidFill>
                <a:latin typeface="Arial"/>
              </a:rPr>
              <a:t>COURRIER DU MAIRE · 10 JUIN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4206240" cy="70408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06040"/>
            <a:ext cx="3657600" cy="411480"/>
          </a:xfrm>
          <a:prstGeom prst="rect">
            <a:avLst/>
          </a:prstGeom>
          <a:noFill/>
        </p:spPr>
        <p:txBody>
          <a:bodyPr wrap="square" anchor="t" lIns="0" rIns="0" tIns="0" bIns="0">
            <a:spAutoFit/>
          </a:bodyPr>
          <a:lstStyle/>
          <a:p>
            <a:pPr algn="l"/>
            <a:r>
              <a:rPr sz="2000" b="1" spc="150">
                <a:solidFill>
                  <a:srgbClr val="8A90B0"/>
                </a:solidFill>
                <a:latin typeface="Arial"/>
              </a:rPr>
              <a:t>ANCIEN PROJET</a:t>
            </a:r>
          </a:p>
        </p:txBody>
      </p:sp>
      <p:sp>
        <p:nvSpPr>
          <p:cNvPr id="7" name="TextBox 6"/>
          <p:cNvSpPr txBox="1"/>
          <p:nvPr/>
        </p:nvSpPr>
        <p:spPr>
          <a:xfrm>
            <a:off x="1280160" y="3017520"/>
            <a:ext cx="3657600" cy="731520"/>
          </a:xfrm>
          <a:prstGeom prst="rect">
            <a:avLst/>
          </a:prstGeom>
          <a:noFill/>
        </p:spPr>
        <p:txBody>
          <a:bodyPr wrap="square" anchor="t" lIns="0" rIns="0" tIns="0" bIns="0">
            <a:spAutoFit/>
          </a:bodyPr>
          <a:lstStyle/>
          <a:p>
            <a:pPr algn="l"/>
            <a:r>
              <a:rPr sz="1600" b="0">
                <a:solidFill>
                  <a:srgbClr val="8A90B0"/>
                </a:solidFill>
                <a:latin typeface="Arial"/>
              </a:rPr>
              <a:t>avant l'élection du Maire</a:t>
            </a:r>
          </a:p>
        </p:txBody>
      </p:sp>
      <p:sp>
        <p:nvSpPr>
          <p:cNvPr id="8" name="Oval 7"/>
          <p:cNvSpPr/>
          <p:nvPr/>
        </p:nvSpPr>
        <p:spPr>
          <a:xfrm>
            <a:off x="1280160" y="4069080"/>
            <a:ext cx="566928" cy="56692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4069080"/>
            <a:ext cx="566928" cy="566928"/>
          </a:xfrm>
          <a:prstGeom prst="rect">
            <a:avLst/>
          </a:prstGeom>
          <a:noFill/>
        </p:spPr>
        <p:txBody>
          <a:bodyPr wrap="square" anchor="ctr" lIns="0" rIns="0" tIns="0" bIns="0">
            <a:spAutoFit/>
          </a:bodyPr>
          <a:lstStyle/>
          <a:p>
            <a:pPr algn="ctr"/>
            <a:r>
              <a:rPr sz="2200" b="1">
                <a:solidFill>
                  <a:srgbClr val="0E1F5B"/>
                </a:solidFill>
                <a:latin typeface="Arial"/>
              </a:rPr>
              <a:t>✕</a:t>
            </a:r>
          </a:p>
        </p:txBody>
      </p:sp>
      <p:sp>
        <p:nvSpPr>
          <p:cNvPr id="10" name="TextBox 9"/>
          <p:cNvSpPr txBox="1"/>
          <p:nvPr/>
        </p:nvSpPr>
        <p:spPr>
          <a:xfrm>
            <a:off x="2057400" y="4041648"/>
            <a:ext cx="2926080" cy="1280160"/>
          </a:xfrm>
          <a:prstGeom prst="rect">
            <a:avLst/>
          </a:prstGeom>
          <a:noFill/>
        </p:spPr>
        <p:txBody>
          <a:bodyPr wrap="square" anchor="t" lIns="0" rIns="0" tIns="0" bIns="0">
            <a:spAutoFit/>
          </a:bodyPr>
          <a:lstStyle/>
          <a:p>
            <a:pPr algn="l"/>
            <a:r>
              <a:rPr sz="2600" b="1">
                <a:solidFill>
                  <a:srgbClr val="FAF5EC"/>
                </a:solidFill>
                <a:latin typeface="Arial"/>
              </a:rPr>
              <a:t>Des arbres abattus</a:t>
            </a:r>
          </a:p>
        </p:txBody>
      </p:sp>
      <p:sp>
        <p:nvSpPr>
          <p:cNvPr id="11" name="TextBox 10"/>
          <p:cNvSpPr txBox="1"/>
          <p:nvPr/>
        </p:nvSpPr>
        <p:spPr>
          <a:xfrm>
            <a:off x="5349240" y="5029200"/>
            <a:ext cx="731520" cy="822960"/>
          </a:xfrm>
          <a:prstGeom prst="rect">
            <a:avLst/>
          </a:prstGeom>
          <a:noFill/>
        </p:spPr>
        <p:txBody>
          <a:bodyPr wrap="square" anchor="t" lIns="0" rIns="0" tIns="0" bIns="0">
            <a:spAutoFit/>
          </a:bodyPr>
          <a:lstStyle/>
          <a:p>
            <a:pPr algn="ctr"/>
            <a:r>
              <a:rPr sz="4400" b="0">
                <a:solidFill>
                  <a:srgbClr val="72C493"/>
                </a:solidFill>
                <a:latin typeface="Arial"/>
              </a:rPr>
              <a:t>→</a:t>
            </a:r>
          </a:p>
        </p:txBody>
      </p:sp>
      <p:sp>
        <p:nvSpPr>
          <p:cNvPr id="12" name="Rectangle 11"/>
          <p:cNvSpPr/>
          <p:nvPr/>
        </p:nvSpPr>
        <p:spPr>
          <a:xfrm>
            <a:off x="6263640" y="2286000"/>
            <a:ext cx="5257800" cy="70408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606040"/>
            <a:ext cx="4572000" cy="411480"/>
          </a:xfrm>
          <a:prstGeom prst="rect">
            <a:avLst/>
          </a:prstGeom>
          <a:noFill/>
        </p:spPr>
        <p:txBody>
          <a:bodyPr wrap="square" anchor="t" lIns="0" rIns="0" tIns="0" bIns="0">
            <a:spAutoFit/>
          </a:bodyPr>
          <a:lstStyle/>
          <a:p>
            <a:pPr algn="l"/>
            <a:r>
              <a:rPr sz="2000" b="1" spc="150">
                <a:solidFill>
                  <a:srgbClr val="0E1F5B"/>
                </a:solidFill>
                <a:latin typeface="Arial"/>
              </a:rPr>
              <a:t>NOUVEAU PROJET</a:t>
            </a:r>
          </a:p>
        </p:txBody>
      </p:sp>
      <p:sp>
        <p:nvSpPr>
          <p:cNvPr id="14" name="TextBox 13"/>
          <p:cNvSpPr txBox="1"/>
          <p:nvPr/>
        </p:nvSpPr>
        <p:spPr>
          <a:xfrm>
            <a:off x="6629400" y="3017520"/>
            <a:ext cx="4572000" cy="731520"/>
          </a:xfrm>
          <a:prstGeom prst="rect">
            <a:avLst/>
          </a:prstGeom>
          <a:noFill/>
        </p:spPr>
        <p:txBody>
          <a:bodyPr wrap="square" anchor="t" lIns="0" rIns="0" tIns="0" bIns="0">
            <a:spAutoFit/>
          </a:bodyPr>
          <a:lstStyle/>
          <a:p>
            <a:pPr algn="l"/>
            <a:r>
              <a:rPr sz="1600" b="0">
                <a:solidFill>
                  <a:srgbClr val="0E1F5B"/>
                </a:solidFill>
                <a:latin typeface="Arial"/>
              </a:rPr>
              <a:t>porté par la nouvelle municipalité</a:t>
            </a:r>
          </a:p>
        </p:txBody>
      </p:sp>
      <p:sp>
        <p:nvSpPr>
          <p:cNvPr id="15" name="Oval 14"/>
          <p:cNvSpPr/>
          <p:nvPr/>
        </p:nvSpPr>
        <p:spPr>
          <a:xfrm>
            <a:off x="6629400" y="40690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4069080"/>
            <a:ext cx="566928" cy="566928"/>
          </a:xfrm>
          <a:prstGeom prst="rect">
            <a:avLst/>
          </a:prstGeom>
          <a:noFill/>
        </p:spPr>
        <p:txBody>
          <a:bodyPr wrap="square" anchor="ctr" lIns="0" rIns="0" tIns="0" bIns="0">
            <a:spAutoFit/>
          </a:bodyPr>
          <a:lstStyle/>
          <a:p>
            <a:pPr algn="ctr"/>
            <a:r>
              <a:rPr sz="2200" b="1">
                <a:solidFill>
                  <a:srgbClr val="72C493"/>
                </a:solidFill>
                <a:latin typeface="Arial"/>
              </a:rPr>
              <a:t>1</a:t>
            </a:r>
          </a:p>
        </p:txBody>
      </p:sp>
      <p:sp>
        <p:nvSpPr>
          <p:cNvPr id="17" name="TextBox 16"/>
          <p:cNvSpPr txBox="1"/>
          <p:nvPr/>
        </p:nvSpPr>
        <p:spPr>
          <a:xfrm>
            <a:off x="7406640" y="4041648"/>
            <a:ext cx="3931920" cy="1280160"/>
          </a:xfrm>
          <a:prstGeom prst="rect">
            <a:avLst/>
          </a:prstGeom>
          <a:noFill/>
        </p:spPr>
        <p:txBody>
          <a:bodyPr wrap="square" anchor="t" lIns="0" rIns="0" tIns="0" bIns="0">
            <a:spAutoFit/>
          </a:bodyPr>
          <a:lstStyle/>
          <a:p>
            <a:pPr algn="l"/>
            <a:r>
              <a:rPr sz="2600" b="1">
                <a:solidFill>
                  <a:srgbClr val="0E1F5B"/>
                </a:solidFill>
                <a:latin typeface="Arial"/>
              </a:rPr>
              <a:t>Des toitures solarisées</a:t>
            </a:r>
          </a:p>
        </p:txBody>
      </p:sp>
      <p:sp>
        <p:nvSpPr>
          <p:cNvPr id="18" name="Oval 17"/>
          <p:cNvSpPr/>
          <p:nvPr/>
        </p:nvSpPr>
        <p:spPr>
          <a:xfrm>
            <a:off x="6629400" y="56692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5669280"/>
            <a:ext cx="566928" cy="566928"/>
          </a:xfrm>
          <a:prstGeom prst="rect">
            <a:avLst/>
          </a:prstGeom>
          <a:noFill/>
        </p:spPr>
        <p:txBody>
          <a:bodyPr wrap="square" anchor="ctr" lIns="0" rIns="0" tIns="0" bIns="0">
            <a:spAutoFit/>
          </a:bodyPr>
          <a:lstStyle/>
          <a:p>
            <a:pPr algn="ctr"/>
            <a:r>
              <a:rPr sz="2200" b="1">
                <a:solidFill>
                  <a:srgbClr val="72C493"/>
                </a:solidFill>
                <a:latin typeface="Arial"/>
              </a:rPr>
              <a:t>2</a:t>
            </a:r>
          </a:p>
        </p:txBody>
      </p:sp>
      <p:sp>
        <p:nvSpPr>
          <p:cNvPr id="20" name="TextBox 19"/>
          <p:cNvSpPr txBox="1"/>
          <p:nvPr/>
        </p:nvSpPr>
        <p:spPr>
          <a:xfrm>
            <a:off x="7406640" y="5641848"/>
            <a:ext cx="3931920" cy="1280160"/>
          </a:xfrm>
          <a:prstGeom prst="rect">
            <a:avLst/>
          </a:prstGeom>
          <a:noFill/>
        </p:spPr>
        <p:txBody>
          <a:bodyPr wrap="square" anchor="t" lIns="0" rIns="0" tIns="0" bIns="0">
            <a:spAutoFit/>
          </a:bodyPr>
          <a:lstStyle/>
          <a:p>
            <a:pPr algn="l"/>
            <a:r>
              <a:rPr sz="2600" b="1">
                <a:solidFill>
                  <a:srgbClr val="0E1F5B"/>
                </a:solidFill>
                <a:latin typeface="Arial"/>
              </a:rPr>
              <a:t>Une façade en bois</a:t>
            </a:r>
          </a:p>
        </p:txBody>
      </p:sp>
      <p:sp>
        <p:nvSpPr>
          <p:cNvPr id="21" name="Oval 20"/>
          <p:cNvSpPr/>
          <p:nvPr/>
        </p:nvSpPr>
        <p:spPr>
          <a:xfrm>
            <a:off x="6629400" y="72694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7269480"/>
            <a:ext cx="566928" cy="566928"/>
          </a:xfrm>
          <a:prstGeom prst="rect">
            <a:avLst/>
          </a:prstGeom>
          <a:noFill/>
        </p:spPr>
        <p:txBody>
          <a:bodyPr wrap="square" anchor="ctr" lIns="0" rIns="0" tIns="0" bIns="0">
            <a:spAutoFit/>
          </a:bodyPr>
          <a:lstStyle/>
          <a:p>
            <a:pPr algn="ctr"/>
            <a:r>
              <a:rPr sz="2200" b="1">
                <a:solidFill>
                  <a:srgbClr val="72C493"/>
                </a:solidFill>
                <a:latin typeface="Arial"/>
              </a:rPr>
              <a:t>3</a:t>
            </a:r>
          </a:p>
        </p:txBody>
      </p:sp>
      <p:sp>
        <p:nvSpPr>
          <p:cNvPr id="23" name="TextBox 22"/>
          <p:cNvSpPr txBox="1"/>
          <p:nvPr/>
        </p:nvSpPr>
        <p:spPr>
          <a:xfrm>
            <a:off x="7406640" y="7242048"/>
            <a:ext cx="3931920" cy="1280160"/>
          </a:xfrm>
          <a:prstGeom prst="rect">
            <a:avLst/>
          </a:prstGeom>
          <a:noFill/>
        </p:spPr>
        <p:txBody>
          <a:bodyPr wrap="square" anchor="t" lIns="0" rIns="0" tIns="0" bIns="0">
            <a:spAutoFit/>
          </a:bodyPr>
          <a:lstStyle/>
          <a:p>
            <a:pPr algn="l"/>
            <a:r>
              <a:rPr sz="2600" b="1">
                <a:solidFill>
                  <a:srgbClr val="0E1F5B"/>
                </a:solidFill>
                <a:latin typeface="Arial"/>
              </a:rPr>
              <a:t>La plantation de nouveaux arbres</a:t>
            </a:r>
          </a:p>
        </p:txBody>
      </p:sp>
      <p:pic>
        <p:nvPicPr>
          <p:cNvPr id="24" name="Picture 23" descr="Equipements_01_stade_Alain_Mimoun.jpg"/>
          <p:cNvPicPr>
            <a:picLocks noChangeAspect="1"/>
          </p:cNvPicPr>
          <p:nvPr/>
        </p:nvPicPr>
        <p:blipFill>
          <a:blip r:embed="rId4"/>
          <a:stretch>
            <a:fillRect/>
          </a:stretch>
        </p:blipFill>
        <p:spPr>
          <a:xfrm>
            <a:off x="11887200" y="4273677"/>
            <a:ext cx="5449824" cy="306552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2321717" y="2148840"/>
            <a:ext cx="13626276" cy="7315200"/>
          </a:xfrm>
          <a:prstGeom prst="rect">
            <a:avLst/>
          </a:prstGeom>
        </p:spPr>
      </p:pic>
      <p:sp>
        <p:nvSpPr>
          <p:cNvPr id="6" name="Rounded Rectangle 5"/>
          <p:cNvSpPr/>
          <p:nvPr/>
        </p:nvSpPr>
        <p:spPr>
          <a:xfrm>
            <a:off x="2641757" y="2468880"/>
            <a:ext cx="4023360" cy="777240"/>
          </a:xfrm>
          <a:prstGeom prst="roundRect">
            <a:avLst/>
          </a:prstGeom>
          <a:solidFill>
            <a:srgbClr val="72C493"/>
          </a:solidFill>
          <a:ln w="381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41757" y="2468880"/>
            <a:ext cx="4023360" cy="777240"/>
          </a:xfrm>
          <a:prstGeom prst="rect">
            <a:avLst/>
          </a:prstGeom>
          <a:noFill/>
        </p:spPr>
        <p:txBody>
          <a:bodyPr wrap="square" anchor="ctr" lIns="0" rIns="0" tIns="0" bIns="0">
            <a:spAutoFit/>
          </a:bodyPr>
          <a:lstStyle/>
          <a:p>
            <a:pPr algn="ctr"/>
            <a:r>
              <a:rPr sz="2600" b="1" spc="120">
                <a:solidFill>
                  <a:srgbClr val="0E1F5B"/>
                </a:solidFill>
                <a:latin typeface="Arial"/>
              </a:rPr>
              <a:t>EN CONCERTATION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4"/>
          <a:stretch>
            <a:fillRect/>
          </a:stretch>
        </p:blipFill>
        <p:spPr>
          <a:xfrm>
            <a:off x="950976" y="2255520"/>
            <a:ext cx="10241280" cy="6827519"/>
          </a:xfrm>
          <a:prstGeom prst="rect">
            <a:avLst/>
          </a:prstGeom>
        </p:spPr>
      </p:pic>
      <p:sp>
        <p:nvSpPr>
          <p:cNvPr id="6" name="TextBox 5"/>
          <p:cNvSpPr txBox="1"/>
          <p:nvPr/>
        </p:nvSpPr>
        <p:spPr>
          <a:xfrm>
            <a:off x="950976" y="9156191"/>
            <a:ext cx="10241280"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pic>
        <p:nvPicPr>
          <p:cNvPr id="7" name="Picture 6" descr="Securite_04_zone_bleue_situation.jpg"/>
          <p:cNvPicPr>
            <a:picLocks noChangeAspect="1"/>
          </p:cNvPicPr>
          <p:nvPr/>
        </p:nvPicPr>
        <p:blipFill>
          <a:blip r:embed="rId5"/>
          <a:stretch>
            <a:fillRect/>
          </a:stretch>
        </p:blipFill>
        <p:spPr>
          <a:xfrm>
            <a:off x="11567160" y="2240280"/>
            <a:ext cx="5760720" cy="3840480"/>
          </a:xfrm>
          <a:prstGeom prst="rect">
            <a:avLst/>
          </a:prstGeom>
        </p:spPr>
      </p:pic>
      <p:sp>
        <p:nvSpPr>
          <p:cNvPr id="8" name="TextBox 7"/>
          <p:cNvSpPr txBox="1"/>
          <p:nvPr/>
        </p:nvSpPr>
        <p:spPr>
          <a:xfrm>
            <a:off x="11567160" y="6172200"/>
            <a:ext cx="5760720" cy="731520"/>
          </a:xfrm>
          <a:prstGeom prst="rect">
            <a:avLst/>
          </a:prstGeom>
          <a:noFill/>
        </p:spPr>
        <p:txBody>
          <a:bodyPr wrap="square" anchor="t" lIns="0" rIns="0" tIns="0" bIns="0">
            <a:spAutoFit/>
          </a:bodyPr>
          <a:lstStyle/>
          <a:p>
            <a:pPr algn="l"/>
            <a:r>
              <a:rPr sz="2000" b="1">
                <a:solidFill>
                  <a:srgbClr val="FFFFFF"/>
                </a:solidFill>
                <a:latin typeface="Arial"/>
              </a:rPr>
              <a:t>Secteur du gymnase des Yvris, chemin de la Noisette</a:t>
            </a:r>
          </a:p>
        </p:txBody>
      </p:sp>
      <p:sp>
        <p:nvSpPr>
          <p:cNvPr id="9" name="Rectangle 8"/>
          <p:cNvSpPr/>
          <p:nvPr/>
        </p:nvSpPr>
        <p:spPr>
          <a:xfrm>
            <a:off x="11567160" y="6995160"/>
            <a:ext cx="5760720" cy="210312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41480" y="6995160"/>
            <a:ext cx="5212080" cy="2103120"/>
          </a:xfrm>
          <a:prstGeom prst="rect">
            <a:avLst/>
          </a:prstGeom>
          <a:noFill/>
        </p:spPr>
        <p:txBody>
          <a:bodyPr wrap="square" anchor="ctr" lIns="0" rIns="0" tIns="0" bIns="0">
            <a:spAutoFit/>
          </a:bodyPr>
          <a:lstStyle/>
          <a:p>
            <a:pPr algn="ctr"/>
            <a:r>
              <a:rPr sz="2200" b="1">
                <a:solidFill>
                  <a:srgbClr val="C9CCDA"/>
                </a:solidFill>
                <a:latin typeface="Arial"/>
              </a:rPr>
              <a:t>[Périmètre, durée de stationnement autorisée et date de mise en place à compléter]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commerces de l'avenue Médéric</a:t>
            </a:r>
          </a:p>
        </p:txBody>
      </p:sp>
      <p:pic>
        <p:nvPicPr>
          <p:cNvPr id="5" name="Picture 4" descr="Commerces_01_avenue_Mederic.jpg"/>
          <p:cNvPicPr>
            <a:picLocks noChangeAspect="1"/>
          </p:cNvPicPr>
          <p:nvPr/>
        </p:nvPicPr>
        <p:blipFill>
          <a:blip r:embed="rId4"/>
          <a:stretch>
            <a:fillRect/>
          </a:stretch>
        </p:blipFill>
        <p:spPr>
          <a:xfrm>
            <a:off x="977992" y="2240279"/>
            <a:ext cx="16313727" cy="7178040"/>
          </a:xfrm>
          <a:prstGeom prst="rect">
            <a:avLst/>
          </a:prstGeom>
        </p:spPr>
      </p:pic>
      <p:sp>
        <p:nvSpPr>
          <p:cNvPr id="6" name="TextBox 5"/>
          <p:cNvSpPr txBox="1"/>
          <p:nvPr/>
        </p:nvSpPr>
        <p:spPr>
          <a:xfrm>
            <a:off x="950976" y="9491471"/>
            <a:ext cx="16367759"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L'école des Gobelins, prête pour les élèves</a:t>
            </a:r>
          </a:p>
        </p:txBody>
      </p:sp>
      <p:sp>
        <p:nvSpPr>
          <p:cNvPr id="5" name="Rectangle 4"/>
          <p:cNvSpPr/>
          <p:nvPr/>
        </p:nvSpPr>
        <p:spPr>
          <a:xfrm>
            <a:off x="950976" y="2286000"/>
            <a:ext cx="5486400" cy="32918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560320"/>
            <a:ext cx="4846320" cy="1280160"/>
          </a:xfrm>
          <a:prstGeom prst="rect">
            <a:avLst/>
          </a:prstGeom>
          <a:noFill/>
        </p:spPr>
        <p:txBody>
          <a:bodyPr wrap="square" anchor="t" lIns="0" rIns="0" tIns="0" bIns="0">
            <a:spAutoFit/>
          </a:bodyPr>
          <a:lstStyle/>
          <a:p>
            <a:pPr algn="l"/>
            <a:r>
              <a:rPr sz="8000" b="1">
                <a:solidFill>
                  <a:srgbClr val="72C493"/>
                </a:solidFill>
                <a:latin typeface="Arial"/>
              </a:rPr>
              <a:t>1,3 M€</a:t>
            </a:r>
          </a:p>
        </p:txBody>
      </p:sp>
      <p:sp>
        <p:nvSpPr>
          <p:cNvPr id="7" name="TextBox 6"/>
          <p:cNvSpPr txBox="1"/>
          <p:nvPr/>
        </p:nvSpPr>
        <p:spPr>
          <a:xfrm>
            <a:off x="1325880" y="3886200"/>
            <a:ext cx="4846320" cy="1463040"/>
          </a:xfrm>
          <a:prstGeom prst="rect">
            <a:avLst/>
          </a:prstGeom>
          <a:noFill/>
        </p:spPr>
        <p:txBody>
          <a:bodyPr wrap="square" anchor="t" lIns="0" rIns="0" tIns="0" bIns="0">
            <a:spAutoFit/>
          </a:bodyPr>
          <a:lstStyle/>
          <a:p>
            <a:pPr algn="l"/>
            <a:r>
              <a:rPr sz="2200" b="1">
                <a:solidFill>
                  <a:srgbClr val="FFFFFF"/>
                </a:solidFill>
                <a:latin typeface="Arial"/>
              </a:rPr>
              <a:t>investis cette année pour accueillir l'école des Richardets</a:t>
            </a:r>
          </a:p>
        </p:txBody>
      </p:sp>
      <p:pic>
        <p:nvPicPr>
          <p:cNvPr id="8" name="Picture 7" descr="Ecole_02_ecole_des_Gobelins.jpg"/>
          <p:cNvPicPr>
            <a:picLocks noChangeAspect="1"/>
          </p:cNvPicPr>
          <p:nvPr/>
        </p:nvPicPr>
        <p:blipFill>
          <a:blip r:embed="rId4"/>
          <a:stretch>
            <a:fillRect/>
          </a:stretch>
        </p:blipFill>
        <p:spPr>
          <a:xfrm>
            <a:off x="950976" y="5937904"/>
            <a:ext cx="5486400" cy="3303230"/>
          </a:xfrm>
          <a:prstGeom prst="rect">
            <a:avLst/>
          </a:prstGeom>
        </p:spPr>
      </p:pic>
      <p:sp>
        <p:nvSpPr>
          <p:cNvPr id="9" name="TextBox 8"/>
          <p:cNvSpPr txBox="1"/>
          <p:nvPr/>
        </p:nvSpPr>
        <p:spPr>
          <a:xfrm>
            <a:off x="6949440" y="2286000"/>
            <a:ext cx="10332720" cy="411480"/>
          </a:xfrm>
          <a:prstGeom prst="rect">
            <a:avLst/>
          </a:prstGeom>
          <a:noFill/>
        </p:spPr>
        <p:txBody>
          <a:bodyPr wrap="square" anchor="t" lIns="0" rIns="0" tIns="0" bIns="0">
            <a:spAutoFit/>
          </a:bodyPr>
          <a:lstStyle/>
          <a:p>
            <a:pPr algn="l"/>
            <a:r>
              <a:rPr sz="2000" b="1" spc="150">
                <a:solidFill>
                  <a:srgbClr val="72C493"/>
                </a:solidFill>
                <a:latin typeface="Arial"/>
              </a:rPr>
              <a:t>LES PRINCIPALES OPÉRATIONS D'ADAPTATION</a:t>
            </a:r>
          </a:p>
        </p:txBody>
      </p:sp>
      <p:sp>
        <p:nvSpPr>
          <p:cNvPr id="10" name="Rectangle 9"/>
          <p:cNvSpPr/>
          <p:nvPr/>
        </p:nvSpPr>
        <p:spPr>
          <a:xfrm>
            <a:off x="6949440" y="2880360"/>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78040" y="3127248"/>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3127248"/>
            <a:ext cx="603504" cy="603504"/>
          </a:xfrm>
          <a:prstGeom prst="rect">
            <a:avLst/>
          </a:prstGeom>
          <a:noFill/>
        </p:spPr>
        <p:txBody>
          <a:bodyPr wrap="square" anchor="ctr" lIns="0" rIns="0" tIns="0" bIns="0">
            <a:spAutoFit/>
          </a:bodyPr>
          <a:lstStyle/>
          <a:p>
            <a:pPr algn="ctr"/>
            <a:r>
              <a:rPr sz="2200" b="1">
                <a:solidFill>
                  <a:srgbClr val="0E1F5B"/>
                </a:solidFill>
                <a:latin typeface="Arial"/>
              </a:rPr>
              <a:t>1</a:t>
            </a:r>
          </a:p>
        </p:txBody>
      </p:sp>
      <p:sp>
        <p:nvSpPr>
          <p:cNvPr id="13" name="TextBox 12"/>
          <p:cNvSpPr txBox="1"/>
          <p:nvPr/>
        </p:nvSpPr>
        <p:spPr>
          <a:xfrm>
            <a:off x="8092440" y="2880360"/>
            <a:ext cx="9052560" cy="1097280"/>
          </a:xfrm>
          <a:prstGeom prst="rect">
            <a:avLst/>
          </a:prstGeom>
          <a:noFill/>
        </p:spPr>
        <p:txBody>
          <a:bodyPr wrap="square" anchor="ctr" lIns="0" rIns="0" tIns="0" bIns="0">
            <a:spAutoFit/>
          </a:bodyPr>
          <a:lstStyle/>
          <a:p>
            <a:pPr algn="l"/>
            <a:r>
              <a:rPr sz="2600" b="1">
                <a:solidFill>
                  <a:srgbClr val="FFFFFF"/>
                </a:solidFill>
                <a:latin typeface="Arial"/>
              </a:rPr>
              <a:t>Création de sanitaires</a:t>
            </a:r>
          </a:p>
        </p:txBody>
      </p:sp>
      <p:sp>
        <p:nvSpPr>
          <p:cNvPr id="14" name="Rectangle 13"/>
          <p:cNvSpPr/>
          <p:nvPr/>
        </p:nvSpPr>
        <p:spPr>
          <a:xfrm>
            <a:off x="6949440" y="4178808"/>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78040" y="4425696"/>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4425696"/>
            <a:ext cx="603504" cy="603504"/>
          </a:xfrm>
          <a:prstGeom prst="rect">
            <a:avLst/>
          </a:prstGeom>
          <a:noFill/>
        </p:spPr>
        <p:txBody>
          <a:bodyPr wrap="square" anchor="ctr" lIns="0" rIns="0" tIns="0" bIns="0">
            <a:spAutoFit/>
          </a:bodyPr>
          <a:lstStyle/>
          <a:p>
            <a:pPr algn="ctr"/>
            <a:r>
              <a:rPr sz="2200" b="1">
                <a:solidFill>
                  <a:srgbClr val="0E1F5B"/>
                </a:solidFill>
                <a:latin typeface="Arial"/>
              </a:rPr>
              <a:t>2</a:t>
            </a:r>
          </a:p>
        </p:txBody>
      </p:sp>
      <p:sp>
        <p:nvSpPr>
          <p:cNvPr id="17" name="TextBox 16"/>
          <p:cNvSpPr txBox="1"/>
          <p:nvPr/>
        </p:nvSpPr>
        <p:spPr>
          <a:xfrm>
            <a:off x="8092440" y="4178808"/>
            <a:ext cx="9052560" cy="1097280"/>
          </a:xfrm>
          <a:prstGeom prst="rect">
            <a:avLst/>
          </a:prstGeom>
          <a:noFill/>
        </p:spPr>
        <p:txBody>
          <a:bodyPr wrap="square" anchor="ctr" lIns="0" rIns="0" tIns="0" bIns="0">
            <a:spAutoFit/>
          </a:bodyPr>
          <a:lstStyle/>
          <a:p>
            <a:pPr algn="l"/>
            <a:r>
              <a:rPr sz="2600" b="1">
                <a:solidFill>
                  <a:srgbClr val="FFFFFF"/>
                </a:solidFill>
                <a:latin typeface="Arial"/>
              </a:rPr>
              <a:t>Réfection des sols et des peintures</a:t>
            </a:r>
          </a:p>
        </p:txBody>
      </p:sp>
      <p:sp>
        <p:nvSpPr>
          <p:cNvPr id="18" name="Rectangle 17"/>
          <p:cNvSpPr/>
          <p:nvPr/>
        </p:nvSpPr>
        <p:spPr>
          <a:xfrm>
            <a:off x="6949440" y="5477256"/>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78040" y="5724144"/>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5724144"/>
            <a:ext cx="603504" cy="603504"/>
          </a:xfrm>
          <a:prstGeom prst="rect">
            <a:avLst/>
          </a:prstGeom>
          <a:noFill/>
        </p:spPr>
        <p:txBody>
          <a:bodyPr wrap="square" anchor="ctr" lIns="0" rIns="0" tIns="0" bIns="0">
            <a:spAutoFit/>
          </a:bodyPr>
          <a:lstStyle/>
          <a:p>
            <a:pPr algn="ctr"/>
            <a:r>
              <a:rPr sz="2200" b="1">
                <a:solidFill>
                  <a:srgbClr val="0E1F5B"/>
                </a:solidFill>
                <a:latin typeface="Arial"/>
              </a:rPr>
              <a:t>3</a:t>
            </a:r>
          </a:p>
        </p:txBody>
      </p:sp>
      <p:sp>
        <p:nvSpPr>
          <p:cNvPr id="21" name="TextBox 20"/>
          <p:cNvSpPr txBox="1"/>
          <p:nvPr/>
        </p:nvSpPr>
        <p:spPr>
          <a:xfrm>
            <a:off x="8092440" y="5477256"/>
            <a:ext cx="9052560" cy="1097280"/>
          </a:xfrm>
          <a:prstGeom prst="rect">
            <a:avLst/>
          </a:prstGeom>
          <a:noFill/>
        </p:spPr>
        <p:txBody>
          <a:bodyPr wrap="square" anchor="ctr" lIns="0" rIns="0" tIns="0" bIns="0">
            <a:spAutoFit/>
          </a:bodyPr>
          <a:lstStyle/>
          <a:p>
            <a:pPr algn="l"/>
            <a:r>
              <a:rPr sz="2600" b="1">
                <a:solidFill>
                  <a:srgbClr val="FFFFFF"/>
                </a:solidFill>
                <a:latin typeface="Arial"/>
              </a:rPr>
              <a:t>Travaux électriques</a:t>
            </a:r>
          </a:p>
        </p:txBody>
      </p:sp>
      <p:sp>
        <p:nvSpPr>
          <p:cNvPr id="22" name="Rectangle 21"/>
          <p:cNvSpPr/>
          <p:nvPr/>
        </p:nvSpPr>
        <p:spPr>
          <a:xfrm>
            <a:off x="6949440" y="6775704"/>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78040" y="7022592"/>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78040" y="7022592"/>
            <a:ext cx="603504" cy="603504"/>
          </a:xfrm>
          <a:prstGeom prst="rect">
            <a:avLst/>
          </a:prstGeom>
          <a:noFill/>
        </p:spPr>
        <p:txBody>
          <a:bodyPr wrap="square" anchor="ctr" lIns="0" rIns="0" tIns="0" bIns="0">
            <a:spAutoFit/>
          </a:bodyPr>
          <a:lstStyle/>
          <a:p>
            <a:pPr algn="ctr"/>
            <a:r>
              <a:rPr sz="2200" b="1">
                <a:solidFill>
                  <a:srgbClr val="0E1F5B"/>
                </a:solidFill>
                <a:latin typeface="Arial"/>
              </a:rPr>
              <a:t>4</a:t>
            </a:r>
          </a:p>
        </p:txBody>
      </p:sp>
      <p:sp>
        <p:nvSpPr>
          <p:cNvPr id="25" name="TextBox 24"/>
          <p:cNvSpPr txBox="1"/>
          <p:nvPr/>
        </p:nvSpPr>
        <p:spPr>
          <a:xfrm>
            <a:off x="8092440" y="6775704"/>
            <a:ext cx="9052560" cy="1097280"/>
          </a:xfrm>
          <a:prstGeom prst="rect">
            <a:avLst/>
          </a:prstGeom>
          <a:noFill/>
        </p:spPr>
        <p:txBody>
          <a:bodyPr wrap="square" anchor="ctr" lIns="0" rIns="0" tIns="0" bIns="0">
            <a:spAutoFit/>
          </a:bodyPr>
          <a:lstStyle/>
          <a:p>
            <a:pPr algn="l"/>
            <a:r>
              <a:rPr sz="2600" b="1">
                <a:solidFill>
                  <a:srgbClr val="FFFFFF"/>
                </a:solidFill>
                <a:latin typeface="Arial"/>
              </a:rPr>
              <a:t>Clôtures et portails</a:t>
            </a:r>
          </a:p>
        </p:txBody>
      </p:sp>
      <p:sp>
        <p:nvSpPr>
          <p:cNvPr id="26" name="Rectangle 25"/>
          <p:cNvSpPr/>
          <p:nvPr/>
        </p:nvSpPr>
        <p:spPr>
          <a:xfrm>
            <a:off x="6949440" y="8074152"/>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178040" y="8321040"/>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78040" y="8321040"/>
            <a:ext cx="603504" cy="603504"/>
          </a:xfrm>
          <a:prstGeom prst="rect">
            <a:avLst/>
          </a:prstGeom>
          <a:noFill/>
        </p:spPr>
        <p:txBody>
          <a:bodyPr wrap="square" anchor="ctr" lIns="0" rIns="0" tIns="0" bIns="0">
            <a:spAutoFit/>
          </a:bodyPr>
          <a:lstStyle/>
          <a:p>
            <a:pPr algn="ctr"/>
            <a:r>
              <a:rPr sz="2200" b="1">
                <a:solidFill>
                  <a:srgbClr val="0E1F5B"/>
                </a:solidFill>
                <a:latin typeface="Arial"/>
              </a:rPr>
              <a:t>5</a:t>
            </a:r>
          </a:p>
        </p:txBody>
      </p:sp>
      <p:sp>
        <p:nvSpPr>
          <p:cNvPr id="29" name="TextBox 28"/>
          <p:cNvSpPr txBox="1"/>
          <p:nvPr/>
        </p:nvSpPr>
        <p:spPr>
          <a:xfrm>
            <a:off x="8092440" y="8074152"/>
            <a:ext cx="9052560" cy="1097280"/>
          </a:xfrm>
          <a:prstGeom prst="rect">
            <a:avLst/>
          </a:prstGeom>
          <a:noFill/>
        </p:spPr>
        <p:txBody>
          <a:bodyPr wrap="square" anchor="ctr" lIns="0" rIns="0" tIns="0" bIns="0">
            <a:spAutoFit/>
          </a:bodyPr>
          <a:lstStyle/>
          <a:p>
            <a:pPr algn="l"/>
            <a:r>
              <a:rPr sz="2600" b="1">
                <a:solidFill>
                  <a:srgbClr val="FFFFFF"/>
                </a:solidFill>
                <a:latin typeface="Arial"/>
              </a:rPr>
              <a:t>Rénovation de la cour et pose de pare-ballons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projet RER E Est +</a:t>
            </a:r>
          </a:p>
        </p:txBody>
      </p:sp>
      <p:pic>
        <p:nvPicPr>
          <p:cNvPr id="5" name="Picture 4" descr="Mobilites_02_projet_RER_E_Est_plus.jpg"/>
          <p:cNvPicPr>
            <a:picLocks noChangeAspect="1"/>
          </p:cNvPicPr>
          <p:nvPr/>
        </p:nvPicPr>
        <p:blipFill>
          <a:blip r:embed="rId4"/>
          <a:stretch>
            <a:fillRect/>
          </a:stretch>
        </p:blipFill>
        <p:spPr>
          <a:xfrm>
            <a:off x="4160760" y="2148840"/>
            <a:ext cx="9948191" cy="7498079"/>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TRANSPORTS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L'aménagement du pôle gare des Yvris</a:t>
            </a:r>
          </a:p>
        </p:txBody>
      </p:sp>
      <p:pic>
        <p:nvPicPr>
          <p:cNvPr id="5" name="Picture 4" descr="Mobilites_03_pole_gare_Yvris_plan.jpg"/>
          <p:cNvPicPr>
            <a:picLocks noChangeAspect="1"/>
          </p:cNvPicPr>
          <p:nvPr/>
        </p:nvPicPr>
        <p:blipFill>
          <a:blip r:embed="rId4"/>
          <a:stretch>
            <a:fillRect/>
          </a:stretch>
        </p:blipFill>
        <p:spPr>
          <a:xfrm>
            <a:off x="950976" y="2348919"/>
            <a:ext cx="16367759" cy="7097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