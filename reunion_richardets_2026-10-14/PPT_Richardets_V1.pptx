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57" r:id="rId3"/>
    <p:sldId id="258" r:id="rId4"/>
    <p:sldId id="301" r:id="rId37"/>
    <p:sldId id="302" r:id="rId38"/>
    <p:sldId id="303" r:id="rId39"/>
    <p:sldId id="304" r:id="rId40"/>
    <p:sldId id="315" r:id="rId51"/>
    <p:sldId id="316" r:id="rId52"/>
    <p:sldId id="305" r:id="rId41"/>
    <p:sldId id="306" r:id="rId42"/>
    <p:sldId id="307" r:id="rId43"/>
    <p:sldId id="308" r:id="rId44"/>
    <p:sldId id="314" r:id="rId50"/>
    <p:sldId id="295" r:id="rId28"/>
    <p:sldId id="309" r:id="rId45"/>
    <p:sldId id="310" r:id="rId46"/>
    <p:sldId id="311" r:id="rId47"/>
    <p:sldId id="312" r:id="rId48"/>
    <p:sldId id="313" r:id="rId49"/>
    <p:sldId id="288" r:id="rId29"/>
    <p:sldId id="289" r:id="rId30"/>
  </p:sldIdLst>
  <p:sldSz cx="18288000" cy="10287000"/>
  <p:notesSz cx="6797675" cy="992663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OUSSEMART Benjamin" initials="BB" lastIdx="2" clrIdx="0">
    <p:extLst>
      <p:ext uri="{19B8F6BF-5375-455C-9EA6-DF929625EA0E}">
        <p15:presenceInfo xmlns:p15="http://schemas.microsoft.com/office/powerpoint/2012/main" userId="S-1-5-21-3408961251-3854804950-4192859478-3367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5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50" d="100"/>
          <a:sy n="50" d="100"/>
        </p:scale>
        <p:origin x="1194" y="9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commentAuthors" Target="commentAuthors.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85996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affichée pendant l'accueil : inviter les habitants à flasher le QR code ou à remplir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Accueil des habitants par Vincent Monnier, Maire de Noisy-le-Grand. Réunion du cycle des réunions publiques organisées dans tous les quartiers.</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Présenter les cinq parties de la soirée.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Courrier du Maire du 20 septembre 2026 à la direction générale de Keolis sur les dysfonctionnements des lignes : retards, suppressions, fréquences non respectées, information voyageurs défaillante. Demandes : sanctions contractuelles, réunion en mairie avec Keolis et Île-de-France Mobilités, plan d'actions immédiat.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Temps d'échange avec la salle.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laissée à l'écran à la sortie : rappeler le QR code et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Le déménagement a été organisé par la Ville, après la fin de l'année scolaire pour le matériel scolaire. Le matériel de restauration a été déménagé dès le 1er juillet pour permettre l'installation aux Gobelins le 20 juillet.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Les travaux ont démarré en septembre, après la notification des marchés de travaux, pour une durée prévue de 20 mois. La réouverture de l'école agrandie et rénovée est prévue pour la rentrée de septembre 2028.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 coût de l'annulation des marchés de travaux est difficile à estimer : il pourrait représenter entre plusieurs centaines de milliers d'euros et quelques millions d'euros. Dépenses déjà réalisées : études préalables et diagnostics (environ 150 000 €), études de conception et autorisations dont le permis de construire (environ 400 000 €), déménagement de l'école aux Gobelins (environ 1 300 000 €). Non compté : l'acquisition du bâtiment des Gobelins, pour un peu plus de 5 000 000 €.</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Petits travaux mené cet été dans les écoles ; plan fraîcheur pour mieux protéger les élèves.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Éléments de la Direction de l'Environnement et de l'Espace Public (à l'oral, non projetés) : autour de l'école des Gobelins, un dépose-minute d'environ 15 places pour les parents, ainsi que les abords du CTM ; pas d'autre réserve de stationnement. Circulation : attente du retrait du transformateur situé sur la chaussée pour que la Société des grands projets termine ses travaux, soit encore environ 12 mois (8 mois d'attente puis les travaux). Sujet également évoqué : le dernier ouvrage de la SGP, l'ouvrage Médéric.</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Carte des caméras du quartier : en vert les caméras en service, en jaune les caméras en cours d'installation.</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La fermeture avait été décidée par La Poste sans information des habitants. Le Maire s'y est opposé et a demandé un délai ainsi que la sauvegarde d'activités postales.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Formulaire de signalement de la Ville : 400 signalements. Le Maire a obtenu la suspension de la modification non concertée du trajet de la ligne 220.</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Arbitrages validés lors du dernier comité de suivi. Points à connaître (non projetés) : glissement du calendrier prévisionnel en raison de nouvelles études ; actualisation du dossier pour le prochain comité de pilotage ; révision de la programmation pluriannuelle des investissements et nouvelles demandes de subventions ; vigilance du service des sports sur l'emprise du chantier sur la piste d'athlétisme.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 l'Environnement et de l'Espace Public. Square du boulevard des Astronautes, entre la rue de la Chapelle et la rue des Pléiades : concertation avec les riverains cet hiver sur les aires de jeux et les équipements, travaux à la fin du printemps, plantations à l'automne. Les crédits sont prévus pour 2027.</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des lignes 310, 312 et 320 qui traversent le quartier, avec leurs arrêts (données ouvertes d'Île-de-France Mobilités). Les arrêts Moulin à Vent (lignes 206, 207, 306, 310) et Les Aérostiers (ligne 212) sont en limite du quartier. Les cercles verts indiquent le nombre de signalements recueillis par le formulaire de la Ville pour chaque arrêt (472 signalements au total ; 156 rattachés avec certitude à un arrêt du quartier, les saisies ambiguës ne sont pas comptées). Les problèmes sont comptés en mentions : un signalement peut en citer plusieurs. Dans toute la ville : ligne 310, 312 signalements ; ligne 320, 76 ; ligne 312, 13 ; ligne 220, 51.</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Sources : tableau de suivi des travaux des écoles (visites 2026), comptes rendus des conseils d'école du printemps 2026, tableau de suivi municipal des travaux 2026-2027. Les travaux « programmés » aux Charmilles et aux Yvris étaient prévus pour l'été 2026 : leur réalisation reste à confirmer auprès de la Direction des Bâtiments.</a:t>
            </a:r>
          </a:p>
          <a:p/>
          <a:p>
            <a:r>
              <a:t>Demandes en attente, à connaître (non projetées). Charmilles maternelle : fissures, étais posés au réfectoire, toiture à refaire (travaux reportés pour analyser une fissure), chaudière en panne chaque année, brise-vues posés à l'envers ; les parents et la direction demandent le rapport d'expertise et la participation à la commission travaux. Charmilles élémentaire : allée de secours inachevée (environ 6 mètres, enjeu pour un élève en fauteuil), 13 chaises manquantes, écrans numériques, rapport d'expertise. Richardets élémentaire : barrière côté rue cassée, rideaux thermiques. Yvris maternelle : bouton d'ouverture du portail à rehausser, placards à sécuriser, barre pour le parc à vélos, chaleur au réfectoire. Paul-Serelle (synthèse des parents du 29 mai) : portes coupe-feu trop lourdes, détecteurs de fumée, extincteurs non fixés, alarme PPMS, interphone et grille de la maternelle hors service, fenêtres et stores défectueux, fuites, revêtement de cour.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À dire (non projeté) : chaque recrutement ouvre 8 places en maternelle et 12 en élémentaire ; les places libérées sont réattribuées chaque semaine à partir des listes d'attente ; les recrutements continuent, surtout pour les postes du mercredi.</a:t>
            </a:r>
          </a:p>
          <a:p/>
          <a:p>
            <a:r>
              <a:t>Mercredis — Sources : état des lieux des mercredis au 2 octobre 2026 et note explicative (service Enfance-Loisirs). 2025 : mercredi 17 septembre 2025. 2026 : mercredis 7 et 14 octobre 2026, état au 1er octobre. Le service ne fournit pas de chiffre d’octobre 2025. Au 16 septembre 2026, à date comparable : 1 744 places (+8 %) et 158 animateurs. Pendant la période de réservation (2 au 9 septembre), les listes d’attente sont validées chaque jour ; ensuite deux fois par jour le jeudi et le vendredi. La Varenne, mercredi 7 octobre : 9 enfants en liste d’attente en maternelle, aucun en élémentaire.</a:t>
            </a:r>
          </a:p>
          <a:p/>
          <a:p>
            <a:r>
              <a:t>Pause méridienne — Source : synthèse recrutement et effectifs de la pause méridienne, septembre 2026 (version « annule et remplace »). Les colonnes « encadrement » ont été retirées : le tableau des taux du service a été calculé sur d’anciens effectifs (2 008 et 3 277 enfants) alors que les effectifs corrigés sont 2 201 et 3 525. Avec les effectifs corrigés : maternelle 1 pour 10,5 en 2025 et 1 pour 9 en 2026 ; élémentaire 1 pour 28 en 2025 et 1 pour 27 en 2026. Faire confirmer par le service Enfance-Loisirs avant de citer un taux. L’effectif d’animateurs en élémentaire (129,6) est exprimé en équivalents temps plein.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32.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5.xml"/><Relationship Id="rId4" Type="http://schemas.openxmlformats.org/officeDocument/2006/relationships/image" Target="../media/image33.png"/><Relationship Id="rId5"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6.xml"/><Relationship Id="rId4" Type="http://schemas.openxmlformats.org/officeDocument/2006/relationships/image" Target="../media/image3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8.xml"/><Relationship Id="rId4" Type="http://schemas.openxmlformats.org/officeDocument/2006/relationships/image" Target="../media/image3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9.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0.xml"/><Relationship Id="rId4" Type="http://schemas.openxmlformats.org/officeDocument/2006/relationships/image" Target="../media/image38.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3.xml"/><Relationship Id="rId4" Type="http://schemas.openxmlformats.org/officeDocument/2006/relationships/image" Target="../media/image39.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F5B"/>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rcRect t="5711" b="5711"/>
          <a:stretch/>
        </p:blipFill>
        <p:spPr>
          <a:xfrm>
            <a:off x="0" y="0"/>
            <a:ext cx="18288001" cy="10287000"/>
          </a:xfrm>
          <a:prstGeom prst="rect">
            <a:avLst/>
          </a:prstGeom>
        </p:spPr>
      </p:pic>
      <p:sp>
        <p:nvSpPr>
          <p:cNvPr id="3" name="Shape 0"/>
          <p:cNvSpPr/>
          <p:nvPr/>
        </p:nvSpPr>
        <p:spPr>
          <a:xfrm>
            <a:off x="0" y="0"/>
            <a:ext cx="18288001" cy="10287000"/>
          </a:xfrm>
          <a:prstGeom prst="rect">
            <a:avLst/>
          </a:prstGeom>
          <a:gradFill rotWithShape="1">
            <a:gsLst>
              <a:gs pos="0">
                <a:srgbClr val="0E1F5B">
                  <a:alpha val="92000"/>
                </a:srgbClr>
              </a:gs>
              <a:gs pos="55000">
                <a:srgbClr val="0E1F5B">
                  <a:alpha val="78000"/>
                </a:srgbClr>
              </a:gs>
              <a:gs pos="100000">
                <a:srgbClr val="0E1F5B">
                  <a:alpha val="55000"/>
                </a:srgbClr>
              </a:gs>
            </a:gsLst>
            <a:lin ang="2700000" scaled="0"/>
          </a:gradFill>
          <a:ln/>
        </p:spPr>
      </p:sp>
      <p:pic>
        <p:nvPicPr>
          <p:cNvPr id="6"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3144501" y="3012837"/>
            <a:ext cx="4191000" cy="4261327"/>
          </a:xfrm>
          <a:prstGeom prst="rect">
            <a:avLst/>
          </a:prstGeom>
        </p:spPr>
      </p:pic>
      <p:sp>
        <p:nvSpPr>
          <p:cNvPr id="7" name="Text 3"/>
          <p:cNvSpPr/>
          <p:nvPr/>
        </p:nvSpPr>
        <p:spPr>
          <a:xfrm>
            <a:off x="952500" y="3144838"/>
            <a:ext cx="18021301" cy="414020"/>
          </a:xfrm>
          <a:prstGeom prst="rect">
            <a:avLst/>
          </a:prstGeom>
          <a:noFill/>
          <a:ln/>
        </p:spPr>
        <p:txBody>
          <a:bodyPr wrap="square" lIns="25400" tIns="25400" rIns="25400" bIns="25400" rtlCol="0" anchor="t">
            <a:normAutofit lnSpcReduction="10000"/>
          </a:bodyPr>
          <a:lstStyle/>
          <a:p>
            <a:pPr marL="0" indent="0" algn="l">
              <a:buNone/>
            </a:pPr>
            <a:r>
              <a:rPr lang="en-US" sz="2550" b="1" kern="0" spc="225" dirty="0">
                <a:solidFill>
                  <a:srgbClr val="72C493"/>
                </a:solidFill>
                <a:latin typeface="Arial" pitchFamily="34" charset="0"/>
                <a:ea typeface="Arial" pitchFamily="34" charset="-122"/>
                <a:cs typeface="Arial" pitchFamily="34" charset="-120"/>
              </a:rPr>
              <a:t>RÉUNION PUBLIQUE —</a:t>
            </a:r>
            <a:endParaRPr lang="en-US" sz="2550" dirty="0"/>
          </a:p>
        </p:txBody>
      </p:sp>
      <p:sp>
        <p:nvSpPr>
          <p:cNvPr id="8" name="Text 4"/>
          <p:cNvSpPr/>
          <p:nvPr/>
        </p:nvSpPr>
        <p:spPr>
          <a:xfrm>
            <a:off x="952500" y="3787458"/>
            <a:ext cx="16874491" cy="2000885"/>
          </a:xfrm>
          <a:prstGeom prst="rect">
            <a:avLst/>
          </a:prstGeom>
          <a:noFill/>
          <a:ln/>
          <a:effectLst>
            <a:outerShdw blurRad="101600" dist="80822" dir="2700000" algn="bl" rotWithShape="0">
              <a:srgbClr val="72C493">
                <a:alpha val="100000"/>
              </a:srgbClr>
            </a:outerShdw>
          </a:effectLst>
        </p:spPr>
        <p:txBody>
          <a:bodyPr wrap="square" lIns="25400" tIns="25400" rIns="25400" bIns="25400" rtlCol="0" anchor="t">
            <a:normAutofit/>
          </a:bodyPr>
          <a:lstStyle/>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QUARTIER DES</a:t>
            </a:r>
          </a:p>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RICHARDETS</a:t>
            </a:r>
          </a:p>
        </p:txBody>
      </p:sp>
      <p:sp>
        <p:nvSpPr>
          <p:cNvPr id="9" name="Text 5"/>
          <p:cNvSpPr/>
          <p:nvPr/>
        </p:nvSpPr>
        <p:spPr>
          <a:xfrm>
            <a:off x="952500" y="6283643"/>
            <a:ext cx="18021301" cy="47498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AF5EC"/>
                </a:solidFill>
                <a:latin typeface="Arial" pitchFamily="34" charset="0"/>
                <a:ea typeface="Arial" pitchFamily="34" charset="-122"/>
                <a:cs typeface="Arial" pitchFamily="34" charset="-120"/>
              </a:rPr>
              <a:t>Mercredi 14 octobre 2026 — 19 h — Victoria Park</a:t>
            </a:r>
            <a:endParaRPr lang="en-US" sz="3000" dirty="0"/>
          </a:p>
        </p:txBody>
      </p:sp>
      <p:sp>
        <p:nvSpPr>
          <p:cNvPr id="10" name="TextBox 9"/>
          <p:cNvSpPr txBox="1"/>
          <p:nvPr/>
        </p:nvSpPr>
        <p:spPr>
          <a:xfrm>
            <a:off x="14264640" y="9829800"/>
            <a:ext cx="3749039" cy="274320"/>
          </a:xfrm>
          <a:prstGeom prst="rect">
            <a:avLst/>
          </a:prstGeom>
          <a:noFill/>
        </p:spPr>
        <p:txBody>
          <a:bodyPr wrap="square" anchor="t" lIns="0" rIns="0" tIns="0" bIns="0">
            <a:spAutoFit/>
          </a:bodyPr>
          <a:lstStyle/>
          <a:p>
            <a:pPr algn="r"/>
            <a:r>
              <a:rPr sz="1200" b="0">
                <a:solidFill>
                  <a:srgbClr val="C9CCDA"/>
                </a:solidFill>
                <a:latin typeface="Arial"/>
              </a:rPr>
              <a:t>© IGN – BD ORTHO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857250"/>
            <a:ext cx="18021301" cy="363220"/>
          </a:xfrm>
          <a:prstGeom prst="rect">
            <a:avLst/>
          </a:prstGeom>
          <a:noFill/>
          <a:ln/>
        </p:spPr>
        <p:txBody>
          <a:bodyPr wrap="square" lIns="25400" tIns="25400" rIns="25400" bIns="25400" rtlCol="0" anchor="t">
            <a:normAutofit lnSpcReduction="10000"/>
          </a:bodyPr>
          <a:lstStyle/>
          <a:p>
            <a:pPr marL="0" indent="0" algn="l">
              <a:buNone/>
            </a:pPr>
            <a:r>
              <a:rPr lang="en-US" sz="2250" b="1" kern="0" spc="225" dirty="0">
                <a:solidFill>
                  <a:srgbClr val="72C493"/>
                </a:solidFill>
                <a:latin typeface="Arial" pitchFamily="34" charset="0"/>
                <a:ea typeface="Arial" pitchFamily="34" charset="-122"/>
                <a:cs typeface="Arial" pitchFamily="34" charset="-120"/>
              </a:rPr>
              <a:t>SOMMAIRE</a:t>
            </a:r>
            <a:endParaRPr lang="en-US" sz="2250" dirty="0"/>
          </a:p>
        </p:txBody>
      </p:sp>
      <p:sp>
        <p:nvSpPr>
          <p:cNvPr id="4" name="Numero 1"/>
          <p:cNvSpPr txBox="1"/>
          <p:nvPr/>
        </p:nvSpPr>
        <p:spPr>
          <a:xfrm>
            <a:off x="952500" y="262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01</a:t>
            </a:r>
          </a:p>
        </p:txBody>
      </p:sp>
      <p:sp>
        <p:nvSpPr>
          <p:cNvPr id="5" name="Partie 1"/>
          <p:cNvSpPr txBox="1"/>
          <p:nvPr/>
        </p:nvSpPr>
        <p:spPr>
          <a:xfrm>
            <a:off x="1866900" y="260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L'école des Richardets et le périscolaire</a:t>
            </a:r>
          </a:p>
        </p:txBody>
      </p:sp>
      <p:sp>
        <p:nvSpPr>
          <p:cNvPr id="6" name="Separateur 1"/>
          <p:cNvSpPr/>
          <p:nvPr/>
        </p:nvSpPr>
        <p:spPr>
          <a:xfrm>
            <a:off x="952500" y="3230000"/>
            <a:ext cx="14287501" cy="10160"/>
          </a:xfrm>
          <a:prstGeom prst="rect">
            <a:avLst/>
          </a:prstGeom>
          <a:solidFill>
            <a:srgbClr val="0E1F5B">
              <a:alpha val="12000"/>
            </a:srgbClr>
          </a:solidFill>
          <a:ln/>
        </p:spPr>
      </p:sp>
      <p:sp>
        <p:nvSpPr>
          <p:cNvPr id="7" name="Numero 2"/>
          <p:cNvSpPr txBox="1"/>
          <p:nvPr/>
        </p:nvSpPr>
        <p:spPr>
          <a:xfrm>
            <a:off x="952500" y="341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02</a:t>
            </a:r>
          </a:p>
        </p:txBody>
      </p:sp>
      <p:sp>
        <p:nvSpPr>
          <p:cNvPr id="8" name="Partie 2"/>
          <p:cNvSpPr txBox="1"/>
          <p:nvPr/>
        </p:nvSpPr>
        <p:spPr>
          <a:xfrm>
            <a:off x="1866900" y="339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Circulation et sécurité</a:t>
            </a:r>
          </a:p>
        </p:txBody>
      </p:sp>
      <p:sp>
        <p:nvSpPr>
          <p:cNvPr id="9" name="Separateur 2"/>
          <p:cNvSpPr/>
          <p:nvPr/>
        </p:nvSpPr>
        <p:spPr>
          <a:xfrm>
            <a:off x="952500" y="4020000"/>
            <a:ext cx="14287501" cy="10160"/>
          </a:xfrm>
          <a:prstGeom prst="rect">
            <a:avLst/>
          </a:prstGeom>
          <a:solidFill>
            <a:srgbClr val="0E1F5B">
              <a:alpha val="12000"/>
            </a:srgbClr>
          </a:solidFill>
          <a:ln/>
        </p:spPr>
      </p:sp>
      <p:sp>
        <p:nvSpPr>
          <p:cNvPr id="10" name="Numero 3"/>
          <p:cNvSpPr txBox="1"/>
          <p:nvPr/>
        </p:nvSpPr>
        <p:spPr>
          <a:xfrm>
            <a:off x="952500" y="420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03</a:t>
            </a:r>
          </a:p>
        </p:txBody>
      </p:sp>
      <p:sp>
        <p:nvSpPr>
          <p:cNvPr id="11" name="Partie 3"/>
          <p:cNvSpPr txBox="1"/>
          <p:nvPr/>
        </p:nvSpPr>
        <p:spPr>
          <a:xfrm>
            <a:off x="1866900" y="418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Services publics de proximité</a:t>
            </a:r>
          </a:p>
        </p:txBody>
      </p:sp>
      <p:sp>
        <p:nvSpPr>
          <p:cNvPr id="12" name="Separateur 3"/>
          <p:cNvSpPr/>
          <p:nvPr/>
        </p:nvSpPr>
        <p:spPr>
          <a:xfrm>
            <a:off x="952500" y="4810000"/>
            <a:ext cx="14287501" cy="10160"/>
          </a:xfrm>
          <a:prstGeom prst="rect">
            <a:avLst/>
          </a:prstGeom>
          <a:solidFill>
            <a:srgbClr val="0E1F5B">
              <a:alpha val="12000"/>
            </a:srgbClr>
          </a:solidFill>
          <a:ln/>
        </p:spPr>
      </p:sp>
      <p:sp>
        <p:nvSpPr>
          <p:cNvPr id="13" name="Numero 4"/>
          <p:cNvSpPr txBox="1"/>
          <p:nvPr/>
        </p:nvSpPr>
        <p:spPr>
          <a:xfrm>
            <a:off x="952500" y="499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04</a:t>
            </a:r>
          </a:p>
        </p:txBody>
      </p:sp>
      <p:sp>
        <p:nvSpPr>
          <p:cNvPr id="14" name="Partie 4"/>
          <p:cNvSpPr txBox="1"/>
          <p:nvPr/>
        </p:nvSpPr>
        <p:spPr>
          <a:xfrm>
            <a:off x="1866900" y="497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Équipements et cadre de vie</a:t>
            </a:r>
          </a:p>
        </p:txBody>
      </p:sp>
      <p:sp>
        <p:nvSpPr>
          <p:cNvPr id="15" name="Separateur 4"/>
          <p:cNvSpPr/>
          <p:nvPr/>
        </p:nvSpPr>
        <p:spPr>
          <a:xfrm>
            <a:off x="952500" y="5600000"/>
            <a:ext cx="14287501" cy="10160"/>
          </a:xfrm>
          <a:prstGeom prst="rect">
            <a:avLst/>
          </a:prstGeom>
          <a:solidFill>
            <a:srgbClr val="0E1F5B">
              <a:alpha val="12000"/>
            </a:srgbClr>
          </a:solidFill>
          <a:ln/>
        </p:spPr>
      </p:sp>
      <p:sp>
        <p:nvSpPr>
          <p:cNvPr id="16" name="Numero 5"/>
          <p:cNvSpPr txBox="1"/>
          <p:nvPr/>
        </p:nvSpPr>
        <p:spPr>
          <a:xfrm>
            <a:off x="952500" y="578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05</a:t>
            </a:r>
          </a:p>
        </p:txBody>
      </p:sp>
      <p:sp>
        <p:nvSpPr>
          <p:cNvPr id="17" name="Partie 5"/>
          <p:cNvSpPr txBox="1"/>
          <p:nvPr/>
        </p:nvSpPr>
        <p:spPr>
          <a:xfrm>
            <a:off x="1866900" y="576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Santé et accueil des seniors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1495425"/>
            <a:ext cx="1047750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SERVICES PUBLICS DE PROXIMITÉ · LES BUS</a:t>
            </a:r>
            <a:endParaRPr lang="en-US" sz="2100" dirty="0"/>
          </a:p>
        </p:txBody>
      </p:sp>
      <p:sp>
        <p:nvSpPr>
          <p:cNvPr id="4" name="Text 1"/>
          <p:cNvSpPr/>
          <p:nvPr/>
        </p:nvSpPr>
        <p:spPr>
          <a:xfrm>
            <a:off x="952500" y="1981835"/>
            <a:ext cx="10477501" cy="638175"/>
          </a:xfrm>
          <a:prstGeom prst="rect">
            <a:avLst/>
          </a:prstGeom>
          <a:noFill/>
          <a:ln/>
          <a:effectLst>
            <a:outerShdw blurRad="101600" dist="40411" dir="2700000" algn="bl" rotWithShape="0">
              <a:srgbClr val="72C493">
                <a:alpha val="100000"/>
              </a:srgbClr>
            </a:outerShdw>
          </a:effectLst>
        </p:spPr>
        <p:txBody>
          <a:bodyPr wrap="square" lIns="25400" tIns="25400" rIns="25400" bIns="25400" rtlCol="0" anchor="t">
            <a:normAutofit/>
          </a:bodyPr>
          <a:lstStyle/>
          <a:p>
            <a:pPr marL="0" indent="0" algn="l">
              <a:lnSpc>
                <a:spcPct val="74763"/>
              </a:lnSpc>
              <a:buNone/>
            </a:pPr>
            <a:r>
              <a:rPr lang="en-US" sz="4500" b="1" kern="0" spc="-150" dirty="0">
                <a:solidFill>
                  <a:srgbClr val="0E1F5B"/>
                </a:solidFill>
                <a:latin typeface="Arial" pitchFamily="34" charset="0"/>
                <a:ea typeface="Arial" pitchFamily="34" charset="-122"/>
                <a:cs typeface="Arial" pitchFamily="34" charset="-120"/>
              </a:rPr>
              <a:t>Le courrier du Maire à Keolis</a:t>
            </a:r>
            <a:endParaRPr lang="en-US" sz="4500" dirty="0"/>
          </a:p>
        </p:txBody>
      </p:sp>
      <p:sp>
        <p:nvSpPr>
          <p:cNvPr id="5" name="Text 2"/>
          <p:cNvSpPr/>
          <p:nvPr/>
        </p:nvSpPr>
        <p:spPr>
          <a:xfrm>
            <a:off x="952500" y="2734310"/>
            <a:ext cx="10477501" cy="41402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0E1F5B"/>
                </a:solidFill>
                <a:latin typeface="Arial" pitchFamily="34" charset="0"/>
                <a:ea typeface="Arial" pitchFamily="34" charset="-122"/>
                <a:cs typeface="Arial" pitchFamily="34" charset="-120"/>
              </a:rPr>
              <a:t>20 septembre 2026</a:t>
            </a:r>
            <a:endParaRPr lang="en-US" sz="2550" dirty="0"/>
          </a:p>
        </p:txBody>
      </p:sp>
      <p:sp>
        <p:nvSpPr>
          <p:cNvPr id="6" name="Shape 3"/>
          <p:cNvSpPr/>
          <p:nvPr/>
        </p:nvSpPr>
        <p:spPr>
          <a:xfrm>
            <a:off x="952500" y="3376930"/>
            <a:ext cx="3200400" cy="57150"/>
          </a:xfrm>
          <a:prstGeom prst="rect">
            <a:avLst/>
          </a:prstGeom>
          <a:solidFill>
            <a:srgbClr val="72C493"/>
          </a:solidFill>
          <a:ln/>
        </p:spPr>
      </p:sp>
      <p:sp>
        <p:nvSpPr>
          <p:cNvPr id="7" name="Shape 4"/>
          <p:cNvSpPr/>
          <p:nvPr/>
        </p:nvSpPr>
        <p:spPr>
          <a:xfrm>
            <a:off x="952500" y="3815080"/>
            <a:ext cx="533400" cy="533400"/>
          </a:xfrm>
          <a:prstGeom prst="rect">
            <a:avLst/>
          </a:prstGeom>
          <a:solidFill>
            <a:srgbClr val="72C493"/>
          </a:solidFill>
          <a:ln/>
        </p:spPr>
      </p:sp>
      <p:sp>
        <p:nvSpPr>
          <p:cNvPr id="8" name="Text 5"/>
          <p:cNvSpPr/>
          <p:nvPr/>
        </p:nvSpPr>
        <p:spPr>
          <a:xfrm>
            <a:off x="914400" y="381508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01</a:t>
            </a:r>
            <a:endParaRPr lang="en-US" sz="1950" dirty="0"/>
          </a:p>
        </p:txBody>
      </p:sp>
      <p:sp>
        <p:nvSpPr>
          <p:cNvPr id="9" name="Text 6"/>
          <p:cNvSpPr/>
          <p:nvPr/>
        </p:nvSpPr>
        <p:spPr>
          <a:xfrm>
            <a:off x="1714500" y="381508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Retards, courses supprimées, fréquences non respectées, information défaillante</a:t>
            </a:r>
            <a:endParaRPr lang="en-US" sz="2400" dirty="0"/>
          </a:p>
        </p:txBody>
      </p:sp>
      <p:sp>
        <p:nvSpPr>
          <p:cNvPr id="10" name="Shape 7"/>
          <p:cNvSpPr/>
          <p:nvPr/>
        </p:nvSpPr>
        <p:spPr>
          <a:xfrm>
            <a:off x="952500" y="4950460"/>
            <a:ext cx="533400" cy="533400"/>
          </a:xfrm>
          <a:prstGeom prst="rect">
            <a:avLst/>
          </a:prstGeom>
          <a:solidFill>
            <a:srgbClr val="72C493"/>
          </a:solidFill>
          <a:ln/>
        </p:spPr>
      </p:sp>
      <p:sp>
        <p:nvSpPr>
          <p:cNvPr id="11" name="Text 8"/>
          <p:cNvSpPr/>
          <p:nvPr/>
        </p:nvSpPr>
        <p:spPr>
          <a:xfrm>
            <a:off x="914400" y="49504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02</a:t>
            </a:r>
            <a:endParaRPr lang="en-US" sz="1950" dirty="0"/>
          </a:p>
        </p:txBody>
      </p:sp>
      <p:sp>
        <p:nvSpPr>
          <p:cNvPr id="12" name="Text 9"/>
          <p:cNvSpPr/>
          <p:nvPr/>
        </p:nvSpPr>
        <p:spPr>
          <a:xfrm>
            <a:off x="1714500" y="4950460"/>
            <a:ext cx="8948659" cy="43434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de sanctions contractuelles contre l'opérateur</a:t>
            </a:r>
            <a:endParaRPr lang="en-US" sz="2400" dirty="0"/>
          </a:p>
        </p:txBody>
      </p:sp>
      <p:sp>
        <p:nvSpPr>
          <p:cNvPr id="13" name="Shape 10"/>
          <p:cNvSpPr/>
          <p:nvPr/>
        </p:nvSpPr>
        <p:spPr>
          <a:xfrm>
            <a:off x="952500" y="5826760"/>
            <a:ext cx="533400" cy="533400"/>
          </a:xfrm>
          <a:prstGeom prst="rect">
            <a:avLst/>
          </a:prstGeom>
          <a:solidFill>
            <a:srgbClr val="72C493"/>
          </a:solidFill>
          <a:ln/>
        </p:spPr>
      </p:sp>
      <p:sp>
        <p:nvSpPr>
          <p:cNvPr id="14" name="Text 11"/>
          <p:cNvSpPr/>
          <p:nvPr/>
        </p:nvSpPr>
        <p:spPr>
          <a:xfrm>
            <a:off x="914400" y="58267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03</a:t>
            </a:r>
            <a:endParaRPr lang="en-US" sz="1950" dirty="0"/>
          </a:p>
        </p:txBody>
      </p:sp>
      <p:sp>
        <p:nvSpPr>
          <p:cNvPr id="15" name="Text 12"/>
          <p:cNvSpPr/>
          <p:nvPr/>
        </p:nvSpPr>
        <p:spPr>
          <a:xfrm>
            <a:off x="1714500" y="582676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d'une réunion en mairie et d'un plan d'actions immédiat</a:t>
            </a:r>
            <a:endParaRPr lang="en-US" sz="2400" dirty="0"/>
          </a:p>
        </p:txBody>
      </p:sp>
      <p:sp>
        <p:nvSpPr>
          <p:cNvPr id="16" name="Shape 13"/>
          <p:cNvSpPr/>
          <p:nvPr/>
        </p:nvSpPr>
        <p:spPr>
          <a:xfrm>
            <a:off x="11839576" y="1771650"/>
            <a:ext cx="5086350" cy="7200901"/>
          </a:xfrm>
          <a:prstGeom prst="rect">
            <a:avLst/>
          </a:prstGeom>
          <a:solidFill>
            <a:srgbClr val="D9D4CA"/>
          </a:solidFill>
          <a:ln/>
        </p:spPr>
      </p:sp>
      <p:pic>
        <p:nvPicPr>
          <p:cNvPr id="17" name="Image 1" descr="preencoded.png"/>
          <p:cNvPicPr>
            <a:picLocks noChangeAspect="1"/>
          </p:cNvPicPr>
          <p:nvPr/>
        </p:nvPicPr>
        <p:blipFill>
          <a:blip r:embed="rId4" cstate="email">
            <a:extLst>
              <a:ext uri="{28A0092B-C50C-407E-A947-70E740481C1C}">
                <a14:useLocalDpi xmlns:a14="http://schemas.microsoft.com/office/drawing/2010/main"/>
              </a:ext>
            </a:extLst>
          </a:blip>
          <a:srcRect/>
          <a:stretch/>
        </p:blipFill>
        <p:spPr>
          <a:xfrm>
            <a:off x="11839576" y="1771650"/>
            <a:ext cx="5086350" cy="7200901"/>
          </a:xfrm>
          <a:prstGeom prst="rect">
            <a:avLst/>
          </a:prstGeom>
        </p:spPr>
      </p:pic>
      <p:sp>
        <p:nvSpPr>
          <p:cNvPr id="18" name="Shape 14"/>
          <p:cNvSpPr/>
          <p:nvPr/>
        </p:nvSpPr>
        <p:spPr>
          <a:xfrm>
            <a:off x="11839576" y="9124951"/>
            <a:ext cx="5086350" cy="495300"/>
          </a:xfrm>
          <a:prstGeom prst="rect">
            <a:avLst/>
          </a:prstGeom>
          <a:solidFill>
            <a:srgbClr val="72C493"/>
          </a:solidFill>
          <a:ln/>
        </p:spPr>
      </p:sp>
      <p:sp>
        <p:nvSpPr>
          <p:cNvPr id="19" name="Text 15"/>
          <p:cNvSpPr/>
          <p:nvPr/>
        </p:nvSpPr>
        <p:spPr>
          <a:xfrm>
            <a:off x="11915681" y="9201151"/>
            <a:ext cx="4934141" cy="381000"/>
          </a:xfrm>
          <a:prstGeom prst="rect">
            <a:avLst/>
          </a:prstGeom>
          <a:noFill/>
          <a:ln/>
        </p:spPr>
        <p:txBody>
          <a:bodyPr wrap="square" lIns="25400" tIns="25400" rIns="25400" bIns="25400" rtlCol="0" anchor="ctr">
            <a:normAutofit/>
          </a:bodyPr>
          <a:lstStyle/>
          <a:p>
            <a:pPr marL="0" indent="0" algn="ctr">
              <a:buNone/>
            </a:pPr>
            <a:r>
              <a:rPr lang="en-US" sz="1800" b="1" kern="0" spc="75" dirty="0">
                <a:solidFill>
                  <a:srgbClr val="0E1F5B"/>
                </a:solidFill>
                <a:latin typeface="Arial" pitchFamily="34" charset="0"/>
                <a:ea typeface="Arial" pitchFamily="34" charset="-122"/>
                <a:cs typeface="Arial" pitchFamily="34" charset="-120"/>
              </a:rPr>
              <a:t>LETTRE À KEOLIS · 20 SEPT. 2026</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3">
    <p:bg>
      <p:bgPr>
        <a:solidFill>
          <a:srgbClr val="72C49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4238625"/>
            <a:ext cx="18021301" cy="1847850"/>
          </a:xfrm>
          <a:prstGeom prst="rect">
            <a:avLst/>
          </a:prstGeom>
          <a:noFill/>
          <a:ln/>
          <a:effectLst>
            <a:outerShdw blurRad="101600" dist="107763" dir="2700000" algn="bl" rotWithShape="0">
              <a:srgbClr val="FAF5EC">
                <a:alpha val="100000"/>
              </a:srgbClr>
            </a:outerShdw>
          </a:effectLst>
        </p:spPr>
        <p:txBody>
          <a:bodyPr wrap="square" lIns="25400" tIns="25400" rIns="25400" bIns="25400" rtlCol="0" anchor="t">
            <a:normAutofit/>
          </a:bodyPr>
          <a:lstStyle/>
          <a:p>
            <a:pPr marL="0" indent="0" algn="l">
              <a:lnSpc>
                <a:spcPct val="67472"/>
              </a:lnSpc>
              <a:buNone/>
            </a:pPr>
            <a:r>
              <a:rPr lang="en-US" sz="15000" b="1" kern="0" spc="-450" dirty="0">
                <a:solidFill>
                  <a:srgbClr val="0E1F5B"/>
                </a:solidFill>
                <a:latin typeface="Arial" pitchFamily="34" charset="0"/>
                <a:ea typeface="Arial" pitchFamily="34" charset="-122"/>
                <a:cs typeface="Arial" pitchFamily="34" charset="-120"/>
              </a:rPr>
              <a:t>Vos questions</a:t>
            </a:r>
            <a:endParaRPr lang="en-US" sz="15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4">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déménagement organisé par la Ville</a:t>
            </a:r>
          </a:p>
        </p:txBody>
      </p:sp>
      <p:cxnSp>
        <p:nvCxnSpPr>
          <p:cNvPr id="5" name="Connector 4"/>
          <p:cNvCxnSpPr/>
          <p:nvPr/>
        </p:nvCxnSpPr>
        <p:spPr>
          <a:xfrm>
            <a:off x="3678936" y="3749039"/>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335889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7" name="TextBox 6"/>
          <p:cNvSpPr txBox="1"/>
          <p:nvPr/>
        </p:nvSpPr>
        <p:spPr>
          <a:xfrm>
            <a:off x="117957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1er juillet 2026</a:t>
            </a:r>
          </a:p>
        </p:txBody>
      </p:sp>
      <p:sp>
        <p:nvSpPr>
          <p:cNvPr id="8" name="TextBox 7"/>
          <p:cNvSpPr txBox="1"/>
          <p:nvPr/>
        </p:nvSpPr>
        <p:spPr>
          <a:xfrm>
            <a:off x="117957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de restauration</a:t>
            </a:r>
          </a:p>
        </p:txBody>
      </p:sp>
      <p:sp>
        <p:nvSpPr>
          <p:cNvPr id="9" name="Oval 8"/>
          <p:cNvSpPr/>
          <p:nvPr/>
        </p:nvSpPr>
        <p:spPr>
          <a:xfrm>
            <a:off x="881481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0" name="TextBox 9"/>
          <p:cNvSpPr txBox="1"/>
          <p:nvPr/>
        </p:nvSpPr>
        <p:spPr>
          <a:xfrm>
            <a:off x="6635495"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6 juillet 2026</a:t>
            </a:r>
          </a:p>
        </p:txBody>
      </p:sp>
      <p:sp>
        <p:nvSpPr>
          <p:cNvPr id="11" name="TextBox 10"/>
          <p:cNvSpPr txBox="1"/>
          <p:nvPr/>
        </p:nvSpPr>
        <p:spPr>
          <a:xfrm>
            <a:off x="6635495"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scolaire, après la fin de l'année</a:t>
            </a:r>
          </a:p>
        </p:txBody>
      </p:sp>
      <p:sp>
        <p:nvSpPr>
          <p:cNvPr id="12" name="Oval 11"/>
          <p:cNvSpPr/>
          <p:nvPr/>
        </p:nvSpPr>
        <p:spPr>
          <a:xfrm>
            <a:off x="1427073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3" name="TextBox 12"/>
          <p:cNvSpPr txBox="1"/>
          <p:nvPr/>
        </p:nvSpPr>
        <p:spPr>
          <a:xfrm>
            <a:off x="1209141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20 juillet 2026</a:t>
            </a:r>
          </a:p>
        </p:txBody>
      </p:sp>
      <p:sp>
        <p:nvSpPr>
          <p:cNvPr id="14" name="TextBox 13"/>
          <p:cNvSpPr txBox="1"/>
          <p:nvPr/>
        </p:nvSpPr>
        <p:spPr>
          <a:xfrm>
            <a:off x="1209141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Installation à l'école des Gobelins</a:t>
            </a:r>
          </a:p>
        </p:txBody>
      </p:sp>
      <p:sp>
        <p:nvSpPr>
          <p:cNvPr id="15" name="Rectangle 14"/>
          <p:cNvSpPr/>
          <p:nvPr/>
        </p:nvSpPr>
        <p:spPr>
          <a:xfrm>
            <a:off x="950976" y="7726679"/>
            <a:ext cx="16367759" cy="1417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7726679"/>
            <a:ext cx="15544800" cy="1417320"/>
          </a:xfrm>
          <a:prstGeom prst="rect">
            <a:avLst/>
          </a:prstGeom>
          <a:noFill/>
        </p:spPr>
        <p:txBody>
          <a:bodyPr wrap="square" anchor="ctr" lIns="0" rIns="0" tIns="0" bIns="0">
            <a:spAutoFit/>
          </a:bodyPr>
          <a:lstStyle/>
          <a:p>
            <a:pPr algn="l"/>
            <a:r>
              <a:rPr sz="2600" b="1">
                <a:solidFill>
                  <a:srgbClr val="0E1F5B"/>
                </a:solidFill>
                <a:latin typeface="Arial"/>
              </a:rPr>
              <a:t>Un déménagement entièrement pris en charge par un prestataire de la Ville : mise en carton, transport et réinstallation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chantier de l'école</a:t>
            </a:r>
          </a:p>
        </p:txBody>
      </p:sp>
      <p:sp>
        <p:nvSpPr>
          <p:cNvPr id="5" name="Rectangle 4"/>
          <p:cNvSpPr/>
          <p:nvPr/>
        </p:nvSpPr>
        <p:spPr>
          <a:xfrm>
            <a:off x="950976" y="2331720"/>
            <a:ext cx="9692640" cy="3749039"/>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06040"/>
            <a:ext cx="8961120" cy="457200"/>
          </a:xfrm>
          <a:prstGeom prst="rect">
            <a:avLst/>
          </a:prstGeom>
          <a:noFill/>
        </p:spPr>
        <p:txBody>
          <a:bodyPr wrap="square" anchor="t" lIns="0" rIns="0" tIns="0" bIns="0">
            <a:spAutoFit/>
          </a:bodyPr>
          <a:lstStyle/>
          <a:p>
            <a:pPr algn="l"/>
            <a:r>
              <a:rPr sz="2200" b="1" spc="150">
                <a:solidFill>
                  <a:srgbClr val="72C493"/>
                </a:solidFill>
                <a:latin typeface="Arial"/>
              </a:rPr>
              <a:t>RÉOUVERTURE PRÉVUE EN</a:t>
            </a:r>
          </a:p>
        </p:txBody>
      </p:sp>
      <p:sp>
        <p:nvSpPr>
          <p:cNvPr id="7" name="TextBox 6"/>
          <p:cNvSpPr txBox="1"/>
          <p:nvPr/>
        </p:nvSpPr>
        <p:spPr>
          <a:xfrm>
            <a:off x="1371600" y="3063240"/>
            <a:ext cx="8961120" cy="1463040"/>
          </a:xfrm>
          <a:prstGeom prst="rect">
            <a:avLst/>
          </a:prstGeom>
          <a:noFill/>
        </p:spPr>
        <p:txBody>
          <a:bodyPr wrap="square" anchor="t" lIns="0" rIns="0" tIns="0" bIns="0">
            <a:spAutoFit/>
          </a:bodyPr>
          <a:lstStyle/>
          <a:p>
            <a:pPr algn="l"/>
            <a:r>
              <a:rPr sz="8000" b="1">
                <a:solidFill>
                  <a:srgbClr val="FFFFFF"/>
                </a:solidFill>
                <a:latin typeface="Arial"/>
              </a:rPr>
              <a:t>septembre 2028</a:t>
            </a:r>
          </a:p>
        </p:txBody>
      </p:sp>
      <p:sp>
        <p:nvSpPr>
          <p:cNvPr id="8" name="TextBox 7"/>
          <p:cNvSpPr txBox="1"/>
          <p:nvPr/>
        </p:nvSpPr>
        <p:spPr>
          <a:xfrm>
            <a:off x="1371600" y="4572000"/>
            <a:ext cx="8961120" cy="1280160"/>
          </a:xfrm>
          <a:prstGeom prst="rect">
            <a:avLst/>
          </a:prstGeom>
          <a:noFill/>
        </p:spPr>
        <p:txBody>
          <a:bodyPr wrap="square" anchor="t" lIns="0" rIns="0" tIns="0" bIns="0">
            <a:spAutoFit/>
          </a:bodyPr>
          <a:lstStyle/>
          <a:p>
            <a:pPr algn="l"/>
            <a:r>
              <a:rPr sz="2400" b="1">
                <a:solidFill>
                  <a:srgbClr val="FAF5EC"/>
                </a:solidFill>
                <a:latin typeface="Arial"/>
              </a:rPr>
              <a:t>Les élèves sont accueillis à l'école des Gobelins pendant toute la durée du chantier</a:t>
            </a:r>
          </a:p>
        </p:txBody>
      </p:sp>
      <p:sp>
        <p:nvSpPr>
          <p:cNvPr id="9" name="Rectangle 8"/>
          <p:cNvSpPr/>
          <p:nvPr/>
        </p:nvSpPr>
        <p:spPr>
          <a:xfrm>
            <a:off x="95097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7101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Sept. 2026</a:t>
            </a:r>
          </a:p>
        </p:txBody>
      </p:sp>
      <p:sp>
        <p:nvSpPr>
          <p:cNvPr id="11" name="TextBox 10"/>
          <p:cNvSpPr txBox="1"/>
          <p:nvPr/>
        </p:nvSpPr>
        <p:spPr>
          <a:xfrm>
            <a:off x="127101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démarrage des travaux</a:t>
            </a:r>
          </a:p>
        </p:txBody>
      </p:sp>
      <p:sp>
        <p:nvSpPr>
          <p:cNvPr id="12" name="Rectangle 11"/>
          <p:cNvSpPr/>
          <p:nvPr/>
        </p:nvSpPr>
        <p:spPr>
          <a:xfrm>
            <a:off x="593445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5449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20 mois</a:t>
            </a:r>
          </a:p>
        </p:txBody>
      </p:sp>
      <p:sp>
        <p:nvSpPr>
          <p:cNvPr id="14" name="TextBox 13"/>
          <p:cNvSpPr txBox="1"/>
          <p:nvPr/>
        </p:nvSpPr>
        <p:spPr>
          <a:xfrm>
            <a:off x="625449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de travaux prévus, pour une école agrandie et rénovée</a:t>
            </a:r>
          </a:p>
        </p:txBody>
      </p:sp>
      <p:sp>
        <p:nvSpPr>
          <p:cNvPr id="15" name="Rectangle 14"/>
          <p:cNvSpPr/>
          <p:nvPr/>
        </p:nvSpPr>
        <p:spPr>
          <a:xfrm>
            <a:off x="11155680" y="233172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0" y="2331720"/>
            <a:ext cx="5632704" cy="7040880"/>
          </a:xfrm>
          <a:prstGeom prst="rect">
            <a:avLst/>
          </a:prstGeom>
          <a:noFill/>
        </p:spPr>
        <p:txBody>
          <a:bodyPr wrap="square" anchor="ctr" lIns="0" rIns="0" tIns="0" bIns="0">
            <a:spAutoFit/>
          </a:bodyPr>
          <a:lstStyle/>
          <a:p>
            <a:pPr algn="ctr"/>
            <a:r>
              <a:rPr sz="2200" b="1">
                <a:solidFill>
                  <a:srgbClr val="8A90B0"/>
                </a:solidFill>
                <a:latin typeface="Arial"/>
              </a:rPr>
              <a:t>[Photo du chantier à fournir]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coût d'une annulation</a:t>
            </a:r>
          </a:p>
        </p:txBody>
      </p:sp>
      <p:sp>
        <p:nvSpPr>
          <p:cNvPr id="5" name="TextBox 4"/>
          <p:cNvSpPr txBox="1"/>
          <p:nvPr/>
        </p:nvSpPr>
        <p:spPr>
          <a:xfrm>
            <a:off x="950976" y="2331720"/>
            <a:ext cx="16367759" cy="2194560"/>
          </a:xfrm>
          <a:prstGeom prst="rect">
            <a:avLst/>
          </a:prstGeom>
          <a:noFill/>
        </p:spPr>
        <p:txBody>
          <a:bodyPr wrap="square" anchor="t" lIns="0" rIns="0" tIns="0" bIns="0">
            <a:spAutoFit/>
          </a:bodyPr>
          <a:lstStyle/>
          <a:p>
            <a:pPr algn="l">
              <a:lnSpc>
                <a:spcPct val="105000"/>
              </a:lnSpc>
            </a:pPr>
            <a:r>
              <a:rPr sz="5000" b="1">
                <a:solidFill>
                  <a:srgbClr val="72C493"/>
                </a:solidFill>
                <a:latin typeface="Arial"/>
              </a:rPr>
              <a:t>De plusieurs centaines de milliers d'euros</a:t>
            </a:r>
          </a:p>
          <a:p>
            <a:pPr algn="l">
              <a:lnSpc>
                <a:spcPct val="105000"/>
              </a:lnSpc>
            </a:pPr>
            <a:r>
              <a:rPr sz="5000" b="1">
                <a:solidFill>
                  <a:srgbClr val="72C493"/>
                </a:solidFill>
                <a:latin typeface="Arial"/>
              </a:rPr>
              <a:t>à quelques millions d'euros</a:t>
            </a:r>
          </a:p>
        </p:txBody>
      </p:sp>
      <p:sp>
        <p:nvSpPr>
          <p:cNvPr id="6" name="TextBox 5"/>
          <p:cNvSpPr txBox="1"/>
          <p:nvPr/>
        </p:nvSpPr>
        <p:spPr>
          <a:xfrm>
            <a:off x="950976" y="4434840"/>
            <a:ext cx="16367759" cy="548640"/>
          </a:xfrm>
          <a:prstGeom prst="rect">
            <a:avLst/>
          </a:prstGeom>
          <a:noFill/>
        </p:spPr>
        <p:txBody>
          <a:bodyPr wrap="square" anchor="t" lIns="0" rIns="0" tIns="0" bIns="0">
            <a:spAutoFit/>
          </a:bodyPr>
          <a:lstStyle/>
          <a:p>
            <a:pPr algn="l"/>
            <a:r>
              <a:rPr sz="2800" b="1">
                <a:solidFill>
                  <a:srgbClr val="FFFFFF"/>
                </a:solidFill>
                <a:latin typeface="Arial"/>
              </a:rPr>
              <a:t>Le coût qu'aurait représenté l'annulation de la construction de l'école</a:t>
            </a:r>
          </a:p>
        </p:txBody>
      </p:sp>
      <p:sp>
        <p:nvSpPr>
          <p:cNvPr id="7" name="TextBox 6"/>
          <p:cNvSpPr txBox="1"/>
          <p:nvPr/>
        </p:nvSpPr>
        <p:spPr>
          <a:xfrm>
            <a:off x="950976" y="5486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DÉJÀ ENGAGÉ</a:t>
            </a:r>
          </a:p>
        </p:txBody>
      </p:sp>
      <p:sp>
        <p:nvSpPr>
          <p:cNvPr id="8" name="Rectangle 7"/>
          <p:cNvSpPr/>
          <p:nvPr/>
        </p:nvSpPr>
        <p:spPr>
          <a:xfrm>
            <a:off x="950976"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150 000 €</a:t>
            </a:r>
          </a:p>
        </p:txBody>
      </p:sp>
      <p:sp>
        <p:nvSpPr>
          <p:cNvPr id="10" name="TextBox 9"/>
          <p:cNvSpPr txBox="1"/>
          <p:nvPr/>
        </p:nvSpPr>
        <p:spPr>
          <a:xfrm>
            <a:off x="1271016"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préalables et diagnostics</a:t>
            </a:r>
          </a:p>
        </p:txBody>
      </p:sp>
      <p:sp>
        <p:nvSpPr>
          <p:cNvPr id="11" name="Rectangle 10"/>
          <p:cNvSpPr/>
          <p:nvPr/>
        </p:nvSpPr>
        <p:spPr>
          <a:xfrm>
            <a:off x="6519672"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9712"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400 000 €</a:t>
            </a:r>
          </a:p>
        </p:txBody>
      </p:sp>
      <p:sp>
        <p:nvSpPr>
          <p:cNvPr id="13" name="TextBox 12"/>
          <p:cNvSpPr txBox="1"/>
          <p:nvPr/>
        </p:nvSpPr>
        <p:spPr>
          <a:xfrm>
            <a:off x="6839712"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de conception et autorisations, dont le permis de construire</a:t>
            </a:r>
          </a:p>
        </p:txBody>
      </p:sp>
      <p:sp>
        <p:nvSpPr>
          <p:cNvPr id="14" name="Rectangle 13"/>
          <p:cNvSpPr/>
          <p:nvPr/>
        </p:nvSpPr>
        <p:spPr>
          <a:xfrm>
            <a:off x="12088367"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408407"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1 300 000 €</a:t>
            </a:r>
          </a:p>
        </p:txBody>
      </p:sp>
      <p:sp>
        <p:nvSpPr>
          <p:cNvPr id="16" name="TextBox 15"/>
          <p:cNvSpPr txBox="1"/>
          <p:nvPr/>
        </p:nvSpPr>
        <p:spPr>
          <a:xfrm>
            <a:off x="12408407"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déménagement de l'école aux Gobelins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 · ET LES AUTRES ÉCOLES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plan Petits travaux dans les écoles</a:t>
            </a:r>
          </a:p>
        </p:txBody>
      </p:sp>
      <p:sp>
        <p:nvSpPr>
          <p:cNvPr id="5" name="TextBox 4"/>
          <p:cNvSpPr txBox="1"/>
          <p:nvPr/>
        </p:nvSpPr>
        <p:spPr>
          <a:xfrm>
            <a:off x="950976" y="2286000"/>
            <a:ext cx="3657600" cy="1828800"/>
          </a:xfrm>
          <a:prstGeom prst="rect">
            <a:avLst/>
          </a:prstGeom>
          <a:noFill/>
        </p:spPr>
        <p:txBody>
          <a:bodyPr wrap="square" anchor="t" lIns="0" rIns="0" tIns="0" bIns="0">
            <a:spAutoFit/>
          </a:bodyPr>
          <a:lstStyle/>
          <a:p>
            <a:pPr algn="l"/>
            <a:r>
              <a:rPr sz="12000" b="1">
                <a:solidFill>
                  <a:srgbClr val="0E1F5B"/>
                </a:solidFill>
                <a:latin typeface="Arial"/>
              </a:rPr>
              <a:t>35</a:t>
            </a:r>
          </a:p>
        </p:txBody>
      </p:sp>
      <p:sp>
        <p:nvSpPr>
          <p:cNvPr id="6" name="TextBox 5"/>
          <p:cNvSpPr txBox="1"/>
          <p:nvPr/>
        </p:nvSpPr>
        <p:spPr>
          <a:xfrm>
            <a:off x="3840480" y="2697480"/>
            <a:ext cx="13441680" cy="128016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800" b="1">
                <a:solidFill>
                  <a:srgbClr val="0E1F5B"/>
                </a:solidFill>
                <a:latin typeface="Arial"/>
              </a:rPr>
              <a:t>opérations sur 19 sites cet été</a:t>
            </a:r>
          </a:p>
        </p:txBody>
      </p:sp>
      <p:sp>
        <p:nvSpPr>
          <p:cNvPr id="7" name="TextBox 6"/>
          <p:cNvSpPr txBox="1"/>
          <p:nvPr/>
        </p:nvSpPr>
        <p:spPr>
          <a:xfrm>
            <a:off x="950976" y="4343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PLAN FRAÎCHEUR</a:t>
            </a:r>
          </a:p>
        </p:txBody>
      </p:sp>
      <p:sp>
        <p:nvSpPr>
          <p:cNvPr id="8" name="Rectangle 7"/>
          <p:cNvSpPr/>
          <p:nvPr/>
        </p:nvSpPr>
        <p:spPr>
          <a:xfrm>
            <a:off x="9509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3 600 m</a:t>
            </a:r>
          </a:p>
        </p:txBody>
      </p:sp>
      <p:sp>
        <p:nvSpPr>
          <p:cNvPr id="10" name="TextBox 9"/>
          <p:cNvSpPr txBox="1"/>
          <p:nvPr/>
        </p:nvSpPr>
        <p:spPr>
          <a:xfrm>
            <a:off x="12710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de film solaire</a:t>
            </a:r>
          </a:p>
        </p:txBody>
      </p:sp>
      <p:sp>
        <p:nvSpPr>
          <p:cNvPr id="11" name="Rectangle 10"/>
          <p:cNvSpPr/>
          <p:nvPr/>
        </p:nvSpPr>
        <p:spPr>
          <a:xfrm>
            <a:off x="50657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858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67</a:t>
            </a:r>
          </a:p>
        </p:txBody>
      </p:sp>
      <p:sp>
        <p:nvSpPr>
          <p:cNvPr id="13" name="TextBox 12"/>
          <p:cNvSpPr txBox="1"/>
          <p:nvPr/>
        </p:nvSpPr>
        <p:spPr>
          <a:xfrm>
            <a:off x="53858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climatiseurs</a:t>
            </a:r>
          </a:p>
        </p:txBody>
      </p:sp>
      <p:sp>
        <p:nvSpPr>
          <p:cNvPr id="14" name="Rectangle 13"/>
          <p:cNvSpPr/>
          <p:nvPr/>
        </p:nvSpPr>
        <p:spPr>
          <a:xfrm>
            <a:off x="91805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06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400</a:t>
            </a:r>
          </a:p>
        </p:txBody>
      </p:sp>
      <p:sp>
        <p:nvSpPr>
          <p:cNvPr id="16" name="TextBox 15"/>
          <p:cNvSpPr txBox="1"/>
          <p:nvPr/>
        </p:nvSpPr>
        <p:spPr>
          <a:xfrm>
            <a:off x="95006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brumisateurs</a:t>
            </a:r>
          </a:p>
        </p:txBody>
      </p:sp>
      <p:sp>
        <p:nvSpPr>
          <p:cNvPr id="17" name="Rectangle 16"/>
          <p:cNvSpPr/>
          <p:nvPr/>
        </p:nvSpPr>
        <p:spPr>
          <a:xfrm>
            <a:off x="132953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6154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618</a:t>
            </a:r>
          </a:p>
        </p:txBody>
      </p:sp>
      <p:sp>
        <p:nvSpPr>
          <p:cNvPr id="19" name="TextBox 18"/>
          <p:cNvSpPr txBox="1"/>
          <p:nvPr/>
        </p:nvSpPr>
        <p:spPr>
          <a:xfrm>
            <a:off x="136154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ventilateurs</a:t>
            </a:r>
          </a:p>
        </p:txBody>
      </p:sp>
      <p:sp>
        <p:nvSpPr>
          <p:cNvPr id="20" name="Rectangle 19"/>
          <p:cNvSpPr/>
          <p:nvPr/>
        </p:nvSpPr>
        <p:spPr>
          <a:xfrm>
            <a:off x="950976" y="7543800"/>
            <a:ext cx="16367759" cy="17830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5296" y="7543800"/>
            <a:ext cx="15819119" cy="1783080"/>
          </a:xfrm>
          <a:prstGeom prst="rect">
            <a:avLst/>
          </a:prstGeom>
          <a:noFill/>
        </p:spPr>
        <p:txBody>
          <a:bodyPr wrap="square" anchor="ctr" lIns="0" rIns="0" tIns="0" bIns="0">
            <a:spAutoFit/>
          </a:bodyPr>
          <a:lstStyle/>
          <a:p>
            <a:pPr algn="ctr"/>
            <a:r>
              <a:rPr sz="2200" b="1">
                <a:solidFill>
                  <a:srgbClr val="8A90B0"/>
                </a:solidFill>
                <a:latin typeface="Arial"/>
              </a:rPr>
              <a:t>[Travaux réalisés à l'école des Gobelins et à la maternelle des Yvris à compléter]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Circulation aux abords des écoles</a:t>
            </a:r>
          </a:p>
        </p:txBody>
      </p:sp>
      <p:sp>
        <p:nvSpPr>
          <p:cNvPr id="5" name="Rectangle 4"/>
          <p:cNvSpPr/>
          <p:nvPr/>
        </p:nvSpPr>
        <p:spPr>
          <a:xfrm>
            <a:off x="9509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1305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221991"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78024" y="2999232"/>
            <a:ext cx="768096" cy="7680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0E1F5B"/>
                </a:solidFill>
                <a:latin typeface="Arial"/>
              </a:rPr>
              <a:t>P</a:t>
            </a:r>
          </a:p>
        </p:txBody>
      </p:sp>
      <p:sp>
        <p:nvSpPr>
          <p:cNvPr id="9" name="TextBox 8"/>
          <p:cNvSpPr txBox="1"/>
          <p:nvPr/>
        </p:nvSpPr>
        <p:spPr>
          <a:xfrm>
            <a:off x="12252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Circulation et stationnement aux abords de l'école des Gobelins</a:t>
            </a:r>
          </a:p>
        </p:txBody>
      </p:sp>
      <p:sp>
        <p:nvSpPr>
          <p:cNvPr id="10" name="Rectangle 9"/>
          <p:cNvSpPr/>
          <p:nvPr/>
        </p:nvSpPr>
        <p:spPr>
          <a:xfrm>
            <a:off x="50657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453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367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a:off x="6519672" y="2880360"/>
            <a:ext cx="914400" cy="457200"/>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29400" y="3328416"/>
            <a:ext cx="69494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76288" y="3529584"/>
            <a:ext cx="201168" cy="310896"/>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400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Stationnement gênant dans les rues pavillonnaires</a:t>
            </a:r>
          </a:p>
        </p:txBody>
      </p:sp>
      <p:sp>
        <p:nvSpPr>
          <p:cNvPr id="17" name="Rectangle 16"/>
          <p:cNvSpPr/>
          <p:nvPr/>
        </p:nvSpPr>
        <p:spPr>
          <a:xfrm>
            <a:off x="91805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601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4515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24744" y="3035808"/>
            <a:ext cx="713232"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ingle Corner Rectangle 20"/>
          <p:cNvSpPr/>
          <p:nvPr/>
        </p:nvSpPr>
        <p:spPr>
          <a:xfrm>
            <a:off x="11274551" y="3236976"/>
            <a:ext cx="384048" cy="329184"/>
          </a:xfrm>
          <a:prstGeom prst="round1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607039"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01984"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548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Véhicules de livraison</a:t>
            </a:r>
          </a:p>
        </p:txBody>
      </p:sp>
      <p:sp>
        <p:nvSpPr>
          <p:cNvPr id="25" name="Rectangle 24"/>
          <p:cNvSpPr/>
          <p:nvPr/>
        </p:nvSpPr>
        <p:spPr>
          <a:xfrm>
            <a:off x="132953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4749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45663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lock Arc 27"/>
          <p:cNvSpPr/>
          <p:nvPr/>
        </p:nvSpPr>
        <p:spPr>
          <a:xfrm>
            <a:off x="14703551" y="2926080"/>
            <a:ext cx="1005840" cy="1005840"/>
          </a:xfrm>
          <a:prstGeom prst="blockArc">
            <a:avLst>
              <a:gd name="adj1" fmla="val 18000000"/>
              <a:gd name="adj2" fmla="val 0"/>
              <a:gd name="adj3"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15206472" y="3108960"/>
            <a:ext cx="301751" cy="320040"/>
          </a:xfrm>
          <a:prstGeom prst="line">
            <a:avLst/>
          </a:prstGeom>
          <a:ln w="76200">
            <a:solidFill>
              <a:srgbClr val="FFFFFF"/>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5124176" y="3346704"/>
            <a:ext cx="164592" cy="1645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5696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Vitesse excessive avenue Médéric</a:t>
            </a:r>
          </a:p>
        </p:txBody>
      </p:sp>
      <p:sp>
        <p:nvSpPr>
          <p:cNvPr id="32" name="Rectangle 31"/>
          <p:cNvSpPr/>
          <p:nvPr/>
        </p:nvSpPr>
        <p:spPr>
          <a:xfrm>
            <a:off x="950976" y="6903720"/>
            <a:ext cx="16367759" cy="24231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25296" y="6903720"/>
            <a:ext cx="15819119" cy="2423160"/>
          </a:xfrm>
          <a:prstGeom prst="rect">
            <a:avLst/>
          </a:prstGeom>
          <a:noFill/>
        </p:spPr>
        <p:txBody>
          <a:bodyPr wrap="square" anchor="ctr" lIns="0" rIns="0" tIns="0" bIns="0">
            <a:spAutoFit/>
          </a:bodyPr>
          <a:lstStyle/>
          <a:p>
            <a:pPr algn="ctr"/>
            <a:r>
              <a:rPr sz="2200" b="1">
                <a:solidFill>
                  <a:srgbClr val="C9CCDA"/>
                </a:solidFill>
                <a:latin typeface="Arial"/>
              </a:rPr>
              <a:t>[Mesures prises à compléter]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La vidéoprotection dans le quartier</a:t>
            </a:r>
          </a:p>
        </p:txBody>
      </p:sp>
      <p:pic>
        <p:nvPicPr>
          <p:cNvPr id="5" name="Picture 4" descr="Securite_01_cameras_quartier.png"/>
          <p:cNvPicPr>
            <a:picLocks noChangeAspect="1"/>
          </p:cNvPicPr>
          <p:nvPr/>
        </p:nvPicPr>
        <p:blipFill>
          <a:blip r:embed="rId4"/>
          <a:stretch>
            <a:fillRect/>
          </a:stretch>
        </p:blipFill>
        <p:spPr>
          <a:xfrm>
            <a:off x="950976" y="2561035"/>
            <a:ext cx="10881360" cy="5667848"/>
          </a:xfrm>
          <a:prstGeom prst="rect">
            <a:avLst/>
          </a:prstGeom>
        </p:spPr>
      </p:pic>
      <p:sp>
        <p:nvSpPr>
          <p:cNvPr id="6" name="Isosceles Triangle 5"/>
          <p:cNvSpPr/>
          <p:nvPr/>
        </p:nvSpPr>
        <p:spPr>
          <a:xfrm>
            <a:off x="950976" y="8503203"/>
            <a:ext cx="329184" cy="289681"/>
          </a:xfrm>
          <a:prstGeom prst="triangle">
            <a:avLst/>
          </a:prstGeom>
          <a:solidFill>
            <a:srgbClr val="72C493"/>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20" y="8466627"/>
            <a:ext cx="3840480" cy="411480"/>
          </a:xfrm>
          <a:prstGeom prst="rect">
            <a:avLst/>
          </a:prstGeom>
          <a:noFill/>
        </p:spPr>
        <p:txBody>
          <a:bodyPr wrap="square" anchor="t" lIns="0" rIns="0" tIns="0" bIns="0">
            <a:spAutoFit/>
          </a:bodyPr>
          <a:lstStyle/>
          <a:p>
            <a:pPr algn="l"/>
            <a:r>
              <a:rPr sz="2200" b="1">
                <a:solidFill>
                  <a:srgbClr val="0E1F5B"/>
                </a:solidFill>
                <a:latin typeface="Arial"/>
              </a:rPr>
              <a:t>Caméra en service</a:t>
            </a:r>
          </a:p>
        </p:txBody>
      </p:sp>
      <p:sp>
        <p:nvSpPr>
          <p:cNvPr id="8" name="Isosceles Triangle 7"/>
          <p:cNvSpPr/>
          <p:nvPr/>
        </p:nvSpPr>
        <p:spPr>
          <a:xfrm>
            <a:off x="5120640" y="8503203"/>
            <a:ext cx="329184" cy="289681"/>
          </a:xfrm>
          <a:prstGeom prst="triangle">
            <a:avLst/>
          </a:prstGeom>
          <a:solidFill>
            <a:srgbClr val="F2D43A"/>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86984" y="8466627"/>
            <a:ext cx="5943600" cy="411480"/>
          </a:xfrm>
          <a:prstGeom prst="rect">
            <a:avLst/>
          </a:prstGeom>
          <a:noFill/>
        </p:spPr>
        <p:txBody>
          <a:bodyPr wrap="square" anchor="t" lIns="0" rIns="0" tIns="0" bIns="0">
            <a:spAutoFit/>
          </a:bodyPr>
          <a:lstStyle/>
          <a:p>
            <a:pPr algn="l"/>
            <a:r>
              <a:rPr sz="2200" b="1">
                <a:solidFill>
                  <a:srgbClr val="0E1F5B"/>
                </a:solidFill>
                <a:latin typeface="Arial"/>
              </a:rPr>
              <a:t>Caméra en cours d'installation</a:t>
            </a:r>
          </a:p>
        </p:txBody>
      </p:sp>
      <p:sp>
        <p:nvSpPr>
          <p:cNvPr id="10" name="Rectangle 9"/>
          <p:cNvSpPr/>
          <p:nvPr/>
        </p:nvSpPr>
        <p:spPr>
          <a:xfrm>
            <a:off x="12252960" y="22402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573000" y="2496312"/>
            <a:ext cx="4535424" cy="914400"/>
          </a:xfrm>
          <a:prstGeom prst="rect">
            <a:avLst/>
          </a:prstGeom>
          <a:noFill/>
        </p:spPr>
        <p:txBody>
          <a:bodyPr wrap="square" anchor="t" lIns="0" rIns="0" tIns="0" bIns="0">
            <a:spAutoFit/>
          </a:bodyPr>
          <a:lstStyle/>
          <a:p>
            <a:pPr algn="l"/>
            <a:r>
              <a:rPr sz="6600" b="1">
                <a:solidFill>
                  <a:srgbClr val="72C493"/>
                </a:solidFill>
                <a:latin typeface="Arial"/>
              </a:rPr>
              <a:t>29</a:t>
            </a:r>
          </a:p>
        </p:txBody>
      </p:sp>
      <p:sp>
        <p:nvSpPr>
          <p:cNvPr id="12" name="TextBox 11"/>
          <p:cNvSpPr txBox="1"/>
          <p:nvPr/>
        </p:nvSpPr>
        <p:spPr>
          <a:xfrm>
            <a:off x="12573000" y="35440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service</a:t>
            </a:r>
          </a:p>
        </p:txBody>
      </p:sp>
      <p:sp>
        <p:nvSpPr>
          <p:cNvPr id="13" name="Rectangle 12"/>
          <p:cNvSpPr/>
          <p:nvPr/>
        </p:nvSpPr>
        <p:spPr>
          <a:xfrm>
            <a:off x="12252960" y="47548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573000" y="5010912"/>
            <a:ext cx="4535424" cy="914400"/>
          </a:xfrm>
          <a:prstGeom prst="rect">
            <a:avLst/>
          </a:prstGeom>
          <a:noFill/>
        </p:spPr>
        <p:txBody>
          <a:bodyPr wrap="square" anchor="t" lIns="0" rIns="0" tIns="0" bIns="0">
            <a:spAutoFit/>
          </a:bodyPr>
          <a:lstStyle/>
          <a:p>
            <a:pPr algn="l"/>
            <a:r>
              <a:rPr sz="6600" b="1">
                <a:solidFill>
                  <a:srgbClr val="72C493"/>
                </a:solidFill>
                <a:latin typeface="Arial"/>
              </a:rPr>
              <a:t>2</a:t>
            </a:r>
          </a:p>
        </p:txBody>
      </p:sp>
      <p:sp>
        <p:nvSpPr>
          <p:cNvPr id="15" name="TextBox 14"/>
          <p:cNvSpPr txBox="1"/>
          <p:nvPr/>
        </p:nvSpPr>
        <p:spPr>
          <a:xfrm>
            <a:off x="12573000" y="60586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cours d'installation</a:t>
            </a:r>
          </a:p>
        </p:txBody>
      </p:sp>
      <p:pic>
        <p:nvPicPr>
          <p:cNvPr id="16" name="Picture 15" descr="Securite_02_cameras_allee_du_Closeau.png"/>
          <p:cNvPicPr>
            <a:picLocks noChangeAspect="1"/>
          </p:cNvPicPr>
          <p:nvPr/>
        </p:nvPicPr>
        <p:blipFill>
          <a:blip r:embed="rId5"/>
          <a:stretch>
            <a:fillRect/>
          </a:stretch>
        </p:blipFill>
        <p:spPr>
          <a:xfrm>
            <a:off x="12252960" y="7417274"/>
            <a:ext cx="5084063" cy="1167451"/>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Non à la fermeture du bureau de poste des Richardets</a:t>
            </a:r>
          </a:p>
        </p:txBody>
      </p:sp>
      <p:sp>
        <p:nvSpPr>
          <p:cNvPr id="5" name="TextBox 4"/>
          <p:cNvSpPr txBox="1"/>
          <p:nvPr/>
        </p:nvSpPr>
        <p:spPr>
          <a:xfrm>
            <a:off x="950976" y="2240280"/>
            <a:ext cx="9966960" cy="1097280"/>
          </a:xfrm>
          <a:prstGeom prst="rect">
            <a:avLst/>
          </a:prstGeom>
          <a:noFill/>
        </p:spPr>
        <p:txBody>
          <a:bodyPr wrap="square" anchor="t" lIns="0" rIns="0" tIns="0" bIns="0">
            <a:spAutoFit/>
          </a:bodyPr>
          <a:lstStyle/>
          <a:p>
            <a:pPr algn="l"/>
            <a:r>
              <a:rPr sz="3000" b="1">
                <a:solidFill>
                  <a:srgbClr val="72C493"/>
                </a:solidFill>
                <a:latin typeface="Arial"/>
              </a:rPr>
              <a:t>Un service de proximité essentiel, auquel les habitants sont attachés</a:t>
            </a:r>
          </a:p>
        </p:txBody>
      </p:sp>
      <p:cxnSp>
        <p:nvCxnSpPr>
          <p:cNvPr id="6" name="Connector 5"/>
          <p:cNvCxnSpPr/>
          <p:nvPr/>
        </p:nvCxnSpPr>
        <p:spPr>
          <a:xfrm>
            <a:off x="2612136" y="4069079"/>
            <a:ext cx="6644640"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292095"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8" name="TextBox 7"/>
          <p:cNvSpPr txBox="1"/>
          <p:nvPr/>
        </p:nvSpPr>
        <p:spPr>
          <a:xfrm>
            <a:off x="1179575"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15 juin 2026</a:t>
            </a:r>
          </a:p>
        </p:txBody>
      </p:sp>
      <p:sp>
        <p:nvSpPr>
          <p:cNvPr id="9" name="TextBox 8"/>
          <p:cNvSpPr txBox="1"/>
          <p:nvPr/>
        </p:nvSpPr>
        <p:spPr>
          <a:xfrm>
            <a:off x="1179575"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Courrier du Maire à La Poste</a:t>
            </a:r>
          </a:p>
        </p:txBody>
      </p:sp>
      <p:sp>
        <p:nvSpPr>
          <p:cNvPr id="10" name="Oval 9"/>
          <p:cNvSpPr/>
          <p:nvPr/>
        </p:nvSpPr>
        <p:spPr>
          <a:xfrm>
            <a:off x="561441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1" name="TextBox 10"/>
          <p:cNvSpPr txBox="1"/>
          <p:nvPr/>
        </p:nvSpPr>
        <p:spPr>
          <a:xfrm>
            <a:off x="450189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Juin 2026</a:t>
            </a:r>
          </a:p>
        </p:txBody>
      </p:sp>
      <p:sp>
        <p:nvSpPr>
          <p:cNvPr id="12" name="TextBox 11"/>
          <p:cNvSpPr txBox="1"/>
          <p:nvPr/>
        </p:nvSpPr>
        <p:spPr>
          <a:xfrm>
            <a:off x="450189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Le Maire reçoit le délégué de La Poste et s'oppose à la fermeture</a:t>
            </a:r>
          </a:p>
        </p:txBody>
      </p:sp>
      <p:sp>
        <p:nvSpPr>
          <p:cNvPr id="13" name="Oval 12"/>
          <p:cNvSpPr/>
          <p:nvPr/>
        </p:nvSpPr>
        <p:spPr>
          <a:xfrm>
            <a:off x="893673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4" name="TextBox 13"/>
          <p:cNvSpPr txBox="1"/>
          <p:nvPr/>
        </p:nvSpPr>
        <p:spPr>
          <a:xfrm>
            <a:off x="782421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10 juillet 2026</a:t>
            </a:r>
          </a:p>
        </p:txBody>
      </p:sp>
      <p:sp>
        <p:nvSpPr>
          <p:cNvPr id="15" name="TextBox 14"/>
          <p:cNvSpPr txBox="1"/>
          <p:nvPr/>
        </p:nvSpPr>
        <p:spPr>
          <a:xfrm>
            <a:off x="782421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Nouvel échange entre le Maire et La Poste</a:t>
            </a:r>
          </a:p>
        </p:txBody>
      </p:sp>
      <p:pic>
        <p:nvPicPr>
          <p:cNvPr id="16" name="Picture 15" descr="Services_01_bureau_de_poste.jpg"/>
          <p:cNvPicPr>
            <a:picLocks noChangeAspect="1"/>
          </p:cNvPicPr>
          <p:nvPr/>
        </p:nvPicPr>
        <p:blipFill>
          <a:blip r:embed="rId4"/>
          <a:stretch>
            <a:fillRect/>
          </a:stretch>
        </p:blipFill>
        <p:spPr>
          <a:xfrm>
            <a:off x="11384280" y="2854642"/>
            <a:ext cx="5943600" cy="3343275"/>
          </a:xfrm>
          <a:prstGeom prst="rect">
            <a:avLst/>
          </a:prstGeom>
        </p:spPr>
      </p:pic>
      <p:sp>
        <p:nvSpPr>
          <p:cNvPr id="17" name="Rectangle 16"/>
          <p:cNvSpPr/>
          <p:nvPr/>
        </p:nvSpPr>
        <p:spPr>
          <a:xfrm>
            <a:off x="11384280" y="7086600"/>
            <a:ext cx="5943600" cy="22402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658600" y="7086600"/>
            <a:ext cx="5394960" cy="2240280"/>
          </a:xfrm>
          <a:prstGeom prst="rect">
            <a:avLst/>
          </a:prstGeom>
          <a:noFill/>
        </p:spPr>
        <p:txBody>
          <a:bodyPr wrap="square" anchor="ctr" lIns="0" rIns="0" tIns="0" bIns="0">
            <a:spAutoFit/>
          </a:bodyPr>
          <a:lstStyle/>
          <a:p>
            <a:pPr algn="ctr"/>
            <a:r>
              <a:rPr sz="2200" b="1">
                <a:solidFill>
                  <a:srgbClr val="C9CCDA"/>
                </a:solidFill>
                <a:latin typeface="Arial"/>
              </a:rPr>
              <a:t>[Situation actuelle du bureau à compléter]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réseau de bus</a:t>
            </a:r>
          </a:p>
        </p:txBody>
      </p:sp>
      <p:sp>
        <p:nvSpPr>
          <p:cNvPr id="5" name="Rectangle 4"/>
          <p:cNvSpPr/>
          <p:nvPr/>
        </p:nvSpPr>
        <p:spPr>
          <a:xfrm>
            <a:off x="950976" y="2286000"/>
            <a:ext cx="6035040" cy="585216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97480"/>
            <a:ext cx="5303520" cy="1828800"/>
          </a:xfrm>
          <a:prstGeom prst="rect">
            <a:avLst/>
          </a:prstGeom>
          <a:noFill/>
        </p:spPr>
        <p:txBody>
          <a:bodyPr wrap="square" anchor="t" lIns="0" rIns="0" tIns="0" bIns="0">
            <a:spAutoFit/>
          </a:bodyPr>
          <a:lstStyle/>
          <a:p>
            <a:pPr algn="l"/>
            <a:r>
              <a:rPr sz="12000" b="1">
                <a:solidFill>
                  <a:srgbClr val="72C493"/>
                </a:solidFill>
                <a:latin typeface="Arial"/>
              </a:rPr>
              <a:t>400</a:t>
            </a:r>
          </a:p>
        </p:txBody>
      </p:sp>
      <p:sp>
        <p:nvSpPr>
          <p:cNvPr id="7" name="TextBox 6"/>
          <p:cNvSpPr txBox="1"/>
          <p:nvPr/>
        </p:nvSpPr>
        <p:spPr>
          <a:xfrm>
            <a:off x="1371600" y="4572000"/>
            <a:ext cx="5303520" cy="1463040"/>
          </a:xfrm>
          <a:prstGeom prst="rect">
            <a:avLst/>
          </a:prstGeom>
          <a:noFill/>
        </p:spPr>
        <p:txBody>
          <a:bodyPr wrap="square" anchor="t" lIns="0" rIns="0" tIns="0" bIns="0">
            <a:spAutoFit/>
          </a:bodyPr>
          <a:lstStyle/>
          <a:p>
            <a:pPr algn="l"/>
            <a:r>
              <a:rPr sz="3000" b="1">
                <a:solidFill>
                  <a:srgbClr val="FFFFFF"/>
                </a:solidFill>
                <a:latin typeface="Arial"/>
              </a:rPr>
              <a:t>signalements recueillis par la Ville</a:t>
            </a:r>
          </a:p>
        </p:txBody>
      </p:sp>
      <p:sp>
        <p:nvSpPr>
          <p:cNvPr id="8" name="Rectangle 7"/>
          <p:cNvSpPr/>
          <p:nvPr/>
        </p:nvSpPr>
        <p:spPr>
          <a:xfrm>
            <a:off x="7589520" y="239572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01</a:t>
            </a:r>
          </a:p>
        </p:txBody>
      </p:sp>
      <p:sp>
        <p:nvSpPr>
          <p:cNvPr id="9" name="TextBox 8"/>
          <p:cNvSpPr txBox="1"/>
          <p:nvPr/>
        </p:nvSpPr>
        <p:spPr>
          <a:xfrm>
            <a:off x="8412480" y="2377440"/>
            <a:ext cx="8869680" cy="1874519"/>
          </a:xfrm>
          <a:prstGeom prst="rect">
            <a:avLst/>
          </a:prstGeom>
          <a:noFill/>
        </p:spPr>
        <p:txBody>
          <a:bodyPr wrap="square" anchor="t" lIns="0" rIns="0" tIns="0" bIns="0">
            <a:spAutoFit/>
          </a:bodyPr>
          <a:lstStyle/>
          <a:p>
            <a:pPr algn="l"/>
            <a:r>
              <a:rPr sz="2600" b="1">
                <a:solidFill>
                  <a:srgbClr val="0E1F5B"/>
                </a:solidFill>
                <a:latin typeface="Arial"/>
              </a:rPr>
              <a:t>Le Maire a rencontré deux fois Île-de-France Mobilités</a:t>
            </a:r>
          </a:p>
        </p:txBody>
      </p:sp>
      <p:sp>
        <p:nvSpPr>
          <p:cNvPr id="10" name="Rectangle 9"/>
          <p:cNvSpPr/>
          <p:nvPr/>
        </p:nvSpPr>
        <p:spPr>
          <a:xfrm>
            <a:off x="7589520" y="427024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02</a:t>
            </a:r>
          </a:p>
        </p:txBody>
      </p:sp>
      <p:sp>
        <p:nvSpPr>
          <p:cNvPr id="11" name="TextBox 10"/>
          <p:cNvSpPr txBox="1"/>
          <p:nvPr/>
        </p:nvSpPr>
        <p:spPr>
          <a:xfrm>
            <a:off x="8412480" y="4251960"/>
            <a:ext cx="8869680" cy="1874519"/>
          </a:xfrm>
          <a:prstGeom prst="rect">
            <a:avLst/>
          </a:prstGeom>
          <a:noFill/>
        </p:spPr>
        <p:txBody>
          <a:bodyPr wrap="square" anchor="t" lIns="0" rIns="0" tIns="0" bIns="0">
            <a:spAutoFit/>
          </a:bodyPr>
          <a:lstStyle/>
          <a:p>
            <a:pPr algn="l"/>
            <a:r>
              <a:rPr sz="2600" b="1">
                <a:solidFill>
                  <a:srgbClr val="0E1F5B"/>
                </a:solidFill>
                <a:latin typeface="Arial"/>
              </a:rPr>
              <a:t>La modification non concertée du trajet de la ligne 220 a été suspendue</a:t>
            </a:r>
          </a:p>
        </p:txBody>
      </p:sp>
      <p:sp>
        <p:nvSpPr>
          <p:cNvPr id="12" name="Rectangle 11"/>
          <p:cNvSpPr/>
          <p:nvPr/>
        </p:nvSpPr>
        <p:spPr>
          <a:xfrm>
            <a:off x="7589520" y="6144767"/>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03</a:t>
            </a:r>
          </a:p>
        </p:txBody>
      </p:sp>
      <p:sp>
        <p:nvSpPr>
          <p:cNvPr id="13" name="TextBox 12"/>
          <p:cNvSpPr txBox="1"/>
          <p:nvPr/>
        </p:nvSpPr>
        <p:spPr>
          <a:xfrm>
            <a:off x="8412480" y="6126479"/>
            <a:ext cx="8869680" cy="1874519"/>
          </a:xfrm>
          <a:prstGeom prst="rect">
            <a:avLst/>
          </a:prstGeom>
          <a:noFill/>
        </p:spPr>
        <p:txBody>
          <a:bodyPr wrap="square" anchor="t" lIns="0" rIns="0" tIns="0" bIns="0">
            <a:spAutoFit/>
          </a:bodyPr>
          <a:lstStyle/>
          <a:p>
            <a:pPr algn="l"/>
            <a:r>
              <a:rPr sz="2600" b="1">
                <a:solidFill>
                  <a:srgbClr val="0E1F5B"/>
                </a:solidFill>
                <a:latin typeface="Arial"/>
              </a:rPr>
              <a:t>Un courrier aux exploitants pour exiger un retour au niveau de service prévu et l'application des pénalités</a:t>
            </a:r>
          </a:p>
        </p:txBody>
      </p:sp>
      <p:cxnSp>
        <p:nvCxnSpPr>
          <p:cNvPr id="14" name="Connector 13"/>
          <p:cNvCxnSpPr/>
          <p:nvPr/>
        </p:nvCxnSpPr>
        <p:spPr>
          <a:xfrm>
            <a:off x="950976" y="8549640"/>
            <a:ext cx="16386048"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50976" y="8732520"/>
            <a:ext cx="16367759" cy="548640"/>
          </a:xfrm>
          <a:prstGeom prst="rect">
            <a:avLst/>
          </a:prstGeom>
          <a:noFill/>
        </p:spPr>
        <p:txBody>
          <a:bodyPr wrap="square" anchor="t" lIns="0" rIns="0" tIns="0" bIns="0">
            <a:spAutoFit/>
          </a:bodyPr>
          <a:lstStyle/>
          <a:p>
            <a:pPr algn="l"/>
            <a:r>
              <a:rPr sz="2200" b="0">
                <a:solidFill>
                  <a:srgbClr val="0E1F5B"/>
                </a:solidFill>
                <a:latin typeface="Arial"/>
              </a:rPr>
              <a:t>Le réseau est organisé par Île-de-France Mobilités et exploité par Keolis et RATP Cap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La tribune du stade Alain-Mimoun</a:t>
            </a:r>
          </a:p>
        </p:txBody>
      </p:sp>
      <p:sp>
        <p:nvSpPr>
          <p:cNvPr id="5" name="Rectangle 4"/>
          <p:cNvSpPr/>
          <p:nvPr/>
        </p:nvSpPr>
        <p:spPr>
          <a:xfrm>
            <a:off x="95097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1673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 BÂTIMENT</a:t>
            </a:r>
          </a:p>
        </p:txBody>
      </p:sp>
      <p:sp>
        <p:nvSpPr>
          <p:cNvPr id="8" name="Oval 7"/>
          <p:cNvSpPr/>
          <p:nvPr/>
        </p:nvSpPr>
        <p:spPr>
          <a:xfrm>
            <a:off x="131673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77393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Des toitures solarisées</a:t>
            </a:r>
          </a:p>
        </p:txBody>
      </p:sp>
      <p:sp>
        <p:nvSpPr>
          <p:cNvPr id="10" name="Oval 9"/>
          <p:cNvSpPr/>
          <p:nvPr/>
        </p:nvSpPr>
        <p:spPr>
          <a:xfrm>
            <a:off x="131673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7393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façade végétalisée</a:t>
            </a:r>
          </a:p>
        </p:txBody>
      </p:sp>
      <p:sp>
        <p:nvSpPr>
          <p:cNvPr id="12" name="Oval 11"/>
          <p:cNvSpPr/>
          <p:nvPr/>
        </p:nvSpPr>
        <p:spPr>
          <a:xfrm>
            <a:off x="131673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7393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L'installation des sièges</a:t>
            </a:r>
          </a:p>
        </p:txBody>
      </p:sp>
      <p:sp>
        <p:nvSpPr>
          <p:cNvPr id="14" name="Rectangle 13"/>
          <p:cNvSpPr/>
          <p:nvPr/>
        </p:nvSpPr>
        <p:spPr>
          <a:xfrm>
            <a:off x="630021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021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6597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LES ESPACES VERTS</a:t>
            </a:r>
          </a:p>
        </p:txBody>
      </p:sp>
      <p:sp>
        <p:nvSpPr>
          <p:cNvPr id="17" name="Oval 16"/>
          <p:cNvSpPr/>
          <p:nvPr/>
        </p:nvSpPr>
        <p:spPr>
          <a:xfrm>
            <a:off x="666597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2317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Les arbres replantés avant tout abattage</a:t>
            </a:r>
          </a:p>
        </p:txBody>
      </p:sp>
      <p:sp>
        <p:nvSpPr>
          <p:cNvPr id="19" name="Oval 18"/>
          <p:cNvSpPr/>
          <p:nvPr/>
        </p:nvSpPr>
        <p:spPr>
          <a:xfrm>
            <a:off x="666597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2317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compensation végétale doublée</a:t>
            </a:r>
          </a:p>
        </p:txBody>
      </p:sp>
      <p:sp>
        <p:nvSpPr>
          <p:cNvPr id="21" name="Oval 20"/>
          <p:cNvSpPr/>
          <p:nvPr/>
        </p:nvSpPr>
        <p:spPr>
          <a:xfrm>
            <a:off x="666597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2317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Une haie contre les nuisances sonores</a:t>
            </a:r>
          </a:p>
        </p:txBody>
      </p:sp>
      <p:sp>
        <p:nvSpPr>
          <p:cNvPr id="23" name="Rectangle 22"/>
          <p:cNvSpPr/>
          <p:nvPr/>
        </p:nvSpPr>
        <p:spPr>
          <a:xfrm>
            <a:off x="950976" y="7589520"/>
            <a:ext cx="1042416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25296" y="7589520"/>
            <a:ext cx="9875520" cy="1737360"/>
          </a:xfrm>
          <a:prstGeom prst="rect">
            <a:avLst/>
          </a:prstGeom>
          <a:noFill/>
        </p:spPr>
        <p:txBody>
          <a:bodyPr wrap="square" anchor="ctr" lIns="0" rIns="0" tIns="0" bIns="0">
            <a:spAutoFit/>
          </a:bodyPr>
          <a:lstStyle/>
          <a:p>
            <a:pPr algn="ctr"/>
            <a:r>
              <a:rPr sz="2200" b="1">
                <a:solidFill>
                  <a:srgbClr val="C9CCDA"/>
                </a:solidFill>
                <a:latin typeface="Arial"/>
              </a:rPr>
              <a:t>[Montant et calendrier à compléter]</a:t>
            </a:r>
          </a:p>
        </p:txBody>
      </p:sp>
      <p:pic>
        <p:nvPicPr>
          <p:cNvPr id="25" name="Picture 24" descr="Equipements_01_stade_Alain_Mimoun.jpg"/>
          <p:cNvPicPr>
            <a:picLocks noChangeAspect="1"/>
          </p:cNvPicPr>
          <p:nvPr/>
        </p:nvPicPr>
        <p:blipFill>
          <a:blip r:embed="rId4"/>
          <a:stretch>
            <a:fillRect/>
          </a:stretch>
        </p:blipFill>
        <p:spPr>
          <a:xfrm>
            <a:off x="11841480" y="3234690"/>
            <a:ext cx="5486400" cy="3086100"/>
          </a:xfrm>
          <a:prstGeom prst="rect">
            <a:avLst/>
          </a:prstGeom>
        </p:spPr>
      </p:pic>
      <p:sp>
        <p:nvSpPr>
          <p:cNvPr id="26" name="Rectangle 25"/>
          <p:cNvSpPr/>
          <p:nvPr/>
        </p:nvSpPr>
        <p:spPr>
          <a:xfrm>
            <a:off x="11841480" y="7589520"/>
            <a:ext cx="548640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15800" y="7589520"/>
            <a:ext cx="4937760" cy="1737360"/>
          </a:xfrm>
          <a:prstGeom prst="rect">
            <a:avLst/>
          </a:prstGeom>
          <a:noFill/>
        </p:spPr>
        <p:txBody>
          <a:bodyPr wrap="square" anchor="ctr" lIns="0" rIns="0" tIns="0" bIns="0">
            <a:spAutoFit/>
          </a:bodyPr>
          <a:lstStyle/>
          <a:p>
            <a:pPr algn="ctr"/>
            <a:r>
              <a:rPr sz="2200" b="1">
                <a:solidFill>
                  <a:srgbClr val="C9CCDA"/>
                </a:solidFill>
                <a:latin typeface="Arial"/>
              </a:rPr>
              <a:t>[Perspective de la tribune à fournir]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aire de jeux rue de la Chapelle</a:t>
            </a:r>
          </a:p>
        </p:txBody>
      </p:sp>
      <p:pic>
        <p:nvPicPr>
          <p:cNvPr id="5" name="Picture 4" descr="Equipements_02_square_Astronautes_plan.png"/>
          <p:cNvPicPr>
            <a:picLocks noChangeAspect="1"/>
          </p:cNvPicPr>
          <p:nvPr/>
        </p:nvPicPr>
        <p:blipFill>
          <a:blip r:embed="rId4"/>
          <a:stretch>
            <a:fillRect/>
          </a:stretch>
        </p:blipFill>
        <p:spPr>
          <a:xfrm>
            <a:off x="950976" y="2325929"/>
            <a:ext cx="10241280" cy="5497981"/>
          </a:xfrm>
          <a:prstGeom prst="rect">
            <a:avLst/>
          </a:prstGeom>
        </p:spPr>
      </p:pic>
      <p:sp>
        <p:nvSpPr>
          <p:cNvPr id="6" name="TextBox 5"/>
          <p:cNvSpPr txBox="1"/>
          <p:nvPr/>
        </p:nvSpPr>
        <p:spPr>
          <a:xfrm>
            <a:off x="11658600" y="2240280"/>
            <a:ext cx="5669280" cy="411480"/>
          </a:xfrm>
          <a:prstGeom prst="rect">
            <a:avLst/>
          </a:prstGeom>
          <a:noFill/>
        </p:spPr>
        <p:txBody>
          <a:bodyPr wrap="square" anchor="t" lIns="0" rIns="0" tIns="0" bIns="0">
            <a:spAutoFit/>
          </a:bodyPr>
          <a:lstStyle/>
          <a:p>
            <a:pPr algn="l"/>
            <a:r>
              <a:rPr sz="2100" b="1" spc="150">
                <a:solidFill>
                  <a:srgbClr val="72C493"/>
                </a:solidFill>
                <a:latin typeface="Arial"/>
              </a:rPr>
              <a:t>LE SQUARE</a:t>
            </a:r>
          </a:p>
        </p:txBody>
      </p:sp>
      <p:sp>
        <p:nvSpPr>
          <p:cNvPr id="7" name="Oval 6"/>
          <p:cNvSpPr/>
          <p:nvPr/>
        </p:nvSpPr>
        <p:spPr>
          <a:xfrm>
            <a:off x="11658600" y="2907791"/>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070080" y="2788920"/>
            <a:ext cx="5257800" cy="1234440"/>
          </a:xfrm>
          <a:prstGeom prst="rect">
            <a:avLst/>
          </a:prstGeom>
          <a:noFill/>
        </p:spPr>
        <p:txBody>
          <a:bodyPr wrap="square" anchor="t" lIns="0" rIns="0" tIns="0" bIns="0">
            <a:spAutoFit/>
          </a:bodyPr>
          <a:lstStyle/>
          <a:p>
            <a:pPr algn="l"/>
            <a:r>
              <a:rPr sz="2200" b="1">
                <a:solidFill>
                  <a:srgbClr val="0E1F5B"/>
                </a:solidFill>
                <a:latin typeface="Arial"/>
              </a:rPr>
              <a:t>Square du boulevard des Astronautes, rue de la Chapelle</a:t>
            </a:r>
          </a:p>
        </p:txBody>
      </p:sp>
      <p:sp>
        <p:nvSpPr>
          <p:cNvPr id="9" name="Oval 8"/>
          <p:cNvSpPr/>
          <p:nvPr/>
        </p:nvSpPr>
        <p:spPr>
          <a:xfrm>
            <a:off x="11658600" y="4206240"/>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70080" y="4087368"/>
            <a:ext cx="5257800" cy="1234440"/>
          </a:xfrm>
          <a:prstGeom prst="rect">
            <a:avLst/>
          </a:prstGeom>
          <a:noFill/>
        </p:spPr>
        <p:txBody>
          <a:bodyPr wrap="square" anchor="t" lIns="0" rIns="0" tIns="0" bIns="0">
            <a:spAutoFit/>
          </a:bodyPr>
          <a:lstStyle/>
          <a:p>
            <a:pPr algn="l"/>
            <a:r>
              <a:rPr sz="2200" b="1">
                <a:solidFill>
                  <a:srgbClr val="0E1F5B"/>
                </a:solidFill>
                <a:latin typeface="Arial"/>
              </a:rPr>
              <a:t>Des jeux pour les enfants de 1 an à 10-12 ans</a:t>
            </a:r>
          </a:p>
        </p:txBody>
      </p:sp>
      <p:sp>
        <p:nvSpPr>
          <p:cNvPr id="11" name="Oval 10"/>
          <p:cNvSpPr/>
          <p:nvPr/>
        </p:nvSpPr>
        <p:spPr>
          <a:xfrm>
            <a:off x="11658600" y="5504688"/>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0" y="5385816"/>
            <a:ext cx="5257800" cy="1234440"/>
          </a:xfrm>
          <a:prstGeom prst="rect">
            <a:avLst/>
          </a:prstGeom>
          <a:noFill/>
        </p:spPr>
        <p:txBody>
          <a:bodyPr wrap="square" anchor="t" lIns="0" rIns="0" tIns="0" bIns="0">
            <a:spAutoFit/>
          </a:bodyPr>
          <a:lstStyle/>
          <a:p>
            <a:pPr algn="l"/>
            <a:r>
              <a:rPr sz="2200" b="1">
                <a:solidFill>
                  <a:srgbClr val="0E1F5B"/>
                </a:solidFill>
                <a:latin typeface="Arial"/>
              </a:rPr>
              <a:t>Sol souple, bancs, chaises longues et tables de jeux en plastique recyclé</a:t>
            </a:r>
          </a:p>
        </p:txBody>
      </p:sp>
      <p:sp>
        <p:nvSpPr>
          <p:cNvPr id="13" name="Oval 12"/>
          <p:cNvSpPr/>
          <p:nvPr/>
        </p:nvSpPr>
        <p:spPr>
          <a:xfrm>
            <a:off x="11658600" y="6803136"/>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070080" y="6684264"/>
            <a:ext cx="5257800" cy="1234440"/>
          </a:xfrm>
          <a:prstGeom prst="rect">
            <a:avLst/>
          </a:prstGeom>
          <a:noFill/>
        </p:spPr>
        <p:txBody>
          <a:bodyPr wrap="square" anchor="t" lIns="0" rIns="0" tIns="0" bIns="0">
            <a:spAutoFit/>
          </a:bodyPr>
          <a:lstStyle/>
          <a:p>
            <a:pPr algn="l"/>
            <a:r>
              <a:rPr sz="2200" b="1">
                <a:solidFill>
                  <a:srgbClr val="0E1F5B"/>
                </a:solidFill>
                <a:latin typeface="Arial"/>
              </a:rPr>
              <a:t>Le séquoia géant et les arbres existants conservés</a:t>
            </a:r>
          </a:p>
        </p:txBody>
      </p:sp>
      <p:cxnSp>
        <p:nvCxnSpPr>
          <p:cNvPr id="15" name="Connector 14"/>
          <p:cNvCxnSpPr/>
          <p:nvPr/>
        </p:nvCxnSpPr>
        <p:spPr>
          <a:xfrm>
            <a:off x="3678936" y="8321040"/>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358896"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17" name="TextBox 16"/>
          <p:cNvSpPr txBox="1"/>
          <p:nvPr/>
        </p:nvSpPr>
        <p:spPr>
          <a:xfrm>
            <a:off x="117957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Cet hiver</a:t>
            </a:r>
          </a:p>
        </p:txBody>
      </p:sp>
      <p:sp>
        <p:nvSpPr>
          <p:cNvPr id="18" name="TextBox 17"/>
          <p:cNvSpPr txBox="1"/>
          <p:nvPr/>
        </p:nvSpPr>
        <p:spPr>
          <a:xfrm>
            <a:off x="117957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Concertation avec les riverains</a:t>
            </a:r>
          </a:p>
        </p:txBody>
      </p:sp>
      <p:sp>
        <p:nvSpPr>
          <p:cNvPr id="19" name="Oval 18"/>
          <p:cNvSpPr/>
          <p:nvPr/>
        </p:nvSpPr>
        <p:spPr>
          <a:xfrm>
            <a:off x="881481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20" name="TextBox 19"/>
          <p:cNvSpPr txBox="1"/>
          <p:nvPr/>
        </p:nvSpPr>
        <p:spPr>
          <a:xfrm>
            <a:off x="6635495"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Fin du printemps</a:t>
            </a:r>
          </a:p>
        </p:txBody>
      </p:sp>
      <p:sp>
        <p:nvSpPr>
          <p:cNvPr id="21" name="TextBox 20"/>
          <p:cNvSpPr txBox="1"/>
          <p:nvPr/>
        </p:nvSpPr>
        <p:spPr>
          <a:xfrm>
            <a:off x="6635495"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Travaux</a:t>
            </a:r>
          </a:p>
        </p:txBody>
      </p:sp>
      <p:sp>
        <p:nvSpPr>
          <p:cNvPr id="22" name="Oval 21"/>
          <p:cNvSpPr/>
          <p:nvPr/>
        </p:nvSpPr>
        <p:spPr>
          <a:xfrm>
            <a:off x="1427073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23" name="TextBox 22"/>
          <p:cNvSpPr txBox="1"/>
          <p:nvPr/>
        </p:nvSpPr>
        <p:spPr>
          <a:xfrm>
            <a:off x="1209141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À l'automne</a:t>
            </a:r>
          </a:p>
        </p:txBody>
      </p:sp>
      <p:sp>
        <p:nvSpPr>
          <p:cNvPr id="24" name="TextBox 23"/>
          <p:cNvSpPr txBox="1"/>
          <p:nvPr/>
        </p:nvSpPr>
        <p:spPr>
          <a:xfrm>
            <a:off x="1209141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Plantations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Fort de Villiers</a:t>
            </a:r>
          </a:p>
        </p:txBody>
      </p:sp>
      <p:pic>
        <p:nvPicPr>
          <p:cNvPr id="5" name="Picture 4" descr="Equipements_03_fort_de_Villiers.jpg"/>
          <p:cNvPicPr>
            <a:picLocks noChangeAspect="1"/>
          </p:cNvPicPr>
          <p:nvPr/>
        </p:nvPicPr>
        <p:blipFill>
          <a:blip r:embed="rId4"/>
          <a:stretch>
            <a:fillRect/>
          </a:stretch>
        </p:blipFill>
        <p:spPr>
          <a:xfrm>
            <a:off x="950976" y="2575560"/>
            <a:ext cx="9692640" cy="6461760"/>
          </a:xfrm>
          <a:prstGeom prst="rect">
            <a:avLst/>
          </a:prstGeom>
        </p:spPr>
      </p:pic>
      <p:sp>
        <p:nvSpPr>
          <p:cNvPr id="6" name="Rectangle 5"/>
          <p:cNvSpPr/>
          <p:nvPr/>
        </p:nvSpPr>
        <p:spPr>
          <a:xfrm>
            <a:off x="11155680" y="228600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2286000"/>
            <a:ext cx="5632704" cy="7040880"/>
          </a:xfrm>
          <a:prstGeom prst="rect">
            <a:avLst/>
          </a:prstGeom>
          <a:noFill/>
        </p:spPr>
        <p:txBody>
          <a:bodyPr wrap="square" anchor="ctr" lIns="0" rIns="0" tIns="0" bIns="0">
            <a:spAutoFit/>
          </a:bodyPr>
          <a:lstStyle/>
          <a:p>
            <a:pPr algn="ctr"/>
            <a:r>
              <a:rPr sz="2200" b="1">
                <a:solidFill>
                  <a:srgbClr val="C9CCDA"/>
                </a:solidFill>
                <a:latin typeface="Arial"/>
              </a:rPr>
              <a:t>[Contenu à compléter]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maison médicale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8A90B0"/>
                </a:solidFill>
                <a:latin typeface="Arial"/>
              </a:rPr>
              <a:t>[Contenu à compléter : localisation, praticiens attendus, calendrier]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projet de maison de retraite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C9CCDA"/>
                </a:solidFill>
                <a:latin typeface="Arial"/>
              </a:rPr>
              <a:t>[Contenu à compléter : type d'établissement, nombre de places, état d'avancement]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 · LES BUS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bus du quartier et vos signalements</a:t>
            </a:r>
          </a:p>
        </p:txBody>
      </p:sp>
      <p:pic>
        <p:nvPicPr>
          <p:cNvPr id="5" name="Picture 4" descr="fond_carte_bus.jpg"/>
          <p:cNvPicPr>
            <a:picLocks noChangeAspect="1"/>
          </p:cNvPicPr>
          <p:nvPr/>
        </p:nvPicPr>
        <p:blipFill>
          <a:blip r:embed="rId4"/>
          <a:stretch>
            <a:fillRect/>
          </a:stretch>
        </p:blipFill>
        <p:spPr>
          <a:xfrm>
            <a:off x="950976" y="2240280"/>
            <a:ext cx="11247120" cy="6326505"/>
          </a:xfrm>
          <a:prstGeom prst="rect">
            <a:avLst/>
          </a:prstGeom>
        </p:spPr>
      </p:pic>
      <p:sp>
        <p:nvSpPr>
          <p:cNvPr id="6" name="TextBox 5"/>
          <p:cNvSpPr txBox="1"/>
          <p:nvPr/>
        </p:nvSpPr>
        <p:spPr>
          <a:xfrm>
            <a:off x="950976" y="8639937"/>
            <a:ext cx="11247120" cy="274320"/>
          </a:xfrm>
          <a:prstGeom prst="rect">
            <a:avLst/>
          </a:prstGeom>
          <a:noFill/>
        </p:spPr>
        <p:txBody>
          <a:bodyPr wrap="square" anchor="t" lIns="0" rIns="0" tIns="0" bIns="0">
            <a:spAutoFit/>
          </a:bodyPr>
          <a:lstStyle/>
          <a:p>
            <a:pPr algn="r"/>
            <a:r>
              <a:rPr sz="1100" b="0">
                <a:solidFill>
                  <a:srgbClr val="C9CCDA"/>
                </a:solidFill>
                <a:latin typeface="Arial"/>
              </a:rPr>
              <a:t>© IGN – BD ORTHO · Lignes et arrêts : Île-de-France Mobilités</a:t>
            </a:r>
          </a:p>
        </p:txBody>
      </p:sp>
      <p:sp>
        <p:nvSpPr>
          <p:cNvPr id="7" name="Oval 6"/>
          <p:cNvSpPr/>
          <p:nvPr/>
        </p:nvSpPr>
        <p:spPr>
          <a:xfrm>
            <a:off x="7442485" y="3882509"/>
            <a:ext cx="437330" cy="437330"/>
          </a:xfrm>
          <a:prstGeom prst="ellipse">
            <a:avLst/>
          </a:prstGeom>
          <a:solidFill>
            <a:srgbClr val="72C493"/>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0E1F5B"/>
                </a:solidFill>
                <a:latin typeface="Arial"/>
              </a:rPr>
              <a:t>1</a:t>
            </a:r>
          </a:p>
        </p:txBody>
      </p:sp>
      <p:sp>
        <p:nvSpPr>
          <p:cNvPr id="8" name="Oval 7"/>
          <p:cNvSpPr/>
          <p:nvPr/>
        </p:nvSpPr>
        <p:spPr>
          <a:xfrm>
            <a:off x="7829087" y="5381049"/>
            <a:ext cx="437330" cy="437330"/>
          </a:xfrm>
          <a:prstGeom prst="ellipse">
            <a:avLst/>
          </a:prstGeom>
          <a:solidFill>
            <a:srgbClr val="72C493"/>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0E1F5B"/>
                </a:solidFill>
                <a:latin typeface="Arial"/>
              </a:rPr>
              <a:t>1</a:t>
            </a:r>
          </a:p>
        </p:txBody>
      </p:sp>
      <p:sp>
        <p:nvSpPr>
          <p:cNvPr id="9" name="Oval 8"/>
          <p:cNvSpPr/>
          <p:nvPr/>
        </p:nvSpPr>
        <p:spPr>
          <a:xfrm>
            <a:off x="4108175" y="4832911"/>
            <a:ext cx="822960" cy="822960"/>
          </a:xfrm>
          <a:prstGeom prst="ellipse">
            <a:avLst/>
          </a:prstGeom>
          <a:solidFill>
            <a:srgbClr val="72C493"/>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0E1F5B"/>
                </a:solidFill>
                <a:latin typeface="Arial"/>
              </a:rPr>
              <a:t>28</a:t>
            </a:r>
          </a:p>
        </p:txBody>
      </p:sp>
      <p:sp>
        <p:nvSpPr>
          <p:cNvPr id="10" name="Oval 9"/>
          <p:cNvSpPr/>
          <p:nvPr/>
        </p:nvSpPr>
        <p:spPr>
          <a:xfrm>
            <a:off x="10465515" y="6676762"/>
            <a:ext cx="548402" cy="548402"/>
          </a:xfrm>
          <a:prstGeom prst="ellipse">
            <a:avLst/>
          </a:prstGeom>
          <a:solidFill>
            <a:srgbClr val="72C493"/>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0E1F5B"/>
                </a:solidFill>
                <a:latin typeface="Arial"/>
              </a:rPr>
              <a:t>5</a:t>
            </a:r>
          </a:p>
        </p:txBody>
      </p:sp>
      <p:sp>
        <p:nvSpPr>
          <p:cNvPr id="11" name="Oval 10"/>
          <p:cNvSpPr/>
          <p:nvPr/>
        </p:nvSpPr>
        <p:spPr>
          <a:xfrm>
            <a:off x="6189979" y="4508207"/>
            <a:ext cx="474551" cy="474551"/>
          </a:xfrm>
          <a:prstGeom prst="ellipse">
            <a:avLst/>
          </a:prstGeom>
          <a:solidFill>
            <a:srgbClr val="72C493"/>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0E1F5B"/>
                </a:solidFill>
                <a:latin typeface="Arial"/>
              </a:rPr>
              <a:t>2</a:t>
            </a:r>
          </a:p>
        </p:txBody>
      </p:sp>
      <p:sp>
        <p:nvSpPr>
          <p:cNvPr id="12" name="Oval 11"/>
          <p:cNvSpPr/>
          <p:nvPr/>
        </p:nvSpPr>
        <p:spPr>
          <a:xfrm>
            <a:off x="7586582" y="2588942"/>
            <a:ext cx="527189" cy="527189"/>
          </a:xfrm>
          <a:prstGeom prst="ellipse">
            <a:avLst/>
          </a:prstGeom>
          <a:solidFill>
            <a:srgbClr val="72C493"/>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0E1F5B"/>
                </a:solidFill>
                <a:latin typeface="Arial"/>
              </a:rPr>
              <a:t>4</a:t>
            </a:r>
          </a:p>
        </p:txBody>
      </p:sp>
      <p:sp>
        <p:nvSpPr>
          <p:cNvPr id="13" name="Oval 12"/>
          <p:cNvSpPr/>
          <p:nvPr/>
        </p:nvSpPr>
        <p:spPr>
          <a:xfrm>
            <a:off x="3706789" y="4333856"/>
            <a:ext cx="658751" cy="658751"/>
          </a:xfrm>
          <a:prstGeom prst="ellipse">
            <a:avLst/>
          </a:prstGeom>
          <a:solidFill>
            <a:srgbClr val="72C493"/>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0E1F5B"/>
                </a:solidFill>
                <a:latin typeface="Arial"/>
              </a:rPr>
              <a:t>12</a:t>
            </a:r>
          </a:p>
        </p:txBody>
      </p:sp>
      <p:sp>
        <p:nvSpPr>
          <p:cNvPr id="14" name="Oval 13"/>
          <p:cNvSpPr/>
          <p:nvPr/>
        </p:nvSpPr>
        <p:spPr>
          <a:xfrm>
            <a:off x="9449854" y="5149475"/>
            <a:ext cx="548402" cy="548402"/>
          </a:xfrm>
          <a:prstGeom prst="ellipse">
            <a:avLst/>
          </a:prstGeom>
          <a:solidFill>
            <a:srgbClr val="72C493"/>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0E1F5B"/>
                </a:solidFill>
                <a:latin typeface="Arial"/>
              </a:rPr>
              <a:t>5</a:t>
            </a:r>
          </a:p>
        </p:txBody>
      </p:sp>
      <p:sp>
        <p:nvSpPr>
          <p:cNvPr id="15" name="Oval 14"/>
          <p:cNvSpPr/>
          <p:nvPr/>
        </p:nvSpPr>
        <p:spPr>
          <a:xfrm>
            <a:off x="6255489" y="5177830"/>
            <a:ext cx="739157" cy="739157"/>
          </a:xfrm>
          <a:prstGeom prst="ellipse">
            <a:avLst/>
          </a:prstGeom>
          <a:solidFill>
            <a:srgbClr val="72C493"/>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0E1F5B"/>
                </a:solidFill>
                <a:latin typeface="Arial"/>
              </a:rPr>
              <a:t>19</a:t>
            </a:r>
          </a:p>
        </p:txBody>
      </p:sp>
      <p:sp>
        <p:nvSpPr>
          <p:cNvPr id="16" name="Oval 15"/>
          <p:cNvSpPr/>
          <p:nvPr/>
        </p:nvSpPr>
        <p:spPr>
          <a:xfrm>
            <a:off x="9333580" y="7347144"/>
            <a:ext cx="739157" cy="739157"/>
          </a:xfrm>
          <a:prstGeom prst="ellipse">
            <a:avLst/>
          </a:prstGeom>
          <a:solidFill>
            <a:srgbClr val="72C493"/>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0E1F5B"/>
                </a:solidFill>
                <a:latin typeface="Arial"/>
              </a:rPr>
              <a:t>19</a:t>
            </a:r>
          </a:p>
        </p:txBody>
      </p:sp>
      <p:sp>
        <p:nvSpPr>
          <p:cNvPr id="17" name="Oval 16"/>
          <p:cNvSpPr/>
          <p:nvPr/>
        </p:nvSpPr>
        <p:spPr>
          <a:xfrm>
            <a:off x="5372653" y="5141966"/>
            <a:ext cx="778419" cy="778419"/>
          </a:xfrm>
          <a:prstGeom prst="ellipse">
            <a:avLst/>
          </a:prstGeom>
          <a:solidFill>
            <a:srgbClr val="72C493"/>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0E1F5B"/>
                </a:solidFill>
                <a:latin typeface="Arial"/>
              </a:rPr>
              <a:t>23</a:t>
            </a:r>
          </a:p>
        </p:txBody>
      </p:sp>
      <p:sp>
        <p:nvSpPr>
          <p:cNvPr id="18" name="Oval 17"/>
          <p:cNvSpPr/>
          <p:nvPr/>
        </p:nvSpPr>
        <p:spPr>
          <a:xfrm>
            <a:off x="5972486" y="3690396"/>
            <a:ext cx="567580" cy="567580"/>
          </a:xfrm>
          <a:prstGeom prst="ellipse">
            <a:avLst/>
          </a:prstGeom>
          <a:solidFill>
            <a:srgbClr val="72C493"/>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0E1F5B"/>
                </a:solidFill>
                <a:latin typeface="Arial"/>
              </a:rPr>
              <a:t>6</a:t>
            </a:r>
          </a:p>
        </p:txBody>
      </p:sp>
      <p:sp>
        <p:nvSpPr>
          <p:cNvPr id="19" name="Oval 18"/>
          <p:cNvSpPr/>
          <p:nvPr/>
        </p:nvSpPr>
        <p:spPr>
          <a:xfrm>
            <a:off x="9689548" y="4643636"/>
            <a:ext cx="503111" cy="503111"/>
          </a:xfrm>
          <a:prstGeom prst="ellipse">
            <a:avLst/>
          </a:prstGeom>
          <a:solidFill>
            <a:srgbClr val="72C493"/>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0E1F5B"/>
                </a:solidFill>
                <a:latin typeface="Arial"/>
              </a:rPr>
              <a:t>3</a:t>
            </a:r>
          </a:p>
        </p:txBody>
      </p:sp>
      <p:sp>
        <p:nvSpPr>
          <p:cNvPr id="20" name="Oval 19"/>
          <p:cNvSpPr/>
          <p:nvPr/>
        </p:nvSpPr>
        <p:spPr>
          <a:xfrm>
            <a:off x="8893951" y="3835190"/>
            <a:ext cx="796765" cy="796765"/>
          </a:xfrm>
          <a:prstGeom prst="ellipse">
            <a:avLst/>
          </a:prstGeom>
          <a:solidFill>
            <a:srgbClr val="72C493"/>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0E1F5B"/>
                </a:solidFill>
                <a:latin typeface="Arial"/>
              </a:rPr>
              <a:t>25</a:t>
            </a:r>
          </a:p>
        </p:txBody>
      </p:sp>
      <p:sp>
        <p:nvSpPr>
          <p:cNvPr id="21" name="Oval 20"/>
          <p:cNvSpPr/>
          <p:nvPr/>
        </p:nvSpPr>
        <p:spPr>
          <a:xfrm>
            <a:off x="7978336" y="6438977"/>
            <a:ext cx="503111" cy="503111"/>
          </a:xfrm>
          <a:prstGeom prst="ellipse">
            <a:avLst/>
          </a:prstGeom>
          <a:solidFill>
            <a:srgbClr val="72C493"/>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0E1F5B"/>
                </a:solidFill>
                <a:latin typeface="Arial"/>
              </a:rPr>
              <a:t>3</a:t>
            </a:r>
          </a:p>
        </p:txBody>
      </p:sp>
      <p:sp>
        <p:nvSpPr>
          <p:cNvPr id="22" name="TextBox 21"/>
          <p:cNvSpPr txBox="1"/>
          <p:nvPr/>
        </p:nvSpPr>
        <p:spPr>
          <a:xfrm>
            <a:off x="6975350" y="3662263"/>
            <a:ext cx="1379529" cy="274320"/>
          </a:xfrm>
          <a:prstGeom prst="rect">
            <a:avLst/>
          </a:prstGeom>
          <a:solidFill>
            <a:srgbClr val="0E1F5B"/>
          </a:solidFill>
        </p:spPr>
        <p:txBody>
          <a:bodyPr wrap="none" anchor="t" lIns="45720" rIns="45720" tIns="0" bIns="0"/>
          <a:lstStyle/>
          <a:p>
            <a:pPr algn="l"/>
            <a:r>
              <a:rPr sz="1200" b="1">
                <a:solidFill>
                  <a:srgbClr val="FFFFFF"/>
                </a:solidFill>
                <a:latin typeface="Arial"/>
              </a:rPr>
              <a:t>Ballon – Chapelle</a:t>
            </a:r>
          </a:p>
        </p:txBody>
      </p:sp>
      <p:sp>
        <p:nvSpPr>
          <p:cNvPr id="23" name="TextBox 22"/>
          <p:cNvSpPr txBox="1"/>
          <p:nvPr/>
        </p:nvSpPr>
        <p:spPr>
          <a:xfrm>
            <a:off x="8157480" y="5215666"/>
            <a:ext cx="744728" cy="274320"/>
          </a:xfrm>
          <a:prstGeom prst="rect">
            <a:avLst/>
          </a:prstGeom>
          <a:solidFill>
            <a:srgbClr val="0E1F5B"/>
          </a:solidFill>
        </p:spPr>
        <p:txBody>
          <a:bodyPr wrap="none" anchor="t" lIns="45720" rIns="45720" tIns="0" bIns="0"/>
          <a:lstStyle/>
          <a:p>
            <a:pPr algn="l"/>
            <a:r>
              <a:rPr sz="1200" b="1">
                <a:solidFill>
                  <a:srgbClr val="FFFFFF"/>
                </a:solidFill>
                <a:latin typeface="Arial"/>
              </a:rPr>
              <a:t>Chapelle</a:t>
            </a:r>
          </a:p>
        </p:txBody>
      </p:sp>
      <p:sp>
        <p:nvSpPr>
          <p:cNvPr id="24" name="TextBox 23"/>
          <p:cNvSpPr txBox="1"/>
          <p:nvPr/>
        </p:nvSpPr>
        <p:spPr>
          <a:xfrm>
            <a:off x="2645135" y="5518711"/>
            <a:ext cx="1219192" cy="274320"/>
          </a:xfrm>
          <a:prstGeom prst="rect">
            <a:avLst/>
          </a:prstGeom>
          <a:solidFill>
            <a:srgbClr val="0E1F5B"/>
          </a:solidFill>
        </p:spPr>
        <p:txBody>
          <a:bodyPr wrap="none" anchor="t" lIns="45720" rIns="45720" tIns="0" bIns="0"/>
          <a:lstStyle/>
          <a:p>
            <a:pPr algn="l"/>
            <a:r>
              <a:rPr sz="1200" b="1">
                <a:solidFill>
                  <a:srgbClr val="FFFFFF"/>
                </a:solidFill>
                <a:latin typeface="Arial"/>
              </a:rPr>
              <a:t>Cité des Hêtres</a:t>
            </a:r>
          </a:p>
        </p:txBody>
      </p:sp>
      <p:sp>
        <p:nvSpPr>
          <p:cNvPr id="25" name="TextBox 24"/>
          <p:cNvSpPr txBox="1"/>
          <p:nvPr/>
        </p:nvSpPr>
        <p:spPr>
          <a:xfrm>
            <a:off x="10876876" y="6841235"/>
            <a:ext cx="1368615" cy="274320"/>
          </a:xfrm>
          <a:prstGeom prst="rect">
            <a:avLst/>
          </a:prstGeom>
          <a:solidFill>
            <a:srgbClr val="0E1F5B"/>
          </a:solidFill>
        </p:spPr>
        <p:txBody>
          <a:bodyPr wrap="none" anchor="t" lIns="45720" rIns="45720" tIns="0" bIns="0"/>
          <a:lstStyle/>
          <a:p>
            <a:pPr algn="l"/>
            <a:r>
              <a:rPr sz="1200" b="1">
                <a:solidFill>
                  <a:srgbClr val="FFFFFF"/>
                </a:solidFill>
                <a:latin typeface="Arial"/>
              </a:rPr>
              <a:t>Collège des Yvris</a:t>
            </a:r>
          </a:p>
        </p:txBody>
      </p:sp>
      <p:sp>
        <p:nvSpPr>
          <p:cNvPr id="26" name="TextBox 25"/>
          <p:cNvSpPr txBox="1"/>
          <p:nvPr/>
        </p:nvSpPr>
        <p:spPr>
          <a:xfrm>
            <a:off x="5284254" y="4608323"/>
            <a:ext cx="964795" cy="274320"/>
          </a:xfrm>
          <a:prstGeom prst="rect">
            <a:avLst/>
          </a:prstGeom>
          <a:solidFill>
            <a:srgbClr val="0E1F5B"/>
          </a:solidFill>
        </p:spPr>
        <p:txBody>
          <a:bodyPr wrap="none" anchor="t" lIns="45720" rIns="45720" tIns="0" bIns="0"/>
          <a:lstStyle/>
          <a:p>
            <a:pPr algn="l"/>
            <a:r>
              <a:rPr sz="1200" b="1">
                <a:solidFill>
                  <a:srgbClr val="FFFFFF"/>
                </a:solidFill>
                <a:latin typeface="Arial"/>
              </a:rPr>
              <a:t>Gabriel Péri</a:t>
            </a:r>
          </a:p>
        </p:txBody>
      </p:sp>
      <p:sp>
        <p:nvSpPr>
          <p:cNvPr id="27" name="TextBox 26"/>
          <p:cNvSpPr txBox="1"/>
          <p:nvPr/>
        </p:nvSpPr>
        <p:spPr>
          <a:xfrm>
            <a:off x="8888062" y="2397402"/>
            <a:ext cx="1557527" cy="274320"/>
          </a:xfrm>
          <a:prstGeom prst="rect">
            <a:avLst/>
          </a:prstGeom>
          <a:solidFill>
            <a:srgbClr val="0E1F5B"/>
          </a:solidFill>
        </p:spPr>
        <p:txBody>
          <a:bodyPr wrap="none" anchor="t" lIns="45720" rIns="45720" tIns="0" bIns="0"/>
          <a:lstStyle/>
          <a:p>
            <a:pPr algn="l"/>
            <a:r>
              <a:rPr sz="1200" b="1">
                <a:solidFill>
                  <a:srgbClr val="FFFFFF"/>
                </a:solidFill>
                <a:latin typeface="Arial"/>
              </a:rPr>
              <a:t>La Butte aux Cailles</a:t>
            </a:r>
          </a:p>
        </p:txBody>
      </p:sp>
      <p:sp>
        <p:nvSpPr>
          <p:cNvPr id="28" name="TextBox 27"/>
          <p:cNvSpPr txBox="1"/>
          <p:nvPr/>
        </p:nvSpPr>
        <p:spPr>
          <a:xfrm>
            <a:off x="6844337" y="2669657"/>
            <a:ext cx="922528" cy="274320"/>
          </a:xfrm>
          <a:prstGeom prst="rect">
            <a:avLst/>
          </a:prstGeom>
          <a:solidFill>
            <a:srgbClr val="0E1F5B"/>
          </a:solidFill>
        </p:spPr>
        <p:txBody>
          <a:bodyPr wrap="none" anchor="t" lIns="45720" rIns="45720" tIns="0" bIns="0"/>
          <a:lstStyle/>
          <a:p>
            <a:pPr algn="l"/>
            <a:r>
              <a:rPr sz="1200" b="1">
                <a:solidFill>
                  <a:srgbClr val="FFFFFF"/>
                </a:solidFill>
                <a:latin typeface="Arial"/>
              </a:rPr>
              <a:t>Le Closeau</a:t>
            </a:r>
          </a:p>
        </p:txBody>
      </p:sp>
      <p:sp>
        <p:nvSpPr>
          <p:cNvPr id="29" name="TextBox 28"/>
          <p:cNvSpPr txBox="1"/>
          <p:nvPr/>
        </p:nvSpPr>
        <p:spPr>
          <a:xfrm>
            <a:off x="3076045" y="4251752"/>
            <a:ext cx="626062" cy="274320"/>
          </a:xfrm>
          <a:prstGeom prst="rect">
            <a:avLst/>
          </a:prstGeom>
          <a:solidFill>
            <a:srgbClr val="0E1F5B"/>
          </a:solidFill>
        </p:spPr>
        <p:txBody>
          <a:bodyPr wrap="none" anchor="t" lIns="45720" rIns="45720" tIns="0" bIns="0"/>
          <a:lstStyle/>
          <a:p>
            <a:pPr algn="l"/>
            <a:r>
              <a:rPr sz="1200" b="1">
                <a:solidFill>
                  <a:srgbClr val="FFFFFF"/>
                </a:solidFill>
                <a:latin typeface="Arial"/>
              </a:rPr>
              <a:t>Le Fort</a:t>
            </a:r>
          </a:p>
        </p:txBody>
      </p:sp>
      <p:sp>
        <p:nvSpPr>
          <p:cNvPr id="30" name="TextBox 29"/>
          <p:cNvSpPr txBox="1"/>
          <p:nvPr/>
        </p:nvSpPr>
        <p:spPr>
          <a:xfrm>
            <a:off x="10733207" y="4762737"/>
            <a:ext cx="1162835" cy="274320"/>
          </a:xfrm>
          <a:prstGeom prst="rect">
            <a:avLst/>
          </a:prstGeom>
          <a:solidFill>
            <a:srgbClr val="0E1F5B"/>
          </a:solidFill>
        </p:spPr>
        <p:txBody>
          <a:bodyPr wrap="none" anchor="t" lIns="45720" rIns="45720" tIns="0" bIns="0"/>
          <a:lstStyle/>
          <a:p>
            <a:pPr algn="l"/>
            <a:r>
              <a:rPr sz="1200" b="1">
                <a:solidFill>
                  <a:srgbClr val="FFFFFF"/>
                </a:solidFill>
                <a:latin typeface="Arial"/>
              </a:rPr>
              <a:t>Les Aérostiers</a:t>
            </a:r>
          </a:p>
        </p:txBody>
      </p:sp>
      <p:sp>
        <p:nvSpPr>
          <p:cNvPr id="31" name="TextBox 30"/>
          <p:cNvSpPr txBox="1"/>
          <p:nvPr/>
        </p:nvSpPr>
        <p:spPr>
          <a:xfrm>
            <a:off x="9861216" y="5377957"/>
            <a:ext cx="1032859" cy="274320"/>
          </a:xfrm>
          <a:prstGeom prst="rect">
            <a:avLst/>
          </a:prstGeom>
          <a:solidFill>
            <a:srgbClr val="0E1F5B"/>
          </a:solidFill>
        </p:spPr>
        <p:txBody>
          <a:bodyPr wrap="none" anchor="t" lIns="45720" rIns="45720" tIns="0" bIns="0"/>
          <a:lstStyle/>
          <a:p>
            <a:pPr algn="l"/>
            <a:r>
              <a:rPr sz="1200" b="1">
                <a:solidFill>
                  <a:srgbClr val="FFFFFF"/>
                </a:solidFill>
                <a:latin typeface="Arial"/>
              </a:rPr>
              <a:t>Les Graviers</a:t>
            </a:r>
          </a:p>
        </p:txBody>
      </p:sp>
      <p:sp>
        <p:nvSpPr>
          <p:cNvPr id="32" name="TextBox 31"/>
          <p:cNvSpPr txBox="1"/>
          <p:nvPr/>
        </p:nvSpPr>
        <p:spPr>
          <a:xfrm>
            <a:off x="6670787" y="6004608"/>
            <a:ext cx="1854192" cy="274320"/>
          </a:xfrm>
          <a:prstGeom prst="rect">
            <a:avLst/>
          </a:prstGeom>
          <a:solidFill>
            <a:srgbClr val="0E1F5B"/>
          </a:solidFill>
        </p:spPr>
        <p:txBody>
          <a:bodyPr wrap="none" anchor="t" lIns="45720" rIns="45720" tIns="0" bIns="0"/>
          <a:lstStyle/>
          <a:p>
            <a:pPr algn="l"/>
            <a:r>
              <a:rPr sz="1200" b="1">
                <a:solidFill>
                  <a:srgbClr val="FFFFFF"/>
                </a:solidFill>
                <a:latin typeface="Arial"/>
              </a:rPr>
              <a:t>Les Richardets – Centre</a:t>
            </a:r>
          </a:p>
        </p:txBody>
      </p:sp>
      <p:sp>
        <p:nvSpPr>
          <p:cNvPr id="33" name="TextBox 32"/>
          <p:cNvSpPr txBox="1"/>
          <p:nvPr/>
        </p:nvSpPr>
        <p:spPr>
          <a:xfrm>
            <a:off x="6868518" y="7762442"/>
            <a:ext cx="2401681" cy="274320"/>
          </a:xfrm>
          <a:prstGeom prst="rect">
            <a:avLst/>
          </a:prstGeom>
          <a:solidFill>
            <a:srgbClr val="0E1F5B"/>
          </a:solidFill>
        </p:spPr>
        <p:txBody>
          <a:bodyPr wrap="none" anchor="t" lIns="45720" rIns="45720" tIns="0" bIns="0"/>
          <a:lstStyle/>
          <a:p>
            <a:pPr algn="l"/>
            <a:r>
              <a:rPr sz="1200" b="1">
                <a:solidFill>
                  <a:srgbClr val="FFFFFF"/>
                </a:solidFill>
                <a:latin typeface="Arial"/>
              </a:rPr>
              <a:t>Les Yvris – Noisy-le-Grand RER</a:t>
            </a:r>
          </a:p>
        </p:txBody>
      </p:sp>
      <p:sp>
        <p:nvSpPr>
          <p:cNvPr id="34" name="TextBox 33"/>
          <p:cNvSpPr txBox="1"/>
          <p:nvPr/>
        </p:nvSpPr>
        <p:spPr>
          <a:xfrm>
            <a:off x="2047015" y="3366958"/>
            <a:ext cx="1091596" cy="274320"/>
          </a:xfrm>
          <a:prstGeom prst="rect">
            <a:avLst/>
          </a:prstGeom>
          <a:solidFill>
            <a:srgbClr val="0E1F5B"/>
          </a:solidFill>
        </p:spPr>
        <p:txBody>
          <a:bodyPr wrap="none" anchor="t" lIns="45720" rIns="45720" tIns="0" bIns="0"/>
          <a:lstStyle/>
          <a:p>
            <a:pPr algn="l"/>
            <a:r>
              <a:rPr sz="1200" b="1">
                <a:solidFill>
                  <a:srgbClr val="FFFFFF"/>
                </a:solidFill>
                <a:latin typeface="Arial"/>
              </a:rPr>
              <a:t>Moulin à Vent</a:t>
            </a:r>
          </a:p>
        </p:txBody>
      </p:sp>
      <p:sp>
        <p:nvSpPr>
          <p:cNvPr id="35" name="TextBox 34"/>
          <p:cNvSpPr txBox="1"/>
          <p:nvPr/>
        </p:nvSpPr>
        <p:spPr>
          <a:xfrm>
            <a:off x="4847462" y="5942655"/>
            <a:ext cx="1345795" cy="274320"/>
          </a:xfrm>
          <a:prstGeom prst="rect">
            <a:avLst/>
          </a:prstGeom>
          <a:solidFill>
            <a:srgbClr val="0E1F5B"/>
          </a:solidFill>
        </p:spPr>
        <p:txBody>
          <a:bodyPr wrap="none" anchor="t" lIns="45720" rIns="45720" tIns="0" bIns="0"/>
          <a:lstStyle/>
          <a:p>
            <a:pPr algn="l"/>
            <a:r>
              <a:rPr sz="1200" b="1">
                <a:solidFill>
                  <a:srgbClr val="FFFFFF"/>
                </a:solidFill>
                <a:latin typeface="Arial"/>
              </a:rPr>
              <a:t>Place du Combat</a:t>
            </a:r>
          </a:p>
        </p:txBody>
      </p:sp>
      <p:sp>
        <p:nvSpPr>
          <p:cNvPr id="36" name="TextBox 35"/>
          <p:cNvSpPr txBox="1"/>
          <p:nvPr/>
        </p:nvSpPr>
        <p:spPr>
          <a:xfrm>
            <a:off x="4564636" y="3791306"/>
            <a:ext cx="1464262"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 la Chapelle</a:t>
            </a:r>
          </a:p>
        </p:txBody>
      </p:sp>
      <p:sp>
        <p:nvSpPr>
          <p:cNvPr id="37" name="TextBox 36"/>
          <p:cNvSpPr txBox="1"/>
          <p:nvPr/>
        </p:nvSpPr>
        <p:spPr>
          <a:xfrm>
            <a:off x="8249464" y="4712312"/>
            <a:ext cx="1493035"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des Aérostiers</a:t>
            </a:r>
          </a:p>
        </p:txBody>
      </p:sp>
      <p:sp>
        <p:nvSpPr>
          <p:cNvPr id="38" name="TextBox 37"/>
          <p:cNvSpPr txBox="1"/>
          <p:nvPr/>
        </p:nvSpPr>
        <p:spPr>
          <a:xfrm>
            <a:off x="9429494" y="3886101"/>
            <a:ext cx="1133863"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du Ballon</a:t>
            </a:r>
          </a:p>
        </p:txBody>
      </p:sp>
      <p:sp>
        <p:nvSpPr>
          <p:cNvPr id="39" name="TextBox 38"/>
          <p:cNvSpPr txBox="1"/>
          <p:nvPr/>
        </p:nvSpPr>
        <p:spPr>
          <a:xfrm>
            <a:off x="8367052" y="6580805"/>
            <a:ext cx="970351" cy="274320"/>
          </a:xfrm>
          <a:prstGeom prst="rect">
            <a:avLst/>
          </a:prstGeom>
          <a:solidFill>
            <a:srgbClr val="0E1F5B"/>
          </a:solidFill>
        </p:spPr>
        <p:txBody>
          <a:bodyPr wrap="none" anchor="t" lIns="45720" rIns="45720" tIns="0" bIns="0"/>
          <a:lstStyle/>
          <a:p>
            <a:pPr algn="l"/>
            <a:r>
              <a:rPr sz="1200" b="1">
                <a:solidFill>
                  <a:srgbClr val="FFFFFF"/>
                </a:solidFill>
                <a:latin typeface="Arial"/>
              </a:rPr>
              <a:t>Victor Hugo</a:t>
            </a:r>
          </a:p>
        </p:txBody>
      </p:sp>
      <p:sp>
        <p:nvSpPr>
          <p:cNvPr id="40" name="Rectangle 39"/>
          <p:cNvSpPr/>
          <p:nvPr/>
        </p:nvSpPr>
        <p:spPr>
          <a:xfrm>
            <a:off x="950976" y="9069705"/>
            <a:ext cx="731520" cy="182880"/>
          </a:xfrm>
          <a:prstGeom prst="rect">
            <a:avLst/>
          </a:prstGeom>
          <a:solidFill>
            <a:srgbClr val="D2D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81965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310</a:t>
            </a:r>
          </a:p>
        </p:txBody>
      </p:sp>
      <p:sp>
        <p:nvSpPr>
          <p:cNvPr id="42" name="Rectangle 41"/>
          <p:cNvSpPr/>
          <p:nvPr/>
        </p:nvSpPr>
        <p:spPr>
          <a:xfrm>
            <a:off x="3328416" y="9069705"/>
            <a:ext cx="731520" cy="182880"/>
          </a:xfrm>
          <a:prstGeom prst="rect">
            <a:avLst/>
          </a:prstGeom>
          <a:solidFill>
            <a:srgbClr val="FF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9709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312</a:t>
            </a:r>
          </a:p>
        </p:txBody>
      </p:sp>
      <p:sp>
        <p:nvSpPr>
          <p:cNvPr id="44" name="Rectangle 43"/>
          <p:cNvSpPr/>
          <p:nvPr/>
        </p:nvSpPr>
        <p:spPr>
          <a:xfrm>
            <a:off x="5705856" y="9069705"/>
            <a:ext cx="731520" cy="182880"/>
          </a:xfrm>
          <a:prstGeom prst="rect">
            <a:avLst/>
          </a:prstGeom>
          <a:solidFill>
            <a:srgbClr val="DC9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7453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320</a:t>
            </a:r>
          </a:p>
        </p:txBody>
      </p:sp>
      <p:sp>
        <p:nvSpPr>
          <p:cNvPr id="46" name="TextBox 45"/>
          <p:cNvSpPr txBox="1"/>
          <p:nvPr/>
        </p:nvSpPr>
        <p:spPr>
          <a:xfrm>
            <a:off x="12618720" y="2148840"/>
            <a:ext cx="4754880" cy="1097280"/>
          </a:xfrm>
          <a:prstGeom prst="rect">
            <a:avLst/>
          </a:prstGeom>
          <a:noFill/>
        </p:spPr>
        <p:txBody>
          <a:bodyPr wrap="square" anchor="t" lIns="0" rIns="0" tIns="0" bIns="0">
            <a:spAutoFit/>
          </a:bodyPr>
          <a:lstStyle/>
          <a:p>
            <a:pPr algn="l"/>
            <a:r>
              <a:rPr sz="7200" b="1">
                <a:solidFill>
                  <a:srgbClr val="72C493"/>
                </a:solidFill>
                <a:latin typeface="Arial"/>
              </a:rPr>
              <a:t>156</a:t>
            </a:r>
          </a:p>
        </p:txBody>
      </p:sp>
      <p:sp>
        <p:nvSpPr>
          <p:cNvPr id="47" name="TextBox 46"/>
          <p:cNvSpPr txBox="1"/>
          <p:nvPr/>
        </p:nvSpPr>
        <p:spPr>
          <a:xfrm>
            <a:off x="12618720" y="3246120"/>
            <a:ext cx="4754880" cy="731520"/>
          </a:xfrm>
          <a:prstGeom prst="rect">
            <a:avLst/>
          </a:prstGeom>
          <a:noFill/>
        </p:spPr>
        <p:txBody>
          <a:bodyPr wrap="square" anchor="t" lIns="0" rIns="0" tIns="0" bIns="0">
            <a:spAutoFit/>
          </a:bodyPr>
          <a:lstStyle/>
          <a:p>
            <a:pPr algn="l"/>
            <a:r>
              <a:rPr sz="2200" b="1">
                <a:solidFill>
                  <a:srgbClr val="FFFFFF"/>
                </a:solidFill>
                <a:latin typeface="Arial"/>
              </a:rPr>
              <a:t>signalements aux arrêts du quartier</a:t>
            </a:r>
          </a:p>
        </p:txBody>
      </p:sp>
      <p:sp>
        <p:nvSpPr>
          <p:cNvPr id="48" name="TextBox 47"/>
          <p:cNvSpPr txBox="1"/>
          <p:nvPr/>
        </p:nvSpPr>
        <p:spPr>
          <a:xfrm>
            <a:off x="12618720" y="3931920"/>
            <a:ext cx="4754880" cy="411480"/>
          </a:xfrm>
          <a:prstGeom prst="rect">
            <a:avLst/>
          </a:prstGeom>
          <a:noFill/>
        </p:spPr>
        <p:txBody>
          <a:bodyPr wrap="square" anchor="t" lIns="0" rIns="0" tIns="0" bIns="0">
            <a:spAutoFit/>
          </a:bodyPr>
          <a:lstStyle/>
          <a:p>
            <a:pPr algn="l"/>
            <a:r>
              <a:rPr sz="1700" b="0">
                <a:solidFill>
                  <a:srgbClr val="8A90B0"/>
                </a:solidFill>
                <a:latin typeface="Arial"/>
              </a:rPr>
              <a:t>sur 472 dans toute la ville</a:t>
            </a:r>
          </a:p>
        </p:txBody>
      </p:sp>
      <p:sp>
        <p:nvSpPr>
          <p:cNvPr id="49" name="TextBox 48"/>
          <p:cNvSpPr txBox="1"/>
          <p:nvPr/>
        </p:nvSpPr>
        <p:spPr>
          <a:xfrm>
            <a:off x="12618720" y="4572000"/>
            <a:ext cx="4754880" cy="365760"/>
          </a:xfrm>
          <a:prstGeom prst="rect">
            <a:avLst/>
          </a:prstGeom>
          <a:noFill/>
        </p:spPr>
        <p:txBody>
          <a:bodyPr wrap="square" anchor="t" lIns="0" rIns="0" tIns="0" bIns="0">
            <a:spAutoFit/>
          </a:bodyPr>
          <a:lstStyle/>
          <a:p>
            <a:pPr algn="l"/>
            <a:r>
              <a:rPr sz="1600" b="1" spc="120">
                <a:solidFill>
                  <a:srgbClr val="72C493"/>
                </a:solidFill>
                <a:latin typeface="Arial"/>
              </a:rPr>
              <a:t>ARRÊTS LES PLUS SIGNALÉS</a:t>
            </a:r>
          </a:p>
        </p:txBody>
      </p:sp>
      <p:sp>
        <p:nvSpPr>
          <p:cNvPr id="50" name="TextBox 49"/>
          <p:cNvSpPr txBox="1"/>
          <p:nvPr/>
        </p:nvSpPr>
        <p:spPr>
          <a:xfrm>
            <a:off x="12618720" y="5029200"/>
            <a:ext cx="731520" cy="411480"/>
          </a:xfrm>
          <a:prstGeom prst="rect">
            <a:avLst/>
          </a:prstGeom>
          <a:noFill/>
        </p:spPr>
        <p:txBody>
          <a:bodyPr wrap="square" anchor="t" lIns="0" rIns="0" tIns="0" bIns="0">
            <a:spAutoFit/>
          </a:bodyPr>
          <a:lstStyle/>
          <a:p>
            <a:pPr algn="l"/>
            <a:r>
              <a:rPr sz="2200" b="1">
                <a:solidFill>
                  <a:srgbClr val="72C493"/>
                </a:solidFill>
                <a:latin typeface="Arial"/>
              </a:rPr>
              <a:t>28</a:t>
            </a:r>
          </a:p>
        </p:txBody>
      </p:sp>
      <p:sp>
        <p:nvSpPr>
          <p:cNvPr id="51" name="TextBox 50"/>
          <p:cNvSpPr txBox="1"/>
          <p:nvPr/>
        </p:nvSpPr>
        <p:spPr>
          <a:xfrm>
            <a:off x="13350240" y="5065776"/>
            <a:ext cx="4023360" cy="411480"/>
          </a:xfrm>
          <a:prstGeom prst="rect">
            <a:avLst/>
          </a:prstGeom>
          <a:noFill/>
        </p:spPr>
        <p:txBody>
          <a:bodyPr wrap="square" anchor="t" lIns="0" rIns="0" tIns="0" bIns="0">
            <a:spAutoFit/>
          </a:bodyPr>
          <a:lstStyle/>
          <a:p>
            <a:pPr algn="l"/>
            <a:r>
              <a:rPr sz="1800" b="1">
                <a:solidFill>
                  <a:srgbClr val="FFFFFF"/>
                </a:solidFill>
                <a:latin typeface="Arial"/>
              </a:rPr>
              <a:t>Cité des Hêtres</a:t>
            </a:r>
          </a:p>
        </p:txBody>
      </p:sp>
      <p:sp>
        <p:nvSpPr>
          <p:cNvPr id="52" name="TextBox 51"/>
          <p:cNvSpPr txBox="1"/>
          <p:nvPr/>
        </p:nvSpPr>
        <p:spPr>
          <a:xfrm>
            <a:off x="12618720" y="5486400"/>
            <a:ext cx="731520" cy="411480"/>
          </a:xfrm>
          <a:prstGeom prst="rect">
            <a:avLst/>
          </a:prstGeom>
          <a:noFill/>
        </p:spPr>
        <p:txBody>
          <a:bodyPr wrap="square" anchor="t" lIns="0" rIns="0" tIns="0" bIns="0">
            <a:spAutoFit/>
          </a:bodyPr>
          <a:lstStyle/>
          <a:p>
            <a:pPr algn="l"/>
            <a:r>
              <a:rPr sz="2200" b="1">
                <a:solidFill>
                  <a:srgbClr val="72C493"/>
                </a:solidFill>
                <a:latin typeface="Arial"/>
              </a:rPr>
              <a:t>25</a:t>
            </a:r>
          </a:p>
        </p:txBody>
      </p:sp>
      <p:sp>
        <p:nvSpPr>
          <p:cNvPr id="53" name="TextBox 52"/>
          <p:cNvSpPr txBox="1"/>
          <p:nvPr/>
        </p:nvSpPr>
        <p:spPr>
          <a:xfrm>
            <a:off x="13350240" y="5522976"/>
            <a:ext cx="4023360" cy="411480"/>
          </a:xfrm>
          <a:prstGeom prst="rect">
            <a:avLst/>
          </a:prstGeom>
          <a:noFill/>
        </p:spPr>
        <p:txBody>
          <a:bodyPr wrap="square" anchor="t" lIns="0" rIns="0" tIns="0" bIns="0">
            <a:spAutoFit/>
          </a:bodyPr>
          <a:lstStyle/>
          <a:p>
            <a:pPr algn="l"/>
            <a:r>
              <a:rPr sz="1800" b="1">
                <a:solidFill>
                  <a:srgbClr val="FFFFFF"/>
                </a:solidFill>
                <a:latin typeface="Arial"/>
              </a:rPr>
              <a:t>Rue du Ballon</a:t>
            </a:r>
          </a:p>
        </p:txBody>
      </p:sp>
      <p:sp>
        <p:nvSpPr>
          <p:cNvPr id="54" name="TextBox 53"/>
          <p:cNvSpPr txBox="1"/>
          <p:nvPr/>
        </p:nvSpPr>
        <p:spPr>
          <a:xfrm>
            <a:off x="12618720" y="5943600"/>
            <a:ext cx="731520" cy="411480"/>
          </a:xfrm>
          <a:prstGeom prst="rect">
            <a:avLst/>
          </a:prstGeom>
          <a:noFill/>
        </p:spPr>
        <p:txBody>
          <a:bodyPr wrap="square" anchor="t" lIns="0" rIns="0" tIns="0" bIns="0">
            <a:spAutoFit/>
          </a:bodyPr>
          <a:lstStyle/>
          <a:p>
            <a:pPr algn="l"/>
            <a:r>
              <a:rPr sz="2200" b="1">
                <a:solidFill>
                  <a:srgbClr val="72C493"/>
                </a:solidFill>
                <a:latin typeface="Arial"/>
              </a:rPr>
              <a:t>23</a:t>
            </a:r>
          </a:p>
        </p:txBody>
      </p:sp>
      <p:sp>
        <p:nvSpPr>
          <p:cNvPr id="55" name="TextBox 54"/>
          <p:cNvSpPr txBox="1"/>
          <p:nvPr/>
        </p:nvSpPr>
        <p:spPr>
          <a:xfrm>
            <a:off x="13350240" y="5980176"/>
            <a:ext cx="4023360" cy="411480"/>
          </a:xfrm>
          <a:prstGeom prst="rect">
            <a:avLst/>
          </a:prstGeom>
          <a:noFill/>
        </p:spPr>
        <p:txBody>
          <a:bodyPr wrap="square" anchor="t" lIns="0" rIns="0" tIns="0" bIns="0">
            <a:spAutoFit/>
          </a:bodyPr>
          <a:lstStyle/>
          <a:p>
            <a:pPr algn="l"/>
            <a:r>
              <a:rPr sz="1800" b="1">
                <a:solidFill>
                  <a:srgbClr val="FFFFFF"/>
                </a:solidFill>
                <a:latin typeface="Arial"/>
              </a:rPr>
              <a:t>Place du Combat</a:t>
            </a:r>
          </a:p>
        </p:txBody>
      </p:sp>
      <p:sp>
        <p:nvSpPr>
          <p:cNvPr id="56" name="TextBox 55"/>
          <p:cNvSpPr txBox="1"/>
          <p:nvPr/>
        </p:nvSpPr>
        <p:spPr>
          <a:xfrm>
            <a:off x="12618720" y="6400800"/>
            <a:ext cx="731520" cy="411480"/>
          </a:xfrm>
          <a:prstGeom prst="rect">
            <a:avLst/>
          </a:prstGeom>
          <a:noFill/>
        </p:spPr>
        <p:txBody>
          <a:bodyPr wrap="square" anchor="t" lIns="0" rIns="0" tIns="0" bIns="0">
            <a:spAutoFit/>
          </a:bodyPr>
          <a:lstStyle/>
          <a:p>
            <a:pPr algn="l"/>
            <a:r>
              <a:rPr sz="2200" b="1">
                <a:solidFill>
                  <a:srgbClr val="72C493"/>
                </a:solidFill>
                <a:latin typeface="Arial"/>
              </a:rPr>
              <a:t>19</a:t>
            </a:r>
          </a:p>
        </p:txBody>
      </p:sp>
      <p:sp>
        <p:nvSpPr>
          <p:cNvPr id="57" name="TextBox 56"/>
          <p:cNvSpPr txBox="1"/>
          <p:nvPr/>
        </p:nvSpPr>
        <p:spPr>
          <a:xfrm>
            <a:off x="13350240" y="6437376"/>
            <a:ext cx="4023360" cy="411480"/>
          </a:xfrm>
          <a:prstGeom prst="rect">
            <a:avLst/>
          </a:prstGeom>
          <a:noFill/>
        </p:spPr>
        <p:txBody>
          <a:bodyPr wrap="square" anchor="t" lIns="0" rIns="0" tIns="0" bIns="0">
            <a:spAutoFit/>
          </a:bodyPr>
          <a:lstStyle/>
          <a:p>
            <a:pPr algn="l"/>
            <a:r>
              <a:rPr sz="1800" b="1">
                <a:solidFill>
                  <a:srgbClr val="FFFFFF"/>
                </a:solidFill>
                <a:latin typeface="Arial"/>
              </a:rPr>
              <a:t>Les Richardets – Centre</a:t>
            </a:r>
          </a:p>
        </p:txBody>
      </p:sp>
      <p:sp>
        <p:nvSpPr>
          <p:cNvPr id="58" name="TextBox 57"/>
          <p:cNvSpPr txBox="1"/>
          <p:nvPr/>
        </p:nvSpPr>
        <p:spPr>
          <a:xfrm>
            <a:off x="12618720" y="6995160"/>
            <a:ext cx="4754880" cy="365760"/>
          </a:xfrm>
          <a:prstGeom prst="rect">
            <a:avLst/>
          </a:prstGeom>
          <a:noFill/>
        </p:spPr>
        <p:txBody>
          <a:bodyPr wrap="square" anchor="t" lIns="0" rIns="0" tIns="0" bIns="0">
            <a:spAutoFit/>
          </a:bodyPr>
          <a:lstStyle/>
          <a:p>
            <a:pPr algn="l"/>
            <a:r>
              <a:rPr sz="1600" b="1" spc="120">
                <a:solidFill>
                  <a:srgbClr val="72C493"/>
                </a:solidFill>
                <a:latin typeface="Arial"/>
              </a:rPr>
              <a:t>PROBLÈMES LES PLUS CITÉS</a:t>
            </a:r>
          </a:p>
        </p:txBody>
      </p:sp>
      <p:sp>
        <p:nvSpPr>
          <p:cNvPr id="59" name="TextBox 58"/>
          <p:cNvSpPr txBox="1"/>
          <p:nvPr/>
        </p:nvSpPr>
        <p:spPr>
          <a:xfrm>
            <a:off x="12618720" y="7452360"/>
            <a:ext cx="4754880" cy="320040"/>
          </a:xfrm>
          <a:prstGeom prst="rect">
            <a:avLst/>
          </a:prstGeom>
          <a:noFill/>
        </p:spPr>
        <p:txBody>
          <a:bodyPr wrap="square" anchor="t" lIns="0" rIns="0" tIns="0" bIns="0">
            <a:spAutoFit/>
          </a:bodyPr>
          <a:lstStyle/>
          <a:p>
            <a:pPr algn="l"/>
            <a:r>
              <a:rPr sz="1500" b="0">
                <a:solidFill>
                  <a:srgbClr val="FFFFFF"/>
                </a:solidFill>
                <a:latin typeface="Arial"/>
              </a:rPr>
              <a:t>Non passage du bus</a:t>
            </a:r>
          </a:p>
        </p:txBody>
      </p:sp>
      <p:sp>
        <p:nvSpPr>
          <p:cNvPr id="60" name="Rectangle 59"/>
          <p:cNvSpPr/>
          <p:nvPr/>
        </p:nvSpPr>
        <p:spPr>
          <a:xfrm>
            <a:off x="12618720" y="7781544"/>
            <a:ext cx="3931920"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6642080" y="7708392"/>
            <a:ext cx="731520" cy="320040"/>
          </a:xfrm>
          <a:prstGeom prst="rect">
            <a:avLst/>
          </a:prstGeom>
          <a:noFill/>
        </p:spPr>
        <p:txBody>
          <a:bodyPr wrap="square" anchor="t" lIns="0" rIns="0" tIns="0" bIns="0">
            <a:spAutoFit/>
          </a:bodyPr>
          <a:lstStyle/>
          <a:p>
            <a:pPr algn="l"/>
            <a:r>
              <a:rPr sz="1500" b="1">
                <a:solidFill>
                  <a:srgbClr val="72C493"/>
                </a:solidFill>
                <a:latin typeface="Arial"/>
              </a:rPr>
              <a:t>65</a:t>
            </a:r>
          </a:p>
        </p:txBody>
      </p:sp>
      <p:sp>
        <p:nvSpPr>
          <p:cNvPr id="62" name="TextBox 61"/>
          <p:cNvSpPr txBox="1"/>
          <p:nvPr/>
        </p:nvSpPr>
        <p:spPr>
          <a:xfrm>
            <a:off x="12618720" y="8110728"/>
            <a:ext cx="4754880" cy="320040"/>
          </a:xfrm>
          <a:prstGeom prst="rect">
            <a:avLst/>
          </a:prstGeom>
          <a:noFill/>
        </p:spPr>
        <p:txBody>
          <a:bodyPr wrap="square" anchor="t" lIns="0" rIns="0" tIns="0" bIns="0">
            <a:spAutoFit/>
          </a:bodyPr>
          <a:lstStyle/>
          <a:p>
            <a:pPr algn="l"/>
            <a:r>
              <a:rPr sz="1500" b="0">
                <a:solidFill>
                  <a:srgbClr val="FFFFFF"/>
                </a:solidFill>
                <a:latin typeface="Arial"/>
              </a:rPr>
              <a:t>Retard inférieur à 15 min</a:t>
            </a:r>
          </a:p>
        </p:txBody>
      </p:sp>
      <p:sp>
        <p:nvSpPr>
          <p:cNvPr id="63" name="Rectangle 62"/>
          <p:cNvSpPr/>
          <p:nvPr/>
        </p:nvSpPr>
        <p:spPr>
          <a:xfrm>
            <a:off x="12618720" y="8439912"/>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4645874" y="8366760"/>
            <a:ext cx="731520" cy="320040"/>
          </a:xfrm>
          <a:prstGeom prst="rect">
            <a:avLst/>
          </a:prstGeom>
          <a:noFill/>
        </p:spPr>
        <p:txBody>
          <a:bodyPr wrap="square" anchor="t" lIns="0" rIns="0" tIns="0" bIns="0">
            <a:spAutoFit/>
          </a:bodyPr>
          <a:lstStyle/>
          <a:p>
            <a:pPr algn="l"/>
            <a:r>
              <a:rPr sz="1500" b="1">
                <a:solidFill>
                  <a:srgbClr val="72C493"/>
                </a:solidFill>
                <a:latin typeface="Arial"/>
              </a:rPr>
              <a:t>32</a:t>
            </a:r>
          </a:p>
        </p:txBody>
      </p:sp>
      <p:sp>
        <p:nvSpPr>
          <p:cNvPr id="65" name="TextBox 64"/>
          <p:cNvSpPr txBox="1"/>
          <p:nvPr/>
        </p:nvSpPr>
        <p:spPr>
          <a:xfrm>
            <a:off x="12618720" y="8769096"/>
            <a:ext cx="4754880" cy="320040"/>
          </a:xfrm>
          <a:prstGeom prst="rect">
            <a:avLst/>
          </a:prstGeom>
          <a:noFill/>
        </p:spPr>
        <p:txBody>
          <a:bodyPr wrap="square" anchor="t" lIns="0" rIns="0" tIns="0" bIns="0">
            <a:spAutoFit/>
          </a:bodyPr>
          <a:lstStyle/>
          <a:p>
            <a:pPr algn="l"/>
            <a:r>
              <a:rPr sz="1500" b="0">
                <a:solidFill>
                  <a:srgbClr val="FFFFFF"/>
                </a:solidFill>
                <a:latin typeface="Arial"/>
              </a:rPr>
              <a:t>Affichage en temps réel erroné</a:t>
            </a:r>
          </a:p>
        </p:txBody>
      </p:sp>
      <p:sp>
        <p:nvSpPr>
          <p:cNvPr id="66" name="Rectangle 65"/>
          <p:cNvSpPr/>
          <p:nvPr/>
        </p:nvSpPr>
        <p:spPr>
          <a:xfrm>
            <a:off x="12618720" y="9098280"/>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4645874" y="9025128"/>
            <a:ext cx="731520" cy="320040"/>
          </a:xfrm>
          <a:prstGeom prst="rect">
            <a:avLst/>
          </a:prstGeom>
          <a:noFill/>
        </p:spPr>
        <p:txBody>
          <a:bodyPr wrap="square" anchor="t" lIns="0" rIns="0" tIns="0" bIns="0">
            <a:spAutoFit/>
          </a:bodyPr>
          <a:lstStyle/>
          <a:p>
            <a:pPr algn="l"/>
            <a:r>
              <a:rPr sz="1500" b="1">
                <a:solidFill>
                  <a:srgbClr val="72C493"/>
                </a:solidFill>
                <a:latin typeface="Arial"/>
              </a:rPr>
              <a:t>32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DU QUARTIER</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travaux dans les écoles du quartier</a:t>
            </a:r>
          </a:p>
        </p:txBody>
      </p:sp>
      <p:sp>
        <p:nvSpPr>
          <p:cNvPr id="5" name="Rectangle 4"/>
          <p:cNvSpPr/>
          <p:nvPr/>
        </p:nvSpPr>
        <p:spPr>
          <a:xfrm>
            <a:off x="950976" y="2240280"/>
            <a:ext cx="3886200" cy="71780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40280"/>
            <a:ext cx="388620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25296" y="2560320"/>
            <a:ext cx="3429000" cy="868680"/>
          </a:xfrm>
          <a:prstGeom prst="rect">
            <a:avLst/>
          </a:prstGeom>
          <a:noFill/>
        </p:spPr>
        <p:txBody>
          <a:bodyPr wrap="square" anchor="t" lIns="0" rIns="0" tIns="0" bIns="0">
            <a:spAutoFit/>
          </a:bodyPr>
          <a:lstStyle/>
          <a:p>
            <a:pPr algn="l"/>
            <a:r>
              <a:rPr sz="2600" b="1">
                <a:solidFill>
                  <a:srgbClr val="FFFFFF"/>
                </a:solidFill>
                <a:latin typeface="Arial"/>
              </a:rPr>
              <a:t>Les Charmilles</a:t>
            </a:r>
          </a:p>
        </p:txBody>
      </p:sp>
      <p:sp>
        <p:nvSpPr>
          <p:cNvPr id="8" name="TextBox 7"/>
          <p:cNvSpPr txBox="1"/>
          <p:nvPr/>
        </p:nvSpPr>
        <p:spPr>
          <a:xfrm>
            <a:off x="1225296" y="3154680"/>
            <a:ext cx="3429000" cy="365760"/>
          </a:xfrm>
          <a:prstGeom prst="rect">
            <a:avLst/>
          </a:prstGeom>
          <a:noFill/>
        </p:spPr>
        <p:txBody>
          <a:bodyPr wrap="square" anchor="t" lIns="0" rIns="0" tIns="0" bIns="0">
            <a:spAutoFit/>
          </a:bodyPr>
          <a:lstStyle/>
          <a:p>
            <a:pPr algn="l"/>
            <a:r>
              <a:rPr sz="1600" b="1" spc="150">
                <a:solidFill>
                  <a:srgbClr val="72C493"/>
                </a:solidFill>
                <a:latin typeface="Arial"/>
              </a:rPr>
              <a:t>FAIT</a:t>
            </a:r>
          </a:p>
        </p:txBody>
      </p:sp>
      <p:sp>
        <p:nvSpPr>
          <p:cNvPr id="9" name="Oval 8"/>
          <p:cNvSpPr/>
          <p:nvPr/>
        </p:nvSpPr>
        <p:spPr>
          <a:xfrm>
            <a:off x="1243584" y="3630168"/>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45336" y="3538728"/>
            <a:ext cx="3063240" cy="914400"/>
          </a:xfrm>
          <a:prstGeom prst="rect">
            <a:avLst/>
          </a:prstGeom>
          <a:noFill/>
        </p:spPr>
        <p:txBody>
          <a:bodyPr wrap="square" anchor="t" lIns="0" rIns="0" tIns="0" bIns="0">
            <a:spAutoFit/>
          </a:bodyPr>
          <a:lstStyle/>
          <a:p>
            <a:pPr algn="l"/>
            <a:r>
              <a:rPr sz="1700" b="1">
                <a:solidFill>
                  <a:srgbClr val="FAF5EC"/>
                </a:solidFill>
                <a:latin typeface="Arial"/>
              </a:rPr>
              <a:t>Étais du réfectoire déposés (mai 2026)</a:t>
            </a:r>
          </a:p>
        </p:txBody>
      </p:sp>
      <p:sp>
        <p:nvSpPr>
          <p:cNvPr id="11" name="Oval 10"/>
          <p:cNvSpPr/>
          <p:nvPr/>
        </p:nvSpPr>
        <p:spPr>
          <a:xfrm>
            <a:off x="1243584" y="4325112"/>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45336" y="4233672"/>
            <a:ext cx="3063240" cy="914400"/>
          </a:xfrm>
          <a:prstGeom prst="rect">
            <a:avLst/>
          </a:prstGeom>
          <a:noFill/>
        </p:spPr>
        <p:txBody>
          <a:bodyPr wrap="square" anchor="t" lIns="0" rIns="0" tIns="0" bIns="0">
            <a:spAutoFit/>
          </a:bodyPr>
          <a:lstStyle/>
          <a:p>
            <a:pPr algn="l"/>
            <a:r>
              <a:rPr sz="1700" b="1">
                <a:solidFill>
                  <a:srgbClr val="FAF5EC"/>
                </a:solidFill>
                <a:latin typeface="Arial"/>
              </a:rPr>
              <a:t>Ventilateurs et films anti-UV</a:t>
            </a:r>
          </a:p>
        </p:txBody>
      </p:sp>
      <p:sp>
        <p:nvSpPr>
          <p:cNvPr id="13" name="Oval 12"/>
          <p:cNvSpPr/>
          <p:nvPr/>
        </p:nvSpPr>
        <p:spPr>
          <a:xfrm>
            <a:off x="1243584" y="5020055"/>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45336" y="4928616"/>
            <a:ext cx="3063240" cy="914400"/>
          </a:xfrm>
          <a:prstGeom prst="rect">
            <a:avLst/>
          </a:prstGeom>
          <a:noFill/>
        </p:spPr>
        <p:txBody>
          <a:bodyPr wrap="square" anchor="t" lIns="0" rIns="0" tIns="0" bIns="0">
            <a:spAutoFit/>
          </a:bodyPr>
          <a:lstStyle/>
          <a:p>
            <a:pPr algn="l"/>
            <a:r>
              <a:rPr sz="1700" b="1">
                <a:solidFill>
                  <a:srgbClr val="FAF5EC"/>
                </a:solidFill>
                <a:latin typeface="Arial"/>
              </a:rPr>
              <a:t>Bancs dans la cour</a:t>
            </a:r>
          </a:p>
        </p:txBody>
      </p:sp>
      <p:sp>
        <p:nvSpPr>
          <p:cNvPr id="15" name="Oval 14"/>
          <p:cNvSpPr/>
          <p:nvPr/>
        </p:nvSpPr>
        <p:spPr>
          <a:xfrm>
            <a:off x="1243584" y="5440679"/>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5336" y="5349240"/>
            <a:ext cx="3063240" cy="914400"/>
          </a:xfrm>
          <a:prstGeom prst="rect">
            <a:avLst/>
          </a:prstGeom>
          <a:noFill/>
        </p:spPr>
        <p:txBody>
          <a:bodyPr wrap="square" anchor="t" lIns="0" rIns="0" tIns="0" bIns="0">
            <a:spAutoFit/>
          </a:bodyPr>
          <a:lstStyle/>
          <a:p>
            <a:pPr algn="l"/>
            <a:r>
              <a:rPr sz="1700" b="1">
                <a:solidFill>
                  <a:srgbClr val="FAF5EC"/>
                </a:solidFill>
                <a:latin typeface="Arial"/>
              </a:rPr>
              <a:t>Portes réglées, poignée remplacée</a:t>
            </a:r>
          </a:p>
        </p:txBody>
      </p:sp>
      <p:sp>
        <p:nvSpPr>
          <p:cNvPr id="17" name="TextBox 16"/>
          <p:cNvSpPr txBox="1"/>
          <p:nvPr/>
        </p:nvSpPr>
        <p:spPr>
          <a:xfrm>
            <a:off x="1225296" y="6153912"/>
            <a:ext cx="3429000" cy="365760"/>
          </a:xfrm>
          <a:prstGeom prst="rect">
            <a:avLst/>
          </a:prstGeom>
          <a:noFill/>
        </p:spPr>
        <p:txBody>
          <a:bodyPr wrap="square" anchor="t" lIns="0" rIns="0" tIns="0" bIns="0">
            <a:spAutoFit/>
          </a:bodyPr>
          <a:lstStyle/>
          <a:p>
            <a:pPr algn="l"/>
            <a:r>
              <a:rPr sz="1600" b="1" spc="150">
                <a:solidFill>
                  <a:srgbClr val="72C493"/>
                </a:solidFill>
                <a:latin typeface="Arial"/>
              </a:rPr>
              <a:t>EN COURS</a:t>
            </a:r>
          </a:p>
        </p:txBody>
      </p:sp>
      <p:sp>
        <p:nvSpPr>
          <p:cNvPr id="18" name="Oval 17"/>
          <p:cNvSpPr/>
          <p:nvPr/>
        </p:nvSpPr>
        <p:spPr>
          <a:xfrm>
            <a:off x="1243584" y="6629399"/>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45336" y="6537959"/>
            <a:ext cx="3063240" cy="914400"/>
          </a:xfrm>
          <a:prstGeom prst="rect">
            <a:avLst/>
          </a:prstGeom>
          <a:noFill/>
        </p:spPr>
        <p:txBody>
          <a:bodyPr wrap="square" anchor="t" lIns="0" rIns="0" tIns="0" bIns="0">
            <a:spAutoFit/>
          </a:bodyPr>
          <a:lstStyle/>
          <a:p>
            <a:pPr algn="l"/>
            <a:r>
              <a:rPr sz="1700" b="1">
                <a:solidFill>
                  <a:srgbClr val="FAF5EC"/>
                </a:solidFill>
                <a:latin typeface="Arial"/>
              </a:rPr>
              <a:t>Remplacement des dalles de faux plafond abîmées</a:t>
            </a:r>
          </a:p>
        </p:txBody>
      </p:sp>
      <p:sp>
        <p:nvSpPr>
          <p:cNvPr id="20" name="TextBox 19"/>
          <p:cNvSpPr txBox="1"/>
          <p:nvPr/>
        </p:nvSpPr>
        <p:spPr>
          <a:xfrm>
            <a:off x="1225296" y="7342631"/>
            <a:ext cx="3429000" cy="365760"/>
          </a:xfrm>
          <a:prstGeom prst="rect">
            <a:avLst/>
          </a:prstGeom>
          <a:noFill/>
        </p:spPr>
        <p:txBody>
          <a:bodyPr wrap="square" anchor="t" lIns="0" rIns="0" tIns="0" bIns="0">
            <a:spAutoFit/>
          </a:bodyPr>
          <a:lstStyle/>
          <a:p>
            <a:pPr algn="l"/>
            <a:r>
              <a:rPr sz="1600" b="1" spc="150">
                <a:solidFill>
                  <a:srgbClr val="72C493"/>
                </a:solidFill>
                <a:latin typeface="Arial"/>
              </a:rPr>
              <a:t>PROGRAMMÉ</a:t>
            </a:r>
          </a:p>
        </p:txBody>
      </p:sp>
      <p:sp>
        <p:nvSpPr>
          <p:cNvPr id="21" name="Oval 20"/>
          <p:cNvSpPr/>
          <p:nvPr/>
        </p:nvSpPr>
        <p:spPr>
          <a:xfrm>
            <a:off x="1243584" y="7818119"/>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45336" y="7726679"/>
            <a:ext cx="3063240" cy="914400"/>
          </a:xfrm>
          <a:prstGeom prst="rect">
            <a:avLst/>
          </a:prstGeom>
          <a:noFill/>
        </p:spPr>
        <p:txBody>
          <a:bodyPr wrap="square" anchor="t" lIns="0" rIns="0" tIns="0" bIns="0">
            <a:spAutoFit/>
          </a:bodyPr>
          <a:lstStyle/>
          <a:p>
            <a:pPr algn="l"/>
            <a:r>
              <a:rPr sz="1700" b="1">
                <a:solidFill>
                  <a:srgbClr val="FAF5EC"/>
                </a:solidFill>
                <a:latin typeface="Arial"/>
              </a:rPr>
              <a:t>Infiltration et peinture, classe de CM1-CM2</a:t>
            </a:r>
          </a:p>
        </p:txBody>
      </p:sp>
      <p:sp>
        <p:nvSpPr>
          <p:cNvPr id="23" name="Oval 22"/>
          <p:cNvSpPr/>
          <p:nvPr/>
        </p:nvSpPr>
        <p:spPr>
          <a:xfrm>
            <a:off x="1243584" y="8513063"/>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45336" y="8421624"/>
            <a:ext cx="3063240" cy="914400"/>
          </a:xfrm>
          <a:prstGeom prst="rect">
            <a:avLst/>
          </a:prstGeom>
          <a:noFill/>
        </p:spPr>
        <p:txBody>
          <a:bodyPr wrap="square" anchor="t" lIns="0" rIns="0" tIns="0" bIns="0">
            <a:spAutoFit/>
          </a:bodyPr>
          <a:lstStyle/>
          <a:p>
            <a:pPr algn="l"/>
            <a:r>
              <a:rPr sz="1700" b="1">
                <a:solidFill>
                  <a:srgbClr val="FAF5EC"/>
                </a:solidFill>
                <a:latin typeface="Arial"/>
              </a:rPr>
              <a:t>Peinture de l'office du réfectoire</a:t>
            </a:r>
          </a:p>
        </p:txBody>
      </p:sp>
      <p:sp>
        <p:nvSpPr>
          <p:cNvPr id="25" name="Rectangle 24"/>
          <p:cNvSpPr/>
          <p:nvPr/>
        </p:nvSpPr>
        <p:spPr>
          <a:xfrm>
            <a:off x="5111496" y="2240280"/>
            <a:ext cx="3886200" cy="71780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111496" y="2240280"/>
            <a:ext cx="388620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85816" y="2560320"/>
            <a:ext cx="3429000" cy="868680"/>
          </a:xfrm>
          <a:prstGeom prst="rect">
            <a:avLst/>
          </a:prstGeom>
          <a:noFill/>
        </p:spPr>
        <p:txBody>
          <a:bodyPr wrap="square" anchor="t" lIns="0" rIns="0" tIns="0" bIns="0">
            <a:spAutoFit/>
          </a:bodyPr>
          <a:lstStyle/>
          <a:p>
            <a:pPr algn="l"/>
            <a:r>
              <a:rPr sz="2600" b="1">
                <a:solidFill>
                  <a:srgbClr val="FFFFFF"/>
                </a:solidFill>
                <a:latin typeface="Arial"/>
              </a:rPr>
              <a:t>Les Yvris</a:t>
            </a:r>
          </a:p>
        </p:txBody>
      </p:sp>
      <p:sp>
        <p:nvSpPr>
          <p:cNvPr id="28" name="TextBox 27"/>
          <p:cNvSpPr txBox="1"/>
          <p:nvPr/>
        </p:nvSpPr>
        <p:spPr>
          <a:xfrm>
            <a:off x="5385816" y="3154680"/>
            <a:ext cx="3429000" cy="365760"/>
          </a:xfrm>
          <a:prstGeom prst="rect">
            <a:avLst/>
          </a:prstGeom>
          <a:noFill/>
        </p:spPr>
        <p:txBody>
          <a:bodyPr wrap="square" anchor="t" lIns="0" rIns="0" tIns="0" bIns="0">
            <a:spAutoFit/>
          </a:bodyPr>
          <a:lstStyle/>
          <a:p>
            <a:pPr algn="l"/>
            <a:r>
              <a:rPr sz="1600" b="1" spc="150">
                <a:solidFill>
                  <a:srgbClr val="72C493"/>
                </a:solidFill>
                <a:latin typeface="Arial"/>
              </a:rPr>
              <a:t>FAIT</a:t>
            </a:r>
          </a:p>
        </p:txBody>
      </p:sp>
      <p:sp>
        <p:nvSpPr>
          <p:cNvPr id="29" name="Oval 28"/>
          <p:cNvSpPr/>
          <p:nvPr/>
        </p:nvSpPr>
        <p:spPr>
          <a:xfrm>
            <a:off x="5404104" y="3630168"/>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705856" y="3538728"/>
            <a:ext cx="3063240" cy="914400"/>
          </a:xfrm>
          <a:prstGeom prst="rect">
            <a:avLst/>
          </a:prstGeom>
          <a:noFill/>
        </p:spPr>
        <p:txBody>
          <a:bodyPr wrap="square" anchor="t" lIns="0" rIns="0" tIns="0" bIns="0">
            <a:spAutoFit/>
          </a:bodyPr>
          <a:lstStyle/>
          <a:p>
            <a:pPr algn="l"/>
            <a:r>
              <a:rPr sz="1700" b="1">
                <a:solidFill>
                  <a:srgbClr val="FAF5EC"/>
                </a:solidFill>
                <a:latin typeface="Arial"/>
              </a:rPr>
              <a:t>Remise en état du drapeau de l'entrée (juin 2026)</a:t>
            </a:r>
          </a:p>
        </p:txBody>
      </p:sp>
      <p:sp>
        <p:nvSpPr>
          <p:cNvPr id="31" name="TextBox 30"/>
          <p:cNvSpPr txBox="1"/>
          <p:nvPr/>
        </p:nvSpPr>
        <p:spPr>
          <a:xfrm>
            <a:off x="5385816" y="4343400"/>
            <a:ext cx="3429000" cy="365760"/>
          </a:xfrm>
          <a:prstGeom prst="rect">
            <a:avLst/>
          </a:prstGeom>
          <a:noFill/>
        </p:spPr>
        <p:txBody>
          <a:bodyPr wrap="square" anchor="t" lIns="0" rIns="0" tIns="0" bIns="0">
            <a:spAutoFit/>
          </a:bodyPr>
          <a:lstStyle/>
          <a:p>
            <a:pPr algn="l"/>
            <a:r>
              <a:rPr sz="1600" b="1" spc="150">
                <a:solidFill>
                  <a:srgbClr val="72C493"/>
                </a:solidFill>
                <a:latin typeface="Arial"/>
              </a:rPr>
              <a:t>PROGRAMMÉ</a:t>
            </a:r>
          </a:p>
        </p:txBody>
      </p:sp>
      <p:sp>
        <p:nvSpPr>
          <p:cNvPr id="32" name="Oval 31"/>
          <p:cNvSpPr/>
          <p:nvPr/>
        </p:nvSpPr>
        <p:spPr>
          <a:xfrm>
            <a:off x="5404104" y="4818888"/>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705856" y="4727448"/>
            <a:ext cx="3063240" cy="914400"/>
          </a:xfrm>
          <a:prstGeom prst="rect">
            <a:avLst/>
          </a:prstGeom>
          <a:noFill/>
        </p:spPr>
        <p:txBody>
          <a:bodyPr wrap="square" anchor="t" lIns="0" rIns="0" tIns="0" bIns="0">
            <a:spAutoFit/>
          </a:bodyPr>
          <a:lstStyle/>
          <a:p>
            <a:pPr algn="l"/>
            <a:r>
              <a:rPr sz="1700" b="1">
                <a:solidFill>
                  <a:srgbClr val="FAF5EC"/>
                </a:solidFill>
                <a:latin typeface="Arial"/>
              </a:rPr>
              <a:t>Peinture du hall élémentaire et du bureau de la direction</a:t>
            </a:r>
          </a:p>
        </p:txBody>
      </p:sp>
      <p:sp>
        <p:nvSpPr>
          <p:cNvPr id="34" name="Rectangle 33"/>
          <p:cNvSpPr/>
          <p:nvPr/>
        </p:nvSpPr>
        <p:spPr>
          <a:xfrm>
            <a:off x="9272016" y="2240280"/>
            <a:ext cx="3886200" cy="71780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272016" y="2240280"/>
            <a:ext cx="388620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46336" y="2560320"/>
            <a:ext cx="3429000" cy="868680"/>
          </a:xfrm>
          <a:prstGeom prst="rect">
            <a:avLst/>
          </a:prstGeom>
          <a:noFill/>
        </p:spPr>
        <p:txBody>
          <a:bodyPr wrap="square" anchor="t" lIns="0" rIns="0" tIns="0" bIns="0">
            <a:spAutoFit/>
          </a:bodyPr>
          <a:lstStyle/>
          <a:p>
            <a:pPr algn="l"/>
            <a:r>
              <a:rPr sz="2600" b="1">
                <a:solidFill>
                  <a:srgbClr val="FFFFFF"/>
                </a:solidFill>
                <a:latin typeface="Arial"/>
              </a:rPr>
              <a:t>Maternelle des Richardets</a:t>
            </a:r>
          </a:p>
        </p:txBody>
      </p:sp>
      <p:sp>
        <p:nvSpPr>
          <p:cNvPr id="37" name="TextBox 36"/>
          <p:cNvSpPr txBox="1"/>
          <p:nvPr/>
        </p:nvSpPr>
        <p:spPr>
          <a:xfrm>
            <a:off x="9546336" y="3520440"/>
            <a:ext cx="3429000" cy="365760"/>
          </a:xfrm>
          <a:prstGeom prst="rect">
            <a:avLst/>
          </a:prstGeom>
          <a:noFill/>
        </p:spPr>
        <p:txBody>
          <a:bodyPr wrap="square" anchor="t" lIns="0" rIns="0" tIns="0" bIns="0">
            <a:spAutoFit/>
          </a:bodyPr>
          <a:lstStyle/>
          <a:p>
            <a:pPr algn="l"/>
            <a:r>
              <a:rPr sz="1600" b="1" spc="150">
                <a:solidFill>
                  <a:srgbClr val="72C493"/>
                </a:solidFill>
                <a:latin typeface="Arial"/>
              </a:rPr>
              <a:t>FAIT</a:t>
            </a:r>
          </a:p>
        </p:txBody>
      </p:sp>
      <p:sp>
        <p:nvSpPr>
          <p:cNvPr id="38" name="Oval 37"/>
          <p:cNvSpPr/>
          <p:nvPr/>
        </p:nvSpPr>
        <p:spPr>
          <a:xfrm>
            <a:off x="9564624" y="3995928"/>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866376" y="3904488"/>
            <a:ext cx="3063240" cy="914400"/>
          </a:xfrm>
          <a:prstGeom prst="rect">
            <a:avLst/>
          </a:prstGeom>
          <a:noFill/>
        </p:spPr>
        <p:txBody>
          <a:bodyPr wrap="square" anchor="t" lIns="0" rIns="0" tIns="0" bIns="0">
            <a:spAutoFit/>
          </a:bodyPr>
          <a:lstStyle/>
          <a:p>
            <a:pPr algn="l"/>
            <a:r>
              <a:rPr sz="1700" b="1">
                <a:solidFill>
                  <a:srgbClr val="FAF5EC"/>
                </a:solidFill>
                <a:latin typeface="Arial"/>
              </a:rPr>
              <a:t>Un rafraîchisseur d'air</a:t>
            </a:r>
          </a:p>
        </p:txBody>
      </p:sp>
      <p:sp>
        <p:nvSpPr>
          <p:cNvPr id="40" name="Oval 39"/>
          <p:cNvSpPr/>
          <p:nvPr/>
        </p:nvSpPr>
        <p:spPr>
          <a:xfrm>
            <a:off x="9564624" y="4416552"/>
            <a:ext cx="164592" cy="164592"/>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66376" y="4325112"/>
            <a:ext cx="3063240" cy="914400"/>
          </a:xfrm>
          <a:prstGeom prst="rect">
            <a:avLst/>
          </a:prstGeom>
          <a:noFill/>
        </p:spPr>
        <p:txBody>
          <a:bodyPr wrap="square" anchor="t" lIns="0" rIns="0" tIns="0" bIns="0">
            <a:spAutoFit/>
          </a:bodyPr>
          <a:lstStyle/>
          <a:p>
            <a:pPr algn="l"/>
            <a:r>
              <a:rPr sz="1700" b="1">
                <a:solidFill>
                  <a:srgbClr val="FAF5EC"/>
                </a:solidFill>
                <a:latin typeface="Arial"/>
              </a:rPr>
              <a:t>Des films de protection solaire sur les vitrages</a:t>
            </a:r>
          </a:p>
        </p:txBody>
      </p:sp>
      <p:sp>
        <p:nvSpPr>
          <p:cNvPr id="42" name="Rectangle 41"/>
          <p:cNvSpPr/>
          <p:nvPr/>
        </p:nvSpPr>
        <p:spPr>
          <a:xfrm>
            <a:off x="13432535" y="2240280"/>
            <a:ext cx="3886200" cy="71780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3432535" y="2240280"/>
            <a:ext cx="388620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3706855" y="2560320"/>
            <a:ext cx="3429000" cy="868680"/>
          </a:xfrm>
          <a:prstGeom prst="rect">
            <a:avLst/>
          </a:prstGeom>
          <a:noFill/>
        </p:spPr>
        <p:txBody>
          <a:bodyPr wrap="square" anchor="t" lIns="0" rIns="0" tIns="0" bIns="0">
            <a:spAutoFit/>
          </a:bodyPr>
          <a:lstStyle/>
          <a:p>
            <a:pPr algn="l"/>
            <a:r>
              <a:rPr sz="2600" b="1">
                <a:solidFill>
                  <a:srgbClr val="FFFFFF"/>
                </a:solidFill>
                <a:latin typeface="Arial"/>
              </a:rPr>
              <a:t>Paul-Serelle</a:t>
            </a:r>
          </a:p>
        </p:txBody>
      </p:sp>
      <p:sp>
        <p:nvSpPr>
          <p:cNvPr id="45" name="TextBox 44"/>
          <p:cNvSpPr txBox="1"/>
          <p:nvPr/>
        </p:nvSpPr>
        <p:spPr>
          <a:xfrm>
            <a:off x="13706855" y="3154680"/>
            <a:ext cx="3429000" cy="365760"/>
          </a:xfrm>
          <a:prstGeom prst="rect">
            <a:avLst/>
          </a:prstGeom>
          <a:noFill/>
        </p:spPr>
        <p:txBody>
          <a:bodyPr wrap="square" anchor="t" lIns="0" rIns="0" tIns="0" bIns="0">
            <a:spAutoFit/>
          </a:bodyPr>
          <a:lstStyle/>
          <a:p>
            <a:pPr algn="l"/>
            <a:r>
              <a:rPr sz="1600" b="1" spc="150">
                <a:solidFill>
                  <a:srgbClr val="72C493"/>
                </a:solidFill>
                <a:latin typeface="Arial"/>
              </a:rPr>
              <a:t>À L'ÉTUDE</a:t>
            </a:r>
          </a:p>
        </p:txBody>
      </p:sp>
      <p:sp>
        <p:nvSpPr>
          <p:cNvPr id="46" name="Oval 45"/>
          <p:cNvSpPr/>
          <p:nvPr/>
        </p:nvSpPr>
        <p:spPr>
          <a:xfrm>
            <a:off x="13725143" y="3630168"/>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026895" y="3538728"/>
            <a:ext cx="3063240" cy="914400"/>
          </a:xfrm>
          <a:prstGeom prst="rect">
            <a:avLst/>
          </a:prstGeom>
          <a:noFill/>
        </p:spPr>
        <p:txBody>
          <a:bodyPr wrap="square" anchor="t" lIns="0" rIns="0" tIns="0" bIns="0">
            <a:spAutoFit/>
          </a:bodyPr>
          <a:lstStyle/>
          <a:p>
            <a:pPr algn="l"/>
            <a:r>
              <a:rPr sz="1700" b="1">
                <a:solidFill>
                  <a:srgbClr val="FAF5EC"/>
                </a:solidFill>
                <a:latin typeface="Arial"/>
              </a:rPr>
              <a:t>Sécurisation du carrefour rue Paul-Serelle</a:t>
            </a:r>
          </a:p>
        </p:txBody>
      </p:sp>
      <p:sp>
        <p:nvSpPr>
          <p:cNvPr id="48" name="TextBox 47"/>
          <p:cNvSpPr txBox="1"/>
          <p:nvPr/>
        </p:nvSpPr>
        <p:spPr>
          <a:xfrm>
            <a:off x="13706855" y="4343400"/>
            <a:ext cx="3429000" cy="365760"/>
          </a:xfrm>
          <a:prstGeom prst="rect">
            <a:avLst/>
          </a:prstGeom>
          <a:noFill/>
        </p:spPr>
        <p:txBody>
          <a:bodyPr wrap="square" anchor="t" lIns="0" rIns="0" tIns="0" bIns="0">
            <a:spAutoFit/>
          </a:bodyPr>
          <a:lstStyle/>
          <a:p>
            <a:pPr algn="l"/>
            <a:r>
              <a:rPr sz="1600" b="1" spc="150">
                <a:solidFill>
                  <a:srgbClr val="72C493"/>
                </a:solidFill>
                <a:latin typeface="Arial"/>
              </a:rPr>
              <a:t>À RÉALISER</a:t>
            </a:r>
          </a:p>
        </p:txBody>
      </p:sp>
      <p:sp>
        <p:nvSpPr>
          <p:cNvPr id="49" name="Oval 48"/>
          <p:cNvSpPr/>
          <p:nvPr/>
        </p:nvSpPr>
        <p:spPr>
          <a:xfrm>
            <a:off x="13725143" y="4818888"/>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4026895" y="4727448"/>
            <a:ext cx="3063240" cy="914400"/>
          </a:xfrm>
          <a:prstGeom prst="rect">
            <a:avLst/>
          </a:prstGeom>
          <a:noFill/>
        </p:spPr>
        <p:txBody>
          <a:bodyPr wrap="square" anchor="t" lIns="0" rIns="0" tIns="0" bIns="0">
            <a:spAutoFit/>
          </a:bodyPr>
          <a:lstStyle/>
          <a:p>
            <a:pPr algn="l"/>
            <a:r>
              <a:rPr sz="1700" b="1">
                <a:solidFill>
                  <a:srgbClr val="FAF5EC"/>
                </a:solidFill>
                <a:latin typeface="Arial"/>
              </a:rPr>
              <a:t>Réparation des fuites de la salle polyvalente</a:t>
            </a:r>
          </a:p>
        </p:txBody>
      </p:sp>
      <p:sp>
        <p:nvSpPr>
          <p:cNvPr id="51" name="TextBox 50"/>
          <p:cNvSpPr txBox="1"/>
          <p:nvPr/>
        </p:nvSpPr>
        <p:spPr>
          <a:xfrm>
            <a:off x="13706855" y="5532120"/>
            <a:ext cx="3429000" cy="365760"/>
          </a:xfrm>
          <a:prstGeom prst="rect">
            <a:avLst/>
          </a:prstGeom>
          <a:noFill/>
        </p:spPr>
        <p:txBody>
          <a:bodyPr wrap="square" anchor="t" lIns="0" rIns="0" tIns="0" bIns="0">
            <a:spAutoFit/>
          </a:bodyPr>
          <a:lstStyle/>
          <a:p>
            <a:pPr algn="l"/>
            <a:r>
              <a:rPr sz="1600" b="1" spc="150">
                <a:solidFill>
                  <a:srgbClr val="72C493"/>
                </a:solidFill>
                <a:latin typeface="Arial"/>
              </a:rPr>
              <a:t>À PROGRAMMER</a:t>
            </a:r>
          </a:p>
        </p:txBody>
      </p:sp>
      <p:sp>
        <p:nvSpPr>
          <p:cNvPr id="52" name="Oval 51"/>
          <p:cNvSpPr/>
          <p:nvPr/>
        </p:nvSpPr>
        <p:spPr>
          <a:xfrm>
            <a:off x="13725143" y="6007607"/>
            <a:ext cx="164592" cy="164592"/>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4026895" y="5916168"/>
            <a:ext cx="3063240" cy="914400"/>
          </a:xfrm>
          <a:prstGeom prst="rect">
            <a:avLst/>
          </a:prstGeom>
          <a:noFill/>
        </p:spPr>
        <p:txBody>
          <a:bodyPr wrap="square" anchor="t" lIns="0" rIns="0" tIns="0" bIns="0">
            <a:spAutoFit/>
          </a:bodyPr>
          <a:lstStyle/>
          <a:p>
            <a:pPr algn="l"/>
            <a:r>
              <a:rPr sz="1700" b="1">
                <a:solidFill>
                  <a:srgbClr val="FAF5EC"/>
                </a:solidFill>
                <a:latin typeface="Arial"/>
              </a:rPr>
              <a:t>Réverbère devant le portail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 LE PÉRISCOLAIRE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Plus de places et plus d'animateurs</a:t>
            </a:r>
          </a:p>
        </p:txBody>
      </p:sp>
      <p:sp>
        <p:nvSpPr>
          <p:cNvPr id="5" name="TextBox 4"/>
          <p:cNvSpPr txBox="1"/>
          <p:nvPr/>
        </p:nvSpPr>
        <p:spPr>
          <a:xfrm>
            <a:off x="950976" y="2011680"/>
            <a:ext cx="14447520" cy="457200"/>
          </a:xfrm>
          <a:prstGeom prst="rect">
            <a:avLst/>
          </a:prstGeom>
          <a:noFill/>
        </p:spPr>
        <p:txBody>
          <a:bodyPr wrap="square" anchor="t" lIns="0" rIns="0" tIns="0" bIns="0">
            <a:spAutoFit/>
          </a:bodyPr>
          <a:lstStyle/>
          <a:p>
            <a:pPr algn="l"/>
            <a:r>
              <a:rPr sz="2100" b="0">
                <a:solidFill>
                  <a:srgbClr val="FFFFFF"/>
                </a:solidFill>
                <a:latin typeface="Arial"/>
              </a:rPr>
              <a:t>Dans toute la ville, rentrée 2026 comparée à la rentrée 2025</a:t>
            </a:r>
          </a:p>
        </p:txBody>
      </p:sp>
      <p:cxnSp>
        <p:nvCxnSpPr>
          <p:cNvPr id="6" name="Connector 5"/>
          <p:cNvCxnSpPr/>
          <p:nvPr/>
        </p:nvCxnSpPr>
        <p:spPr>
          <a:xfrm>
            <a:off x="950976" y="2743200"/>
            <a:ext cx="7955279"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50976"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LE MERCREDI</a:t>
            </a:r>
          </a:p>
        </p:txBody>
      </p:sp>
      <p:sp>
        <p:nvSpPr>
          <p:cNvPr id="8" name="TextBox 7"/>
          <p:cNvSpPr txBox="1"/>
          <p:nvPr/>
        </p:nvSpPr>
        <p:spPr>
          <a:xfrm>
            <a:off x="950976" y="3474720"/>
            <a:ext cx="7955279" cy="365760"/>
          </a:xfrm>
          <a:prstGeom prst="rect">
            <a:avLst/>
          </a:prstGeom>
          <a:noFill/>
        </p:spPr>
        <p:txBody>
          <a:bodyPr wrap="square" anchor="t" lIns="0" rIns="0" tIns="0" bIns="0">
            <a:spAutoFit/>
          </a:bodyPr>
          <a:lstStyle/>
          <a:p>
            <a:pPr algn="l"/>
            <a:r>
              <a:rPr sz="2000" b="1">
                <a:solidFill>
                  <a:srgbClr val="FFFFFF"/>
                </a:solidFill>
                <a:latin typeface="Arial"/>
              </a:rPr>
              <a:t>Places en accueil de loisirs</a:t>
            </a:r>
          </a:p>
        </p:txBody>
      </p:sp>
      <p:sp>
        <p:nvSpPr>
          <p:cNvPr id="9" name="TextBox 8"/>
          <p:cNvSpPr txBox="1"/>
          <p:nvPr/>
        </p:nvSpPr>
        <p:spPr>
          <a:xfrm>
            <a:off x="950976" y="397763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0" name="TextBox 9"/>
          <p:cNvSpPr txBox="1"/>
          <p:nvPr/>
        </p:nvSpPr>
        <p:spPr>
          <a:xfrm>
            <a:off x="950976" y="4224528"/>
            <a:ext cx="1828800" cy="548640"/>
          </a:xfrm>
          <a:prstGeom prst="rect">
            <a:avLst/>
          </a:prstGeom>
          <a:noFill/>
        </p:spPr>
        <p:txBody>
          <a:bodyPr wrap="square" anchor="t" lIns="0" rIns="0" tIns="0" bIns="0">
            <a:spAutoFit/>
          </a:bodyPr>
          <a:lstStyle/>
          <a:p>
            <a:pPr algn="l"/>
            <a:r>
              <a:rPr sz="3200" b="1">
                <a:solidFill>
                  <a:srgbClr val="8A90B0"/>
                </a:solidFill>
                <a:latin typeface="Arial"/>
              </a:rPr>
              <a:t>1 616</a:t>
            </a:r>
          </a:p>
        </p:txBody>
      </p:sp>
      <p:sp>
        <p:nvSpPr>
          <p:cNvPr id="11" name="TextBox 10"/>
          <p:cNvSpPr txBox="1"/>
          <p:nvPr/>
        </p:nvSpPr>
        <p:spPr>
          <a:xfrm>
            <a:off x="2825496"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2" name="TextBox 11"/>
          <p:cNvSpPr txBox="1"/>
          <p:nvPr/>
        </p:nvSpPr>
        <p:spPr>
          <a:xfrm>
            <a:off x="3465576" y="384048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13" name="TextBox 12"/>
          <p:cNvSpPr txBox="1"/>
          <p:nvPr/>
        </p:nvSpPr>
        <p:spPr>
          <a:xfrm>
            <a:off x="3465576" y="4041648"/>
            <a:ext cx="2468880" cy="777240"/>
          </a:xfrm>
          <a:prstGeom prst="rect">
            <a:avLst/>
          </a:prstGeom>
          <a:noFill/>
        </p:spPr>
        <p:txBody>
          <a:bodyPr wrap="square" anchor="t" lIns="0" rIns="0" tIns="0" bIns="0">
            <a:spAutoFit/>
          </a:bodyPr>
          <a:lstStyle/>
          <a:p>
            <a:pPr algn="l"/>
            <a:r>
              <a:rPr sz="4800" b="1">
                <a:solidFill>
                  <a:srgbClr val="FFFFFF"/>
                </a:solidFill>
                <a:latin typeface="Arial"/>
              </a:rPr>
              <a:t>1 784</a:t>
            </a:r>
          </a:p>
        </p:txBody>
      </p:sp>
      <p:sp>
        <p:nvSpPr>
          <p:cNvPr id="14" name="Rectangle 13"/>
          <p:cNvSpPr/>
          <p:nvPr/>
        </p:nvSpPr>
        <p:spPr>
          <a:xfrm>
            <a:off x="6025896"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+168 places, soit +10 %</a:t>
            </a:r>
          </a:p>
        </p:txBody>
      </p:sp>
      <p:sp>
        <p:nvSpPr>
          <p:cNvPr id="15" name="TextBox 14"/>
          <p:cNvSpPr txBox="1"/>
          <p:nvPr/>
        </p:nvSpPr>
        <p:spPr>
          <a:xfrm>
            <a:off x="950976"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recrutés</a:t>
            </a:r>
          </a:p>
        </p:txBody>
      </p:sp>
      <p:sp>
        <p:nvSpPr>
          <p:cNvPr id="16" name="TextBox 15"/>
          <p:cNvSpPr txBox="1"/>
          <p:nvPr/>
        </p:nvSpPr>
        <p:spPr>
          <a:xfrm>
            <a:off x="950976" y="539495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7" name="TextBox 16"/>
          <p:cNvSpPr txBox="1"/>
          <p:nvPr/>
        </p:nvSpPr>
        <p:spPr>
          <a:xfrm>
            <a:off x="950976"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145</a:t>
            </a:r>
          </a:p>
        </p:txBody>
      </p:sp>
      <p:sp>
        <p:nvSpPr>
          <p:cNvPr id="18" name="TextBox 17"/>
          <p:cNvSpPr txBox="1"/>
          <p:nvPr/>
        </p:nvSpPr>
        <p:spPr>
          <a:xfrm>
            <a:off x="2825496"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9" name="TextBox 18"/>
          <p:cNvSpPr txBox="1"/>
          <p:nvPr/>
        </p:nvSpPr>
        <p:spPr>
          <a:xfrm>
            <a:off x="3465576" y="525780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20" name="TextBox 19"/>
          <p:cNvSpPr txBox="1"/>
          <p:nvPr/>
        </p:nvSpPr>
        <p:spPr>
          <a:xfrm>
            <a:off x="3465576" y="5458968"/>
            <a:ext cx="2468880" cy="777240"/>
          </a:xfrm>
          <a:prstGeom prst="rect">
            <a:avLst/>
          </a:prstGeom>
          <a:noFill/>
        </p:spPr>
        <p:txBody>
          <a:bodyPr wrap="square" anchor="t" lIns="0" rIns="0" tIns="0" bIns="0">
            <a:spAutoFit/>
          </a:bodyPr>
          <a:lstStyle/>
          <a:p>
            <a:pPr algn="l"/>
            <a:r>
              <a:rPr sz="4800" b="1">
                <a:solidFill>
                  <a:srgbClr val="FFFFFF"/>
                </a:solidFill>
                <a:latin typeface="Arial"/>
              </a:rPr>
              <a:t>162</a:t>
            </a:r>
          </a:p>
        </p:txBody>
      </p:sp>
      <p:sp>
        <p:nvSpPr>
          <p:cNvPr id="21" name="Rectangle 20"/>
          <p:cNvSpPr/>
          <p:nvPr/>
        </p:nvSpPr>
        <p:spPr>
          <a:xfrm>
            <a:off x="6025896"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+17 animateurs</a:t>
            </a:r>
          </a:p>
        </p:txBody>
      </p:sp>
      <p:cxnSp>
        <p:nvCxnSpPr>
          <p:cNvPr id="22" name="Connector 21"/>
          <p:cNvCxnSpPr/>
          <p:nvPr/>
        </p:nvCxnSpPr>
        <p:spPr>
          <a:xfrm>
            <a:off x="9381744" y="2743200"/>
            <a:ext cx="7955280"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381744"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À LA CANTINE</a:t>
            </a:r>
          </a:p>
        </p:txBody>
      </p:sp>
      <p:sp>
        <p:nvSpPr>
          <p:cNvPr id="24" name="TextBox 23"/>
          <p:cNvSpPr txBox="1"/>
          <p:nvPr/>
        </p:nvSpPr>
        <p:spPr>
          <a:xfrm>
            <a:off x="9381744" y="3474720"/>
            <a:ext cx="7955279" cy="365760"/>
          </a:xfrm>
          <a:prstGeom prst="rect">
            <a:avLst/>
          </a:prstGeom>
          <a:noFill/>
        </p:spPr>
        <p:txBody>
          <a:bodyPr wrap="square" anchor="t" lIns="0" rIns="0" tIns="0" bIns="0">
            <a:spAutoFit/>
          </a:bodyPr>
          <a:lstStyle/>
          <a:p>
            <a:pPr algn="l"/>
            <a:r>
              <a:rPr sz="2000" b="1">
                <a:solidFill>
                  <a:srgbClr val="FFFFFF"/>
                </a:solidFill>
                <a:latin typeface="Arial"/>
              </a:rPr>
              <a:t>Enfants accueillis</a:t>
            </a:r>
          </a:p>
        </p:txBody>
      </p:sp>
      <p:sp>
        <p:nvSpPr>
          <p:cNvPr id="25" name="TextBox 24"/>
          <p:cNvSpPr txBox="1"/>
          <p:nvPr/>
        </p:nvSpPr>
        <p:spPr>
          <a:xfrm>
            <a:off x="9381744" y="397763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26" name="TextBox 25"/>
          <p:cNvSpPr txBox="1"/>
          <p:nvPr/>
        </p:nvSpPr>
        <p:spPr>
          <a:xfrm>
            <a:off x="9381744" y="4224528"/>
            <a:ext cx="1828800" cy="548640"/>
          </a:xfrm>
          <a:prstGeom prst="rect">
            <a:avLst/>
          </a:prstGeom>
          <a:noFill/>
        </p:spPr>
        <p:txBody>
          <a:bodyPr wrap="square" anchor="t" lIns="0" rIns="0" tIns="0" bIns="0">
            <a:spAutoFit/>
          </a:bodyPr>
          <a:lstStyle/>
          <a:p>
            <a:pPr algn="l"/>
            <a:r>
              <a:rPr sz="3200" b="1">
                <a:solidFill>
                  <a:srgbClr val="8A90B0"/>
                </a:solidFill>
                <a:latin typeface="Arial"/>
              </a:rPr>
              <a:t>5 543</a:t>
            </a:r>
          </a:p>
        </p:txBody>
      </p:sp>
      <p:sp>
        <p:nvSpPr>
          <p:cNvPr id="27" name="TextBox 26"/>
          <p:cNvSpPr txBox="1"/>
          <p:nvPr/>
        </p:nvSpPr>
        <p:spPr>
          <a:xfrm>
            <a:off x="11256264"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28" name="TextBox 27"/>
          <p:cNvSpPr txBox="1"/>
          <p:nvPr/>
        </p:nvSpPr>
        <p:spPr>
          <a:xfrm>
            <a:off x="11896344" y="384048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29" name="TextBox 28"/>
          <p:cNvSpPr txBox="1"/>
          <p:nvPr/>
        </p:nvSpPr>
        <p:spPr>
          <a:xfrm>
            <a:off x="11896344" y="4041648"/>
            <a:ext cx="2468880" cy="777240"/>
          </a:xfrm>
          <a:prstGeom prst="rect">
            <a:avLst/>
          </a:prstGeom>
          <a:noFill/>
        </p:spPr>
        <p:txBody>
          <a:bodyPr wrap="square" anchor="t" lIns="0" rIns="0" tIns="0" bIns="0">
            <a:spAutoFit/>
          </a:bodyPr>
          <a:lstStyle/>
          <a:p>
            <a:pPr algn="l"/>
            <a:r>
              <a:rPr sz="4800" b="1">
                <a:solidFill>
                  <a:srgbClr val="FFFFFF"/>
                </a:solidFill>
                <a:latin typeface="Arial"/>
              </a:rPr>
              <a:t>5 727</a:t>
            </a:r>
          </a:p>
        </p:txBody>
      </p:sp>
      <p:sp>
        <p:nvSpPr>
          <p:cNvPr id="30" name="Rectangle 29"/>
          <p:cNvSpPr/>
          <p:nvPr/>
        </p:nvSpPr>
        <p:spPr>
          <a:xfrm>
            <a:off x="14456664"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+3,3 %</a:t>
            </a:r>
          </a:p>
        </p:txBody>
      </p:sp>
      <p:sp>
        <p:nvSpPr>
          <p:cNvPr id="31" name="TextBox 30"/>
          <p:cNvSpPr txBox="1"/>
          <p:nvPr/>
        </p:nvSpPr>
        <p:spPr>
          <a:xfrm>
            <a:off x="9381744"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maternelle</a:t>
            </a:r>
          </a:p>
        </p:txBody>
      </p:sp>
      <p:sp>
        <p:nvSpPr>
          <p:cNvPr id="32" name="TextBox 31"/>
          <p:cNvSpPr txBox="1"/>
          <p:nvPr/>
        </p:nvSpPr>
        <p:spPr>
          <a:xfrm>
            <a:off x="9381744" y="539495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33" name="TextBox 32"/>
          <p:cNvSpPr txBox="1"/>
          <p:nvPr/>
        </p:nvSpPr>
        <p:spPr>
          <a:xfrm>
            <a:off x="9381744"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199</a:t>
            </a:r>
          </a:p>
        </p:txBody>
      </p:sp>
      <p:sp>
        <p:nvSpPr>
          <p:cNvPr id="34" name="TextBox 33"/>
          <p:cNvSpPr txBox="1"/>
          <p:nvPr/>
        </p:nvSpPr>
        <p:spPr>
          <a:xfrm>
            <a:off x="11256264"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35" name="TextBox 34"/>
          <p:cNvSpPr txBox="1"/>
          <p:nvPr/>
        </p:nvSpPr>
        <p:spPr>
          <a:xfrm>
            <a:off x="11896344" y="525780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36" name="TextBox 35"/>
          <p:cNvSpPr txBox="1"/>
          <p:nvPr/>
        </p:nvSpPr>
        <p:spPr>
          <a:xfrm>
            <a:off x="11896344" y="5458968"/>
            <a:ext cx="2468880" cy="777240"/>
          </a:xfrm>
          <a:prstGeom prst="rect">
            <a:avLst/>
          </a:prstGeom>
          <a:noFill/>
        </p:spPr>
        <p:txBody>
          <a:bodyPr wrap="square" anchor="t" lIns="0" rIns="0" tIns="0" bIns="0">
            <a:spAutoFit/>
          </a:bodyPr>
          <a:lstStyle/>
          <a:p>
            <a:pPr algn="l"/>
            <a:r>
              <a:rPr sz="4800" b="1">
                <a:solidFill>
                  <a:srgbClr val="FFFFFF"/>
                </a:solidFill>
                <a:latin typeface="Arial"/>
              </a:rPr>
              <a:t>248</a:t>
            </a:r>
          </a:p>
        </p:txBody>
      </p:sp>
      <p:sp>
        <p:nvSpPr>
          <p:cNvPr id="37" name="Rectangle 36"/>
          <p:cNvSpPr/>
          <p:nvPr/>
        </p:nvSpPr>
        <p:spPr>
          <a:xfrm>
            <a:off x="14456664"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+49 animateurs</a:t>
            </a:r>
          </a:p>
        </p:txBody>
      </p:sp>
      <p:sp>
        <p:nvSpPr>
          <p:cNvPr id="38" name="TextBox 37"/>
          <p:cNvSpPr txBox="1"/>
          <p:nvPr/>
        </p:nvSpPr>
        <p:spPr>
          <a:xfrm>
            <a:off x="9381744" y="630936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élémentaire</a:t>
            </a:r>
          </a:p>
        </p:txBody>
      </p:sp>
      <p:sp>
        <p:nvSpPr>
          <p:cNvPr id="39" name="TextBox 38"/>
          <p:cNvSpPr txBox="1"/>
          <p:nvPr/>
        </p:nvSpPr>
        <p:spPr>
          <a:xfrm>
            <a:off x="9381744" y="6812280"/>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40" name="TextBox 39"/>
          <p:cNvSpPr txBox="1"/>
          <p:nvPr/>
        </p:nvSpPr>
        <p:spPr>
          <a:xfrm>
            <a:off x="9381744" y="7059168"/>
            <a:ext cx="1828800" cy="548640"/>
          </a:xfrm>
          <a:prstGeom prst="rect">
            <a:avLst/>
          </a:prstGeom>
          <a:noFill/>
        </p:spPr>
        <p:txBody>
          <a:bodyPr wrap="square" anchor="t" lIns="0" rIns="0" tIns="0" bIns="0">
            <a:spAutoFit/>
          </a:bodyPr>
          <a:lstStyle/>
          <a:p>
            <a:pPr algn="l"/>
            <a:r>
              <a:rPr sz="3200" b="1">
                <a:solidFill>
                  <a:srgbClr val="8A90B0"/>
                </a:solidFill>
                <a:latin typeface="Arial"/>
              </a:rPr>
              <a:t>123</a:t>
            </a:r>
          </a:p>
        </p:txBody>
      </p:sp>
      <p:sp>
        <p:nvSpPr>
          <p:cNvPr id="41" name="TextBox 40"/>
          <p:cNvSpPr txBox="1"/>
          <p:nvPr/>
        </p:nvSpPr>
        <p:spPr>
          <a:xfrm>
            <a:off x="11256264" y="6967728"/>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42" name="TextBox 41"/>
          <p:cNvSpPr txBox="1"/>
          <p:nvPr/>
        </p:nvSpPr>
        <p:spPr>
          <a:xfrm>
            <a:off x="11896344" y="667512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43" name="TextBox 42"/>
          <p:cNvSpPr txBox="1"/>
          <p:nvPr/>
        </p:nvSpPr>
        <p:spPr>
          <a:xfrm>
            <a:off x="11896344" y="6876288"/>
            <a:ext cx="2468880" cy="777240"/>
          </a:xfrm>
          <a:prstGeom prst="rect">
            <a:avLst/>
          </a:prstGeom>
          <a:noFill/>
        </p:spPr>
        <p:txBody>
          <a:bodyPr wrap="square" anchor="t" lIns="0" rIns="0" tIns="0" bIns="0">
            <a:spAutoFit/>
          </a:bodyPr>
          <a:lstStyle/>
          <a:p>
            <a:pPr algn="l"/>
            <a:r>
              <a:rPr sz="4800" b="1">
                <a:solidFill>
                  <a:srgbClr val="FFFFFF"/>
                </a:solidFill>
                <a:latin typeface="Arial"/>
              </a:rPr>
              <a:t>130</a:t>
            </a:r>
          </a:p>
        </p:txBody>
      </p:sp>
      <p:sp>
        <p:nvSpPr>
          <p:cNvPr id="44" name="Rectangle 43"/>
          <p:cNvSpPr/>
          <p:nvPr/>
        </p:nvSpPr>
        <p:spPr>
          <a:xfrm>
            <a:off x="14456664" y="704088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+5 %</a:t>
            </a:r>
          </a:p>
        </p:txBody>
      </p:sp>
      <p:sp>
        <p:nvSpPr>
          <p:cNvPr id="45" name="Rectangle 44"/>
          <p:cNvSpPr/>
          <p:nvPr/>
        </p:nvSpPr>
        <p:spPr>
          <a:xfrm>
            <a:off x="950976"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71016"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DE MATERNELLE</a:t>
            </a:r>
          </a:p>
        </p:txBody>
      </p:sp>
      <p:sp>
        <p:nvSpPr>
          <p:cNvPr id="47" name="TextBox 46"/>
          <p:cNvSpPr txBox="1"/>
          <p:nvPr/>
        </p:nvSpPr>
        <p:spPr>
          <a:xfrm>
            <a:off x="1271016" y="8503920"/>
            <a:ext cx="7315200" cy="914400"/>
          </a:xfrm>
          <a:prstGeom prst="rect">
            <a:avLst/>
          </a:prstGeom>
          <a:noFill/>
        </p:spPr>
        <p:txBody>
          <a:bodyPr wrap="square" anchor="t" lIns="0" rIns="0" tIns="0" bIns="0">
            <a:spAutoFit/>
          </a:bodyPr>
          <a:lstStyle/>
          <a:p>
            <a:pPr algn="l"/>
            <a:r>
              <a:rPr sz="2100" b="1">
                <a:solidFill>
                  <a:srgbClr val="FFFFFF"/>
                </a:solidFill>
                <a:latin typeface="Arial"/>
              </a:rPr>
              <a:t>96 % des cantines à 1 animateur pour 10 enfants ou mieux, contre 44 % en 2025</a:t>
            </a:r>
          </a:p>
        </p:txBody>
      </p:sp>
      <p:sp>
        <p:nvSpPr>
          <p:cNvPr id="48" name="Rectangle 47"/>
          <p:cNvSpPr/>
          <p:nvPr/>
        </p:nvSpPr>
        <p:spPr>
          <a:xfrm>
            <a:off x="9381744"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701784"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D'ÉLÉMENTAIRE</a:t>
            </a:r>
          </a:p>
        </p:txBody>
      </p:sp>
      <p:sp>
        <p:nvSpPr>
          <p:cNvPr id="50" name="TextBox 49"/>
          <p:cNvSpPr txBox="1"/>
          <p:nvPr/>
        </p:nvSpPr>
        <p:spPr>
          <a:xfrm>
            <a:off x="9701784" y="8503920"/>
            <a:ext cx="7315200" cy="914400"/>
          </a:xfrm>
          <a:prstGeom prst="rect">
            <a:avLst/>
          </a:prstGeom>
          <a:noFill/>
        </p:spPr>
        <p:txBody>
          <a:bodyPr wrap="square" anchor="t" lIns="0" rIns="0" tIns="0" bIns="0">
            <a:spAutoFit/>
          </a:bodyPr>
          <a:lstStyle/>
          <a:p>
            <a:pPr algn="l"/>
            <a:r>
              <a:rPr sz="2100" b="1">
                <a:solidFill>
                  <a:srgbClr val="FFFFFF"/>
                </a:solidFill>
                <a:latin typeface="Arial"/>
              </a:rPr>
              <a:t>14 cantines sur 26 à 1 pour 25, 19 d'ici mi-octobre. Objectif : toutes d'ici la fin de l'année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457</TotalTime>
  <Words>2646</Words>
  <Application>Microsoft Office PowerPoint</Application>
  <PresentationFormat>Personnalisé</PresentationFormat>
  <Paragraphs>305</Paragraphs>
  <Slides>29</Slides>
  <Notes>29</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29</vt:i4>
      </vt:variant>
    </vt:vector>
  </HeadingPairs>
  <TitlesOfParts>
    <vt:vector size="32"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BOUSSEMART Benjamin</cp:lastModifiedBy>
  <cp:revision>27</cp:revision>
  <cp:lastPrinted>2026-10-12T16:29:05Z</cp:lastPrinted>
  <dcterms:created xsi:type="dcterms:W3CDTF">2026-10-12T08:47:28Z</dcterms:created>
  <dcterms:modified xsi:type="dcterms:W3CDTF">2026-10-12T16:41:58Z</dcterms:modified>
</cp:coreProperties>
</file>