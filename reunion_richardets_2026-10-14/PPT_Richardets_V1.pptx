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02" r:id="rId38"/>
    <p:sldId id="303" r:id="rId39"/>
    <p:sldId id="304" r:id="rId40"/>
    <p:sldId id="296" r:id="rId7"/>
    <p:sldId id="298" r:id="rId8"/>
    <p:sldId id="305" r:id="rId41"/>
    <p:sldId id="306" r:id="rId42"/>
    <p:sldId id="307" r:id="rId43"/>
    <p:sldId id="308" r:id="rId44"/>
    <p:sldId id="314" r:id="rId50"/>
    <p:sldId id="295" r:id="rId28"/>
    <p:sldId id="309" r:id="rId45"/>
    <p:sldId id="310" r:id="rId46"/>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7" Type="http://schemas.openxmlformats.org/officeDocument/2006/relationships/slide" Target="slides/slide6.xml"/><Relationship Id="rId8" Type="http://schemas.openxmlformats.org/officeDocument/2006/relationships/slide" Target="slides/slide7.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décidée par La Poste sans information des habitants. Le Maire s'y est opposé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cercles verts indiquent le nombre de signalements recueillis par le formulaire de la Ville pour chaque arrêt.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3.png"/><Relationship Id="rId5"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3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39.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32568"/>
        </a:solidFill>
        <a:effectLst/>
      </p:bgPr>
    </p:bg>
    <p:spTree>
      <p:nvGrpSpPr>
        <p:cNvPr id="1" name=""/>
        <p:cNvGrpSpPr/>
        <p:nvPr/>
      </p:nvGrpSpPr>
      <p:grpSpPr>
        <a:xfrm>
          <a:off x="0" y="0"/>
          <a:ext cx="0" cy="0"/>
          <a:chOff x="0" y="0"/>
          <a:chExt cx="0" cy="0"/>
        </a:xfrm>
      </p:grpSpPr>
      <p:sp>
        <p:nvSpPr>
          <p:cNvPr id="2" name="Text 0"/>
          <p:cNvSpPr txBox="1"/>
          <p:nvPr/>
        </p:nvSpPr>
        <p:spPr>
          <a:xfrm>
            <a:off x="946404" y="644652"/>
            <a:ext cx="12344400" cy="480060"/>
          </a:xfrm>
          <a:prstGeom prst="rect">
            <a:avLst/>
          </a:prstGeom>
          <a:noFill/>
          <a:ln/>
        </p:spPr>
        <p:txBody>
          <a:bodyPr wrap="square" lIns="0" tIns="0" rIns="0" bIns="0" rtlCol="0" anchor="ctr"/>
          <a:lstStyle/>
          <a:p>
            <a:r>
              <a:rPr lang="en-US" sz="1950" b="1" kern="0" spc="300" dirty="0">
                <a:solidFill>
                  <a:srgbClr val="72C493"/>
                </a:solidFill>
                <a:latin typeface="Arial" pitchFamily="34" charset="0"/>
                <a:ea typeface="Arial" pitchFamily="34" charset="-122"/>
                <a:cs typeface="Arial" pitchFamily="34" charset="-120"/>
              </a:rPr>
              <a:t>LES ÉCOLES · LE PÉRISCOLAIRE · MERCREDIS</a:t>
            </a:r>
            <a:endParaRPr lang="en-US" sz="1950" dirty="0"/>
          </a:p>
        </p:txBody>
      </p:sp>
      <p:sp>
        <p:nvSpPr>
          <p:cNvPr id="3" name="Text 1"/>
          <p:cNvSpPr txBox="1"/>
          <p:nvPr/>
        </p:nvSpPr>
        <p:spPr>
          <a:xfrm>
            <a:off x="946404" y="1165860"/>
            <a:ext cx="13716000" cy="891540"/>
          </a:xfrm>
          <a:prstGeom prst="rect">
            <a:avLst/>
          </a:prstGeom>
          <a:noFill/>
          <a:ln/>
        </p:spPr>
        <p:txBody>
          <a:bodyPr wrap="square" lIns="0" tIns="0" rIns="0" bIns="0" rtlCol="0" anchor="ctr"/>
          <a:lstStyle/>
          <a:p>
            <a:r>
              <a:rPr lang="en-US" sz="4050" b="1" dirty="0">
                <a:solidFill>
                  <a:srgbClr val="FFFFFF"/>
                </a:solidFill>
                <a:latin typeface="Arial" pitchFamily="34" charset="0"/>
                <a:ea typeface="Arial" pitchFamily="34" charset="-122"/>
                <a:cs typeface="Arial" pitchFamily="34" charset="-120"/>
              </a:rPr>
              <a:t>Plus de places en accueil de loisirs le mercredi</a:t>
            </a:r>
            <a:endParaRPr lang="en-US" sz="4050" dirty="0"/>
          </a:p>
        </p:txBody>
      </p:sp>
      <p:sp>
        <p:nvSpPr>
          <p:cNvPr id="4" name="Text 2"/>
          <p:cNvSpPr txBox="1"/>
          <p:nvPr/>
        </p:nvSpPr>
        <p:spPr>
          <a:xfrm>
            <a:off x="946404" y="2125980"/>
            <a:ext cx="13716000" cy="548640"/>
          </a:xfrm>
          <a:prstGeom prst="rect">
            <a:avLst/>
          </a:prstGeom>
          <a:noFill/>
          <a:ln/>
        </p:spPr>
        <p:txBody>
          <a:bodyPr wrap="square" lIns="0" tIns="0" rIns="0" bIns="0" rtlCol="0" anchor="ctr"/>
          <a:lstStyle/>
          <a:p>
            <a:r>
              <a:rPr lang="en-US" sz="2100" dirty="0">
                <a:solidFill>
                  <a:srgbClr val="FFFFFF"/>
                </a:solidFill>
                <a:latin typeface="Arial" pitchFamily="34" charset="0"/>
                <a:ea typeface="Arial" pitchFamily="34" charset="-122"/>
                <a:cs typeface="Arial" pitchFamily="34" charset="-120"/>
              </a:rPr>
              <a:t>Dans toute la ville, rentrée 2026 comparée à la rentrée 2025</a:t>
            </a:r>
            <a:endParaRPr lang="en-US" sz="2100" dirty="0"/>
          </a:p>
        </p:txBody>
      </p:sp>
      <p:pic>
        <p:nvPicPr>
          <p:cNvPr id="5" name="Image 0" descr="/tmp/claude-0/-home-user-Operation-robespierre/996c8343-2b29-5be8-89e5-6b613d278f5f/scratchpad/logo_rp_x3.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5910560" y="205740"/>
            <a:ext cx="1824228" cy="1947672"/>
          </a:xfrm>
          <a:prstGeom prst="rect">
            <a:avLst/>
          </a:prstGeom>
        </p:spPr>
      </p:pic>
      <p:sp>
        <p:nvSpPr>
          <p:cNvPr id="6" name="Shape 3"/>
          <p:cNvSpPr/>
          <p:nvPr/>
        </p:nvSpPr>
        <p:spPr>
          <a:xfrm>
            <a:off x="946404" y="3154680"/>
            <a:ext cx="7612380" cy="0"/>
          </a:xfrm>
          <a:prstGeom prst="line">
            <a:avLst/>
          </a:prstGeom>
          <a:noFill/>
          <a:ln w="31750">
            <a:solidFill>
              <a:srgbClr val="72C493"/>
            </a:solidFill>
            <a:prstDash val="solid"/>
          </a:ln>
        </p:spPr>
      </p:sp>
      <p:sp>
        <p:nvSpPr>
          <p:cNvPr id="7" name="Text 4"/>
          <p:cNvSpPr txBox="1"/>
          <p:nvPr/>
        </p:nvSpPr>
        <p:spPr>
          <a:xfrm>
            <a:off x="946404" y="3429000"/>
            <a:ext cx="7543800" cy="48006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PLACES OUVERTES LE MERCREDI</a:t>
            </a:r>
            <a:endParaRPr lang="en-US" sz="2100" dirty="0"/>
          </a:p>
        </p:txBody>
      </p:sp>
      <p:sp>
        <p:nvSpPr>
          <p:cNvPr id="8" name="Shape 5"/>
          <p:cNvSpPr/>
          <p:nvPr/>
        </p:nvSpPr>
        <p:spPr>
          <a:xfrm>
            <a:off x="9738360" y="3154680"/>
            <a:ext cx="7612380" cy="0"/>
          </a:xfrm>
          <a:prstGeom prst="line">
            <a:avLst/>
          </a:prstGeom>
          <a:noFill/>
          <a:ln w="31750">
            <a:solidFill>
              <a:srgbClr val="72C493"/>
            </a:solidFill>
            <a:prstDash val="solid"/>
          </a:ln>
        </p:spPr>
      </p:sp>
      <p:sp>
        <p:nvSpPr>
          <p:cNvPr id="9" name="Text 6"/>
          <p:cNvSpPr txBox="1"/>
          <p:nvPr/>
        </p:nvSpPr>
        <p:spPr>
          <a:xfrm>
            <a:off x="9738360" y="3429000"/>
            <a:ext cx="7543800" cy="48006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ANIMATEURS RECRUTÉS</a:t>
            </a:r>
            <a:endParaRPr lang="en-US" sz="2100" dirty="0"/>
          </a:p>
        </p:txBody>
      </p:sp>
      <p:sp>
        <p:nvSpPr>
          <p:cNvPr id="10" name="Text 7"/>
          <p:cNvSpPr txBox="1"/>
          <p:nvPr/>
        </p:nvSpPr>
        <p:spPr>
          <a:xfrm>
            <a:off x="946404" y="4594860"/>
            <a:ext cx="1645920" cy="411480"/>
          </a:xfrm>
          <a:prstGeom prst="rect">
            <a:avLst/>
          </a:prstGeom>
          <a:noFill/>
          <a:ln/>
        </p:spPr>
        <p:txBody>
          <a:bodyPr wrap="square" lIns="0" tIns="0" rIns="0" bIns="0" rtlCol="0" anchor="ctr"/>
          <a:lstStyle/>
          <a:p>
            <a:r>
              <a:rPr lang="en-US" sz="2100" b="1" dirty="0">
                <a:solidFill>
                  <a:srgbClr val="8A90B0"/>
                </a:solidFill>
                <a:latin typeface="Arial" pitchFamily="34" charset="0"/>
                <a:ea typeface="Arial" pitchFamily="34" charset="-122"/>
                <a:cs typeface="Arial" pitchFamily="34" charset="-120"/>
              </a:rPr>
              <a:t>Sept. 2025</a:t>
            </a:r>
            <a:endParaRPr lang="en-US" sz="2100" dirty="0"/>
          </a:p>
        </p:txBody>
      </p:sp>
      <p:sp>
        <p:nvSpPr>
          <p:cNvPr id="11" name="Text 8"/>
          <p:cNvSpPr txBox="1"/>
          <p:nvPr/>
        </p:nvSpPr>
        <p:spPr>
          <a:xfrm>
            <a:off x="946404" y="4937760"/>
            <a:ext cx="3154680" cy="1028700"/>
          </a:xfrm>
          <a:prstGeom prst="rect">
            <a:avLst/>
          </a:prstGeom>
          <a:noFill/>
          <a:ln/>
        </p:spPr>
        <p:txBody>
          <a:bodyPr wrap="square" lIns="0" tIns="0" rIns="0" bIns="0" rtlCol="0" anchor="ctr"/>
          <a:lstStyle/>
          <a:p>
            <a:r>
              <a:rPr lang="en-US" sz="6900" b="1" dirty="0">
                <a:solidFill>
                  <a:srgbClr val="8A90B0"/>
                </a:solidFill>
                <a:latin typeface="Arial" pitchFamily="34" charset="0"/>
                <a:ea typeface="Arial" pitchFamily="34" charset="-122"/>
                <a:cs typeface="Arial" pitchFamily="34" charset="-120"/>
              </a:rPr>
              <a:t>1 616</a:t>
            </a:r>
            <a:endParaRPr lang="en-US" sz="6900" dirty="0"/>
          </a:p>
        </p:txBody>
      </p:sp>
      <p:sp>
        <p:nvSpPr>
          <p:cNvPr id="12" name="Text 9"/>
          <p:cNvSpPr txBox="1"/>
          <p:nvPr/>
        </p:nvSpPr>
        <p:spPr>
          <a:xfrm>
            <a:off x="3895344" y="5006340"/>
            <a:ext cx="822960" cy="822960"/>
          </a:xfrm>
          <a:prstGeom prst="rect">
            <a:avLst/>
          </a:prstGeom>
          <a:noFill/>
          <a:ln/>
        </p:spPr>
        <p:txBody>
          <a:bodyPr wrap="square" lIns="0" tIns="0" rIns="0" bIns="0" rtlCol="0" anchor="ctr"/>
          <a:lstStyle/>
          <a:p>
            <a:r>
              <a:rPr lang="en-US" sz="4200" dirty="0">
                <a:solidFill>
                  <a:srgbClr val="72C493"/>
                </a:solidFill>
                <a:latin typeface="Arial" pitchFamily="34" charset="0"/>
                <a:ea typeface="Arial" pitchFamily="34" charset="-122"/>
                <a:cs typeface="Arial" pitchFamily="34" charset="-120"/>
              </a:rPr>
              <a:t>→</a:t>
            </a:r>
            <a:endParaRPr lang="en-US" sz="4200" dirty="0"/>
          </a:p>
        </p:txBody>
      </p:sp>
      <p:sp>
        <p:nvSpPr>
          <p:cNvPr id="13" name="Text 10"/>
          <p:cNvSpPr txBox="1"/>
          <p:nvPr/>
        </p:nvSpPr>
        <p:spPr>
          <a:xfrm>
            <a:off x="4992624" y="4114800"/>
            <a:ext cx="2194560" cy="411480"/>
          </a:xfrm>
          <a:prstGeom prst="rect">
            <a:avLst/>
          </a:prstGeom>
          <a:noFill/>
          <a:ln/>
        </p:spPr>
        <p:txBody>
          <a:bodyPr wrap="square" lIns="0" tIns="0" rIns="0" bIns="0" rtlCol="0" anchor="ctr"/>
          <a:lstStyle/>
          <a:p>
            <a:r>
              <a:rPr lang="en-US" sz="2100" b="1" dirty="0">
                <a:solidFill>
                  <a:srgbClr val="72C493"/>
                </a:solidFill>
                <a:latin typeface="Arial" pitchFamily="34" charset="0"/>
                <a:ea typeface="Arial" pitchFamily="34" charset="-122"/>
                <a:cs typeface="Arial" pitchFamily="34" charset="-120"/>
              </a:rPr>
              <a:t>Oct. 2026</a:t>
            </a:r>
            <a:endParaRPr lang="en-US" sz="2100" dirty="0"/>
          </a:p>
        </p:txBody>
      </p:sp>
      <p:sp>
        <p:nvSpPr>
          <p:cNvPr id="14" name="Text 11"/>
          <p:cNvSpPr txBox="1"/>
          <p:nvPr/>
        </p:nvSpPr>
        <p:spPr>
          <a:xfrm>
            <a:off x="4992624" y="4457700"/>
            <a:ext cx="4663440" cy="1508760"/>
          </a:xfrm>
          <a:prstGeom prst="rect">
            <a:avLst/>
          </a:prstGeom>
          <a:noFill/>
          <a:ln/>
        </p:spPr>
        <p:txBody>
          <a:bodyPr wrap="square" lIns="0" tIns="0" rIns="0" bIns="0" rtlCol="0" anchor="ctr"/>
          <a:lstStyle/>
          <a:p>
            <a:r>
              <a:rPr lang="en-US" sz="10500" b="1" dirty="0">
                <a:solidFill>
                  <a:srgbClr val="FFFFFF"/>
                </a:solidFill>
                <a:latin typeface="Arial" pitchFamily="34" charset="0"/>
                <a:ea typeface="Arial" pitchFamily="34" charset="-122"/>
                <a:cs typeface="Arial" pitchFamily="34" charset="-120"/>
              </a:rPr>
              <a:t>1 784</a:t>
            </a:r>
            <a:endParaRPr lang="en-US" sz="10500" dirty="0"/>
          </a:p>
        </p:txBody>
      </p:sp>
      <p:sp>
        <p:nvSpPr>
          <p:cNvPr id="15" name="Text 12"/>
          <p:cNvSpPr txBox="1"/>
          <p:nvPr/>
        </p:nvSpPr>
        <p:spPr>
          <a:xfrm>
            <a:off x="9738360" y="4594860"/>
            <a:ext cx="1645920" cy="411480"/>
          </a:xfrm>
          <a:prstGeom prst="rect">
            <a:avLst/>
          </a:prstGeom>
          <a:noFill/>
          <a:ln/>
        </p:spPr>
        <p:txBody>
          <a:bodyPr wrap="square" lIns="0" tIns="0" rIns="0" bIns="0" rtlCol="0" anchor="ctr"/>
          <a:lstStyle/>
          <a:p>
            <a:r>
              <a:rPr lang="en-US" sz="2100" b="1" dirty="0">
                <a:solidFill>
                  <a:srgbClr val="8A90B0"/>
                </a:solidFill>
                <a:latin typeface="Arial" pitchFamily="34" charset="0"/>
                <a:ea typeface="Arial" pitchFamily="34" charset="-122"/>
                <a:cs typeface="Arial" pitchFamily="34" charset="-120"/>
              </a:rPr>
              <a:t>Sept. 2025</a:t>
            </a:r>
            <a:endParaRPr lang="en-US" sz="2100" dirty="0"/>
          </a:p>
        </p:txBody>
      </p:sp>
      <p:sp>
        <p:nvSpPr>
          <p:cNvPr id="16" name="Text 13"/>
          <p:cNvSpPr txBox="1"/>
          <p:nvPr/>
        </p:nvSpPr>
        <p:spPr>
          <a:xfrm>
            <a:off x="9738360" y="4937760"/>
            <a:ext cx="3154680" cy="1028700"/>
          </a:xfrm>
          <a:prstGeom prst="rect">
            <a:avLst/>
          </a:prstGeom>
          <a:noFill/>
          <a:ln/>
        </p:spPr>
        <p:txBody>
          <a:bodyPr wrap="square" lIns="0" tIns="0" rIns="0" bIns="0" rtlCol="0" anchor="ctr"/>
          <a:lstStyle/>
          <a:p>
            <a:r>
              <a:rPr lang="en-US" sz="6900" b="1" dirty="0">
                <a:solidFill>
                  <a:srgbClr val="8A90B0"/>
                </a:solidFill>
                <a:latin typeface="Arial" pitchFamily="34" charset="0"/>
                <a:ea typeface="Arial" pitchFamily="34" charset="-122"/>
                <a:cs typeface="Arial" pitchFamily="34" charset="-120"/>
              </a:rPr>
              <a:t>145</a:t>
            </a:r>
            <a:endParaRPr lang="en-US" sz="6900" dirty="0"/>
          </a:p>
        </p:txBody>
      </p:sp>
      <p:sp>
        <p:nvSpPr>
          <p:cNvPr id="17" name="Text 14"/>
          <p:cNvSpPr txBox="1"/>
          <p:nvPr/>
        </p:nvSpPr>
        <p:spPr>
          <a:xfrm>
            <a:off x="12687300" y="5006340"/>
            <a:ext cx="822960" cy="822960"/>
          </a:xfrm>
          <a:prstGeom prst="rect">
            <a:avLst/>
          </a:prstGeom>
          <a:noFill/>
          <a:ln/>
        </p:spPr>
        <p:txBody>
          <a:bodyPr wrap="square" lIns="0" tIns="0" rIns="0" bIns="0" rtlCol="0" anchor="ctr"/>
          <a:lstStyle/>
          <a:p>
            <a:r>
              <a:rPr lang="en-US" sz="4200" dirty="0">
                <a:solidFill>
                  <a:srgbClr val="72C493"/>
                </a:solidFill>
                <a:latin typeface="Arial" pitchFamily="34" charset="0"/>
                <a:ea typeface="Arial" pitchFamily="34" charset="-122"/>
                <a:cs typeface="Arial" pitchFamily="34" charset="-120"/>
              </a:rPr>
              <a:t>→</a:t>
            </a:r>
            <a:endParaRPr lang="en-US" sz="4200" dirty="0"/>
          </a:p>
        </p:txBody>
      </p:sp>
      <p:sp>
        <p:nvSpPr>
          <p:cNvPr id="18" name="Text 15"/>
          <p:cNvSpPr txBox="1"/>
          <p:nvPr/>
        </p:nvSpPr>
        <p:spPr>
          <a:xfrm>
            <a:off x="13784580" y="4114800"/>
            <a:ext cx="2194560" cy="411480"/>
          </a:xfrm>
          <a:prstGeom prst="rect">
            <a:avLst/>
          </a:prstGeom>
          <a:noFill/>
          <a:ln/>
        </p:spPr>
        <p:txBody>
          <a:bodyPr wrap="square" lIns="0" tIns="0" rIns="0" bIns="0" rtlCol="0" anchor="ctr"/>
          <a:lstStyle/>
          <a:p>
            <a:r>
              <a:rPr lang="en-US" sz="2100" b="1" dirty="0">
                <a:solidFill>
                  <a:srgbClr val="72C493"/>
                </a:solidFill>
                <a:latin typeface="Arial" pitchFamily="34" charset="0"/>
                <a:ea typeface="Arial" pitchFamily="34" charset="-122"/>
                <a:cs typeface="Arial" pitchFamily="34" charset="-120"/>
              </a:rPr>
              <a:t>Oct. 2026</a:t>
            </a:r>
            <a:endParaRPr lang="en-US" sz="2100" dirty="0"/>
          </a:p>
        </p:txBody>
      </p:sp>
      <p:sp>
        <p:nvSpPr>
          <p:cNvPr id="19" name="Text 16"/>
          <p:cNvSpPr txBox="1"/>
          <p:nvPr/>
        </p:nvSpPr>
        <p:spPr>
          <a:xfrm>
            <a:off x="13784580" y="4457700"/>
            <a:ext cx="4663440" cy="1508760"/>
          </a:xfrm>
          <a:prstGeom prst="rect">
            <a:avLst/>
          </a:prstGeom>
          <a:noFill/>
          <a:ln/>
        </p:spPr>
        <p:txBody>
          <a:bodyPr wrap="square" lIns="0" tIns="0" rIns="0" bIns="0" rtlCol="0" anchor="ctr"/>
          <a:lstStyle/>
          <a:p>
            <a:r>
              <a:rPr lang="en-US" sz="10500" b="1" dirty="0">
                <a:solidFill>
                  <a:srgbClr val="FFFFFF"/>
                </a:solidFill>
                <a:latin typeface="Arial" pitchFamily="34" charset="0"/>
                <a:ea typeface="Arial" pitchFamily="34" charset="-122"/>
                <a:cs typeface="Arial" pitchFamily="34" charset="-120"/>
              </a:rPr>
              <a:t>162</a:t>
            </a:r>
            <a:endParaRPr lang="en-US" sz="10500" dirty="0"/>
          </a:p>
        </p:txBody>
      </p:sp>
      <p:sp>
        <p:nvSpPr>
          <p:cNvPr id="20" name="Shape 17"/>
          <p:cNvSpPr/>
          <p:nvPr/>
        </p:nvSpPr>
        <p:spPr>
          <a:xfrm>
            <a:off x="946404" y="6309360"/>
            <a:ext cx="3977640" cy="576072"/>
          </a:xfrm>
          <a:prstGeom prst="rect">
            <a:avLst/>
          </a:prstGeom>
          <a:solidFill>
            <a:srgbClr val="72C493"/>
          </a:solidFill>
          <a:ln/>
        </p:spPr>
      </p:sp>
      <p:sp>
        <p:nvSpPr>
          <p:cNvPr id="21" name="Text 18"/>
          <p:cNvSpPr txBox="1"/>
          <p:nvPr/>
        </p:nvSpPr>
        <p:spPr>
          <a:xfrm>
            <a:off x="1138428" y="6309360"/>
            <a:ext cx="3703320" cy="576072"/>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+168 places, soit +10 %</a:t>
            </a:r>
            <a:endParaRPr lang="en-US" sz="2100" dirty="0"/>
          </a:p>
        </p:txBody>
      </p:sp>
      <p:sp>
        <p:nvSpPr>
          <p:cNvPr id="22" name="Shape 19"/>
          <p:cNvSpPr/>
          <p:nvPr/>
        </p:nvSpPr>
        <p:spPr>
          <a:xfrm>
            <a:off x="9738360" y="6309360"/>
            <a:ext cx="2743200" cy="576072"/>
          </a:xfrm>
          <a:prstGeom prst="rect">
            <a:avLst/>
          </a:prstGeom>
          <a:solidFill>
            <a:srgbClr val="72C493"/>
          </a:solidFill>
          <a:ln/>
        </p:spPr>
      </p:sp>
      <p:sp>
        <p:nvSpPr>
          <p:cNvPr id="23" name="Text 20"/>
          <p:cNvSpPr txBox="1"/>
          <p:nvPr/>
        </p:nvSpPr>
        <p:spPr>
          <a:xfrm>
            <a:off x="9930384" y="6309360"/>
            <a:ext cx="2468880" cy="576072"/>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+17 animateurs</a:t>
            </a:r>
            <a:endParaRPr lang="en-US" sz="2100" dirty="0"/>
          </a:p>
        </p:txBody>
      </p:sp>
      <p:sp>
        <p:nvSpPr>
          <p:cNvPr id="24" name="Shape 21"/>
          <p:cNvSpPr/>
          <p:nvPr/>
        </p:nvSpPr>
        <p:spPr>
          <a:xfrm>
            <a:off x="946404" y="8023860"/>
            <a:ext cx="5280660" cy="0"/>
          </a:xfrm>
          <a:prstGeom prst="line">
            <a:avLst/>
          </a:prstGeom>
          <a:noFill/>
          <a:ln w="12700">
            <a:solidFill>
              <a:srgbClr val="2A3A72"/>
            </a:solidFill>
            <a:prstDash val="solid"/>
          </a:ln>
        </p:spPr>
      </p:sp>
      <p:sp>
        <p:nvSpPr>
          <p:cNvPr id="25" name="Text 22"/>
          <p:cNvSpPr txBox="1"/>
          <p:nvPr/>
        </p:nvSpPr>
        <p:spPr>
          <a:xfrm>
            <a:off x="946404" y="8229600"/>
            <a:ext cx="5280660" cy="1097280"/>
          </a:xfrm>
          <a:prstGeom prst="rect">
            <a:avLst/>
          </a:prstGeom>
          <a:noFill/>
          <a:ln/>
        </p:spPr>
        <p:txBody>
          <a:bodyPr wrap="square" lIns="0" tIns="0" rIns="0" bIns="0" rtlCol="0" anchor="t"/>
          <a:lstStyle/>
          <a:p>
            <a:r>
              <a:rPr lang="en-US" sz="2100" b="1" dirty="0">
                <a:solidFill>
                  <a:srgbClr val="FFFFFF"/>
                </a:solidFill>
                <a:latin typeface="Arial" pitchFamily="34" charset="0"/>
                <a:ea typeface="Arial" pitchFamily="34" charset="-122"/>
                <a:cs typeface="Arial" pitchFamily="34" charset="-120"/>
              </a:rPr>
              <a:t>Chaque recrutement ouvre 8 places en maternelle et 12 en élémentaire</a:t>
            </a:r>
            <a:endParaRPr lang="en-US" sz="2100" dirty="0"/>
          </a:p>
        </p:txBody>
      </p:sp>
      <p:sp>
        <p:nvSpPr>
          <p:cNvPr id="26" name="Shape 23"/>
          <p:cNvSpPr/>
          <p:nvPr/>
        </p:nvSpPr>
        <p:spPr>
          <a:xfrm>
            <a:off x="6597396" y="8023860"/>
            <a:ext cx="5280660" cy="0"/>
          </a:xfrm>
          <a:prstGeom prst="line">
            <a:avLst/>
          </a:prstGeom>
          <a:noFill/>
          <a:ln w="12700">
            <a:solidFill>
              <a:srgbClr val="2A3A72"/>
            </a:solidFill>
            <a:prstDash val="solid"/>
          </a:ln>
        </p:spPr>
      </p:sp>
      <p:sp>
        <p:nvSpPr>
          <p:cNvPr id="27" name="Text 24"/>
          <p:cNvSpPr txBox="1"/>
          <p:nvPr/>
        </p:nvSpPr>
        <p:spPr>
          <a:xfrm>
            <a:off x="6597396" y="8229600"/>
            <a:ext cx="5280660" cy="1097280"/>
          </a:xfrm>
          <a:prstGeom prst="rect">
            <a:avLst/>
          </a:prstGeom>
          <a:noFill/>
          <a:ln/>
        </p:spPr>
        <p:txBody>
          <a:bodyPr wrap="square" lIns="0" tIns="0" rIns="0" bIns="0" rtlCol="0" anchor="t"/>
          <a:lstStyle/>
          <a:p>
            <a:r>
              <a:rPr lang="en-US" sz="2100" b="1" dirty="0">
                <a:solidFill>
                  <a:srgbClr val="FFFFFF"/>
                </a:solidFill>
                <a:latin typeface="Arial" pitchFamily="34" charset="0"/>
                <a:ea typeface="Arial" pitchFamily="34" charset="-122"/>
                <a:cs typeface="Arial" pitchFamily="34" charset="-120"/>
              </a:rPr>
              <a:t>Les places libérées sont réattribuées chaque semaine à partir des listes d’attente</a:t>
            </a:r>
            <a:endParaRPr lang="en-US" sz="2100" dirty="0"/>
          </a:p>
        </p:txBody>
      </p:sp>
      <p:sp>
        <p:nvSpPr>
          <p:cNvPr id="28" name="Shape 25"/>
          <p:cNvSpPr/>
          <p:nvPr/>
        </p:nvSpPr>
        <p:spPr>
          <a:xfrm>
            <a:off x="12248388" y="8023860"/>
            <a:ext cx="5280660" cy="0"/>
          </a:xfrm>
          <a:prstGeom prst="line">
            <a:avLst/>
          </a:prstGeom>
          <a:noFill/>
          <a:ln w="12700">
            <a:solidFill>
              <a:srgbClr val="2A3A72"/>
            </a:solidFill>
            <a:prstDash val="solid"/>
          </a:ln>
        </p:spPr>
      </p:sp>
      <p:sp>
        <p:nvSpPr>
          <p:cNvPr id="29" name="Text 26"/>
          <p:cNvSpPr txBox="1"/>
          <p:nvPr/>
        </p:nvSpPr>
        <p:spPr>
          <a:xfrm>
            <a:off x="12248388" y="8229600"/>
            <a:ext cx="5280660" cy="1097280"/>
          </a:xfrm>
          <a:prstGeom prst="rect">
            <a:avLst/>
          </a:prstGeom>
          <a:noFill/>
          <a:ln/>
        </p:spPr>
        <p:txBody>
          <a:bodyPr wrap="square" lIns="0" tIns="0" rIns="0" bIns="0" rtlCol="0" anchor="t"/>
          <a:lstStyle/>
          <a:p>
            <a:r>
              <a:rPr lang="en-US" sz="2100" b="1" dirty="0">
                <a:solidFill>
                  <a:srgbClr val="72C493"/>
                </a:solidFill>
                <a:latin typeface="Arial" pitchFamily="34" charset="0"/>
                <a:ea typeface="Arial" pitchFamily="34" charset="-122"/>
                <a:cs typeface="Arial" pitchFamily="34" charset="-120"/>
              </a:rPr>
              <a:t>Les recrutements continuent, surtout pour les postes du mercredi</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46404" y="644652"/>
            <a:ext cx="12344400" cy="480060"/>
          </a:xfrm>
          <a:prstGeom prst="rect">
            <a:avLst/>
          </a:prstGeom>
          <a:noFill/>
          <a:ln/>
        </p:spPr>
        <p:txBody>
          <a:bodyPr wrap="square" lIns="0" tIns="0" rIns="0" bIns="0" rtlCol="0" anchor="ctr"/>
          <a:lstStyle/>
          <a:p>
            <a:r>
              <a:rPr lang="en-US" sz="1950" b="1" kern="0" spc="300" dirty="0">
                <a:solidFill>
                  <a:srgbClr val="72C493"/>
                </a:solidFill>
                <a:latin typeface="Arial" pitchFamily="34" charset="0"/>
                <a:ea typeface="Arial" pitchFamily="34" charset="-122"/>
                <a:cs typeface="Arial" pitchFamily="34" charset="-120"/>
              </a:rPr>
              <a:t>LES ÉCOLES · LE PÉRISCOLAIRE · PAUSE MÉRIDIENNE</a:t>
            </a:r>
            <a:endParaRPr lang="en-US" sz="1950" dirty="0"/>
          </a:p>
        </p:txBody>
      </p:sp>
      <p:sp>
        <p:nvSpPr>
          <p:cNvPr id="3" name="Text 1"/>
          <p:cNvSpPr txBox="1"/>
          <p:nvPr/>
        </p:nvSpPr>
        <p:spPr>
          <a:xfrm>
            <a:off x="946404" y="1165860"/>
            <a:ext cx="13716000" cy="891540"/>
          </a:xfrm>
          <a:prstGeom prst="rect">
            <a:avLst/>
          </a:prstGeom>
          <a:noFill/>
          <a:ln/>
        </p:spPr>
        <p:txBody>
          <a:bodyPr wrap="square" lIns="0" tIns="0" rIns="0" bIns="0" rtlCol="0" anchor="ctr"/>
          <a:lstStyle/>
          <a:p>
            <a:r>
              <a:rPr lang="en-US" sz="4050" b="1" dirty="0">
                <a:solidFill>
                  <a:srgbClr val="0E1F5B"/>
                </a:solidFill>
                <a:latin typeface="Arial" pitchFamily="34" charset="0"/>
                <a:ea typeface="Arial" pitchFamily="34" charset="-122"/>
                <a:cs typeface="Arial" pitchFamily="34" charset="-120"/>
              </a:rPr>
              <a:t>Plus d’animateurs à la cantine</a:t>
            </a:r>
            <a:endParaRPr lang="en-US" sz="4050" dirty="0"/>
          </a:p>
        </p:txBody>
      </p:sp>
      <p:sp>
        <p:nvSpPr>
          <p:cNvPr id="4" name="Text 2"/>
          <p:cNvSpPr txBox="1"/>
          <p:nvPr/>
        </p:nvSpPr>
        <p:spPr>
          <a:xfrm>
            <a:off x="946404" y="2125980"/>
            <a:ext cx="13716000" cy="548640"/>
          </a:xfrm>
          <a:prstGeom prst="rect">
            <a:avLst/>
          </a:prstGeom>
          <a:noFill/>
          <a:ln/>
        </p:spPr>
        <p:txBody>
          <a:bodyPr wrap="square" lIns="0" tIns="0" rIns="0" bIns="0" rtlCol="0" anchor="ctr"/>
          <a:lstStyle/>
          <a:p>
            <a:r>
              <a:rPr lang="en-US" sz="2100" dirty="0">
                <a:solidFill>
                  <a:srgbClr val="0E1F5B"/>
                </a:solidFill>
                <a:latin typeface="Arial" pitchFamily="34" charset="0"/>
                <a:ea typeface="Arial" pitchFamily="34" charset="-122"/>
                <a:cs typeface="Arial" pitchFamily="34" charset="-120"/>
              </a:rPr>
              <a:t>Rentrée 2026 comparée à la rentrée 2025, dans toute la ville</a:t>
            </a:r>
            <a:endParaRPr lang="en-US" sz="2100" dirty="0"/>
          </a:p>
        </p:txBody>
      </p:sp>
      <p:pic>
        <p:nvPicPr>
          <p:cNvPr id="5" name="Image 0" descr="/tmp/claude-0/-home-user-Operation-robespierre/996c8343-2b29-5be8-89e5-6b613d278f5f/scratchpad/logo_rp_clair_x3.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5910560" y="205740"/>
            <a:ext cx="1824228" cy="1947672"/>
          </a:xfrm>
          <a:prstGeom prst="rect">
            <a:avLst/>
          </a:prstGeom>
        </p:spPr>
      </p:pic>
      <p:sp>
        <p:nvSpPr>
          <p:cNvPr id="6" name="Shape 3"/>
          <p:cNvSpPr/>
          <p:nvPr/>
        </p:nvSpPr>
        <p:spPr>
          <a:xfrm>
            <a:off x="946404" y="3154680"/>
            <a:ext cx="5143500" cy="0"/>
          </a:xfrm>
          <a:prstGeom prst="line">
            <a:avLst/>
          </a:prstGeom>
          <a:noFill/>
          <a:ln w="31750">
            <a:solidFill>
              <a:srgbClr val="72C493"/>
            </a:solidFill>
            <a:prstDash val="solid"/>
          </a:ln>
        </p:spPr>
      </p:sp>
      <p:sp>
        <p:nvSpPr>
          <p:cNvPr id="7" name="Text 4"/>
          <p:cNvSpPr txBox="1"/>
          <p:nvPr/>
        </p:nvSpPr>
        <p:spPr>
          <a:xfrm>
            <a:off x="946404" y="3360420"/>
            <a:ext cx="5143500" cy="54864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ENFANTS ACCUEILLIS</a:t>
            </a:r>
            <a:endParaRPr lang="en-US" sz="2100" dirty="0"/>
          </a:p>
        </p:txBody>
      </p:sp>
      <p:sp>
        <p:nvSpPr>
          <p:cNvPr id="8" name="Text 5"/>
          <p:cNvSpPr txBox="1"/>
          <p:nvPr/>
        </p:nvSpPr>
        <p:spPr>
          <a:xfrm>
            <a:off x="946404" y="418338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2025</a:t>
            </a:r>
            <a:endParaRPr lang="en-US" sz="2100" dirty="0"/>
          </a:p>
        </p:txBody>
      </p:sp>
      <p:sp>
        <p:nvSpPr>
          <p:cNvPr id="9" name="Text 6"/>
          <p:cNvSpPr txBox="1"/>
          <p:nvPr/>
        </p:nvSpPr>
        <p:spPr>
          <a:xfrm>
            <a:off x="2592324" y="4046220"/>
            <a:ext cx="3497580" cy="754380"/>
          </a:xfrm>
          <a:prstGeom prst="rect">
            <a:avLst/>
          </a:prstGeom>
          <a:noFill/>
          <a:ln/>
        </p:spPr>
        <p:txBody>
          <a:bodyPr wrap="square" lIns="0" tIns="0" rIns="0" bIns="0" rtlCol="0" anchor="ctr"/>
          <a:lstStyle/>
          <a:p>
            <a:pPr algn="r"/>
            <a:r>
              <a:rPr lang="en-US" sz="3900" b="1" dirty="0">
                <a:solidFill>
                  <a:srgbClr val="8A90B0"/>
                </a:solidFill>
                <a:latin typeface="Arial" pitchFamily="34" charset="0"/>
                <a:ea typeface="Arial" pitchFamily="34" charset="-122"/>
                <a:cs typeface="Arial" pitchFamily="34" charset="-120"/>
              </a:rPr>
              <a:t>5 543</a:t>
            </a:r>
            <a:endParaRPr lang="en-US" sz="3900" dirty="0"/>
          </a:p>
        </p:txBody>
      </p:sp>
      <p:sp>
        <p:nvSpPr>
          <p:cNvPr id="10" name="Shape 7"/>
          <p:cNvSpPr/>
          <p:nvPr/>
        </p:nvSpPr>
        <p:spPr>
          <a:xfrm>
            <a:off x="946404" y="4937760"/>
            <a:ext cx="5143500" cy="0"/>
          </a:xfrm>
          <a:prstGeom prst="line">
            <a:avLst/>
          </a:prstGeom>
          <a:noFill/>
          <a:ln w="12700">
            <a:solidFill>
              <a:srgbClr val="E2DED6"/>
            </a:solidFill>
            <a:prstDash val="solid"/>
          </a:ln>
        </p:spPr>
      </p:sp>
      <p:sp>
        <p:nvSpPr>
          <p:cNvPr id="11" name="Text 8"/>
          <p:cNvSpPr txBox="1"/>
          <p:nvPr/>
        </p:nvSpPr>
        <p:spPr>
          <a:xfrm>
            <a:off x="946404" y="528066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2026</a:t>
            </a:r>
            <a:endParaRPr lang="en-US" sz="2100" dirty="0"/>
          </a:p>
        </p:txBody>
      </p:sp>
      <p:sp>
        <p:nvSpPr>
          <p:cNvPr id="12" name="Text 9"/>
          <p:cNvSpPr txBox="1"/>
          <p:nvPr/>
        </p:nvSpPr>
        <p:spPr>
          <a:xfrm>
            <a:off x="2318004" y="5006340"/>
            <a:ext cx="3771900" cy="1097280"/>
          </a:xfrm>
          <a:prstGeom prst="rect">
            <a:avLst/>
          </a:prstGeom>
          <a:noFill/>
          <a:ln/>
        </p:spPr>
        <p:txBody>
          <a:bodyPr wrap="square" lIns="0" tIns="0" rIns="0" bIns="0" rtlCol="0" anchor="ctr"/>
          <a:lstStyle/>
          <a:p>
            <a:pPr algn="r"/>
            <a:r>
              <a:rPr lang="en-US" sz="6000" b="1" dirty="0">
                <a:solidFill>
                  <a:srgbClr val="0E1F5B"/>
                </a:solidFill>
                <a:latin typeface="Arial" pitchFamily="34" charset="0"/>
                <a:ea typeface="Arial" pitchFamily="34" charset="-122"/>
                <a:cs typeface="Arial" pitchFamily="34" charset="-120"/>
              </a:rPr>
              <a:t>5 727</a:t>
            </a:r>
            <a:endParaRPr lang="en-US" sz="6000" dirty="0"/>
          </a:p>
        </p:txBody>
      </p:sp>
      <p:sp>
        <p:nvSpPr>
          <p:cNvPr id="13" name="Shape 10"/>
          <p:cNvSpPr/>
          <p:nvPr/>
        </p:nvSpPr>
        <p:spPr>
          <a:xfrm>
            <a:off x="946404" y="6377940"/>
            <a:ext cx="2194560" cy="576072"/>
          </a:xfrm>
          <a:prstGeom prst="rect">
            <a:avLst/>
          </a:prstGeom>
          <a:solidFill>
            <a:srgbClr val="72C493"/>
          </a:solidFill>
          <a:ln/>
        </p:spPr>
      </p:sp>
      <p:sp>
        <p:nvSpPr>
          <p:cNvPr id="14" name="Text 11"/>
          <p:cNvSpPr txBox="1"/>
          <p:nvPr/>
        </p:nvSpPr>
        <p:spPr>
          <a:xfrm>
            <a:off x="1138428" y="6377940"/>
            <a:ext cx="1920240" cy="576072"/>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+3,3 %</a:t>
            </a:r>
            <a:endParaRPr lang="en-US" sz="2100" dirty="0"/>
          </a:p>
        </p:txBody>
      </p:sp>
      <p:sp>
        <p:nvSpPr>
          <p:cNvPr id="15" name="Shape 12"/>
          <p:cNvSpPr/>
          <p:nvPr/>
        </p:nvSpPr>
        <p:spPr>
          <a:xfrm>
            <a:off x="6597396" y="3154680"/>
            <a:ext cx="5143500" cy="0"/>
          </a:xfrm>
          <a:prstGeom prst="line">
            <a:avLst/>
          </a:prstGeom>
          <a:noFill/>
          <a:ln w="31750">
            <a:solidFill>
              <a:srgbClr val="72C493"/>
            </a:solidFill>
            <a:prstDash val="solid"/>
          </a:ln>
        </p:spPr>
      </p:sp>
      <p:sp>
        <p:nvSpPr>
          <p:cNvPr id="16" name="Text 13"/>
          <p:cNvSpPr txBox="1"/>
          <p:nvPr/>
        </p:nvSpPr>
        <p:spPr>
          <a:xfrm>
            <a:off x="6597396" y="3360420"/>
            <a:ext cx="5143500" cy="54864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ANIMATEURS EN MATERNELLE</a:t>
            </a:r>
            <a:endParaRPr lang="en-US" sz="2100" dirty="0"/>
          </a:p>
        </p:txBody>
      </p:sp>
      <p:sp>
        <p:nvSpPr>
          <p:cNvPr id="17" name="Text 14"/>
          <p:cNvSpPr txBox="1"/>
          <p:nvPr/>
        </p:nvSpPr>
        <p:spPr>
          <a:xfrm>
            <a:off x="6597396" y="418338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2025</a:t>
            </a:r>
            <a:endParaRPr lang="en-US" sz="2100" dirty="0"/>
          </a:p>
        </p:txBody>
      </p:sp>
      <p:sp>
        <p:nvSpPr>
          <p:cNvPr id="18" name="Text 15"/>
          <p:cNvSpPr txBox="1"/>
          <p:nvPr/>
        </p:nvSpPr>
        <p:spPr>
          <a:xfrm>
            <a:off x="8243316" y="4046220"/>
            <a:ext cx="3497580" cy="754380"/>
          </a:xfrm>
          <a:prstGeom prst="rect">
            <a:avLst/>
          </a:prstGeom>
          <a:noFill/>
          <a:ln/>
        </p:spPr>
        <p:txBody>
          <a:bodyPr wrap="square" lIns="0" tIns="0" rIns="0" bIns="0" rtlCol="0" anchor="ctr"/>
          <a:lstStyle/>
          <a:p>
            <a:pPr algn="r"/>
            <a:r>
              <a:rPr lang="en-US" sz="3900" b="1" dirty="0">
                <a:solidFill>
                  <a:srgbClr val="8A90B0"/>
                </a:solidFill>
                <a:latin typeface="Arial" pitchFamily="34" charset="0"/>
                <a:ea typeface="Arial" pitchFamily="34" charset="-122"/>
                <a:cs typeface="Arial" pitchFamily="34" charset="-120"/>
              </a:rPr>
              <a:t>199</a:t>
            </a:r>
            <a:endParaRPr lang="en-US" sz="3900" dirty="0"/>
          </a:p>
        </p:txBody>
      </p:sp>
      <p:sp>
        <p:nvSpPr>
          <p:cNvPr id="19" name="Shape 16"/>
          <p:cNvSpPr/>
          <p:nvPr/>
        </p:nvSpPr>
        <p:spPr>
          <a:xfrm>
            <a:off x="6597396" y="4937760"/>
            <a:ext cx="5143500" cy="0"/>
          </a:xfrm>
          <a:prstGeom prst="line">
            <a:avLst/>
          </a:prstGeom>
          <a:noFill/>
          <a:ln w="12700">
            <a:solidFill>
              <a:srgbClr val="E2DED6"/>
            </a:solidFill>
            <a:prstDash val="solid"/>
          </a:ln>
        </p:spPr>
      </p:sp>
      <p:sp>
        <p:nvSpPr>
          <p:cNvPr id="20" name="Text 17"/>
          <p:cNvSpPr txBox="1"/>
          <p:nvPr/>
        </p:nvSpPr>
        <p:spPr>
          <a:xfrm>
            <a:off x="6597396" y="528066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2026</a:t>
            </a:r>
            <a:endParaRPr lang="en-US" sz="2100" dirty="0"/>
          </a:p>
        </p:txBody>
      </p:sp>
      <p:sp>
        <p:nvSpPr>
          <p:cNvPr id="21" name="Text 18"/>
          <p:cNvSpPr txBox="1"/>
          <p:nvPr/>
        </p:nvSpPr>
        <p:spPr>
          <a:xfrm>
            <a:off x="7968996" y="5006340"/>
            <a:ext cx="3771900" cy="1097280"/>
          </a:xfrm>
          <a:prstGeom prst="rect">
            <a:avLst/>
          </a:prstGeom>
          <a:noFill/>
          <a:ln/>
        </p:spPr>
        <p:txBody>
          <a:bodyPr wrap="square" lIns="0" tIns="0" rIns="0" bIns="0" rtlCol="0" anchor="ctr"/>
          <a:lstStyle/>
          <a:p>
            <a:pPr algn="r"/>
            <a:r>
              <a:rPr lang="en-US" sz="6000" b="1" dirty="0">
                <a:solidFill>
                  <a:srgbClr val="0E1F5B"/>
                </a:solidFill>
                <a:latin typeface="Arial" pitchFamily="34" charset="0"/>
                <a:ea typeface="Arial" pitchFamily="34" charset="-122"/>
                <a:cs typeface="Arial" pitchFamily="34" charset="-120"/>
              </a:rPr>
              <a:t>248</a:t>
            </a:r>
            <a:endParaRPr lang="en-US" sz="6000" dirty="0"/>
          </a:p>
        </p:txBody>
      </p:sp>
      <p:sp>
        <p:nvSpPr>
          <p:cNvPr id="22" name="Shape 19"/>
          <p:cNvSpPr/>
          <p:nvPr/>
        </p:nvSpPr>
        <p:spPr>
          <a:xfrm>
            <a:off x="6597396" y="6377940"/>
            <a:ext cx="3566160" cy="576072"/>
          </a:xfrm>
          <a:prstGeom prst="rect">
            <a:avLst/>
          </a:prstGeom>
          <a:solidFill>
            <a:srgbClr val="72C493"/>
          </a:solidFill>
          <a:ln/>
        </p:spPr>
      </p:sp>
      <p:sp>
        <p:nvSpPr>
          <p:cNvPr id="23" name="Text 20"/>
          <p:cNvSpPr txBox="1"/>
          <p:nvPr/>
        </p:nvSpPr>
        <p:spPr>
          <a:xfrm>
            <a:off x="6789420" y="6377940"/>
            <a:ext cx="3291840" cy="576072"/>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+49 animateurs</a:t>
            </a:r>
            <a:endParaRPr lang="en-US" sz="2100" dirty="0"/>
          </a:p>
        </p:txBody>
      </p:sp>
      <p:sp>
        <p:nvSpPr>
          <p:cNvPr id="24" name="Shape 21"/>
          <p:cNvSpPr/>
          <p:nvPr/>
        </p:nvSpPr>
        <p:spPr>
          <a:xfrm>
            <a:off x="12248388" y="3154680"/>
            <a:ext cx="5143500" cy="0"/>
          </a:xfrm>
          <a:prstGeom prst="line">
            <a:avLst/>
          </a:prstGeom>
          <a:noFill/>
          <a:ln w="31750">
            <a:solidFill>
              <a:srgbClr val="72C493"/>
            </a:solidFill>
            <a:prstDash val="solid"/>
          </a:ln>
        </p:spPr>
      </p:sp>
      <p:sp>
        <p:nvSpPr>
          <p:cNvPr id="25" name="Text 22"/>
          <p:cNvSpPr txBox="1"/>
          <p:nvPr/>
        </p:nvSpPr>
        <p:spPr>
          <a:xfrm>
            <a:off x="12248388" y="3360420"/>
            <a:ext cx="5143500" cy="54864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ANIMATEURS EN ÉLÉMENTAIRE</a:t>
            </a:r>
            <a:endParaRPr lang="en-US" sz="2100" dirty="0"/>
          </a:p>
        </p:txBody>
      </p:sp>
      <p:sp>
        <p:nvSpPr>
          <p:cNvPr id="26" name="Text 23"/>
          <p:cNvSpPr txBox="1"/>
          <p:nvPr/>
        </p:nvSpPr>
        <p:spPr>
          <a:xfrm>
            <a:off x="12248388" y="418338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2025</a:t>
            </a:r>
            <a:endParaRPr lang="en-US" sz="2100" dirty="0"/>
          </a:p>
        </p:txBody>
      </p:sp>
      <p:sp>
        <p:nvSpPr>
          <p:cNvPr id="27" name="Text 24"/>
          <p:cNvSpPr txBox="1"/>
          <p:nvPr/>
        </p:nvSpPr>
        <p:spPr>
          <a:xfrm>
            <a:off x="13894308" y="4046220"/>
            <a:ext cx="3497580" cy="754380"/>
          </a:xfrm>
          <a:prstGeom prst="rect">
            <a:avLst/>
          </a:prstGeom>
          <a:noFill/>
          <a:ln/>
        </p:spPr>
        <p:txBody>
          <a:bodyPr wrap="square" lIns="0" tIns="0" rIns="0" bIns="0" rtlCol="0" anchor="ctr"/>
          <a:lstStyle/>
          <a:p>
            <a:pPr algn="r"/>
            <a:r>
              <a:rPr lang="en-US" sz="3900" b="1" dirty="0">
                <a:solidFill>
                  <a:srgbClr val="8A90B0"/>
                </a:solidFill>
                <a:latin typeface="Arial" pitchFamily="34" charset="0"/>
                <a:ea typeface="Arial" pitchFamily="34" charset="-122"/>
                <a:cs typeface="Arial" pitchFamily="34" charset="-120"/>
              </a:rPr>
              <a:t>123</a:t>
            </a:r>
            <a:endParaRPr lang="en-US" sz="3900" dirty="0"/>
          </a:p>
        </p:txBody>
      </p:sp>
      <p:sp>
        <p:nvSpPr>
          <p:cNvPr id="28" name="Shape 25"/>
          <p:cNvSpPr/>
          <p:nvPr/>
        </p:nvSpPr>
        <p:spPr>
          <a:xfrm>
            <a:off x="12248388" y="4937760"/>
            <a:ext cx="5143500" cy="0"/>
          </a:xfrm>
          <a:prstGeom prst="line">
            <a:avLst/>
          </a:prstGeom>
          <a:noFill/>
          <a:ln w="12700">
            <a:solidFill>
              <a:srgbClr val="E2DED6"/>
            </a:solidFill>
            <a:prstDash val="solid"/>
          </a:ln>
        </p:spPr>
      </p:sp>
      <p:sp>
        <p:nvSpPr>
          <p:cNvPr id="29" name="Text 26"/>
          <p:cNvSpPr txBox="1"/>
          <p:nvPr/>
        </p:nvSpPr>
        <p:spPr>
          <a:xfrm>
            <a:off x="12248388" y="5280660"/>
            <a:ext cx="1371600" cy="548640"/>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2026</a:t>
            </a:r>
            <a:endParaRPr lang="en-US" sz="2100" dirty="0"/>
          </a:p>
        </p:txBody>
      </p:sp>
      <p:sp>
        <p:nvSpPr>
          <p:cNvPr id="30" name="Text 27"/>
          <p:cNvSpPr txBox="1"/>
          <p:nvPr/>
        </p:nvSpPr>
        <p:spPr>
          <a:xfrm>
            <a:off x="13619988" y="5006340"/>
            <a:ext cx="3771900" cy="1097280"/>
          </a:xfrm>
          <a:prstGeom prst="rect">
            <a:avLst/>
          </a:prstGeom>
          <a:noFill/>
          <a:ln/>
        </p:spPr>
        <p:txBody>
          <a:bodyPr wrap="square" lIns="0" tIns="0" rIns="0" bIns="0" rtlCol="0" anchor="ctr"/>
          <a:lstStyle/>
          <a:p>
            <a:pPr algn="r"/>
            <a:r>
              <a:rPr lang="en-US" sz="6000" b="1" dirty="0">
                <a:solidFill>
                  <a:srgbClr val="0E1F5B"/>
                </a:solidFill>
                <a:latin typeface="Arial" pitchFamily="34" charset="0"/>
                <a:ea typeface="Arial" pitchFamily="34" charset="-122"/>
                <a:cs typeface="Arial" pitchFamily="34" charset="-120"/>
              </a:rPr>
              <a:t>130</a:t>
            </a:r>
            <a:endParaRPr lang="en-US" sz="6000" dirty="0"/>
          </a:p>
        </p:txBody>
      </p:sp>
      <p:sp>
        <p:nvSpPr>
          <p:cNvPr id="31" name="Shape 28"/>
          <p:cNvSpPr/>
          <p:nvPr/>
        </p:nvSpPr>
        <p:spPr>
          <a:xfrm>
            <a:off x="12248388" y="6377940"/>
            <a:ext cx="1783080" cy="576072"/>
          </a:xfrm>
          <a:prstGeom prst="rect">
            <a:avLst/>
          </a:prstGeom>
          <a:solidFill>
            <a:srgbClr val="72C493"/>
          </a:solidFill>
          <a:ln/>
        </p:spPr>
      </p:sp>
      <p:sp>
        <p:nvSpPr>
          <p:cNvPr id="32" name="Text 29"/>
          <p:cNvSpPr txBox="1"/>
          <p:nvPr/>
        </p:nvSpPr>
        <p:spPr>
          <a:xfrm>
            <a:off x="12440412" y="6377940"/>
            <a:ext cx="1508760" cy="576072"/>
          </a:xfrm>
          <a:prstGeom prst="rect">
            <a:avLst/>
          </a:prstGeom>
          <a:noFill/>
          <a:ln/>
        </p:spPr>
        <p:txBody>
          <a:bodyPr wrap="square" lIns="0" tIns="0" rIns="0" bIns="0" rtlCol="0" anchor="ctr"/>
          <a:lstStyle/>
          <a:p>
            <a:r>
              <a:rPr lang="en-US" sz="2100" b="1" dirty="0">
                <a:solidFill>
                  <a:srgbClr val="0E1F5B"/>
                </a:solidFill>
                <a:latin typeface="Arial" pitchFamily="34" charset="0"/>
                <a:ea typeface="Arial" pitchFamily="34" charset="-122"/>
                <a:cs typeface="Arial" pitchFamily="34" charset="-120"/>
              </a:rPr>
              <a:t>+5 %</a:t>
            </a:r>
            <a:endParaRPr lang="en-US" sz="2100" dirty="0"/>
          </a:p>
        </p:txBody>
      </p:sp>
      <p:sp>
        <p:nvSpPr>
          <p:cNvPr id="33" name="Shape 30"/>
          <p:cNvSpPr/>
          <p:nvPr/>
        </p:nvSpPr>
        <p:spPr>
          <a:xfrm>
            <a:off x="946404" y="7612380"/>
            <a:ext cx="7886700" cy="2194560"/>
          </a:xfrm>
          <a:prstGeom prst="rect">
            <a:avLst/>
          </a:prstGeom>
          <a:solidFill>
            <a:srgbClr val="0E1F5B"/>
          </a:solidFill>
          <a:ln/>
        </p:spPr>
      </p:sp>
      <p:sp>
        <p:nvSpPr>
          <p:cNvPr id="34" name="Text 31"/>
          <p:cNvSpPr txBox="1"/>
          <p:nvPr/>
        </p:nvSpPr>
        <p:spPr>
          <a:xfrm>
            <a:off x="1426464" y="7955280"/>
            <a:ext cx="6858000" cy="48006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MATERNELLE</a:t>
            </a:r>
            <a:endParaRPr lang="en-US" sz="2100" dirty="0"/>
          </a:p>
        </p:txBody>
      </p:sp>
      <p:sp>
        <p:nvSpPr>
          <p:cNvPr id="35" name="Text 32"/>
          <p:cNvSpPr txBox="1"/>
          <p:nvPr/>
        </p:nvSpPr>
        <p:spPr>
          <a:xfrm>
            <a:off x="1426464" y="8503920"/>
            <a:ext cx="6995160" cy="1165860"/>
          </a:xfrm>
          <a:prstGeom prst="rect">
            <a:avLst/>
          </a:prstGeom>
          <a:noFill/>
          <a:ln/>
        </p:spPr>
        <p:txBody>
          <a:bodyPr wrap="square" lIns="0" tIns="0" rIns="0" bIns="0" rtlCol="0" anchor="t"/>
          <a:lstStyle/>
          <a:p>
            <a:r>
              <a:rPr lang="en-US" sz="2400" b="1" dirty="0">
                <a:solidFill>
                  <a:srgbClr val="FFFFFF"/>
                </a:solidFill>
                <a:latin typeface="Arial" pitchFamily="34" charset="0"/>
                <a:ea typeface="Arial" pitchFamily="34" charset="-122"/>
                <a:cs typeface="Arial" pitchFamily="34" charset="-120"/>
              </a:rPr>
              <a:t>96 % des cantines à 1 animateur pour 10 enfants ou mieux, contre 44 % en 2025</a:t>
            </a:r>
            <a:endParaRPr lang="en-US" sz="2400" dirty="0"/>
          </a:p>
        </p:txBody>
      </p:sp>
      <p:sp>
        <p:nvSpPr>
          <p:cNvPr id="36" name="Shape 33"/>
          <p:cNvSpPr/>
          <p:nvPr/>
        </p:nvSpPr>
        <p:spPr>
          <a:xfrm>
            <a:off x="9450324" y="7612380"/>
            <a:ext cx="7886700" cy="2194560"/>
          </a:xfrm>
          <a:prstGeom prst="rect">
            <a:avLst/>
          </a:prstGeom>
          <a:solidFill>
            <a:srgbClr val="0E1F5B"/>
          </a:solidFill>
          <a:ln/>
        </p:spPr>
      </p:sp>
      <p:sp>
        <p:nvSpPr>
          <p:cNvPr id="37" name="Text 34"/>
          <p:cNvSpPr txBox="1"/>
          <p:nvPr/>
        </p:nvSpPr>
        <p:spPr>
          <a:xfrm>
            <a:off x="9930384" y="7955280"/>
            <a:ext cx="6858000" cy="480060"/>
          </a:xfrm>
          <a:prstGeom prst="rect">
            <a:avLst/>
          </a:prstGeom>
          <a:noFill/>
          <a:ln/>
        </p:spPr>
        <p:txBody>
          <a:bodyPr wrap="square" lIns="0" tIns="0" rIns="0" bIns="0" rtlCol="0" anchor="ctr"/>
          <a:lstStyle/>
          <a:p>
            <a:r>
              <a:rPr lang="en-US" sz="2100" b="1" kern="0" spc="300" dirty="0">
                <a:solidFill>
                  <a:srgbClr val="72C493"/>
                </a:solidFill>
                <a:latin typeface="Arial" pitchFamily="34" charset="0"/>
                <a:ea typeface="Arial" pitchFamily="34" charset="-122"/>
                <a:cs typeface="Arial" pitchFamily="34" charset="-120"/>
              </a:rPr>
              <a:t>ÉLÉMENTAIRE</a:t>
            </a:r>
            <a:endParaRPr lang="en-US" sz="2100" dirty="0"/>
          </a:p>
        </p:txBody>
      </p:sp>
      <p:sp>
        <p:nvSpPr>
          <p:cNvPr id="38" name="Text 35"/>
          <p:cNvSpPr txBox="1"/>
          <p:nvPr/>
        </p:nvSpPr>
        <p:spPr>
          <a:xfrm>
            <a:off x="9930384" y="8503920"/>
            <a:ext cx="6995160" cy="1165860"/>
          </a:xfrm>
          <a:prstGeom prst="rect">
            <a:avLst/>
          </a:prstGeom>
          <a:noFill/>
          <a:ln/>
        </p:spPr>
        <p:txBody>
          <a:bodyPr wrap="square" lIns="0" tIns="0" rIns="0" bIns="0" rtlCol="0" anchor="t"/>
          <a:lstStyle/>
          <a:p>
            <a:r>
              <a:rPr lang="en-US" sz="2400" b="1" dirty="0">
                <a:solidFill>
                  <a:srgbClr val="FFFFFF"/>
                </a:solidFill>
                <a:latin typeface="Arial" pitchFamily="34" charset="0"/>
                <a:ea typeface="Arial" pitchFamily="34" charset="-122"/>
                <a:cs typeface="Arial" pitchFamily="34" charset="-120"/>
              </a:rPr>
              <a:t>14 cantines sur 26 à 1 pour 25, 19 d’ici mi‑octobre. Objectif : toutes d’ici la fin de l’année</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969264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06040"/>
            <a:ext cx="8961120" cy="457200"/>
          </a:xfrm>
          <a:prstGeom prst="rect">
            <a:avLst/>
          </a:prstGeom>
          <a:noFill/>
        </p:spPr>
        <p:txBody>
          <a:bodyPr wrap="square" anchor="t" lIns="0" rIns="0" tIns="0" bIns="0">
            <a:spAutoFit/>
          </a:bodyPr>
          <a:lstStyle/>
          <a:p>
            <a:pPr algn="l"/>
            <a:r>
              <a:rPr sz="2200" b="1" spc="150">
                <a:solidFill>
                  <a:srgbClr val="72C493"/>
                </a:solidFill>
                <a:latin typeface="Arial"/>
              </a:rPr>
              <a:t>RÉOUVERTURE PRÉVUE EN</a:t>
            </a:r>
          </a:p>
        </p:txBody>
      </p:sp>
      <p:sp>
        <p:nvSpPr>
          <p:cNvPr id="7" name="TextBox 6"/>
          <p:cNvSpPr txBox="1"/>
          <p:nvPr/>
        </p:nvSpPr>
        <p:spPr>
          <a:xfrm>
            <a:off x="1371600" y="3063240"/>
            <a:ext cx="8961120" cy="1463040"/>
          </a:xfrm>
          <a:prstGeom prst="rect">
            <a:avLst/>
          </a:prstGeom>
          <a:noFill/>
        </p:spPr>
        <p:txBody>
          <a:bodyPr wrap="square" anchor="t" lIns="0" rIns="0" tIns="0" bIns="0">
            <a:spAutoFit/>
          </a:bodyPr>
          <a:lstStyle/>
          <a:p>
            <a:pPr algn="l"/>
            <a:r>
              <a:rPr sz="8000" b="1">
                <a:solidFill>
                  <a:srgbClr val="FFFFFF"/>
                </a:solidFill>
                <a:latin typeface="Arial"/>
              </a:rPr>
              <a:t>septembre 2028</a:t>
            </a:r>
          </a:p>
        </p:txBody>
      </p:sp>
      <p:sp>
        <p:nvSpPr>
          <p:cNvPr id="8" name="TextBox 7"/>
          <p:cNvSpPr txBox="1"/>
          <p:nvPr/>
        </p:nvSpPr>
        <p:spPr>
          <a:xfrm>
            <a:off x="1371600" y="4572000"/>
            <a:ext cx="8961120" cy="1280160"/>
          </a:xfrm>
          <a:prstGeom prst="rect">
            <a:avLst/>
          </a:prstGeom>
          <a:noFill/>
        </p:spPr>
        <p:txBody>
          <a:bodyPr wrap="square" anchor="t" lIns="0" rIns="0" tIns="0" bIns="0">
            <a:spAutoFit/>
          </a:bodyPr>
          <a:lstStyle/>
          <a:p>
            <a:pPr algn="l"/>
            <a:r>
              <a:rPr sz="24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Sept. 2026</a:t>
            </a:r>
          </a:p>
        </p:txBody>
      </p:sp>
      <p:sp>
        <p:nvSpPr>
          <p:cNvPr id="11" name="TextBox 10"/>
          <p:cNvSpPr txBox="1"/>
          <p:nvPr/>
        </p:nvSpPr>
        <p:spPr>
          <a:xfrm>
            <a:off x="127101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593445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449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20 mois</a:t>
            </a:r>
          </a:p>
        </p:txBody>
      </p:sp>
      <p:sp>
        <p:nvSpPr>
          <p:cNvPr id="14" name="TextBox 13"/>
          <p:cNvSpPr txBox="1"/>
          <p:nvPr/>
        </p:nvSpPr>
        <p:spPr>
          <a:xfrm>
            <a:off x="625449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de travaux prévus, pour une école agrandie et rénovée</a:t>
            </a:r>
          </a:p>
        </p:txBody>
      </p:sp>
      <p:sp>
        <p:nvSpPr>
          <p:cNvPr id="15" name="Rectangle 14"/>
          <p:cNvSpPr/>
          <p:nvPr/>
        </p:nvSpPr>
        <p:spPr>
          <a:xfrm>
            <a:off x="11155680" y="233172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0" y="2331720"/>
            <a:ext cx="5632704" cy="7040880"/>
          </a:xfrm>
          <a:prstGeom prst="rect">
            <a:avLst/>
          </a:prstGeom>
          <a:noFill/>
        </p:spPr>
        <p:txBody>
          <a:bodyPr wrap="square" anchor="ctr" lIns="0" rIns="0" tIns="0" bIns="0">
            <a:spAutoFit/>
          </a:bodyPr>
          <a:lstStyle/>
          <a:p>
            <a:pPr algn="ctr"/>
            <a:r>
              <a:rPr sz="2200" b="1">
                <a:solidFill>
                  <a:srgbClr val="8A90B0"/>
                </a:solidFill>
                <a:latin typeface="Arial"/>
              </a:rPr>
              <a:t>[Photo du chantier à fournir]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996696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12136" y="4069079"/>
            <a:ext cx="664464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292095"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15 juin 2026</a:t>
            </a:r>
          </a:p>
        </p:txBody>
      </p:sp>
      <p:sp>
        <p:nvSpPr>
          <p:cNvPr id="9" name="TextBox 8"/>
          <p:cNvSpPr txBox="1"/>
          <p:nvPr/>
        </p:nvSpPr>
        <p:spPr>
          <a:xfrm>
            <a:off x="1179575"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Courrier du Maire à La Poste</a:t>
            </a:r>
          </a:p>
        </p:txBody>
      </p:sp>
      <p:sp>
        <p:nvSpPr>
          <p:cNvPr id="10" name="Oval 9"/>
          <p:cNvSpPr/>
          <p:nvPr/>
        </p:nvSpPr>
        <p:spPr>
          <a:xfrm>
            <a:off x="561441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0189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2" name="TextBox 11"/>
          <p:cNvSpPr txBox="1"/>
          <p:nvPr/>
        </p:nvSpPr>
        <p:spPr>
          <a:xfrm>
            <a:off x="450189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sp>
        <p:nvSpPr>
          <p:cNvPr id="13" name="Oval 12"/>
          <p:cNvSpPr/>
          <p:nvPr/>
        </p:nvSpPr>
        <p:spPr>
          <a:xfrm>
            <a:off x="893673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782421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10 juillet 2026</a:t>
            </a:r>
          </a:p>
        </p:txBody>
      </p:sp>
      <p:sp>
        <p:nvSpPr>
          <p:cNvPr id="15" name="TextBox 14"/>
          <p:cNvSpPr txBox="1"/>
          <p:nvPr/>
        </p:nvSpPr>
        <p:spPr>
          <a:xfrm>
            <a:off x="782421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Nouvel échange entre le Maire et La Poste</a:t>
            </a:r>
          </a:p>
        </p:txBody>
      </p:sp>
      <p:pic>
        <p:nvPicPr>
          <p:cNvPr id="16" name="Picture 15" descr="Services_01_bureau_de_poste.jpg"/>
          <p:cNvPicPr>
            <a:picLocks noChangeAspect="1"/>
          </p:cNvPicPr>
          <p:nvPr/>
        </p:nvPicPr>
        <p:blipFill>
          <a:blip r:embed="rId4"/>
          <a:stretch>
            <a:fillRect/>
          </a:stretch>
        </p:blipFill>
        <p:spPr>
          <a:xfrm>
            <a:off x="11384280" y="2854642"/>
            <a:ext cx="5943600" cy="3343275"/>
          </a:xfrm>
          <a:prstGeom prst="rect">
            <a:avLst/>
          </a:prstGeom>
        </p:spPr>
      </p:pic>
      <p:sp>
        <p:nvSpPr>
          <p:cNvPr id="17" name="Rectangle 16"/>
          <p:cNvSpPr/>
          <p:nvPr/>
        </p:nvSpPr>
        <p:spPr>
          <a:xfrm>
            <a:off x="11384280" y="7086600"/>
            <a:ext cx="5943600" cy="22402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58600" y="7086600"/>
            <a:ext cx="5394960" cy="224028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1673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 BÂTIMENT</a:t>
            </a:r>
          </a:p>
        </p:txBody>
      </p:sp>
      <p:sp>
        <p:nvSpPr>
          <p:cNvPr id="8" name="Oval 7"/>
          <p:cNvSpPr/>
          <p:nvPr/>
        </p:nvSpPr>
        <p:spPr>
          <a:xfrm>
            <a:off x="131673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7393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Des toitures solarisées</a:t>
            </a:r>
          </a:p>
        </p:txBody>
      </p:sp>
      <p:sp>
        <p:nvSpPr>
          <p:cNvPr id="10" name="Oval 9"/>
          <p:cNvSpPr/>
          <p:nvPr/>
        </p:nvSpPr>
        <p:spPr>
          <a:xfrm>
            <a:off x="131673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7393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façade végétalisée</a:t>
            </a:r>
          </a:p>
        </p:txBody>
      </p:sp>
      <p:sp>
        <p:nvSpPr>
          <p:cNvPr id="12" name="Oval 11"/>
          <p:cNvSpPr/>
          <p:nvPr/>
        </p:nvSpPr>
        <p:spPr>
          <a:xfrm>
            <a:off x="131673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7393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L'installation des sièges</a:t>
            </a:r>
          </a:p>
        </p:txBody>
      </p:sp>
      <p:sp>
        <p:nvSpPr>
          <p:cNvPr id="14" name="Rectangle 13"/>
          <p:cNvSpPr/>
          <p:nvPr/>
        </p:nvSpPr>
        <p:spPr>
          <a:xfrm>
            <a:off x="630021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021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6597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LES ESPACES VERTS</a:t>
            </a:r>
          </a:p>
        </p:txBody>
      </p:sp>
      <p:sp>
        <p:nvSpPr>
          <p:cNvPr id="17" name="Oval 16"/>
          <p:cNvSpPr/>
          <p:nvPr/>
        </p:nvSpPr>
        <p:spPr>
          <a:xfrm>
            <a:off x="666597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2317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Les arbres replantés avant tout abattage</a:t>
            </a:r>
          </a:p>
        </p:txBody>
      </p:sp>
      <p:sp>
        <p:nvSpPr>
          <p:cNvPr id="19" name="Oval 18"/>
          <p:cNvSpPr/>
          <p:nvPr/>
        </p:nvSpPr>
        <p:spPr>
          <a:xfrm>
            <a:off x="666597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2317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compensation végétale doublée</a:t>
            </a:r>
          </a:p>
        </p:txBody>
      </p:sp>
      <p:sp>
        <p:nvSpPr>
          <p:cNvPr id="21" name="Oval 20"/>
          <p:cNvSpPr/>
          <p:nvPr/>
        </p:nvSpPr>
        <p:spPr>
          <a:xfrm>
            <a:off x="666597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Une haie contre les nuisances sonores</a:t>
            </a:r>
          </a:p>
        </p:txBody>
      </p:sp>
      <p:sp>
        <p:nvSpPr>
          <p:cNvPr id="23" name="Rectangle 22"/>
          <p:cNvSpPr/>
          <p:nvPr/>
        </p:nvSpPr>
        <p:spPr>
          <a:xfrm>
            <a:off x="950976" y="7589520"/>
            <a:ext cx="1042416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25296" y="7589520"/>
            <a:ext cx="9875520" cy="1737360"/>
          </a:xfrm>
          <a:prstGeom prst="rect">
            <a:avLst/>
          </a:prstGeom>
          <a:noFill/>
        </p:spPr>
        <p:txBody>
          <a:bodyPr wrap="square" anchor="ctr" lIns="0" rIns="0" tIns="0" bIns="0">
            <a:spAutoFit/>
          </a:bodyPr>
          <a:lstStyle/>
          <a:p>
            <a:pPr algn="ctr"/>
            <a:r>
              <a:rPr sz="2200" b="1">
                <a:solidFill>
                  <a:srgbClr val="C9CCDA"/>
                </a:solidFill>
                <a:latin typeface="Arial"/>
              </a:rPr>
              <a:t>[Montant et calendrier à compléter]</a:t>
            </a:r>
          </a:p>
        </p:txBody>
      </p:sp>
      <p:pic>
        <p:nvPicPr>
          <p:cNvPr id="25" name="Picture 24" descr="Equipements_01_stade_Alain_Mimoun.jpg"/>
          <p:cNvPicPr>
            <a:picLocks noChangeAspect="1"/>
          </p:cNvPicPr>
          <p:nvPr/>
        </p:nvPicPr>
        <p:blipFill>
          <a:blip r:embed="rId4"/>
          <a:stretch>
            <a:fillRect/>
          </a:stretch>
        </p:blipFill>
        <p:spPr>
          <a:xfrm>
            <a:off x="11841480" y="3234690"/>
            <a:ext cx="5486400" cy="3086100"/>
          </a:xfrm>
          <a:prstGeom prst="rect">
            <a:avLst/>
          </a:prstGeom>
        </p:spPr>
      </p:pic>
      <p:sp>
        <p:nvSpPr>
          <p:cNvPr id="26" name="Rectangle 25"/>
          <p:cNvSpPr/>
          <p:nvPr/>
        </p:nvSpPr>
        <p:spPr>
          <a:xfrm>
            <a:off x="11841480" y="7589520"/>
            <a:ext cx="548640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15800" y="7589520"/>
            <a:ext cx="4937760" cy="1737360"/>
          </a:xfrm>
          <a:prstGeom prst="rect">
            <a:avLst/>
          </a:prstGeom>
          <a:noFill/>
        </p:spPr>
        <p:txBody>
          <a:bodyPr wrap="square" anchor="ctr" lIns="0" rIns="0" tIns="0" bIns="0">
            <a:spAutoFit/>
          </a:bodyPr>
          <a:lstStyle/>
          <a:p>
            <a:pPr algn="ctr"/>
            <a:r>
              <a:rPr sz="2200" b="1">
                <a:solidFill>
                  <a:srgbClr val="C9CCDA"/>
                </a:solidFill>
                <a:latin typeface="Arial"/>
              </a:rPr>
              <a:t>[Perspective de la tribune à fournir]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950976" y="2325929"/>
            <a:ext cx="10241280" cy="5497981"/>
          </a:xfrm>
          <a:prstGeom prst="rect">
            <a:avLst/>
          </a:prstGeom>
        </p:spPr>
      </p:pic>
      <p:sp>
        <p:nvSpPr>
          <p:cNvPr id="6" name="TextBox 5"/>
          <p:cNvSpPr txBox="1"/>
          <p:nvPr/>
        </p:nvSpPr>
        <p:spPr>
          <a:xfrm>
            <a:off x="11658600" y="2240280"/>
            <a:ext cx="5669280" cy="411480"/>
          </a:xfrm>
          <a:prstGeom prst="rect">
            <a:avLst/>
          </a:prstGeom>
          <a:noFill/>
        </p:spPr>
        <p:txBody>
          <a:bodyPr wrap="square" anchor="t" lIns="0" rIns="0" tIns="0" bIns="0">
            <a:spAutoFit/>
          </a:bodyPr>
          <a:lstStyle/>
          <a:p>
            <a:pPr algn="l"/>
            <a:r>
              <a:rPr sz="2100" b="1" spc="150">
                <a:solidFill>
                  <a:srgbClr val="72C493"/>
                </a:solidFill>
                <a:latin typeface="Arial"/>
              </a:rPr>
              <a:t>LE SQUARE</a:t>
            </a:r>
          </a:p>
        </p:txBody>
      </p:sp>
      <p:sp>
        <p:nvSpPr>
          <p:cNvPr id="7" name="Oval 6"/>
          <p:cNvSpPr/>
          <p:nvPr/>
        </p:nvSpPr>
        <p:spPr>
          <a:xfrm>
            <a:off x="11658600" y="2907791"/>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0" y="2788920"/>
            <a:ext cx="5257800" cy="1234440"/>
          </a:xfrm>
          <a:prstGeom prst="rect">
            <a:avLst/>
          </a:prstGeom>
          <a:noFill/>
        </p:spPr>
        <p:txBody>
          <a:bodyPr wrap="square" anchor="t" lIns="0" rIns="0" tIns="0" bIns="0">
            <a:spAutoFit/>
          </a:bodyPr>
          <a:lstStyle/>
          <a:p>
            <a:pPr algn="l"/>
            <a:r>
              <a:rPr sz="2200" b="1">
                <a:solidFill>
                  <a:srgbClr val="0E1F5B"/>
                </a:solidFill>
                <a:latin typeface="Arial"/>
              </a:rPr>
              <a:t>Square du boulevard des Astronautes, rue de la Chapelle</a:t>
            </a:r>
          </a:p>
        </p:txBody>
      </p:sp>
      <p:sp>
        <p:nvSpPr>
          <p:cNvPr id="9" name="Oval 8"/>
          <p:cNvSpPr/>
          <p:nvPr/>
        </p:nvSpPr>
        <p:spPr>
          <a:xfrm>
            <a:off x="11658600" y="4206240"/>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0" y="4087368"/>
            <a:ext cx="5257800" cy="1234440"/>
          </a:xfrm>
          <a:prstGeom prst="rect">
            <a:avLst/>
          </a:prstGeom>
          <a:noFill/>
        </p:spPr>
        <p:txBody>
          <a:bodyPr wrap="square" anchor="t" lIns="0" rIns="0" tIns="0" bIns="0">
            <a:spAutoFit/>
          </a:bodyPr>
          <a:lstStyle/>
          <a:p>
            <a:pPr algn="l"/>
            <a:r>
              <a:rPr sz="2200" b="1">
                <a:solidFill>
                  <a:srgbClr val="0E1F5B"/>
                </a:solidFill>
                <a:latin typeface="Arial"/>
              </a:rPr>
              <a:t>Des jeux pour les enfants de 1 an à 10-12 ans</a:t>
            </a:r>
          </a:p>
        </p:txBody>
      </p:sp>
      <p:sp>
        <p:nvSpPr>
          <p:cNvPr id="11" name="Oval 10"/>
          <p:cNvSpPr/>
          <p:nvPr/>
        </p:nvSpPr>
        <p:spPr>
          <a:xfrm>
            <a:off x="11658600" y="5504688"/>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0" y="5385816"/>
            <a:ext cx="5257800" cy="1234440"/>
          </a:xfrm>
          <a:prstGeom prst="rect">
            <a:avLst/>
          </a:prstGeom>
          <a:noFill/>
        </p:spPr>
        <p:txBody>
          <a:bodyPr wrap="square" anchor="t" lIns="0" rIns="0" tIns="0" bIns="0">
            <a:spAutoFit/>
          </a:bodyPr>
          <a:lstStyle/>
          <a:p>
            <a:pPr algn="l"/>
            <a:r>
              <a:rPr sz="2200" b="1">
                <a:solidFill>
                  <a:srgbClr val="0E1F5B"/>
                </a:solidFill>
                <a:latin typeface="Arial"/>
              </a:rPr>
              <a:t>Sol souple, bancs, chaises longues et tables de jeux en plastique recyclé</a:t>
            </a:r>
          </a:p>
        </p:txBody>
      </p:sp>
      <p:sp>
        <p:nvSpPr>
          <p:cNvPr id="13" name="Oval 12"/>
          <p:cNvSpPr/>
          <p:nvPr/>
        </p:nvSpPr>
        <p:spPr>
          <a:xfrm>
            <a:off x="11658600" y="6803136"/>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0" y="6684264"/>
            <a:ext cx="5257800" cy="1234440"/>
          </a:xfrm>
          <a:prstGeom prst="rect">
            <a:avLst/>
          </a:prstGeom>
          <a:noFill/>
        </p:spPr>
        <p:txBody>
          <a:bodyPr wrap="square" anchor="t" lIns="0" rIns="0" tIns="0" bIns="0">
            <a:spAutoFit/>
          </a:bodyPr>
          <a:lstStyle/>
          <a:p>
            <a:pPr algn="l"/>
            <a:r>
              <a:rPr sz="2200" b="1">
                <a:solidFill>
                  <a:srgbClr val="0E1F5B"/>
                </a:solidFill>
                <a:latin typeface="Arial"/>
              </a:rPr>
              <a:t>Le séquoia géant et les arbres existants conservés</a:t>
            </a:r>
          </a:p>
        </p:txBody>
      </p:sp>
      <p:cxnSp>
        <p:nvCxnSpPr>
          <p:cNvPr id="15" name="Connector 14"/>
          <p:cNvCxnSpPr/>
          <p:nvPr/>
        </p:nvCxnSpPr>
        <p:spPr>
          <a:xfrm>
            <a:off x="3678936" y="8321040"/>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358896"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17" name="TextBox 16"/>
          <p:cNvSpPr txBox="1"/>
          <p:nvPr/>
        </p:nvSpPr>
        <p:spPr>
          <a:xfrm>
            <a:off x="117957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Cet hiver</a:t>
            </a:r>
          </a:p>
        </p:txBody>
      </p:sp>
      <p:sp>
        <p:nvSpPr>
          <p:cNvPr id="18" name="TextBox 17"/>
          <p:cNvSpPr txBox="1"/>
          <p:nvPr/>
        </p:nvSpPr>
        <p:spPr>
          <a:xfrm>
            <a:off x="117957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Concertation avec les riverains</a:t>
            </a:r>
          </a:p>
        </p:txBody>
      </p:sp>
      <p:sp>
        <p:nvSpPr>
          <p:cNvPr id="19" name="Oval 18"/>
          <p:cNvSpPr/>
          <p:nvPr/>
        </p:nvSpPr>
        <p:spPr>
          <a:xfrm>
            <a:off x="881481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20" name="TextBox 19"/>
          <p:cNvSpPr txBox="1"/>
          <p:nvPr/>
        </p:nvSpPr>
        <p:spPr>
          <a:xfrm>
            <a:off x="6635495"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Fin du printemps</a:t>
            </a:r>
          </a:p>
        </p:txBody>
      </p:sp>
      <p:sp>
        <p:nvSpPr>
          <p:cNvPr id="21" name="TextBox 20"/>
          <p:cNvSpPr txBox="1"/>
          <p:nvPr/>
        </p:nvSpPr>
        <p:spPr>
          <a:xfrm>
            <a:off x="6635495"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Travaux</a:t>
            </a:r>
          </a:p>
        </p:txBody>
      </p:sp>
      <p:sp>
        <p:nvSpPr>
          <p:cNvPr id="22" name="Oval 21"/>
          <p:cNvSpPr/>
          <p:nvPr/>
        </p:nvSpPr>
        <p:spPr>
          <a:xfrm>
            <a:off x="1427073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23" name="TextBox 22"/>
          <p:cNvSpPr txBox="1"/>
          <p:nvPr/>
        </p:nvSpPr>
        <p:spPr>
          <a:xfrm>
            <a:off x="1209141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À l'automne</a:t>
            </a:r>
          </a:p>
        </p:txBody>
      </p:sp>
      <p:sp>
        <p:nvSpPr>
          <p:cNvPr id="24" name="TextBox 23"/>
          <p:cNvSpPr txBox="1"/>
          <p:nvPr/>
        </p:nvSpPr>
        <p:spPr>
          <a:xfrm>
            <a:off x="1209141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Plantations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jp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 IGN – BD ORTHO · Lignes et arrêts : Île-de-France Mobilités</a:t>
            </a:r>
          </a:p>
        </p:txBody>
      </p:sp>
      <p:sp>
        <p:nvSpPr>
          <p:cNvPr id="7" name="TextBox 6"/>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8" name="TextBox 7"/>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9" name="TextBox 8"/>
          <p:cNvSpPr txBox="1"/>
          <p:nvPr/>
        </p:nvSpPr>
        <p:spPr>
          <a:xfrm>
            <a:off x="4656815" y="5244391"/>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10" name="TextBox 9"/>
          <p:cNvSpPr txBox="1"/>
          <p:nvPr/>
        </p:nvSpPr>
        <p:spPr>
          <a:xfrm>
            <a:off x="10876876" y="684123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11" name="TextBox 10"/>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12" name="TextBox 11"/>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13" name="TextBox 12"/>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14" name="TextBox 13"/>
          <p:cNvSpPr txBox="1"/>
          <p:nvPr/>
        </p:nvSpPr>
        <p:spPr>
          <a:xfrm>
            <a:off x="385328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15" name="TextBox 14"/>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16" name="TextBox 15"/>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17" name="TextBox 16"/>
          <p:cNvSpPr txBox="1"/>
          <p:nvPr/>
        </p:nvSpPr>
        <p:spPr>
          <a:xfrm>
            <a:off x="5802107" y="5684568"/>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18" name="TextBox 17"/>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19" name="TextBox 18"/>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20" name="TextBox 19"/>
          <p:cNvSpPr txBox="1"/>
          <p:nvPr/>
        </p:nvSpPr>
        <p:spPr>
          <a:xfrm>
            <a:off x="4344542" y="562261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21" name="TextBox 20"/>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22" name="TextBox 21"/>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23" name="TextBox 22"/>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24" name="TextBox 23"/>
          <p:cNvSpPr txBox="1"/>
          <p:nvPr/>
        </p:nvSpPr>
        <p:spPr>
          <a:xfrm>
            <a:off x="8367052" y="6580805"/>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25" name="TextBox 24"/>
          <p:cNvSpPr txBox="1"/>
          <p:nvPr/>
        </p:nvSpPr>
        <p:spPr>
          <a:xfrm>
            <a:off x="12618720" y="2286000"/>
            <a:ext cx="4754880" cy="411480"/>
          </a:xfrm>
          <a:prstGeom prst="rect">
            <a:avLst/>
          </a:prstGeom>
          <a:noFill/>
        </p:spPr>
        <p:txBody>
          <a:bodyPr wrap="square" anchor="t" lIns="0" rIns="0" tIns="0" bIns="0">
            <a:spAutoFit/>
          </a:bodyPr>
          <a:lstStyle/>
          <a:p>
            <a:pPr algn="l"/>
            <a:r>
              <a:rPr sz="1800" b="1" spc="120">
                <a:solidFill>
                  <a:srgbClr val="72C493"/>
                </a:solidFill>
                <a:latin typeface="Arial"/>
              </a:rPr>
              <a:t>LIGNES QUI TRAVERSENT LE QUARTIER</a:t>
            </a:r>
          </a:p>
        </p:txBody>
      </p:sp>
      <p:sp>
        <p:nvSpPr>
          <p:cNvPr id="26" name="Rectangle 25"/>
          <p:cNvSpPr/>
          <p:nvPr/>
        </p:nvSpPr>
        <p:spPr>
          <a:xfrm>
            <a:off x="12618720" y="3035808"/>
            <a:ext cx="914400" cy="201168"/>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716000" y="2926080"/>
            <a:ext cx="3566160" cy="457200"/>
          </a:xfrm>
          <a:prstGeom prst="rect">
            <a:avLst/>
          </a:prstGeom>
          <a:noFill/>
        </p:spPr>
        <p:txBody>
          <a:bodyPr wrap="square" anchor="t" lIns="0" rIns="0" tIns="0" bIns="0">
            <a:spAutoFit/>
          </a:bodyPr>
          <a:lstStyle/>
          <a:p>
            <a:pPr algn="l"/>
            <a:r>
              <a:rPr sz="2400" b="1">
                <a:solidFill>
                  <a:srgbClr val="FFFFFF"/>
                </a:solidFill>
                <a:latin typeface="Arial"/>
              </a:rPr>
              <a:t>Ligne 310</a:t>
            </a:r>
          </a:p>
        </p:txBody>
      </p:sp>
      <p:sp>
        <p:nvSpPr>
          <p:cNvPr id="28" name="Rectangle 27"/>
          <p:cNvSpPr/>
          <p:nvPr/>
        </p:nvSpPr>
        <p:spPr>
          <a:xfrm>
            <a:off x="12618720" y="3721608"/>
            <a:ext cx="914400" cy="201168"/>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716000" y="3611880"/>
            <a:ext cx="3566160" cy="457200"/>
          </a:xfrm>
          <a:prstGeom prst="rect">
            <a:avLst/>
          </a:prstGeom>
          <a:noFill/>
        </p:spPr>
        <p:txBody>
          <a:bodyPr wrap="square" anchor="t" lIns="0" rIns="0" tIns="0" bIns="0">
            <a:spAutoFit/>
          </a:bodyPr>
          <a:lstStyle/>
          <a:p>
            <a:pPr algn="l"/>
            <a:r>
              <a:rPr sz="2400" b="1">
                <a:solidFill>
                  <a:srgbClr val="FFFFFF"/>
                </a:solidFill>
                <a:latin typeface="Arial"/>
              </a:rPr>
              <a:t>Ligne 312</a:t>
            </a:r>
          </a:p>
        </p:txBody>
      </p:sp>
      <p:sp>
        <p:nvSpPr>
          <p:cNvPr id="30" name="Rectangle 29"/>
          <p:cNvSpPr/>
          <p:nvPr/>
        </p:nvSpPr>
        <p:spPr>
          <a:xfrm>
            <a:off x="12618720" y="4407408"/>
            <a:ext cx="914400" cy="201168"/>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716000" y="4297680"/>
            <a:ext cx="3566160" cy="457200"/>
          </a:xfrm>
          <a:prstGeom prst="rect">
            <a:avLst/>
          </a:prstGeom>
          <a:noFill/>
        </p:spPr>
        <p:txBody>
          <a:bodyPr wrap="square" anchor="t" lIns="0" rIns="0" tIns="0" bIns="0">
            <a:spAutoFit/>
          </a:bodyPr>
          <a:lstStyle/>
          <a:p>
            <a:pPr algn="l"/>
            <a:r>
              <a:rPr sz="2400" b="1">
                <a:solidFill>
                  <a:srgbClr val="FFFFFF"/>
                </a:solidFill>
                <a:latin typeface="Arial"/>
              </a:rPr>
              <a:t>Ligne 320</a:t>
            </a:r>
          </a:p>
        </p:txBody>
      </p:sp>
      <p:sp>
        <p:nvSpPr>
          <p:cNvPr id="32" name="TextBox 31"/>
          <p:cNvSpPr txBox="1"/>
          <p:nvPr/>
        </p:nvSpPr>
        <p:spPr>
          <a:xfrm>
            <a:off x="12618720" y="5074920"/>
            <a:ext cx="4754880" cy="411480"/>
          </a:xfrm>
          <a:prstGeom prst="rect">
            <a:avLst/>
          </a:prstGeom>
          <a:noFill/>
        </p:spPr>
        <p:txBody>
          <a:bodyPr wrap="square" anchor="t" lIns="0" rIns="0" tIns="0" bIns="0">
            <a:spAutoFit/>
          </a:bodyPr>
          <a:lstStyle/>
          <a:p>
            <a:pPr algn="l"/>
            <a:r>
              <a:rPr sz="1800" b="1" spc="120">
                <a:solidFill>
                  <a:srgbClr val="72C493"/>
                </a:solidFill>
                <a:latin typeface="Arial"/>
              </a:rPr>
              <a:t>SIGNALEMENTS PAR ARRÊT</a:t>
            </a:r>
          </a:p>
        </p:txBody>
      </p:sp>
      <p:sp>
        <p:nvSpPr>
          <p:cNvPr id="33" name="Rectangle 32"/>
          <p:cNvSpPr/>
          <p:nvPr/>
        </p:nvSpPr>
        <p:spPr>
          <a:xfrm>
            <a:off x="12618720" y="5623560"/>
            <a:ext cx="4718304" cy="320040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0" y="5623560"/>
            <a:ext cx="4169664" cy="3200400"/>
          </a:xfrm>
          <a:prstGeom prst="rect">
            <a:avLst/>
          </a:prstGeom>
          <a:noFill/>
        </p:spPr>
        <p:txBody>
          <a:bodyPr wrap="square" anchor="ctr" lIns="0" rIns="0" tIns="0" bIns="0">
            <a:spAutoFit/>
          </a:bodyPr>
          <a:lstStyle/>
          <a:p>
            <a:pPr algn="ctr"/>
            <a:r>
              <a:rPr sz="2200" b="1">
                <a:solidFill>
                  <a:srgbClr val="C9CCDA"/>
                </a:solidFill>
                <a:latin typeface="Arial"/>
              </a:rPr>
              <a:t>[Nombre de signalements par arrêt à compléter]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