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1"/>
  </p:notesMasterIdLst>
  <p:sldIdLst>
    <p:sldId id="256" r:id="rId2"/>
    <p:sldId id="257" r:id="rId3"/>
    <p:sldId id="258" r:id="rId4"/>
    <p:sldId id="301" r:id="rId37"/>
    <p:sldId id="302" r:id="rId38"/>
    <p:sldId id="303" r:id="rId39"/>
    <p:sldId id="304" r:id="rId40"/>
    <p:sldId id="315" r:id="rId51"/>
    <p:sldId id="316" r:id="rId52"/>
    <p:sldId id="305" r:id="rId41"/>
    <p:sldId id="317" r:id="rId53"/>
    <p:sldId id="306" r:id="rId42"/>
    <p:sldId id="307" r:id="rId43"/>
    <p:sldId id="308" r:id="rId44"/>
    <p:sldId id="314" r:id="rId50"/>
    <p:sldId id="295" r:id="rId28"/>
    <p:sldId id="309" r:id="rId45"/>
    <p:sldId id="310" r:id="rId46"/>
    <p:sldId id="311" r:id="rId47"/>
    <p:sldId id="312" r:id="rId48"/>
    <p:sldId id="313" r:id="rId49"/>
    <p:sldId id="288" r:id="rId29"/>
    <p:sldId id="289" r:id="rId30"/>
  </p:sldIdLst>
  <p:sldSz cx="18288000" cy="10287000"/>
  <p:notesSz cx="6797675" cy="992663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OUSSEMART Benjamin" initials="BB" lastIdx="2" clrIdx="0">
    <p:extLst>
      <p:ext uri="{19B8F6BF-5375-455C-9EA6-DF929625EA0E}">
        <p15:presenceInfo xmlns:p15="http://schemas.microsoft.com/office/powerpoint/2012/main" userId="S-1-5-21-3408961251-3854804950-4192859478-3367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3256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50" d="100"/>
          <a:sy n="50" d="100"/>
        </p:scale>
        <p:origin x="1194" y="9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commentAuthors" Target="commentAuthors.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185996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rPr lang="en-US" dirty="0"/>
              <a:t>Diapositive affichée pendant l'accueil : inviter les habitants à flasher le QR code ou à remplir la fiche de renseignement papier.</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t>Accueil des habitants par Vincent Monnier, Maire de Noisy-le-Grand. Réunion du cycle des réunions publiques organisées dans tous les quartiers.</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t>Présenter les cinq parties de la soirée.</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Courrier du Maire du 20 septembre 2026 à la direction générale de Keolis sur les dysfonctionnements des lignes : retards, suppressions, fréquences non respectées, information voyageurs défaillante. Demandes : sanctions contractuelles, réunion en mairie avec Keolis et Île-de-France Mobilités, plan d'actions immédiat.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t>Temps d'échange avec la salle.</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rPr lang="en-US" dirty="0"/>
              <a:t>Diapositive laissée à l'écran à la sortie : rappeler le QR code et la fiche de renseignement papier.</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Le déménagement a été organisé par la Ville, après la fin de l'année scolaire pour le matériel scolaire. Le matériel de restauration a été déménagé dès le 1er juillet pour permettre l'installation aux Gobelins le 20 juillet.</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 : Direction des Bâtiments et de l'Énergie (9 octobre 2026). Les travaux ont démarré en septembre, après la notification des marchés de travaux, pour une durée prévue de 20 mois. La réouverture de l'école agrandie et rénovée est prévue pour la rentrée de septembre 2028.</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 : Direction des Bâtiments et de l'Énergie (9 octobre 2026). Le coût de l'annulation des marchés de travaux est difficile à estimer : il pourrait représenter entre plusieurs centaines de milliers d'euros et quelques millions d'euros. Dépenses déjà réalisées : études préalables et diagnostics (environ 150 000 €), études de conception et autorisations dont le permis de construire (environ 400 000 €), déménagement de l'école aux Gobelins (environ 1 300 000 €). Non compté : l'acquisition du bâtiment des Gobelins, pour un peu plus de 5 000 000 €.</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Plan Petits travaux mené cet été dans les écoles ; plan fraîcheur pour mieux protéger les élèves.</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Éléments de la Direction de l'Environnement et de l'Espace Public (à l'oral, non projetés) : autour de l'école des Gobelins, un dépose-minute d'environ 15 places pour les parents, ainsi que les abords du CTM ; pas d'autre réserve de stationnement. Circulation : attente du retrait du transformateur situé sur la chaussée pour que la Société des grands projets termine ses travaux, soit encore environ 12 mois (8 mois d'attente puis les travaux). Sujet également évoqué : le dernier ouvrage de la SGP, l'ouvrage Médéric.</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Carte des caméras du quartier : en vert les caméras en service, en jaune les caméras en cours d'installation.</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La fermeture avait été décidée par La Poste sans information des habitants. Le Maire s'y est opposé et a demandé un délai ainsi que la sauvegarde d'activités postales.</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Formulaire de signalement de la Ville : 400 signalements. Le Maire a obtenu la suspension de la modification non concertée du trajet de la ligne 220.</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Arbitrages validés lors du dernier comité de suivi. Points à connaître (non projetés) : glissement du calendrier prévisionnel en raison de nouvelles études ; actualisation du dossier pour le prochain comité de pilotage ; révision de la programmation pluriannuelle des investissements et nouvelles demandes de subventions ; vigilance du service des sports sur l'emprise du chantier sur la piste d'athlétisme.</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 : Direction de l'Environnement et de l'Espace Public. Square du boulevard des Astronautes, entre la rue de la Chapelle et la rue des Pléiades : concertation avec les riverains cet hiver sur les aires de jeux et les équipements, travaux à la fin du printemps, plantations à l'automne. Les crédits sont prévus pour 2027.</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Plan des lignes 310, 312 et 320 qui traversent le quartier, avec leurs arrêts (données ouvertes d'Île-de-France Mobilités). Les arrêts Moulin à Vent (lignes 206, 207, 306, 310) et Les Aérostiers (ligne 212) sont en limite du quartier. Les pastilles vertes indiquent le nombre de signalements recueillis par le formulaire de la Ville pour chaque arrêt (472 signalements au total ; 156 rattachés avec certitude à un arrêt du quartier, les saisies ambiguës ne sont pas comptées). Les problèmes sont comptés en mentions : un signalement peut en citer plusieurs. Dans toute la ville : ligne 310, 312 signalements ; ligne 320, 76 ; ligne 312, 13 ; ligne 220, 51.</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Sources : Direction des Bâtiments et de l'Énergie, service Patrimoine Bâti (courriel du 14 octobre 2026) ; tableau de suivi des travaux en régie 2026 ; comptes rendus des conseils d'école du printemps 2026.</a:t>
            </a:r>
          </a:p>
          <a:p/>
          <a:p>
            <a:r>
              <a:t>École des Gobelins : 1,3 million d'euros investis cette année au sein du groupe scolaire des Gobelins pour permettre l'installation et le déménagement de l'école des Richardets : création de sanitaires, réfection des revêtements de sols et peinture, travaux électriques, installation de clôtures et de portails, rénovation de la cour et mise en place de pare-ballons.</a:t>
            </a:r>
          </a:p>
          <a:p/>
          <a:p>
            <a:r>
              <a:t>Les Charmilles : 19 000 € pour la mise en conformité du réseau d'assainissement et 4 000 € d'aménagement et de remise en état du hall (pose de plaques de plâtre et mise en peinture). Les travaux « programmés » (classe de CM1-CM2, office du réfectoire) étaient prévus pour l'été 2026 : leur réalisation reste à confirmer auprès de la Direction des Bâtiments. Même réserve pour la peinture du hall élémentaire des Yvris. Paul-Serelle : un réverbère devant le portail reste à programmer.</a:t>
            </a:r>
          </a:p>
          <a:p/>
          <a:p>
            <a:r>
              <a:t>Demandes en attente, à connaître (non projetées). Charmilles maternelle : fissures, toiture à refaire (travaux reportés pour analyser une fissure), chaudière en panne chaque année, brise-vues posés à l'envers ; les parents et la direction demandent le rapport d'expertise et la participation à la commission travaux. Charmilles élémentaire : allée de secours inachevée (environ 6 mètres, enjeu pour un élève en fauteuil), 13 chaises manquantes, écrans numériques, rapport d'expertise. Richardets élémentaire : barrière côté rue cassée, rideaux thermiques. Yvris maternelle : bouton d'ouverture du portail à rehausser, placards à sécuriser, barre pour le parc à vélos, chaleur au réfectoire. Paul-Serelle (synthèse des parents du 29 mai) : portes coupe-feu trop lourdes, détecteurs de fumée, extincteurs non fixés, alarme PPMS, interphone et grille de la maternelle hors service, fenêtres et stores défectueux, fuites, revêtement de cour.</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À dire (non projeté) : chaque recrutement ouvre 8 places en maternelle et 12 en élémentaire ; les places libérées sont réattribuées chaque semaine à partir des listes d'attente ; les recrutements continuent, surtout pour les postes du mercredi.</a:t>
            </a:r>
          </a:p>
          <a:p/>
          <a:p>
            <a:r>
              <a:t>Mercredis — Sources : état des lieux des mercredis au 2 octobre 2026 et note explicative (service Enfance-Loisirs). 2025 : mercredi 17 septembre 2025. 2026 : mercredis 7 et 14 octobre 2026, état au 1er octobre. Le service ne fournit pas de chiffre d’octobre 2025. Au 16 septembre 2026, à date comparable : 1 744 places (+8 %) et 158 animateurs. Pendant la période de réservation (2 au 9 septembre), les listes d’attente sont validées chaque jour ; ensuite deux fois par jour le jeudi et le vendredi. La Varenne, mercredi 7 octobre : 9 enfants en liste d’attente en maternelle, aucun en élémentaire.</a:t>
            </a:r>
          </a:p>
          <a:p/>
          <a:p>
            <a:r>
              <a:t>Pause méridienne — Source : synthèse recrutement et effectifs de la pause méridienne, septembre 2026 (version « annule et remplace »). Les colonnes « encadrement » ont été retirées : le tableau des taux du service a été calculé sur d’anciens effectifs (2 008 et 3 277 enfants) alors que les effectifs corrigés sont 2 201 et 3 525. Avec les effectifs corrigés : maternelle 1 pour 10,5 en 2025 et 1 pour 9 en 2026 ; élémentaire 1 pour 28 en 2025 et 1 pour 27 en 2026. Faire confirmer par le service Enfance-Loisirs avant de citer un taux. L’effectif d’animateurs en élémentaire (129,6) est exprimé en équivalents temps plein.</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Plan d'aménagement du carrefour et de la piste cyclable (en rouge), avec la coupe de la voie en encart.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png"/><Relationship Id="rId4" Type="http://schemas.openxmlformats.org/officeDocument/2006/relationships/image" Target="../media/image32.jpe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png"/><Relationship Id="rId4"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5.xml"/><Relationship Id="rId4" Type="http://schemas.openxmlformats.org/officeDocument/2006/relationships/image" Target="../media/image33.png"/><Relationship Id="rId5" Type="http://schemas.openxmlformats.org/officeDocument/2006/relationships/image" Target="../media/image3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6.xml"/><Relationship Id="rId4" Type="http://schemas.openxmlformats.org/officeDocument/2006/relationships/image" Target="../media/image35.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8.xml"/><Relationship Id="rId4" Type="http://schemas.openxmlformats.org/officeDocument/2006/relationships/image" Target="../media/image36.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9.xml"/><Relationship Id="rId4" Type="http://schemas.openxmlformats.org/officeDocument/2006/relationships/image" Target="../media/image3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0.xml"/><Relationship Id="rId4" Type="http://schemas.openxmlformats.org/officeDocument/2006/relationships/image" Target="../media/image38.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3.xml"/><Relationship Id="rId4" Type="http://schemas.openxmlformats.org/officeDocument/2006/relationships/image" Target="../media/image3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6.xml"/><Relationship Id="rId4" Type="http://schemas.openxmlformats.org/officeDocument/2006/relationships/image" Target="../media/image40.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5EC"/>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2800350"/>
            <a:ext cx="9681211" cy="353060"/>
          </a:xfrm>
          <a:prstGeom prst="rect">
            <a:avLst/>
          </a:prstGeom>
          <a:noFill/>
          <a:ln/>
        </p:spPr>
        <p:txBody>
          <a:bodyPr wrap="square" lIns="25400" tIns="25400" rIns="25400" bIns="25400" rtlCol="0" anchor="t">
            <a:normAutofit lnSpcReduction="10000"/>
          </a:bodyPr>
          <a:lstStyle/>
          <a:p>
            <a:pPr marL="0" indent="0" algn="l">
              <a:buNone/>
            </a:pPr>
            <a:r>
              <a:rPr lang="en-US" sz="2100" b="1" kern="0" spc="225" dirty="0">
                <a:solidFill>
                  <a:srgbClr val="72C493"/>
                </a:solidFill>
                <a:latin typeface="Arial" pitchFamily="34" charset="0"/>
                <a:ea typeface="Arial" pitchFamily="34" charset="-122"/>
                <a:cs typeface="Arial" pitchFamily="34" charset="-120"/>
              </a:rPr>
              <a:t>RÉUNION PUBLIQUE · QUARTIER DES RICHARDETS</a:t>
            </a:r>
            <a:endParaRPr lang="en-US" sz="2100" dirty="0"/>
          </a:p>
        </p:txBody>
      </p:sp>
      <p:sp>
        <p:nvSpPr>
          <p:cNvPr id="4" name="Text 1"/>
          <p:cNvSpPr/>
          <p:nvPr/>
        </p:nvSpPr>
        <p:spPr>
          <a:xfrm>
            <a:off x="952500" y="3458210"/>
            <a:ext cx="9065134" cy="1478280"/>
          </a:xfrm>
          <a:prstGeom prst="rect">
            <a:avLst/>
          </a:prstGeom>
          <a:noFill/>
          <a:ln/>
          <a:effectLst>
            <a:outerShdw blurRad="101600" dist="53882" dir="2700000" algn="bl" rotWithShape="0">
              <a:srgbClr val="72C493">
                <a:alpha val="100000"/>
              </a:srgbClr>
            </a:outerShdw>
          </a:effectLst>
        </p:spPr>
        <p:txBody>
          <a:bodyPr wrap="square" lIns="25400" tIns="25400" rIns="25400" bIns="25400" rtlCol="0" anchor="t">
            <a:normAutofit/>
          </a:bodyPr>
          <a:lstStyle/>
          <a:p>
            <a:pPr marL="0" indent="0" algn="l">
              <a:lnSpc>
                <a:spcPct val="74605"/>
              </a:lnSpc>
              <a:buNone/>
            </a:pPr>
            <a:r>
              <a:rPr lang="en-US" sz="5400" b="1" kern="0" spc="-150" dirty="0">
                <a:solidFill>
                  <a:srgbClr val="0E1F5B"/>
                </a:solidFill>
                <a:latin typeface="Arial" pitchFamily="34" charset="0"/>
                <a:ea typeface="Arial" pitchFamily="34" charset="-122"/>
                <a:cs typeface="Arial" pitchFamily="34" charset="-120"/>
              </a:rPr>
              <a:t>Pour suivre les projets dans votre quartier</a:t>
            </a:r>
            <a:endParaRPr lang="en-US" sz="5400" dirty="0"/>
          </a:p>
        </p:txBody>
      </p:sp>
      <p:sp>
        <p:nvSpPr>
          <p:cNvPr id="5" name="Text 2"/>
          <p:cNvSpPr/>
          <p:nvPr/>
        </p:nvSpPr>
        <p:spPr>
          <a:xfrm>
            <a:off x="952500" y="5241291"/>
            <a:ext cx="9065134" cy="1066800"/>
          </a:xfrm>
          <a:prstGeom prst="rect">
            <a:avLst/>
          </a:prstGeom>
          <a:noFill/>
          <a:ln/>
        </p:spPr>
        <p:txBody>
          <a:bodyPr wrap="square" lIns="25400" tIns="25400" rIns="25400" bIns="25400" rtlCol="0" anchor="t">
            <a:normAutofit lnSpcReduction="10000"/>
          </a:bodyPr>
          <a:lstStyle/>
          <a:p>
            <a:pPr marL="0" indent="0" algn="l">
              <a:lnSpc>
                <a:spcPct val="117733"/>
              </a:lnSpc>
              <a:buNone/>
            </a:pPr>
            <a:r>
              <a:rPr lang="en-US" sz="3000" b="1" dirty="0">
                <a:solidFill>
                  <a:srgbClr val="0E1F5B"/>
                </a:solidFill>
                <a:latin typeface="Arial" pitchFamily="34" charset="0"/>
                <a:ea typeface="Arial" pitchFamily="34" charset="-122"/>
                <a:cs typeface="Arial" pitchFamily="34" charset="-120"/>
              </a:rPr>
              <a:t>Flashez ce QR code ou remplissez la fiche de renseignement papier à votre disposition.</a:t>
            </a:r>
            <a:endParaRPr lang="en-US" sz="3000" dirty="0"/>
          </a:p>
        </p:txBody>
      </p:sp>
      <p:sp>
        <p:nvSpPr>
          <p:cNvPr id="6" name="Shape 3"/>
          <p:cNvSpPr/>
          <p:nvPr/>
        </p:nvSpPr>
        <p:spPr>
          <a:xfrm>
            <a:off x="10201275" y="2800350"/>
            <a:ext cx="6696076" cy="6696076"/>
          </a:xfrm>
          <a:prstGeom prst="rect">
            <a:avLst/>
          </a:prstGeom>
          <a:solidFill>
            <a:srgbClr val="FFFFFF"/>
          </a:solidFill>
          <a:ln/>
        </p:spPr>
      </p:sp>
      <p:pic>
        <p:nvPicPr>
          <p:cNvPr id="7"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467350" y="1562100"/>
            <a:ext cx="16516351" cy="929036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F5B"/>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rcRect t="5711" b="5711"/>
          <a:stretch/>
        </p:blipFill>
        <p:spPr>
          <a:xfrm>
            <a:off x="0" y="0"/>
            <a:ext cx="18288001" cy="10287000"/>
          </a:xfrm>
          <a:prstGeom prst="rect">
            <a:avLst/>
          </a:prstGeom>
        </p:spPr>
      </p:pic>
      <p:sp>
        <p:nvSpPr>
          <p:cNvPr id="3" name="Shape 0"/>
          <p:cNvSpPr/>
          <p:nvPr/>
        </p:nvSpPr>
        <p:spPr>
          <a:xfrm>
            <a:off x="0" y="0"/>
            <a:ext cx="18288001" cy="10287000"/>
          </a:xfrm>
          <a:prstGeom prst="rect">
            <a:avLst/>
          </a:prstGeom>
          <a:gradFill rotWithShape="1">
            <a:gsLst>
              <a:gs pos="0">
                <a:srgbClr val="0E1F5B">
                  <a:alpha val="92000"/>
                </a:srgbClr>
              </a:gs>
              <a:gs pos="55000">
                <a:srgbClr val="0E1F5B">
                  <a:alpha val="78000"/>
                </a:srgbClr>
              </a:gs>
              <a:gs pos="100000">
                <a:srgbClr val="0E1F5B">
                  <a:alpha val="55000"/>
                </a:srgbClr>
              </a:gs>
            </a:gsLst>
            <a:lin ang="2700000" scaled="0"/>
          </a:gradFill>
          <a:ln/>
        </p:spPr>
      </p:sp>
      <p:pic>
        <p:nvPicPr>
          <p:cNvPr id="6"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3144501" y="3012837"/>
            <a:ext cx="4191000" cy="4261327"/>
          </a:xfrm>
          <a:prstGeom prst="rect">
            <a:avLst/>
          </a:prstGeom>
        </p:spPr>
      </p:pic>
      <p:sp>
        <p:nvSpPr>
          <p:cNvPr id="7" name="Text 3"/>
          <p:cNvSpPr/>
          <p:nvPr/>
        </p:nvSpPr>
        <p:spPr>
          <a:xfrm>
            <a:off x="952500" y="3144838"/>
            <a:ext cx="18021301" cy="414020"/>
          </a:xfrm>
          <a:prstGeom prst="rect">
            <a:avLst/>
          </a:prstGeom>
          <a:noFill/>
          <a:ln/>
        </p:spPr>
        <p:txBody>
          <a:bodyPr wrap="square" lIns="25400" tIns="25400" rIns="25400" bIns="25400" rtlCol="0" anchor="t">
            <a:normAutofit lnSpcReduction="10000"/>
          </a:bodyPr>
          <a:lstStyle/>
          <a:p>
            <a:pPr marL="0" indent="0" algn="l">
              <a:buNone/>
            </a:pPr>
            <a:r>
              <a:rPr lang="en-US" sz="2550" b="1" kern="0" spc="225" dirty="0">
                <a:solidFill>
                  <a:srgbClr val="72C493"/>
                </a:solidFill>
                <a:latin typeface="Arial" pitchFamily="34" charset="0"/>
                <a:ea typeface="Arial" pitchFamily="34" charset="-122"/>
                <a:cs typeface="Arial" pitchFamily="34" charset="-120"/>
              </a:rPr>
              <a:t>RÉUNION PUBLIQUE —</a:t>
            </a:r>
            <a:endParaRPr lang="en-US" sz="2550" dirty="0"/>
          </a:p>
        </p:txBody>
      </p:sp>
      <p:sp>
        <p:nvSpPr>
          <p:cNvPr id="8" name="Text 4"/>
          <p:cNvSpPr/>
          <p:nvPr/>
        </p:nvSpPr>
        <p:spPr>
          <a:xfrm>
            <a:off x="952500" y="3787458"/>
            <a:ext cx="16874491" cy="2000885"/>
          </a:xfrm>
          <a:prstGeom prst="rect">
            <a:avLst/>
          </a:prstGeom>
          <a:noFill/>
          <a:ln/>
          <a:effectLst>
            <a:outerShdw blurRad="101600" dist="80822" dir="2700000" algn="bl" rotWithShape="0">
              <a:srgbClr val="72C493">
                <a:alpha val="100000"/>
              </a:srgbClr>
            </a:outerShdw>
          </a:effectLst>
        </p:spPr>
        <p:txBody>
          <a:bodyPr wrap="square" lIns="25400" tIns="25400" rIns="25400" bIns="25400" rtlCol="0" anchor="t">
            <a:normAutofit/>
          </a:bodyPr>
          <a:lstStyle/>
          <a:p>
            <a:pPr marL="0" indent="0" algn="l">
              <a:lnSpc>
                <a:spcPct val="64832"/>
              </a:lnSpc>
              <a:buNone/>
            </a:pPr>
            <a:r>
              <a:rPr lang="en-US" sz="8400" b="1" kern="0" spc="-300" dirty="0">
                <a:solidFill>
                  <a:srgbClr val="FAF5EC"/>
                </a:solidFill>
                <a:latin typeface="Arial" pitchFamily="34" charset="0"/>
                <a:ea typeface="Arial" pitchFamily="34" charset="-122"/>
                <a:cs typeface="Arial" pitchFamily="34" charset="-120"/>
              </a:rPr>
              <a:t>QUARTIER DES</a:t>
            </a:r>
          </a:p>
          <a:p>
            <a:pPr marL="0" indent="0" algn="l">
              <a:lnSpc>
                <a:spcPct val="64832"/>
              </a:lnSpc>
              <a:buNone/>
            </a:pPr>
            <a:r>
              <a:rPr lang="en-US" sz="8400" b="1" kern="0" spc="-300" dirty="0">
                <a:solidFill>
                  <a:srgbClr val="FAF5EC"/>
                </a:solidFill>
                <a:latin typeface="Arial" pitchFamily="34" charset="0"/>
                <a:ea typeface="Arial" pitchFamily="34" charset="-122"/>
                <a:cs typeface="Arial" pitchFamily="34" charset="-120"/>
              </a:rPr>
              <a:t>RICHARDETS</a:t>
            </a:r>
          </a:p>
        </p:txBody>
      </p:sp>
      <p:sp>
        <p:nvSpPr>
          <p:cNvPr id="9" name="Text 5"/>
          <p:cNvSpPr/>
          <p:nvPr/>
        </p:nvSpPr>
        <p:spPr>
          <a:xfrm>
            <a:off x="952500" y="6283643"/>
            <a:ext cx="18021301" cy="474980"/>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AF5EC"/>
                </a:solidFill>
                <a:latin typeface="Arial" pitchFamily="34" charset="0"/>
                <a:ea typeface="Arial" pitchFamily="34" charset="-122"/>
                <a:cs typeface="Arial" pitchFamily="34" charset="-120"/>
              </a:rPr>
              <a:t>Mercredi 14 octobre 2026 — 19 h — Victoria Park</a:t>
            </a:r>
            <a:endParaRPr lang="en-US" sz="3000" dirty="0"/>
          </a:p>
        </p:txBody>
      </p:sp>
      <p:sp>
        <p:nvSpPr>
          <p:cNvPr id="10" name="TextBox 9"/>
          <p:cNvSpPr txBox="1"/>
          <p:nvPr/>
        </p:nvSpPr>
        <p:spPr>
          <a:xfrm>
            <a:off x="14264640" y="9829800"/>
            <a:ext cx="3749039" cy="274320"/>
          </a:xfrm>
          <a:prstGeom prst="rect">
            <a:avLst/>
          </a:prstGeom>
          <a:noFill/>
        </p:spPr>
        <p:txBody>
          <a:bodyPr wrap="square" anchor="t" lIns="0" rIns="0" tIns="0" bIns="0">
            <a:spAutoFit/>
          </a:bodyPr>
          <a:lstStyle/>
          <a:p>
            <a:pPr algn="r"/>
            <a:r>
              <a:rPr sz="1200" b="0">
                <a:solidFill>
                  <a:srgbClr val="C9CCDA"/>
                </a:solidFill>
                <a:latin typeface="Arial"/>
              </a:rPr>
              <a:t>© IGN – BD ORTHO</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5EC"/>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857250"/>
            <a:ext cx="18021301" cy="363220"/>
          </a:xfrm>
          <a:prstGeom prst="rect">
            <a:avLst/>
          </a:prstGeom>
          <a:noFill/>
          <a:ln/>
        </p:spPr>
        <p:txBody>
          <a:bodyPr wrap="square" lIns="25400" tIns="25400" rIns="25400" bIns="25400" rtlCol="0" anchor="t">
            <a:normAutofit lnSpcReduction="10000"/>
          </a:bodyPr>
          <a:lstStyle/>
          <a:p>
            <a:pPr marL="0" indent="0" algn="l">
              <a:buNone/>
            </a:pPr>
            <a:r>
              <a:rPr lang="en-US" sz="2250" b="1" kern="0" spc="225" dirty="0">
                <a:solidFill>
                  <a:srgbClr val="72C493"/>
                </a:solidFill>
                <a:latin typeface="Arial" pitchFamily="34" charset="0"/>
                <a:ea typeface="Arial" pitchFamily="34" charset="-122"/>
                <a:cs typeface="Arial" pitchFamily="34" charset="-120"/>
              </a:rPr>
              <a:t>SOMMAIRE</a:t>
            </a:r>
            <a:endParaRPr lang="en-US" sz="2250" dirty="0"/>
          </a:p>
        </p:txBody>
      </p:sp>
      <p:sp>
        <p:nvSpPr>
          <p:cNvPr id="4" name="Numero 1"/>
          <p:cNvSpPr txBox="1"/>
          <p:nvPr/>
        </p:nvSpPr>
        <p:spPr>
          <a:xfrm>
            <a:off x="952500" y="262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01</a:t>
            </a:r>
          </a:p>
        </p:txBody>
      </p:sp>
      <p:sp>
        <p:nvSpPr>
          <p:cNvPr id="5" name="Partie 1"/>
          <p:cNvSpPr txBox="1"/>
          <p:nvPr/>
        </p:nvSpPr>
        <p:spPr>
          <a:xfrm>
            <a:off x="1866900" y="260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L'école des Richardets et le périscolaire</a:t>
            </a:r>
          </a:p>
        </p:txBody>
      </p:sp>
      <p:sp>
        <p:nvSpPr>
          <p:cNvPr id="6" name="Separateur 1"/>
          <p:cNvSpPr/>
          <p:nvPr/>
        </p:nvSpPr>
        <p:spPr>
          <a:xfrm>
            <a:off x="952500" y="3230000"/>
            <a:ext cx="14287501" cy="10160"/>
          </a:xfrm>
          <a:prstGeom prst="rect">
            <a:avLst/>
          </a:prstGeom>
          <a:solidFill>
            <a:srgbClr val="0E1F5B">
              <a:alpha val="12000"/>
            </a:srgbClr>
          </a:solidFill>
          <a:ln/>
        </p:spPr>
      </p:sp>
      <p:sp>
        <p:nvSpPr>
          <p:cNvPr id="7" name="Numero 2"/>
          <p:cNvSpPr txBox="1"/>
          <p:nvPr/>
        </p:nvSpPr>
        <p:spPr>
          <a:xfrm>
            <a:off x="952500" y="341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02</a:t>
            </a:r>
          </a:p>
        </p:txBody>
      </p:sp>
      <p:sp>
        <p:nvSpPr>
          <p:cNvPr id="8" name="Partie 2"/>
          <p:cNvSpPr txBox="1"/>
          <p:nvPr/>
        </p:nvSpPr>
        <p:spPr>
          <a:xfrm>
            <a:off x="1866900" y="339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Circulation et sécurité</a:t>
            </a:r>
          </a:p>
        </p:txBody>
      </p:sp>
      <p:sp>
        <p:nvSpPr>
          <p:cNvPr id="9" name="Separateur 2"/>
          <p:cNvSpPr/>
          <p:nvPr/>
        </p:nvSpPr>
        <p:spPr>
          <a:xfrm>
            <a:off x="952500" y="4020000"/>
            <a:ext cx="14287501" cy="10160"/>
          </a:xfrm>
          <a:prstGeom prst="rect">
            <a:avLst/>
          </a:prstGeom>
          <a:solidFill>
            <a:srgbClr val="0E1F5B">
              <a:alpha val="12000"/>
            </a:srgbClr>
          </a:solidFill>
          <a:ln/>
        </p:spPr>
      </p:sp>
      <p:sp>
        <p:nvSpPr>
          <p:cNvPr id="10" name="Numero 3"/>
          <p:cNvSpPr txBox="1"/>
          <p:nvPr/>
        </p:nvSpPr>
        <p:spPr>
          <a:xfrm>
            <a:off x="952500" y="420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03</a:t>
            </a:r>
          </a:p>
        </p:txBody>
      </p:sp>
      <p:sp>
        <p:nvSpPr>
          <p:cNvPr id="11" name="Partie 3"/>
          <p:cNvSpPr txBox="1"/>
          <p:nvPr/>
        </p:nvSpPr>
        <p:spPr>
          <a:xfrm>
            <a:off x="1866900" y="418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Services publics de proximité</a:t>
            </a:r>
          </a:p>
        </p:txBody>
      </p:sp>
      <p:sp>
        <p:nvSpPr>
          <p:cNvPr id="12" name="Separateur 3"/>
          <p:cNvSpPr/>
          <p:nvPr/>
        </p:nvSpPr>
        <p:spPr>
          <a:xfrm>
            <a:off x="952500" y="4810000"/>
            <a:ext cx="14287501" cy="10160"/>
          </a:xfrm>
          <a:prstGeom prst="rect">
            <a:avLst/>
          </a:prstGeom>
          <a:solidFill>
            <a:srgbClr val="0E1F5B">
              <a:alpha val="12000"/>
            </a:srgbClr>
          </a:solidFill>
          <a:ln/>
        </p:spPr>
      </p:sp>
      <p:sp>
        <p:nvSpPr>
          <p:cNvPr id="13" name="Numero 4"/>
          <p:cNvSpPr txBox="1"/>
          <p:nvPr/>
        </p:nvSpPr>
        <p:spPr>
          <a:xfrm>
            <a:off x="952500" y="499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04</a:t>
            </a:r>
          </a:p>
        </p:txBody>
      </p:sp>
      <p:sp>
        <p:nvSpPr>
          <p:cNvPr id="14" name="Partie 4"/>
          <p:cNvSpPr txBox="1"/>
          <p:nvPr/>
        </p:nvSpPr>
        <p:spPr>
          <a:xfrm>
            <a:off x="1866900" y="497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Équipements et cadre de vie</a:t>
            </a:r>
          </a:p>
        </p:txBody>
      </p:sp>
      <p:sp>
        <p:nvSpPr>
          <p:cNvPr id="15" name="Separateur 4"/>
          <p:cNvSpPr/>
          <p:nvPr/>
        </p:nvSpPr>
        <p:spPr>
          <a:xfrm>
            <a:off x="952500" y="5600000"/>
            <a:ext cx="14287501" cy="10160"/>
          </a:xfrm>
          <a:prstGeom prst="rect">
            <a:avLst/>
          </a:prstGeom>
          <a:solidFill>
            <a:srgbClr val="0E1F5B">
              <a:alpha val="12000"/>
            </a:srgbClr>
          </a:solidFill>
          <a:ln/>
        </p:spPr>
      </p:sp>
      <p:sp>
        <p:nvSpPr>
          <p:cNvPr id="16" name="Numero 5"/>
          <p:cNvSpPr txBox="1"/>
          <p:nvPr/>
        </p:nvSpPr>
        <p:spPr>
          <a:xfrm>
            <a:off x="952500" y="578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05</a:t>
            </a:r>
          </a:p>
        </p:txBody>
      </p:sp>
      <p:sp>
        <p:nvSpPr>
          <p:cNvPr id="17" name="Partie 5"/>
          <p:cNvSpPr txBox="1"/>
          <p:nvPr/>
        </p:nvSpPr>
        <p:spPr>
          <a:xfrm>
            <a:off x="1866900" y="576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Santé et accueil des seniors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1495425"/>
            <a:ext cx="10477501" cy="353060"/>
          </a:xfrm>
          <a:prstGeom prst="rect">
            <a:avLst/>
          </a:prstGeom>
          <a:noFill/>
          <a:ln/>
        </p:spPr>
        <p:txBody>
          <a:bodyPr wrap="square" lIns="25400" tIns="25400" rIns="25400" bIns="25400" rtlCol="0" anchor="t">
            <a:normAutofit lnSpcReduction="10000"/>
          </a:bodyPr>
          <a:lstStyle/>
          <a:p>
            <a:pPr marL="0" indent="0" algn="l">
              <a:buNone/>
            </a:pPr>
            <a:r>
              <a:rPr lang="en-US" sz="2100" b="1" kern="0" spc="225" dirty="0">
                <a:solidFill>
                  <a:srgbClr val="72C493"/>
                </a:solidFill>
                <a:latin typeface="Arial" pitchFamily="34" charset="0"/>
                <a:ea typeface="Arial" pitchFamily="34" charset="-122"/>
                <a:cs typeface="Arial" pitchFamily="34" charset="-120"/>
              </a:rPr>
              <a:t>SERVICES PUBLICS DE PROXIMITÉ · LES BUS</a:t>
            </a:r>
            <a:endParaRPr lang="en-US" sz="2100" dirty="0"/>
          </a:p>
        </p:txBody>
      </p:sp>
      <p:sp>
        <p:nvSpPr>
          <p:cNvPr id="4" name="Text 1"/>
          <p:cNvSpPr/>
          <p:nvPr/>
        </p:nvSpPr>
        <p:spPr>
          <a:xfrm>
            <a:off x="952500" y="1981835"/>
            <a:ext cx="10477501" cy="638175"/>
          </a:xfrm>
          <a:prstGeom prst="rect">
            <a:avLst/>
          </a:prstGeom>
          <a:noFill/>
          <a:ln/>
          <a:effectLst>
            <a:outerShdw blurRad="101600" dist="40411" dir="2700000" algn="bl" rotWithShape="0">
              <a:srgbClr val="72C493">
                <a:alpha val="100000"/>
              </a:srgbClr>
            </a:outerShdw>
          </a:effectLst>
        </p:spPr>
        <p:txBody>
          <a:bodyPr wrap="square" lIns="25400" tIns="25400" rIns="25400" bIns="25400" rtlCol="0" anchor="t">
            <a:normAutofit/>
          </a:bodyPr>
          <a:lstStyle/>
          <a:p>
            <a:pPr marL="0" indent="0" algn="l">
              <a:lnSpc>
                <a:spcPct val="74763"/>
              </a:lnSpc>
              <a:buNone/>
            </a:pPr>
            <a:r>
              <a:rPr lang="en-US" sz="4500" b="1" kern="0" spc="-150" dirty="0">
                <a:solidFill>
                  <a:srgbClr val="0E1F5B"/>
                </a:solidFill>
                <a:latin typeface="Arial" pitchFamily="34" charset="0"/>
                <a:ea typeface="Arial" pitchFamily="34" charset="-122"/>
                <a:cs typeface="Arial" pitchFamily="34" charset="-120"/>
              </a:rPr>
              <a:t>Le courrier du Maire à Keolis</a:t>
            </a:r>
            <a:endParaRPr lang="en-US" sz="4500" dirty="0"/>
          </a:p>
        </p:txBody>
      </p:sp>
      <p:sp>
        <p:nvSpPr>
          <p:cNvPr id="5" name="Text 2"/>
          <p:cNvSpPr/>
          <p:nvPr/>
        </p:nvSpPr>
        <p:spPr>
          <a:xfrm>
            <a:off x="952500" y="2734310"/>
            <a:ext cx="10477501" cy="41402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0E1F5B"/>
                </a:solidFill>
                <a:latin typeface="Arial" pitchFamily="34" charset="0"/>
                <a:ea typeface="Arial" pitchFamily="34" charset="-122"/>
                <a:cs typeface="Arial" pitchFamily="34" charset="-120"/>
              </a:rPr>
              <a:t>20 septembre 2026</a:t>
            </a:r>
            <a:endParaRPr lang="en-US" sz="2550" dirty="0"/>
          </a:p>
        </p:txBody>
      </p:sp>
      <p:sp>
        <p:nvSpPr>
          <p:cNvPr id="6" name="Shape 3"/>
          <p:cNvSpPr/>
          <p:nvPr/>
        </p:nvSpPr>
        <p:spPr>
          <a:xfrm>
            <a:off x="952500" y="3376930"/>
            <a:ext cx="3200400" cy="57150"/>
          </a:xfrm>
          <a:prstGeom prst="rect">
            <a:avLst/>
          </a:prstGeom>
          <a:solidFill>
            <a:srgbClr val="72C493"/>
          </a:solidFill>
          <a:ln/>
        </p:spPr>
      </p:sp>
      <p:sp>
        <p:nvSpPr>
          <p:cNvPr id="7" name="Shape 4"/>
          <p:cNvSpPr/>
          <p:nvPr/>
        </p:nvSpPr>
        <p:spPr>
          <a:xfrm>
            <a:off x="952500" y="3815080"/>
            <a:ext cx="533400" cy="533400"/>
          </a:xfrm>
          <a:prstGeom prst="rect">
            <a:avLst/>
          </a:prstGeom>
          <a:solidFill>
            <a:srgbClr val="72C493"/>
          </a:solidFill>
          <a:ln/>
        </p:spPr>
      </p:sp>
      <p:sp>
        <p:nvSpPr>
          <p:cNvPr id="8" name="Text 5"/>
          <p:cNvSpPr/>
          <p:nvPr/>
        </p:nvSpPr>
        <p:spPr>
          <a:xfrm>
            <a:off x="914400" y="3815080"/>
            <a:ext cx="609600" cy="571500"/>
          </a:xfrm>
          <a:prstGeom prst="rect">
            <a:avLst/>
          </a:prstGeom>
          <a:noFill/>
          <a:ln/>
        </p:spPr>
        <p:txBody>
          <a:bodyPr wrap="square" lIns="25400" tIns="25400" rIns="25400" bIns="25400" rtlCol="0" anchor="ctr">
            <a:normAutofit/>
          </a:bodyPr>
          <a:lstStyle/>
          <a:p>
            <a:pPr marL="0" indent="0" algn="ctr">
              <a:buNone/>
            </a:pPr>
            <a:r>
              <a:rPr lang="en-US" sz="1950" b="1" dirty="0">
                <a:solidFill>
                  <a:srgbClr val="0E1F5B"/>
                </a:solidFill>
                <a:latin typeface="Arial" pitchFamily="34" charset="0"/>
                <a:ea typeface="Arial" pitchFamily="34" charset="-122"/>
                <a:cs typeface="Arial" pitchFamily="34" charset="-120"/>
              </a:rPr>
              <a:t>01</a:t>
            </a:r>
            <a:endParaRPr lang="en-US" sz="1950" dirty="0"/>
          </a:p>
        </p:txBody>
      </p:sp>
      <p:sp>
        <p:nvSpPr>
          <p:cNvPr id="9" name="Text 6"/>
          <p:cNvSpPr/>
          <p:nvPr/>
        </p:nvSpPr>
        <p:spPr>
          <a:xfrm>
            <a:off x="1714500" y="3815080"/>
            <a:ext cx="9025891" cy="830580"/>
          </a:xfrm>
          <a:prstGeom prst="rect">
            <a:avLst/>
          </a:prstGeom>
          <a:noFill/>
          <a:ln/>
        </p:spPr>
        <p:txBody>
          <a:bodyPr wrap="square" lIns="25400" tIns="25400" rIns="25400" bIns="25400" rtlCol="0" anchor="t">
            <a:normAutofit lnSpcReduction="10000"/>
          </a:bodyPr>
          <a:lstStyle/>
          <a:p>
            <a:pPr marL="0" indent="0" algn="l">
              <a:lnSpc>
                <a:spcPct val="114706"/>
              </a:lnSpc>
              <a:buNone/>
            </a:pPr>
            <a:r>
              <a:rPr lang="en-US" sz="2400" b="1" dirty="0">
                <a:solidFill>
                  <a:srgbClr val="0E1F5B"/>
                </a:solidFill>
                <a:latin typeface="Arial" pitchFamily="34" charset="0"/>
                <a:ea typeface="Arial" pitchFamily="34" charset="-122"/>
                <a:cs typeface="Arial" pitchFamily="34" charset="-120"/>
              </a:rPr>
              <a:t>Retards, courses supprimées, fréquences non respectées, information défaillante</a:t>
            </a:r>
            <a:endParaRPr lang="en-US" sz="2400" dirty="0"/>
          </a:p>
        </p:txBody>
      </p:sp>
      <p:sp>
        <p:nvSpPr>
          <p:cNvPr id="10" name="Shape 7"/>
          <p:cNvSpPr/>
          <p:nvPr/>
        </p:nvSpPr>
        <p:spPr>
          <a:xfrm>
            <a:off x="952500" y="4950460"/>
            <a:ext cx="533400" cy="533400"/>
          </a:xfrm>
          <a:prstGeom prst="rect">
            <a:avLst/>
          </a:prstGeom>
          <a:solidFill>
            <a:srgbClr val="72C493"/>
          </a:solidFill>
          <a:ln/>
        </p:spPr>
      </p:sp>
      <p:sp>
        <p:nvSpPr>
          <p:cNvPr id="11" name="Text 8"/>
          <p:cNvSpPr/>
          <p:nvPr/>
        </p:nvSpPr>
        <p:spPr>
          <a:xfrm>
            <a:off x="914400" y="4950460"/>
            <a:ext cx="609600" cy="571500"/>
          </a:xfrm>
          <a:prstGeom prst="rect">
            <a:avLst/>
          </a:prstGeom>
          <a:noFill/>
          <a:ln/>
        </p:spPr>
        <p:txBody>
          <a:bodyPr wrap="square" lIns="25400" tIns="25400" rIns="25400" bIns="25400" rtlCol="0" anchor="ctr">
            <a:normAutofit/>
          </a:bodyPr>
          <a:lstStyle/>
          <a:p>
            <a:pPr marL="0" indent="0" algn="ctr">
              <a:buNone/>
            </a:pPr>
            <a:r>
              <a:rPr lang="en-US" sz="1950" b="1" dirty="0">
                <a:solidFill>
                  <a:srgbClr val="0E1F5B"/>
                </a:solidFill>
                <a:latin typeface="Arial" pitchFamily="34" charset="0"/>
                <a:ea typeface="Arial" pitchFamily="34" charset="-122"/>
                <a:cs typeface="Arial" pitchFamily="34" charset="-120"/>
              </a:rPr>
              <a:t>02</a:t>
            </a:r>
            <a:endParaRPr lang="en-US" sz="1950" dirty="0"/>
          </a:p>
        </p:txBody>
      </p:sp>
      <p:sp>
        <p:nvSpPr>
          <p:cNvPr id="12" name="Text 9"/>
          <p:cNvSpPr/>
          <p:nvPr/>
        </p:nvSpPr>
        <p:spPr>
          <a:xfrm>
            <a:off x="1714500" y="4950460"/>
            <a:ext cx="8948659" cy="434340"/>
          </a:xfrm>
          <a:prstGeom prst="rect">
            <a:avLst/>
          </a:prstGeom>
          <a:noFill/>
          <a:ln/>
        </p:spPr>
        <p:txBody>
          <a:bodyPr wrap="square" lIns="25400" tIns="25400" rIns="25400" bIns="25400" rtlCol="0" anchor="t">
            <a:normAutofit lnSpcReduction="10000"/>
          </a:bodyPr>
          <a:lstStyle/>
          <a:p>
            <a:pPr marL="0" indent="0" algn="l">
              <a:lnSpc>
                <a:spcPct val="114706"/>
              </a:lnSpc>
              <a:buNone/>
            </a:pPr>
            <a:r>
              <a:rPr lang="en-US" sz="2400" b="1" dirty="0">
                <a:solidFill>
                  <a:srgbClr val="0E1F5B"/>
                </a:solidFill>
                <a:latin typeface="Arial" pitchFamily="34" charset="0"/>
                <a:ea typeface="Arial" pitchFamily="34" charset="-122"/>
                <a:cs typeface="Arial" pitchFamily="34" charset="-120"/>
              </a:rPr>
              <a:t>Demande de sanctions contractuelles contre l'opérateur</a:t>
            </a:r>
            <a:endParaRPr lang="en-US" sz="2400" dirty="0"/>
          </a:p>
        </p:txBody>
      </p:sp>
      <p:sp>
        <p:nvSpPr>
          <p:cNvPr id="13" name="Shape 10"/>
          <p:cNvSpPr/>
          <p:nvPr/>
        </p:nvSpPr>
        <p:spPr>
          <a:xfrm>
            <a:off x="952500" y="5826760"/>
            <a:ext cx="533400" cy="533400"/>
          </a:xfrm>
          <a:prstGeom prst="rect">
            <a:avLst/>
          </a:prstGeom>
          <a:solidFill>
            <a:srgbClr val="72C493"/>
          </a:solidFill>
          <a:ln/>
        </p:spPr>
      </p:sp>
      <p:sp>
        <p:nvSpPr>
          <p:cNvPr id="14" name="Text 11"/>
          <p:cNvSpPr/>
          <p:nvPr/>
        </p:nvSpPr>
        <p:spPr>
          <a:xfrm>
            <a:off x="914400" y="5826760"/>
            <a:ext cx="609600" cy="571500"/>
          </a:xfrm>
          <a:prstGeom prst="rect">
            <a:avLst/>
          </a:prstGeom>
          <a:noFill/>
          <a:ln/>
        </p:spPr>
        <p:txBody>
          <a:bodyPr wrap="square" lIns="25400" tIns="25400" rIns="25400" bIns="25400" rtlCol="0" anchor="ctr">
            <a:normAutofit/>
          </a:bodyPr>
          <a:lstStyle/>
          <a:p>
            <a:pPr marL="0" indent="0" algn="ctr">
              <a:buNone/>
            </a:pPr>
            <a:r>
              <a:rPr lang="en-US" sz="1950" b="1" dirty="0">
                <a:solidFill>
                  <a:srgbClr val="0E1F5B"/>
                </a:solidFill>
                <a:latin typeface="Arial" pitchFamily="34" charset="0"/>
                <a:ea typeface="Arial" pitchFamily="34" charset="-122"/>
                <a:cs typeface="Arial" pitchFamily="34" charset="-120"/>
              </a:rPr>
              <a:t>03</a:t>
            </a:r>
            <a:endParaRPr lang="en-US" sz="1950" dirty="0"/>
          </a:p>
        </p:txBody>
      </p:sp>
      <p:sp>
        <p:nvSpPr>
          <p:cNvPr id="15" name="Text 12"/>
          <p:cNvSpPr/>
          <p:nvPr/>
        </p:nvSpPr>
        <p:spPr>
          <a:xfrm>
            <a:off x="1714500" y="5826760"/>
            <a:ext cx="9025891" cy="830580"/>
          </a:xfrm>
          <a:prstGeom prst="rect">
            <a:avLst/>
          </a:prstGeom>
          <a:noFill/>
          <a:ln/>
        </p:spPr>
        <p:txBody>
          <a:bodyPr wrap="square" lIns="25400" tIns="25400" rIns="25400" bIns="25400" rtlCol="0" anchor="t">
            <a:normAutofit lnSpcReduction="10000"/>
          </a:bodyPr>
          <a:lstStyle/>
          <a:p>
            <a:pPr marL="0" indent="0" algn="l">
              <a:lnSpc>
                <a:spcPct val="114706"/>
              </a:lnSpc>
              <a:buNone/>
            </a:pPr>
            <a:r>
              <a:rPr lang="en-US" sz="2400" b="1" dirty="0">
                <a:solidFill>
                  <a:srgbClr val="0E1F5B"/>
                </a:solidFill>
                <a:latin typeface="Arial" pitchFamily="34" charset="0"/>
                <a:ea typeface="Arial" pitchFamily="34" charset="-122"/>
                <a:cs typeface="Arial" pitchFamily="34" charset="-120"/>
              </a:rPr>
              <a:t>Demande d'une réunion en mairie et d'un plan d'actions immédiat</a:t>
            </a:r>
            <a:endParaRPr lang="en-US" sz="2400" dirty="0"/>
          </a:p>
        </p:txBody>
      </p:sp>
      <p:sp>
        <p:nvSpPr>
          <p:cNvPr id="16" name="Shape 13"/>
          <p:cNvSpPr/>
          <p:nvPr/>
        </p:nvSpPr>
        <p:spPr>
          <a:xfrm>
            <a:off x="11839576" y="1771650"/>
            <a:ext cx="5086350" cy="7200901"/>
          </a:xfrm>
          <a:prstGeom prst="rect">
            <a:avLst/>
          </a:prstGeom>
          <a:solidFill>
            <a:srgbClr val="D9D4CA"/>
          </a:solidFill>
          <a:ln/>
        </p:spPr>
      </p:sp>
      <p:pic>
        <p:nvPicPr>
          <p:cNvPr id="17" name="Image 1" descr="preencoded.png"/>
          <p:cNvPicPr>
            <a:picLocks noChangeAspect="1"/>
          </p:cNvPicPr>
          <p:nvPr/>
        </p:nvPicPr>
        <p:blipFill>
          <a:blip r:embed="rId4" cstate="email">
            <a:extLst>
              <a:ext uri="{28A0092B-C50C-407E-A947-70E740481C1C}">
                <a14:useLocalDpi xmlns:a14="http://schemas.microsoft.com/office/drawing/2010/main"/>
              </a:ext>
            </a:extLst>
          </a:blip>
          <a:srcRect/>
          <a:stretch/>
        </p:blipFill>
        <p:spPr>
          <a:xfrm>
            <a:off x="11839576" y="1771650"/>
            <a:ext cx="5086350" cy="7200901"/>
          </a:xfrm>
          <a:prstGeom prst="rect">
            <a:avLst/>
          </a:prstGeom>
        </p:spPr>
      </p:pic>
      <p:sp>
        <p:nvSpPr>
          <p:cNvPr id="18" name="Shape 14"/>
          <p:cNvSpPr/>
          <p:nvPr/>
        </p:nvSpPr>
        <p:spPr>
          <a:xfrm>
            <a:off x="11839576" y="9124951"/>
            <a:ext cx="5086350" cy="495300"/>
          </a:xfrm>
          <a:prstGeom prst="rect">
            <a:avLst/>
          </a:prstGeom>
          <a:solidFill>
            <a:srgbClr val="72C493"/>
          </a:solidFill>
          <a:ln/>
        </p:spPr>
      </p:sp>
      <p:sp>
        <p:nvSpPr>
          <p:cNvPr id="19" name="Text 15"/>
          <p:cNvSpPr/>
          <p:nvPr/>
        </p:nvSpPr>
        <p:spPr>
          <a:xfrm>
            <a:off x="11915681" y="9201151"/>
            <a:ext cx="4934141" cy="381000"/>
          </a:xfrm>
          <a:prstGeom prst="rect">
            <a:avLst/>
          </a:prstGeom>
          <a:noFill/>
          <a:ln/>
        </p:spPr>
        <p:txBody>
          <a:bodyPr wrap="square" lIns="25400" tIns="25400" rIns="25400" bIns="25400" rtlCol="0" anchor="ctr">
            <a:normAutofit/>
          </a:bodyPr>
          <a:lstStyle/>
          <a:p>
            <a:pPr marL="0" indent="0" algn="ctr">
              <a:buNone/>
            </a:pPr>
            <a:r>
              <a:rPr lang="en-US" sz="1800" b="1" kern="0" spc="75" dirty="0">
                <a:solidFill>
                  <a:srgbClr val="0E1F5B"/>
                </a:solidFill>
                <a:latin typeface="Arial" pitchFamily="34" charset="0"/>
                <a:ea typeface="Arial" pitchFamily="34" charset="-122"/>
                <a:cs typeface="Arial" pitchFamily="34" charset="-120"/>
              </a:rPr>
              <a:t>LETTRE À KEOLIS · 20 SEPT. 2026</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33">
    <p:bg>
      <p:bgPr>
        <a:solidFill>
          <a:srgbClr val="72C49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4238625"/>
            <a:ext cx="18021301" cy="1847850"/>
          </a:xfrm>
          <a:prstGeom prst="rect">
            <a:avLst/>
          </a:prstGeom>
          <a:noFill/>
          <a:ln/>
          <a:effectLst>
            <a:outerShdw blurRad="101600" dist="107763" dir="2700000" algn="bl" rotWithShape="0">
              <a:srgbClr val="FAF5EC">
                <a:alpha val="100000"/>
              </a:srgbClr>
            </a:outerShdw>
          </a:effectLst>
        </p:spPr>
        <p:txBody>
          <a:bodyPr wrap="square" lIns="25400" tIns="25400" rIns="25400" bIns="25400" rtlCol="0" anchor="t">
            <a:normAutofit/>
          </a:bodyPr>
          <a:lstStyle/>
          <a:p>
            <a:pPr marL="0" indent="0" algn="l">
              <a:lnSpc>
                <a:spcPct val="67472"/>
              </a:lnSpc>
              <a:buNone/>
            </a:pPr>
            <a:r>
              <a:rPr lang="en-US" sz="15000" b="1" kern="0" spc="-450" dirty="0">
                <a:solidFill>
                  <a:srgbClr val="0E1F5B"/>
                </a:solidFill>
                <a:latin typeface="Arial" pitchFamily="34" charset="0"/>
                <a:ea typeface="Arial" pitchFamily="34" charset="-122"/>
                <a:cs typeface="Arial" pitchFamily="34" charset="-120"/>
              </a:rPr>
              <a:t>Vos questions</a:t>
            </a:r>
            <a:endParaRPr lang="en-US" sz="15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4">
    <p:bg>
      <p:bgPr>
        <a:solidFill>
          <a:srgbClr val="FAF5EC"/>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2800350"/>
            <a:ext cx="9681211" cy="353060"/>
          </a:xfrm>
          <a:prstGeom prst="rect">
            <a:avLst/>
          </a:prstGeom>
          <a:noFill/>
          <a:ln/>
        </p:spPr>
        <p:txBody>
          <a:bodyPr wrap="square" lIns="25400" tIns="25400" rIns="25400" bIns="25400" rtlCol="0" anchor="t">
            <a:normAutofit lnSpcReduction="10000"/>
          </a:bodyPr>
          <a:lstStyle/>
          <a:p>
            <a:pPr marL="0" indent="0" algn="l">
              <a:buNone/>
            </a:pPr>
            <a:r>
              <a:rPr lang="en-US" sz="2100" b="1" kern="0" spc="225" dirty="0">
                <a:solidFill>
                  <a:srgbClr val="72C493"/>
                </a:solidFill>
                <a:latin typeface="Arial" pitchFamily="34" charset="0"/>
                <a:ea typeface="Arial" pitchFamily="34" charset="-122"/>
                <a:cs typeface="Arial" pitchFamily="34" charset="-120"/>
              </a:rPr>
              <a:t>RÉUNION PUBLIQUE · QUARTIER DES RICHARDETS</a:t>
            </a:r>
            <a:endParaRPr lang="en-US" sz="2100" dirty="0"/>
          </a:p>
        </p:txBody>
      </p:sp>
      <p:sp>
        <p:nvSpPr>
          <p:cNvPr id="4" name="Text 1"/>
          <p:cNvSpPr/>
          <p:nvPr/>
        </p:nvSpPr>
        <p:spPr>
          <a:xfrm>
            <a:off x="952500" y="3458210"/>
            <a:ext cx="9065134" cy="1478280"/>
          </a:xfrm>
          <a:prstGeom prst="rect">
            <a:avLst/>
          </a:prstGeom>
          <a:noFill/>
          <a:ln/>
          <a:effectLst>
            <a:outerShdw blurRad="101600" dist="53882" dir="2700000" algn="bl" rotWithShape="0">
              <a:srgbClr val="72C493">
                <a:alpha val="100000"/>
              </a:srgbClr>
            </a:outerShdw>
          </a:effectLst>
        </p:spPr>
        <p:txBody>
          <a:bodyPr wrap="square" lIns="25400" tIns="25400" rIns="25400" bIns="25400" rtlCol="0" anchor="t">
            <a:normAutofit/>
          </a:bodyPr>
          <a:lstStyle/>
          <a:p>
            <a:pPr marL="0" indent="0" algn="l">
              <a:lnSpc>
                <a:spcPct val="74605"/>
              </a:lnSpc>
              <a:buNone/>
            </a:pPr>
            <a:r>
              <a:rPr lang="en-US" sz="5400" b="1" kern="0" spc="-150" dirty="0">
                <a:solidFill>
                  <a:srgbClr val="0E1F5B"/>
                </a:solidFill>
                <a:latin typeface="Arial" pitchFamily="34" charset="0"/>
                <a:ea typeface="Arial" pitchFamily="34" charset="-122"/>
                <a:cs typeface="Arial" pitchFamily="34" charset="-120"/>
              </a:rPr>
              <a:t>Pour suivre les projets dans votre quartier</a:t>
            </a:r>
            <a:endParaRPr lang="en-US" sz="5400" dirty="0"/>
          </a:p>
        </p:txBody>
      </p:sp>
      <p:sp>
        <p:nvSpPr>
          <p:cNvPr id="5" name="Text 2"/>
          <p:cNvSpPr/>
          <p:nvPr/>
        </p:nvSpPr>
        <p:spPr>
          <a:xfrm>
            <a:off x="952500" y="5241291"/>
            <a:ext cx="9065134" cy="1066800"/>
          </a:xfrm>
          <a:prstGeom prst="rect">
            <a:avLst/>
          </a:prstGeom>
          <a:noFill/>
          <a:ln/>
        </p:spPr>
        <p:txBody>
          <a:bodyPr wrap="square" lIns="25400" tIns="25400" rIns="25400" bIns="25400" rtlCol="0" anchor="t">
            <a:normAutofit lnSpcReduction="10000"/>
          </a:bodyPr>
          <a:lstStyle/>
          <a:p>
            <a:pPr marL="0" indent="0" algn="l">
              <a:lnSpc>
                <a:spcPct val="117733"/>
              </a:lnSpc>
              <a:buNone/>
            </a:pPr>
            <a:r>
              <a:rPr lang="en-US" sz="3000" b="1" dirty="0">
                <a:solidFill>
                  <a:srgbClr val="0E1F5B"/>
                </a:solidFill>
                <a:latin typeface="Arial" pitchFamily="34" charset="0"/>
                <a:ea typeface="Arial" pitchFamily="34" charset="-122"/>
                <a:cs typeface="Arial" pitchFamily="34" charset="-120"/>
              </a:rPr>
              <a:t>Flashez ce QR code ou remplissez la fiche de renseignement papier à votre disposition.</a:t>
            </a:r>
            <a:endParaRPr lang="en-US" sz="3000" dirty="0"/>
          </a:p>
        </p:txBody>
      </p:sp>
      <p:sp>
        <p:nvSpPr>
          <p:cNvPr id="6" name="Shape 3"/>
          <p:cNvSpPr/>
          <p:nvPr/>
        </p:nvSpPr>
        <p:spPr>
          <a:xfrm>
            <a:off x="10201275" y="2800350"/>
            <a:ext cx="6696076" cy="6696076"/>
          </a:xfrm>
          <a:prstGeom prst="rect">
            <a:avLst/>
          </a:prstGeom>
          <a:solidFill>
            <a:srgbClr val="FFFFFF"/>
          </a:solidFill>
          <a:ln/>
        </p:spPr>
      </p:sp>
      <p:pic>
        <p:nvPicPr>
          <p:cNvPr id="7"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467350" y="1562100"/>
            <a:ext cx="16516351" cy="9290368"/>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Un déménagement organisé par la Ville</a:t>
            </a:r>
          </a:p>
        </p:txBody>
      </p:sp>
      <p:cxnSp>
        <p:nvCxnSpPr>
          <p:cNvPr id="5" name="Connector 4"/>
          <p:cNvCxnSpPr/>
          <p:nvPr/>
        </p:nvCxnSpPr>
        <p:spPr>
          <a:xfrm>
            <a:off x="3678936" y="3749039"/>
            <a:ext cx="10911839" cy="0"/>
          </a:xfrm>
          <a:prstGeom prst="line">
            <a:avLst/>
          </a:prstGeom>
          <a:ln w="63500">
            <a:solidFill>
              <a:srgbClr val="72C493"/>
            </a:solidFill>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3358896"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1</a:t>
            </a:r>
          </a:p>
        </p:txBody>
      </p:sp>
      <p:sp>
        <p:nvSpPr>
          <p:cNvPr id="7" name="TextBox 6"/>
          <p:cNvSpPr txBox="1"/>
          <p:nvPr/>
        </p:nvSpPr>
        <p:spPr>
          <a:xfrm>
            <a:off x="1179576" y="4343400"/>
            <a:ext cx="4998719" cy="548640"/>
          </a:xfrm>
          <a:prstGeom prst="rect">
            <a:avLst/>
          </a:prstGeom>
          <a:noFill/>
        </p:spPr>
        <p:txBody>
          <a:bodyPr wrap="square" anchor="t" lIns="0" rIns="0" tIns="0" bIns="0">
            <a:spAutoFit/>
          </a:bodyPr>
          <a:lstStyle/>
          <a:p>
            <a:pPr algn="ctr"/>
            <a:r>
              <a:rPr sz="3000" b="1">
                <a:solidFill>
                  <a:srgbClr val="72C493"/>
                </a:solidFill>
                <a:latin typeface="Arial"/>
              </a:rPr>
              <a:t>1er juillet 2026</a:t>
            </a:r>
          </a:p>
        </p:txBody>
      </p:sp>
      <p:sp>
        <p:nvSpPr>
          <p:cNvPr id="8" name="TextBox 7"/>
          <p:cNvSpPr txBox="1"/>
          <p:nvPr/>
        </p:nvSpPr>
        <p:spPr>
          <a:xfrm>
            <a:off x="1179576" y="5029200"/>
            <a:ext cx="4998719" cy="1828800"/>
          </a:xfrm>
          <a:prstGeom prst="rect">
            <a:avLst/>
          </a:prstGeom>
          <a:noFill/>
        </p:spPr>
        <p:txBody>
          <a:bodyPr wrap="square" anchor="t" lIns="0" rIns="0" tIns="0" bIns="0">
            <a:spAutoFit/>
          </a:bodyPr>
          <a:lstStyle/>
          <a:p>
            <a:pPr algn="ctr"/>
            <a:r>
              <a:rPr sz="2400" b="0">
                <a:solidFill>
                  <a:srgbClr val="FAF5EC"/>
                </a:solidFill>
                <a:latin typeface="Arial"/>
              </a:rPr>
              <a:t>Déménagement du matériel de restauration</a:t>
            </a:r>
          </a:p>
        </p:txBody>
      </p:sp>
      <p:sp>
        <p:nvSpPr>
          <p:cNvPr id="9" name="Oval 8"/>
          <p:cNvSpPr/>
          <p:nvPr/>
        </p:nvSpPr>
        <p:spPr>
          <a:xfrm>
            <a:off x="8814815"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2</a:t>
            </a:r>
          </a:p>
        </p:txBody>
      </p:sp>
      <p:sp>
        <p:nvSpPr>
          <p:cNvPr id="10" name="TextBox 9"/>
          <p:cNvSpPr txBox="1"/>
          <p:nvPr/>
        </p:nvSpPr>
        <p:spPr>
          <a:xfrm>
            <a:off x="6635495" y="4343400"/>
            <a:ext cx="4998719" cy="548640"/>
          </a:xfrm>
          <a:prstGeom prst="rect">
            <a:avLst/>
          </a:prstGeom>
          <a:noFill/>
        </p:spPr>
        <p:txBody>
          <a:bodyPr wrap="square" anchor="t" lIns="0" rIns="0" tIns="0" bIns="0">
            <a:spAutoFit/>
          </a:bodyPr>
          <a:lstStyle/>
          <a:p>
            <a:pPr algn="ctr"/>
            <a:r>
              <a:rPr sz="3000" b="1">
                <a:solidFill>
                  <a:srgbClr val="72C493"/>
                </a:solidFill>
                <a:latin typeface="Arial"/>
              </a:rPr>
              <a:t>6 juillet 2026</a:t>
            </a:r>
          </a:p>
        </p:txBody>
      </p:sp>
      <p:sp>
        <p:nvSpPr>
          <p:cNvPr id="11" name="TextBox 10"/>
          <p:cNvSpPr txBox="1"/>
          <p:nvPr/>
        </p:nvSpPr>
        <p:spPr>
          <a:xfrm>
            <a:off x="6635495" y="5029200"/>
            <a:ext cx="4998719" cy="1828800"/>
          </a:xfrm>
          <a:prstGeom prst="rect">
            <a:avLst/>
          </a:prstGeom>
          <a:noFill/>
        </p:spPr>
        <p:txBody>
          <a:bodyPr wrap="square" anchor="t" lIns="0" rIns="0" tIns="0" bIns="0">
            <a:spAutoFit/>
          </a:bodyPr>
          <a:lstStyle/>
          <a:p>
            <a:pPr algn="ctr"/>
            <a:r>
              <a:rPr sz="2400" b="0">
                <a:solidFill>
                  <a:srgbClr val="FAF5EC"/>
                </a:solidFill>
                <a:latin typeface="Arial"/>
              </a:rPr>
              <a:t>Déménagement du matériel scolaire, après la fin de l'année</a:t>
            </a:r>
          </a:p>
        </p:txBody>
      </p:sp>
      <p:sp>
        <p:nvSpPr>
          <p:cNvPr id="12" name="Oval 11"/>
          <p:cNvSpPr/>
          <p:nvPr/>
        </p:nvSpPr>
        <p:spPr>
          <a:xfrm>
            <a:off x="14270735"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3</a:t>
            </a:r>
          </a:p>
        </p:txBody>
      </p:sp>
      <p:sp>
        <p:nvSpPr>
          <p:cNvPr id="13" name="TextBox 12"/>
          <p:cNvSpPr txBox="1"/>
          <p:nvPr/>
        </p:nvSpPr>
        <p:spPr>
          <a:xfrm>
            <a:off x="12091416" y="4343400"/>
            <a:ext cx="4998719" cy="548640"/>
          </a:xfrm>
          <a:prstGeom prst="rect">
            <a:avLst/>
          </a:prstGeom>
          <a:noFill/>
        </p:spPr>
        <p:txBody>
          <a:bodyPr wrap="square" anchor="t" lIns="0" rIns="0" tIns="0" bIns="0">
            <a:spAutoFit/>
          </a:bodyPr>
          <a:lstStyle/>
          <a:p>
            <a:pPr algn="ctr"/>
            <a:r>
              <a:rPr sz="3000" b="1">
                <a:solidFill>
                  <a:srgbClr val="72C493"/>
                </a:solidFill>
                <a:latin typeface="Arial"/>
              </a:rPr>
              <a:t>20 juillet 2026</a:t>
            </a:r>
          </a:p>
        </p:txBody>
      </p:sp>
      <p:sp>
        <p:nvSpPr>
          <p:cNvPr id="14" name="TextBox 13"/>
          <p:cNvSpPr txBox="1"/>
          <p:nvPr/>
        </p:nvSpPr>
        <p:spPr>
          <a:xfrm>
            <a:off x="12091416" y="5029200"/>
            <a:ext cx="4998719" cy="1828800"/>
          </a:xfrm>
          <a:prstGeom prst="rect">
            <a:avLst/>
          </a:prstGeom>
          <a:noFill/>
        </p:spPr>
        <p:txBody>
          <a:bodyPr wrap="square" anchor="t" lIns="0" rIns="0" tIns="0" bIns="0">
            <a:spAutoFit/>
          </a:bodyPr>
          <a:lstStyle/>
          <a:p>
            <a:pPr algn="ctr"/>
            <a:r>
              <a:rPr sz="2400" b="0">
                <a:solidFill>
                  <a:srgbClr val="FAF5EC"/>
                </a:solidFill>
                <a:latin typeface="Arial"/>
              </a:rPr>
              <a:t>Installation à l'école des Gobelins</a:t>
            </a:r>
          </a:p>
        </p:txBody>
      </p:sp>
      <p:sp>
        <p:nvSpPr>
          <p:cNvPr id="15" name="Rectangle 14"/>
          <p:cNvSpPr/>
          <p:nvPr/>
        </p:nvSpPr>
        <p:spPr>
          <a:xfrm>
            <a:off x="950976" y="7726679"/>
            <a:ext cx="16367759" cy="1417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71600" y="7726679"/>
            <a:ext cx="15544800" cy="1417320"/>
          </a:xfrm>
          <a:prstGeom prst="rect">
            <a:avLst/>
          </a:prstGeom>
          <a:noFill/>
        </p:spPr>
        <p:txBody>
          <a:bodyPr wrap="square" anchor="ctr" lIns="0" rIns="0" tIns="0" bIns="0">
            <a:spAutoFit/>
          </a:bodyPr>
          <a:lstStyle/>
          <a:p>
            <a:pPr algn="l"/>
            <a:r>
              <a:rPr sz="2600" b="1">
                <a:solidFill>
                  <a:srgbClr val="0E1F5B"/>
                </a:solidFill>
                <a:latin typeface="Arial"/>
              </a:rPr>
              <a:t>Un déménagement entièrement pris en charge par un prestataire de la Ville : mise en carton, transport et réinstallation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Le chantier de l'école</a:t>
            </a:r>
          </a:p>
        </p:txBody>
      </p:sp>
      <p:sp>
        <p:nvSpPr>
          <p:cNvPr id="5" name="Rectangle 4"/>
          <p:cNvSpPr/>
          <p:nvPr/>
        </p:nvSpPr>
        <p:spPr>
          <a:xfrm>
            <a:off x="950976" y="2331720"/>
            <a:ext cx="9692640" cy="3749039"/>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2606040"/>
            <a:ext cx="8961120" cy="457200"/>
          </a:xfrm>
          <a:prstGeom prst="rect">
            <a:avLst/>
          </a:prstGeom>
          <a:noFill/>
        </p:spPr>
        <p:txBody>
          <a:bodyPr wrap="square" anchor="t" lIns="0" rIns="0" tIns="0" bIns="0">
            <a:spAutoFit/>
          </a:bodyPr>
          <a:lstStyle/>
          <a:p>
            <a:pPr algn="l"/>
            <a:r>
              <a:rPr sz="2200" b="1" spc="150">
                <a:solidFill>
                  <a:srgbClr val="72C493"/>
                </a:solidFill>
                <a:latin typeface="Arial"/>
              </a:rPr>
              <a:t>RÉOUVERTURE PRÉVUE EN</a:t>
            </a:r>
          </a:p>
        </p:txBody>
      </p:sp>
      <p:sp>
        <p:nvSpPr>
          <p:cNvPr id="7" name="TextBox 6"/>
          <p:cNvSpPr txBox="1"/>
          <p:nvPr/>
        </p:nvSpPr>
        <p:spPr>
          <a:xfrm>
            <a:off x="1371600" y="3063240"/>
            <a:ext cx="8961120" cy="1463040"/>
          </a:xfrm>
          <a:prstGeom prst="rect">
            <a:avLst/>
          </a:prstGeom>
          <a:noFill/>
        </p:spPr>
        <p:txBody>
          <a:bodyPr wrap="square" anchor="t" lIns="0" rIns="0" tIns="0" bIns="0">
            <a:spAutoFit/>
          </a:bodyPr>
          <a:lstStyle/>
          <a:p>
            <a:pPr algn="l"/>
            <a:r>
              <a:rPr sz="8000" b="1">
                <a:solidFill>
                  <a:srgbClr val="FFFFFF"/>
                </a:solidFill>
                <a:latin typeface="Arial"/>
              </a:rPr>
              <a:t>septembre 2028</a:t>
            </a:r>
          </a:p>
        </p:txBody>
      </p:sp>
      <p:sp>
        <p:nvSpPr>
          <p:cNvPr id="8" name="TextBox 7"/>
          <p:cNvSpPr txBox="1"/>
          <p:nvPr/>
        </p:nvSpPr>
        <p:spPr>
          <a:xfrm>
            <a:off x="1371600" y="4572000"/>
            <a:ext cx="8961120" cy="1280160"/>
          </a:xfrm>
          <a:prstGeom prst="rect">
            <a:avLst/>
          </a:prstGeom>
          <a:noFill/>
        </p:spPr>
        <p:txBody>
          <a:bodyPr wrap="square" anchor="t" lIns="0" rIns="0" tIns="0" bIns="0">
            <a:spAutoFit/>
          </a:bodyPr>
          <a:lstStyle/>
          <a:p>
            <a:pPr algn="l"/>
            <a:r>
              <a:rPr sz="2400" b="1">
                <a:solidFill>
                  <a:srgbClr val="FAF5EC"/>
                </a:solidFill>
                <a:latin typeface="Arial"/>
              </a:rPr>
              <a:t>Les élèves sont accueillis à l'école des Gobelins pendant toute la durée du chantier</a:t>
            </a:r>
          </a:p>
        </p:txBody>
      </p:sp>
      <p:sp>
        <p:nvSpPr>
          <p:cNvPr id="9" name="Rectangle 8"/>
          <p:cNvSpPr/>
          <p:nvPr/>
        </p:nvSpPr>
        <p:spPr>
          <a:xfrm>
            <a:off x="950976" y="6355080"/>
            <a:ext cx="4709160" cy="30175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71016" y="6611112"/>
            <a:ext cx="4160520" cy="914400"/>
          </a:xfrm>
          <a:prstGeom prst="rect">
            <a:avLst/>
          </a:prstGeom>
          <a:noFill/>
        </p:spPr>
        <p:txBody>
          <a:bodyPr wrap="square" anchor="t" lIns="0" rIns="0" tIns="0" bIns="0">
            <a:spAutoFit/>
          </a:bodyPr>
          <a:lstStyle/>
          <a:p>
            <a:pPr algn="l"/>
            <a:r>
              <a:rPr sz="4800" b="1">
                <a:solidFill>
                  <a:srgbClr val="72C493"/>
                </a:solidFill>
                <a:latin typeface="Arial"/>
              </a:rPr>
              <a:t>Sept. 2026</a:t>
            </a:r>
          </a:p>
        </p:txBody>
      </p:sp>
      <p:sp>
        <p:nvSpPr>
          <p:cNvPr id="11" name="TextBox 10"/>
          <p:cNvSpPr txBox="1"/>
          <p:nvPr/>
        </p:nvSpPr>
        <p:spPr>
          <a:xfrm>
            <a:off x="1271016" y="7373112"/>
            <a:ext cx="4160520" cy="1737360"/>
          </a:xfrm>
          <a:prstGeom prst="rect">
            <a:avLst/>
          </a:prstGeom>
          <a:noFill/>
        </p:spPr>
        <p:txBody>
          <a:bodyPr wrap="square" anchor="t" lIns="0" rIns="0" tIns="0" bIns="0">
            <a:spAutoFit/>
          </a:bodyPr>
          <a:lstStyle/>
          <a:p>
            <a:pPr algn="l"/>
            <a:r>
              <a:rPr sz="2400" b="1">
                <a:solidFill>
                  <a:srgbClr val="FAF5EC"/>
                </a:solidFill>
                <a:latin typeface="Arial"/>
              </a:rPr>
              <a:t>démarrage des travaux</a:t>
            </a:r>
          </a:p>
        </p:txBody>
      </p:sp>
      <p:sp>
        <p:nvSpPr>
          <p:cNvPr id="12" name="Rectangle 11"/>
          <p:cNvSpPr/>
          <p:nvPr/>
        </p:nvSpPr>
        <p:spPr>
          <a:xfrm>
            <a:off x="5934456" y="6355080"/>
            <a:ext cx="4709160" cy="30175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54496" y="6611112"/>
            <a:ext cx="4160520" cy="914400"/>
          </a:xfrm>
          <a:prstGeom prst="rect">
            <a:avLst/>
          </a:prstGeom>
          <a:noFill/>
        </p:spPr>
        <p:txBody>
          <a:bodyPr wrap="square" anchor="t" lIns="0" rIns="0" tIns="0" bIns="0">
            <a:spAutoFit/>
          </a:bodyPr>
          <a:lstStyle/>
          <a:p>
            <a:pPr algn="l"/>
            <a:r>
              <a:rPr sz="4800" b="1">
                <a:solidFill>
                  <a:srgbClr val="72C493"/>
                </a:solidFill>
                <a:latin typeface="Arial"/>
              </a:rPr>
              <a:t>20 mois</a:t>
            </a:r>
          </a:p>
        </p:txBody>
      </p:sp>
      <p:sp>
        <p:nvSpPr>
          <p:cNvPr id="14" name="TextBox 13"/>
          <p:cNvSpPr txBox="1"/>
          <p:nvPr/>
        </p:nvSpPr>
        <p:spPr>
          <a:xfrm>
            <a:off x="6254496" y="7373112"/>
            <a:ext cx="4160520" cy="1737360"/>
          </a:xfrm>
          <a:prstGeom prst="rect">
            <a:avLst/>
          </a:prstGeom>
          <a:noFill/>
        </p:spPr>
        <p:txBody>
          <a:bodyPr wrap="square" anchor="t" lIns="0" rIns="0" tIns="0" bIns="0">
            <a:spAutoFit/>
          </a:bodyPr>
          <a:lstStyle/>
          <a:p>
            <a:pPr algn="l"/>
            <a:r>
              <a:rPr sz="2400" b="1">
                <a:solidFill>
                  <a:srgbClr val="FAF5EC"/>
                </a:solidFill>
                <a:latin typeface="Arial"/>
              </a:rPr>
              <a:t>de travaux prévus, pour une école agrandie et rénovée</a:t>
            </a:r>
          </a:p>
        </p:txBody>
      </p:sp>
      <p:sp>
        <p:nvSpPr>
          <p:cNvPr id="15" name="Rectangle 14"/>
          <p:cNvSpPr/>
          <p:nvPr/>
        </p:nvSpPr>
        <p:spPr>
          <a:xfrm>
            <a:off x="11155680" y="2331720"/>
            <a:ext cx="6181344" cy="704088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30000" y="2331720"/>
            <a:ext cx="5632704" cy="7040880"/>
          </a:xfrm>
          <a:prstGeom prst="rect">
            <a:avLst/>
          </a:prstGeom>
          <a:noFill/>
        </p:spPr>
        <p:txBody>
          <a:bodyPr wrap="square" anchor="ctr" lIns="0" rIns="0" tIns="0" bIns="0">
            <a:spAutoFit/>
          </a:bodyPr>
          <a:lstStyle/>
          <a:p>
            <a:pPr algn="ctr"/>
            <a:r>
              <a:rPr sz="2200" b="1">
                <a:solidFill>
                  <a:srgbClr val="8A90B0"/>
                </a:solidFill>
                <a:latin typeface="Arial"/>
              </a:rPr>
              <a:t>[Photo du chantier à fournir]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 coût d'une annulation</a:t>
            </a:r>
          </a:p>
        </p:txBody>
      </p:sp>
      <p:sp>
        <p:nvSpPr>
          <p:cNvPr id="5" name="TextBox 4"/>
          <p:cNvSpPr txBox="1"/>
          <p:nvPr/>
        </p:nvSpPr>
        <p:spPr>
          <a:xfrm>
            <a:off x="950976" y="2331720"/>
            <a:ext cx="16367759" cy="2194560"/>
          </a:xfrm>
          <a:prstGeom prst="rect">
            <a:avLst/>
          </a:prstGeom>
          <a:noFill/>
        </p:spPr>
        <p:txBody>
          <a:bodyPr wrap="square" anchor="t" lIns="0" rIns="0" tIns="0" bIns="0">
            <a:spAutoFit/>
          </a:bodyPr>
          <a:lstStyle/>
          <a:p>
            <a:pPr algn="l">
              <a:lnSpc>
                <a:spcPct val="105000"/>
              </a:lnSpc>
            </a:pPr>
            <a:r>
              <a:rPr sz="5000" b="1">
                <a:solidFill>
                  <a:srgbClr val="72C493"/>
                </a:solidFill>
                <a:latin typeface="Arial"/>
              </a:rPr>
              <a:t>De plusieurs centaines de milliers d'euros</a:t>
            </a:r>
          </a:p>
          <a:p>
            <a:pPr algn="l">
              <a:lnSpc>
                <a:spcPct val="105000"/>
              </a:lnSpc>
            </a:pPr>
            <a:r>
              <a:rPr sz="5000" b="1">
                <a:solidFill>
                  <a:srgbClr val="72C493"/>
                </a:solidFill>
                <a:latin typeface="Arial"/>
              </a:rPr>
              <a:t>à quelques millions d'euros</a:t>
            </a:r>
          </a:p>
        </p:txBody>
      </p:sp>
      <p:sp>
        <p:nvSpPr>
          <p:cNvPr id="6" name="TextBox 5"/>
          <p:cNvSpPr txBox="1"/>
          <p:nvPr/>
        </p:nvSpPr>
        <p:spPr>
          <a:xfrm>
            <a:off x="950976" y="4434840"/>
            <a:ext cx="16367759" cy="548640"/>
          </a:xfrm>
          <a:prstGeom prst="rect">
            <a:avLst/>
          </a:prstGeom>
          <a:noFill/>
        </p:spPr>
        <p:txBody>
          <a:bodyPr wrap="square" anchor="t" lIns="0" rIns="0" tIns="0" bIns="0">
            <a:spAutoFit/>
          </a:bodyPr>
          <a:lstStyle/>
          <a:p>
            <a:pPr algn="l"/>
            <a:r>
              <a:rPr sz="2800" b="1">
                <a:solidFill>
                  <a:srgbClr val="FFFFFF"/>
                </a:solidFill>
                <a:latin typeface="Arial"/>
              </a:rPr>
              <a:t>Le coût qu'aurait représenté l'annulation de la construction de l'école</a:t>
            </a:r>
          </a:p>
        </p:txBody>
      </p:sp>
      <p:sp>
        <p:nvSpPr>
          <p:cNvPr id="7" name="TextBox 6"/>
          <p:cNvSpPr txBox="1"/>
          <p:nvPr/>
        </p:nvSpPr>
        <p:spPr>
          <a:xfrm>
            <a:off x="950976" y="5486400"/>
            <a:ext cx="16367759" cy="457200"/>
          </a:xfrm>
          <a:prstGeom prst="rect">
            <a:avLst/>
          </a:prstGeom>
          <a:noFill/>
        </p:spPr>
        <p:txBody>
          <a:bodyPr wrap="square" anchor="t" lIns="0" rIns="0" tIns="0" bIns="0">
            <a:spAutoFit/>
          </a:bodyPr>
          <a:lstStyle/>
          <a:p>
            <a:pPr algn="l"/>
            <a:r>
              <a:rPr sz="2100" b="1" spc="150">
                <a:solidFill>
                  <a:srgbClr val="72C493"/>
                </a:solidFill>
                <a:latin typeface="Arial"/>
              </a:rPr>
              <a:t>DÉJÀ ENGAGÉ</a:t>
            </a:r>
          </a:p>
        </p:txBody>
      </p:sp>
      <p:sp>
        <p:nvSpPr>
          <p:cNvPr id="8" name="Rectangle 7"/>
          <p:cNvSpPr/>
          <p:nvPr/>
        </p:nvSpPr>
        <p:spPr>
          <a:xfrm>
            <a:off x="950976" y="6035040"/>
            <a:ext cx="5230368" cy="301752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71016" y="6291072"/>
            <a:ext cx="4681728" cy="914400"/>
          </a:xfrm>
          <a:prstGeom prst="rect">
            <a:avLst/>
          </a:prstGeom>
          <a:noFill/>
        </p:spPr>
        <p:txBody>
          <a:bodyPr wrap="square" anchor="t" lIns="0" rIns="0" tIns="0" bIns="0">
            <a:spAutoFit/>
          </a:bodyPr>
          <a:lstStyle/>
          <a:p>
            <a:pPr algn="l"/>
            <a:r>
              <a:rPr sz="3400" b="1">
                <a:solidFill>
                  <a:srgbClr val="72C493"/>
                </a:solidFill>
                <a:latin typeface="Arial"/>
              </a:rPr>
              <a:t>Environ 150 000 €</a:t>
            </a:r>
          </a:p>
        </p:txBody>
      </p:sp>
      <p:sp>
        <p:nvSpPr>
          <p:cNvPr id="10" name="TextBox 9"/>
          <p:cNvSpPr txBox="1"/>
          <p:nvPr/>
        </p:nvSpPr>
        <p:spPr>
          <a:xfrm>
            <a:off x="1271016" y="6830822"/>
            <a:ext cx="4681728" cy="1737360"/>
          </a:xfrm>
          <a:prstGeom prst="rect">
            <a:avLst/>
          </a:prstGeom>
          <a:noFill/>
        </p:spPr>
        <p:txBody>
          <a:bodyPr wrap="square" anchor="t" lIns="0" rIns="0" tIns="0" bIns="0">
            <a:spAutoFit/>
          </a:bodyPr>
          <a:lstStyle/>
          <a:p>
            <a:pPr algn="l"/>
            <a:r>
              <a:rPr sz="2400" b="1">
                <a:solidFill>
                  <a:srgbClr val="FAF5EC"/>
                </a:solidFill>
                <a:latin typeface="Arial"/>
              </a:rPr>
              <a:t>études préalables et diagnostics</a:t>
            </a:r>
          </a:p>
        </p:txBody>
      </p:sp>
      <p:sp>
        <p:nvSpPr>
          <p:cNvPr id="11" name="Rectangle 10"/>
          <p:cNvSpPr/>
          <p:nvPr/>
        </p:nvSpPr>
        <p:spPr>
          <a:xfrm>
            <a:off x="6519672" y="6035040"/>
            <a:ext cx="5230368" cy="301752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39712" y="6291072"/>
            <a:ext cx="4681728" cy="914400"/>
          </a:xfrm>
          <a:prstGeom prst="rect">
            <a:avLst/>
          </a:prstGeom>
          <a:noFill/>
        </p:spPr>
        <p:txBody>
          <a:bodyPr wrap="square" anchor="t" lIns="0" rIns="0" tIns="0" bIns="0">
            <a:spAutoFit/>
          </a:bodyPr>
          <a:lstStyle/>
          <a:p>
            <a:pPr algn="l"/>
            <a:r>
              <a:rPr sz="3400" b="1">
                <a:solidFill>
                  <a:srgbClr val="72C493"/>
                </a:solidFill>
                <a:latin typeface="Arial"/>
              </a:rPr>
              <a:t>Environ 400 000 €</a:t>
            </a:r>
          </a:p>
        </p:txBody>
      </p:sp>
      <p:sp>
        <p:nvSpPr>
          <p:cNvPr id="13" name="TextBox 12"/>
          <p:cNvSpPr txBox="1"/>
          <p:nvPr/>
        </p:nvSpPr>
        <p:spPr>
          <a:xfrm>
            <a:off x="6839712" y="6830822"/>
            <a:ext cx="4681728" cy="1737360"/>
          </a:xfrm>
          <a:prstGeom prst="rect">
            <a:avLst/>
          </a:prstGeom>
          <a:noFill/>
        </p:spPr>
        <p:txBody>
          <a:bodyPr wrap="square" anchor="t" lIns="0" rIns="0" tIns="0" bIns="0">
            <a:spAutoFit/>
          </a:bodyPr>
          <a:lstStyle/>
          <a:p>
            <a:pPr algn="l"/>
            <a:r>
              <a:rPr sz="2400" b="1">
                <a:solidFill>
                  <a:srgbClr val="FAF5EC"/>
                </a:solidFill>
                <a:latin typeface="Arial"/>
              </a:rPr>
              <a:t>études de conception et autorisations, dont le permis de construire</a:t>
            </a:r>
          </a:p>
        </p:txBody>
      </p:sp>
      <p:sp>
        <p:nvSpPr>
          <p:cNvPr id="14" name="Rectangle 13"/>
          <p:cNvSpPr/>
          <p:nvPr/>
        </p:nvSpPr>
        <p:spPr>
          <a:xfrm>
            <a:off x="12088367" y="6035040"/>
            <a:ext cx="5230368" cy="301752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408407" y="6291072"/>
            <a:ext cx="4681728" cy="914400"/>
          </a:xfrm>
          <a:prstGeom prst="rect">
            <a:avLst/>
          </a:prstGeom>
          <a:noFill/>
        </p:spPr>
        <p:txBody>
          <a:bodyPr wrap="square" anchor="t" lIns="0" rIns="0" tIns="0" bIns="0">
            <a:spAutoFit/>
          </a:bodyPr>
          <a:lstStyle/>
          <a:p>
            <a:pPr algn="l"/>
            <a:r>
              <a:rPr sz="3400" b="1">
                <a:solidFill>
                  <a:srgbClr val="72C493"/>
                </a:solidFill>
                <a:latin typeface="Arial"/>
              </a:rPr>
              <a:t>Environ 1 300 000 €</a:t>
            </a:r>
          </a:p>
        </p:txBody>
      </p:sp>
      <p:sp>
        <p:nvSpPr>
          <p:cNvPr id="16" name="TextBox 15"/>
          <p:cNvSpPr txBox="1"/>
          <p:nvPr/>
        </p:nvSpPr>
        <p:spPr>
          <a:xfrm>
            <a:off x="12408407" y="6830822"/>
            <a:ext cx="4681728" cy="1737360"/>
          </a:xfrm>
          <a:prstGeom prst="rect">
            <a:avLst/>
          </a:prstGeom>
          <a:noFill/>
        </p:spPr>
        <p:txBody>
          <a:bodyPr wrap="square" anchor="t" lIns="0" rIns="0" tIns="0" bIns="0">
            <a:spAutoFit/>
          </a:bodyPr>
          <a:lstStyle/>
          <a:p>
            <a:pPr algn="l"/>
            <a:r>
              <a:rPr sz="2400" b="1">
                <a:solidFill>
                  <a:srgbClr val="FAF5EC"/>
                </a:solidFill>
                <a:latin typeface="Arial"/>
              </a:rPr>
              <a:t>déménagement de l'école aux Gobelins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 · ET LES AUTRES ÉCOLES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Le plan Petits travaux dans les écoles</a:t>
            </a:r>
          </a:p>
        </p:txBody>
      </p:sp>
      <p:sp>
        <p:nvSpPr>
          <p:cNvPr id="5" name="TextBox 4"/>
          <p:cNvSpPr txBox="1"/>
          <p:nvPr/>
        </p:nvSpPr>
        <p:spPr>
          <a:xfrm>
            <a:off x="950976" y="2286000"/>
            <a:ext cx="3657600" cy="1828800"/>
          </a:xfrm>
          <a:prstGeom prst="rect">
            <a:avLst/>
          </a:prstGeom>
          <a:noFill/>
        </p:spPr>
        <p:txBody>
          <a:bodyPr wrap="square" anchor="t" lIns="0" rIns="0" tIns="0" bIns="0">
            <a:spAutoFit/>
          </a:bodyPr>
          <a:lstStyle/>
          <a:p>
            <a:pPr algn="l"/>
            <a:r>
              <a:rPr sz="12000" b="1">
                <a:solidFill>
                  <a:srgbClr val="0E1F5B"/>
                </a:solidFill>
                <a:latin typeface="Arial"/>
              </a:rPr>
              <a:t>35</a:t>
            </a:r>
          </a:p>
        </p:txBody>
      </p:sp>
      <p:sp>
        <p:nvSpPr>
          <p:cNvPr id="6" name="TextBox 5"/>
          <p:cNvSpPr txBox="1"/>
          <p:nvPr/>
        </p:nvSpPr>
        <p:spPr>
          <a:xfrm>
            <a:off x="3840480" y="2697480"/>
            <a:ext cx="13441680" cy="128016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800" b="1">
                <a:solidFill>
                  <a:srgbClr val="0E1F5B"/>
                </a:solidFill>
                <a:latin typeface="Arial"/>
              </a:rPr>
              <a:t>opérations sur 19 sites cet été</a:t>
            </a:r>
          </a:p>
        </p:txBody>
      </p:sp>
      <p:sp>
        <p:nvSpPr>
          <p:cNvPr id="7" name="TextBox 6"/>
          <p:cNvSpPr txBox="1"/>
          <p:nvPr/>
        </p:nvSpPr>
        <p:spPr>
          <a:xfrm>
            <a:off x="950976" y="4343400"/>
            <a:ext cx="16367759" cy="457200"/>
          </a:xfrm>
          <a:prstGeom prst="rect">
            <a:avLst/>
          </a:prstGeom>
          <a:noFill/>
        </p:spPr>
        <p:txBody>
          <a:bodyPr wrap="square" anchor="t" lIns="0" rIns="0" tIns="0" bIns="0">
            <a:spAutoFit/>
          </a:bodyPr>
          <a:lstStyle/>
          <a:p>
            <a:pPr algn="l"/>
            <a:r>
              <a:rPr sz="2100" b="1" spc="150">
                <a:solidFill>
                  <a:srgbClr val="72C493"/>
                </a:solidFill>
                <a:latin typeface="Arial"/>
              </a:rPr>
              <a:t>PLAN FRAÎCHEUR</a:t>
            </a:r>
          </a:p>
        </p:txBody>
      </p:sp>
      <p:sp>
        <p:nvSpPr>
          <p:cNvPr id="8" name="Rectangle 7"/>
          <p:cNvSpPr/>
          <p:nvPr/>
        </p:nvSpPr>
        <p:spPr>
          <a:xfrm>
            <a:off x="9509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71016" y="5102352"/>
            <a:ext cx="3273551" cy="914400"/>
          </a:xfrm>
          <a:prstGeom prst="rect">
            <a:avLst/>
          </a:prstGeom>
          <a:noFill/>
        </p:spPr>
        <p:txBody>
          <a:bodyPr wrap="square" anchor="t" lIns="0" rIns="0" tIns="0" bIns="0">
            <a:spAutoFit/>
          </a:bodyPr>
          <a:lstStyle/>
          <a:p>
            <a:pPr algn="l"/>
            <a:r>
              <a:rPr sz="5400" b="1">
                <a:solidFill>
                  <a:srgbClr val="72C493"/>
                </a:solidFill>
                <a:latin typeface="Arial"/>
              </a:rPr>
              <a:t>3 600 m</a:t>
            </a:r>
          </a:p>
        </p:txBody>
      </p:sp>
      <p:sp>
        <p:nvSpPr>
          <p:cNvPr id="10" name="TextBox 9"/>
          <p:cNvSpPr txBox="1"/>
          <p:nvPr/>
        </p:nvSpPr>
        <p:spPr>
          <a:xfrm>
            <a:off x="1271016"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de film solaire</a:t>
            </a:r>
          </a:p>
        </p:txBody>
      </p:sp>
      <p:sp>
        <p:nvSpPr>
          <p:cNvPr id="11" name="Rectangle 10"/>
          <p:cNvSpPr/>
          <p:nvPr/>
        </p:nvSpPr>
        <p:spPr>
          <a:xfrm>
            <a:off x="50657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85816" y="5102352"/>
            <a:ext cx="3273551" cy="914400"/>
          </a:xfrm>
          <a:prstGeom prst="rect">
            <a:avLst/>
          </a:prstGeom>
          <a:noFill/>
        </p:spPr>
        <p:txBody>
          <a:bodyPr wrap="square" anchor="t" lIns="0" rIns="0" tIns="0" bIns="0">
            <a:spAutoFit/>
          </a:bodyPr>
          <a:lstStyle/>
          <a:p>
            <a:pPr algn="l"/>
            <a:r>
              <a:rPr sz="5400" b="1">
                <a:solidFill>
                  <a:srgbClr val="72C493"/>
                </a:solidFill>
                <a:latin typeface="Arial"/>
              </a:rPr>
              <a:t>67</a:t>
            </a:r>
          </a:p>
        </p:txBody>
      </p:sp>
      <p:sp>
        <p:nvSpPr>
          <p:cNvPr id="13" name="TextBox 12"/>
          <p:cNvSpPr txBox="1"/>
          <p:nvPr/>
        </p:nvSpPr>
        <p:spPr>
          <a:xfrm>
            <a:off x="5385816"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climatiseurs</a:t>
            </a:r>
          </a:p>
        </p:txBody>
      </p:sp>
      <p:sp>
        <p:nvSpPr>
          <p:cNvPr id="14" name="Rectangle 13"/>
          <p:cNvSpPr/>
          <p:nvPr/>
        </p:nvSpPr>
        <p:spPr>
          <a:xfrm>
            <a:off x="91805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00615" y="5102352"/>
            <a:ext cx="3273551" cy="914400"/>
          </a:xfrm>
          <a:prstGeom prst="rect">
            <a:avLst/>
          </a:prstGeom>
          <a:noFill/>
        </p:spPr>
        <p:txBody>
          <a:bodyPr wrap="square" anchor="t" lIns="0" rIns="0" tIns="0" bIns="0">
            <a:spAutoFit/>
          </a:bodyPr>
          <a:lstStyle/>
          <a:p>
            <a:pPr algn="l"/>
            <a:r>
              <a:rPr sz="5400" b="1">
                <a:solidFill>
                  <a:srgbClr val="72C493"/>
                </a:solidFill>
                <a:latin typeface="Arial"/>
              </a:rPr>
              <a:t>400</a:t>
            </a:r>
          </a:p>
        </p:txBody>
      </p:sp>
      <p:sp>
        <p:nvSpPr>
          <p:cNvPr id="16" name="TextBox 15"/>
          <p:cNvSpPr txBox="1"/>
          <p:nvPr/>
        </p:nvSpPr>
        <p:spPr>
          <a:xfrm>
            <a:off x="9500615"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brumisateurs</a:t>
            </a:r>
          </a:p>
        </p:txBody>
      </p:sp>
      <p:sp>
        <p:nvSpPr>
          <p:cNvPr id="17" name="Rectangle 16"/>
          <p:cNvSpPr/>
          <p:nvPr/>
        </p:nvSpPr>
        <p:spPr>
          <a:xfrm>
            <a:off x="132953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615415" y="5102352"/>
            <a:ext cx="3273551" cy="914400"/>
          </a:xfrm>
          <a:prstGeom prst="rect">
            <a:avLst/>
          </a:prstGeom>
          <a:noFill/>
        </p:spPr>
        <p:txBody>
          <a:bodyPr wrap="square" anchor="t" lIns="0" rIns="0" tIns="0" bIns="0">
            <a:spAutoFit/>
          </a:bodyPr>
          <a:lstStyle/>
          <a:p>
            <a:pPr algn="l"/>
            <a:r>
              <a:rPr sz="5400" b="1">
                <a:solidFill>
                  <a:srgbClr val="72C493"/>
                </a:solidFill>
                <a:latin typeface="Arial"/>
              </a:rPr>
              <a:t>618</a:t>
            </a:r>
          </a:p>
        </p:txBody>
      </p:sp>
      <p:sp>
        <p:nvSpPr>
          <p:cNvPr id="19" name="TextBox 18"/>
          <p:cNvSpPr txBox="1"/>
          <p:nvPr/>
        </p:nvSpPr>
        <p:spPr>
          <a:xfrm>
            <a:off x="13615415"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ventilateurs</a:t>
            </a:r>
          </a:p>
        </p:txBody>
      </p:sp>
      <p:sp>
        <p:nvSpPr>
          <p:cNvPr id="20" name="Rectangle 19"/>
          <p:cNvSpPr/>
          <p:nvPr/>
        </p:nvSpPr>
        <p:spPr>
          <a:xfrm>
            <a:off x="950976" y="7543800"/>
            <a:ext cx="16367759" cy="178308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25296" y="7543800"/>
            <a:ext cx="15819119" cy="1783080"/>
          </a:xfrm>
          <a:prstGeom prst="rect">
            <a:avLst/>
          </a:prstGeom>
          <a:noFill/>
        </p:spPr>
        <p:txBody>
          <a:bodyPr wrap="square" anchor="ctr" lIns="0" rIns="0" tIns="0" bIns="0">
            <a:spAutoFit/>
          </a:bodyPr>
          <a:lstStyle/>
          <a:p>
            <a:pPr algn="ctr"/>
            <a:r>
              <a:rPr sz="2200" b="1">
                <a:solidFill>
                  <a:srgbClr val="8A90B0"/>
                </a:solidFill>
                <a:latin typeface="Arial"/>
              </a:rPr>
              <a:t>[Travaux réalisés à l'école des Gobelins et à la maternelle des Yvris à compléter]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CIRCULATION ET SÉCURITÉ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Circulation aux abords des écoles</a:t>
            </a:r>
          </a:p>
        </p:txBody>
      </p:sp>
      <p:sp>
        <p:nvSpPr>
          <p:cNvPr id="5" name="Rectangle 4"/>
          <p:cNvSpPr/>
          <p:nvPr/>
        </p:nvSpPr>
        <p:spPr>
          <a:xfrm>
            <a:off x="9509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130552"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2221991"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478024" y="2999232"/>
            <a:ext cx="768096" cy="768096"/>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0E1F5B"/>
                </a:solidFill>
                <a:latin typeface="Arial"/>
              </a:rPr>
              <a:t>P</a:t>
            </a:r>
          </a:p>
        </p:txBody>
      </p:sp>
      <p:sp>
        <p:nvSpPr>
          <p:cNvPr id="9" name="TextBox 8"/>
          <p:cNvSpPr txBox="1"/>
          <p:nvPr/>
        </p:nvSpPr>
        <p:spPr>
          <a:xfrm>
            <a:off x="12252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Circulation et stationnement aux abords de l'école des Gobelins</a:t>
            </a:r>
          </a:p>
        </p:txBody>
      </p:sp>
      <p:sp>
        <p:nvSpPr>
          <p:cNvPr id="10" name="Rectangle 9"/>
          <p:cNvSpPr/>
          <p:nvPr/>
        </p:nvSpPr>
        <p:spPr>
          <a:xfrm>
            <a:off x="50657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245352"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336792"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Isosceles Triangle 12"/>
          <p:cNvSpPr/>
          <p:nvPr/>
        </p:nvSpPr>
        <p:spPr>
          <a:xfrm>
            <a:off x="6519672" y="2880360"/>
            <a:ext cx="914400" cy="457200"/>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629400" y="3328416"/>
            <a:ext cx="69494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76288" y="3529584"/>
            <a:ext cx="201168" cy="310896"/>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400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Stationnement gênant dans les rues pavillonnaires</a:t>
            </a:r>
          </a:p>
        </p:txBody>
      </p:sp>
      <p:sp>
        <p:nvSpPr>
          <p:cNvPr id="17" name="Rectangle 16"/>
          <p:cNvSpPr/>
          <p:nvPr/>
        </p:nvSpPr>
        <p:spPr>
          <a:xfrm>
            <a:off x="91805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60151"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451592"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24744" y="3035808"/>
            <a:ext cx="713232" cy="530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 Single Corner Rectangle 20"/>
          <p:cNvSpPr/>
          <p:nvPr/>
        </p:nvSpPr>
        <p:spPr>
          <a:xfrm>
            <a:off x="11274551" y="3236976"/>
            <a:ext cx="384048" cy="329184"/>
          </a:xfrm>
          <a:prstGeom prst="round1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607039" y="3511296"/>
            <a:ext cx="274320" cy="274320"/>
          </a:xfrm>
          <a:prstGeom prst="ellipse">
            <a:avLst/>
          </a:prstGeom>
          <a:solidFill>
            <a:srgbClr val="FFFFFF"/>
          </a:solidFill>
          <a:ln w="508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1301984" y="3511296"/>
            <a:ext cx="274320" cy="274320"/>
          </a:xfrm>
          <a:prstGeom prst="ellipse">
            <a:avLst/>
          </a:prstGeom>
          <a:solidFill>
            <a:srgbClr val="FFFFFF"/>
          </a:solidFill>
          <a:ln w="508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4548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Véhicules de livraison</a:t>
            </a:r>
          </a:p>
        </p:txBody>
      </p:sp>
      <p:sp>
        <p:nvSpPr>
          <p:cNvPr id="25" name="Rectangle 24"/>
          <p:cNvSpPr/>
          <p:nvPr/>
        </p:nvSpPr>
        <p:spPr>
          <a:xfrm>
            <a:off x="132953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4474951"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4566392"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lock Arc 27"/>
          <p:cNvSpPr/>
          <p:nvPr/>
        </p:nvSpPr>
        <p:spPr>
          <a:xfrm>
            <a:off x="14703551" y="2926080"/>
            <a:ext cx="1005840" cy="1005840"/>
          </a:xfrm>
          <a:prstGeom prst="blockArc">
            <a:avLst>
              <a:gd name="adj1" fmla="val 18000000"/>
              <a:gd name="adj2" fmla="val 0"/>
              <a:gd name="adj3" fmla="val 1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flipV="1">
            <a:off x="15206472" y="3108960"/>
            <a:ext cx="301751" cy="320040"/>
          </a:xfrm>
          <a:prstGeom prst="line">
            <a:avLst/>
          </a:prstGeom>
          <a:ln w="76200">
            <a:solidFill>
              <a:srgbClr val="FFFFFF"/>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15124176" y="3346704"/>
            <a:ext cx="164592" cy="1645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5696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Vitesse excessive avenue Médéric</a:t>
            </a:r>
          </a:p>
        </p:txBody>
      </p:sp>
      <p:sp>
        <p:nvSpPr>
          <p:cNvPr id="32" name="Rectangle 31"/>
          <p:cNvSpPr/>
          <p:nvPr/>
        </p:nvSpPr>
        <p:spPr>
          <a:xfrm>
            <a:off x="950976" y="6903720"/>
            <a:ext cx="16367759" cy="242316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225296" y="6903720"/>
            <a:ext cx="15819119" cy="2423160"/>
          </a:xfrm>
          <a:prstGeom prst="rect">
            <a:avLst/>
          </a:prstGeom>
          <a:noFill/>
        </p:spPr>
        <p:txBody>
          <a:bodyPr wrap="square" anchor="ctr" lIns="0" rIns="0" tIns="0" bIns="0">
            <a:spAutoFit/>
          </a:bodyPr>
          <a:lstStyle/>
          <a:p>
            <a:pPr algn="ctr"/>
            <a:r>
              <a:rPr sz="2200" b="1">
                <a:solidFill>
                  <a:srgbClr val="C9CCDA"/>
                </a:solidFill>
                <a:latin typeface="Arial"/>
              </a:rPr>
              <a:t>[Mesures prises à compléter]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CIRCULATION ET SÉCURITÉ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La vidéoprotection dans le quartier</a:t>
            </a:r>
          </a:p>
        </p:txBody>
      </p:sp>
      <p:pic>
        <p:nvPicPr>
          <p:cNvPr id="5" name="Picture 4" descr="Securite_01_cameras_quartier.png"/>
          <p:cNvPicPr>
            <a:picLocks noChangeAspect="1"/>
          </p:cNvPicPr>
          <p:nvPr/>
        </p:nvPicPr>
        <p:blipFill>
          <a:blip r:embed="rId4"/>
          <a:stretch>
            <a:fillRect/>
          </a:stretch>
        </p:blipFill>
        <p:spPr>
          <a:xfrm>
            <a:off x="950976" y="2561035"/>
            <a:ext cx="10881360" cy="5667848"/>
          </a:xfrm>
          <a:prstGeom prst="rect">
            <a:avLst/>
          </a:prstGeom>
        </p:spPr>
      </p:pic>
      <p:sp>
        <p:nvSpPr>
          <p:cNvPr id="6" name="Isosceles Triangle 5"/>
          <p:cNvSpPr/>
          <p:nvPr/>
        </p:nvSpPr>
        <p:spPr>
          <a:xfrm>
            <a:off x="950976" y="8503203"/>
            <a:ext cx="329184" cy="289681"/>
          </a:xfrm>
          <a:prstGeom prst="triangle">
            <a:avLst/>
          </a:prstGeom>
          <a:solidFill>
            <a:srgbClr val="72C493"/>
          </a:solidFill>
          <a:ln w="15875">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417320" y="8466627"/>
            <a:ext cx="3840480" cy="411480"/>
          </a:xfrm>
          <a:prstGeom prst="rect">
            <a:avLst/>
          </a:prstGeom>
          <a:noFill/>
        </p:spPr>
        <p:txBody>
          <a:bodyPr wrap="square" anchor="t" lIns="0" rIns="0" tIns="0" bIns="0">
            <a:spAutoFit/>
          </a:bodyPr>
          <a:lstStyle/>
          <a:p>
            <a:pPr algn="l"/>
            <a:r>
              <a:rPr sz="2200" b="1">
                <a:solidFill>
                  <a:srgbClr val="0E1F5B"/>
                </a:solidFill>
                <a:latin typeface="Arial"/>
              </a:rPr>
              <a:t>Caméra en service</a:t>
            </a:r>
          </a:p>
        </p:txBody>
      </p:sp>
      <p:sp>
        <p:nvSpPr>
          <p:cNvPr id="8" name="Isosceles Triangle 7"/>
          <p:cNvSpPr/>
          <p:nvPr/>
        </p:nvSpPr>
        <p:spPr>
          <a:xfrm>
            <a:off x="5120640" y="8503203"/>
            <a:ext cx="329184" cy="289681"/>
          </a:xfrm>
          <a:prstGeom prst="triangle">
            <a:avLst/>
          </a:prstGeom>
          <a:solidFill>
            <a:srgbClr val="F2D43A"/>
          </a:solidFill>
          <a:ln w="15875">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586984" y="8466627"/>
            <a:ext cx="5943600" cy="411480"/>
          </a:xfrm>
          <a:prstGeom prst="rect">
            <a:avLst/>
          </a:prstGeom>
          <a:noFill/>
        </p:spPr>
        <p:txBody>
          <a:bodyPr wrap="square" anchor="t" lIns="0" rIns="0" tIns="0" bIns="0">
            <a:spAutoFit/>
          </a:bodyPr>
          <a:lstStyle/>
          <a:p>
            <a:pPr algn="l"/>
            <a:r>
              <a:rPr sz="2200" b="1">
                <a:solidFill>
                  <a:srgbClr val="0E1F5B"/>
                </a:solidFill>
                <a:latin typeface="Arial"/>
              </a:rPr>
              <a:t>Caméra en cours d'installation</a:t>
            </a:r>
          </a:p>
        </p:txBody>
      </p:sp>
      <p:sp>
        <p:nvSpPr>
          <p:cNvPr id="10" name="Rectangle 9"/>
          <p:cNvSpPr/>
          <p:nvPr/>
        </p:nvSpPr>
        <p:spPr>
          <a:xfrm>
            <a:off x="12252960" y="2240280"/>
            <a:ext cx="5084064" cy="23317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573000" y="2496312"/>
            <a:ext cx="4535424" cy="914400"/>
          </a:xfrm>
          <a:prstGeom prst="rect">
            <a:avLst/>
          </a:prstGeom>
          <a:noFill/>
        </p:spPr>
        <p:txBody>
          <a:bodyPr wrap="square" anchor="t" lIns="0" rIns="0" tIns="0" bIns="0">
            <a:spAutoFit/>
          </a:bodyPr>
          <a:lstStyle/>
          <a:p>
            <a:pPr algn="l"/>
            <a:r>
              <a:rPr sz="6600" b="1">
                <a:solidFill>
                  <a:srgbClr val="72C493"/>
                </a:solidFill>
                <a:latin typeface="Arial"/>
              </a:rPr>
              <a:t>29</a:t>
            </a:r>
          </a:p>
        </p:txBody>
      </p:sp>
      <p:sp>
        <p:nvSpPr>
          <p:cNvPr id="12" name="TextBox 11"/>
          <p:cNvSpPr txBox="1"/>
          <p:nvPr/>
        </p:nvSpPr>
        <p:spPr>
          <a:xfrm>
            <a:off x="12573000" y="3544062"/>
            <a:ext cx="4535424" cy="1051560"/>
          </a:xfrm>
          <a:prstGeom prst="rect">
            <a:avLst/>
          </a:prstGeom>
          <a:noFill/>
        </p:spPr>
        <p:txBody>
          <a:bodyPr wrap="square" anchor="t" lIns="0" rIns="0" tIns="0" bIns="0">
            <a:spAutoFit/>
          </a:bodyPr>
          <a:lstStyle/>
          <a:p>
            <a:pPr algn="l"/>
            <a:r>
              <a:rPr sz="2400" b="1">
                <a:solidFill>
                  <a:srgbClr val="FAF5EC"/>
                </a:solidFill>
                <a:latin typeface="Arial"/>
              </a:rPr>
              <a:t>caméras en service</a:t>
            </a:r>
          </a:p>
        </p:txBody>
      </p:sp>
      <p:sp>
        <p:nvSpPr>
          <p:cNvPr id="13" name="Rectangle 12"/>
          <p:cNvSpPr/>
          <p:nvPr/>
        </p:nvSpPr>
        <p:spPr>
          <a:xfrm>
            <a:off x="12252960" y="4754880"/>
            <a:ext cx="5084064" cy="23317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573000" y="5010912"/>
            <a:ext cx="4535424" cy="914400"/>
          </a:xfrm>
          <a:prstGeom prst="rect">
            <a:avLst/>
          </a:prstGeom>
          <a:noFill/>
        </p:spPr>
        <p:txBody>
          <a:bodyPr wrap="square" anchor="t" lIns="0" rIns="0" tIns="0" bIns="0">
            <a:spAutoFit/>
          </a:bodyPr>
          <a:lstStyle/>
          <a:p>
            <a:pPr algn="l"/>
            <a:r>
              <a:rPr sz="6600" b="1">
                <a:solidFill>
                  <a:srgbClr val="72C493"/>
                </a:solidFill>
                <a:latin typeface="Arial"/>
              </a:rPr>
              <a:t>2</a:t>
            </a:r>
          </a:p>
        </p:txBody>
      </p:sp>
      <p:sp>
        <p:nvSpPr>
          <p:cNvPr id="15" name="TextBox 14"/>
          <p:cNvSpPr txBox="1"/>
          <p:nvPr/>
        </p:nvSpPr>
        <p:spPr>
          <a:xfrm>
            <a:off x="12573000" y="6058662"/>
            <a:ext cx="4535424" cy="1051560"/>
          </a:xfrm>
          <a:prstGeom prst="rect">
            <a:avLst/>
          </a:prstGeom>
          <a:noFill/>
        </p:spPr>
        <p:txBody>
          <a:bodyPr wrap="square" anchor="t" lIns="0" rIns="0" tIns="0" bIns="0">
            <a:spAutoFit/>
          </a:bodyPr>
          <a:lstStyle/>
          <a:p>
            <a:pPr algn="l"/>
            <a:r>
              <a:rPr sz="2400" b="1">
                <a:solidFill>
                  <a:srgbClr val="FAF5EC"/>
                </a:solidFill>
                <a:latin typeface="Arial"/>
              </a:rPr>
              <a:t>caméras en cours d'installation</a:t>
            </a:r>
          </a:p>
        </p:txBody>
      </p:sp>
      <p:pic>
        <p:nvPicPr>
          <p:cNvPr id="16" name="Picture 15" descr="Securite_02_cameras_allee_du_Closeau.png"/>
          <p:cNvPicPr>
            <a:picLocks noChangeAspect="1"/>
          </p:cNvPicPr>
          <p:nvPr/>
        </p:nvPicPr>
        <p:blipFill>
          <a:blip r:embed="rId5"/>
          <a:stretch>
            <a:fillRect/>
          </a:stretch>
        </p:blipFill>
        <p:spPr>
          <a:xfrm>
            <a:off x="12252960" y="7417274"/>
            <a:ext cx="5084063" cy="1167451"/>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SERVICES PUBLICS DE PROXIMITÉ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Non à la fermeture du bureau de poste des Richardets</a:t>
            </a:r>
          </a:p>
        </p:txBody>
      </p:sp>
      <p:sp>
        <p:nvSpPr>
          <p:cNvPr id="5" name="TextBox 4"/>
          <p:cNvSpPr txBox="1"/>
          <p:nvPr/>
        </p:nvSpPr>
        <p:spPr>
          <a:xfrm>
            <a:off x="950976" y="2240280"/>
            <a:ext cx="9966960" cy="1097280"/>
          </a:xfrm>
          <a:prstGeom prst="rect">
            <a:avLst/>
          </a:prstGeom>
          <a:noFill/>
        </p:spPr>
        <p:txBody>
          <a:bodyPr wrap="square" anchor="t" lIns="0" rIns="0" tIns="0" bIns="0">
            <a:spAutoFit/>
          </a:bodyPr>
          <a:lstStyle/>
          <a:p>
            <a:pPr algn="l"/>
            <a:r>
              <a:rPr sz="3000" b="1">
                <a:solidFill>
                  <a:srgbClr val="72C493"/>
                </a:solidFill>
                <a:latin typeface="Arial"/>
              </a:rPr>
              <a:t>Un service de proximité essentiel, auquel les habitants sont attachés</a:t>
            </a:r>
          </a:p>
        </p:txBody>
      </p:sp>
      <p:cxnSp>
        <p:nvCxnSpPr>
          <p:cNvPr id="6" name="Connector 5"/>
          <p:cNvCxnSpPr/>
          <p:nvPr/>
        </p:nvCxnSpPr>
        <p:spPr>
          <a:xfrm>
            <a:off x="2612136" y="4069079"/>
            <a:ext cx="6644640" cy="0"/>
          </a:xfrm>
          <a:prstGeom prst="line">
            <a:avLst/>
          </a:prstGeom>
          <a:ln w="63500">
            <a:solidFill>
              <a:srgbClr val="72C493"/>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2292095" y="3749039"/>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1</a:t>
            </a:r>
          </a:p>
        </p:txBody>
      </p:sp>
      <p:sp>
        <p:nvSpPr>
          <p:cNvPr id="8" name="TextBox 7"/>
          <p:cNvSpPr txBox="1"/>
          <p:nvPr/>
        </p:nvSpPr>
        <p:spPr>
          <a:xfrm>
            <a:off x="1179575" y="4663440"/>
            <a:ext cx="2865120" cy="548640"/>
          </a:xfrm>
          <a:prstGeom prst="rect">
            <a:avLst/>
          </a:prstGeom>
          <a:noFill/>
        </p:spPr>
        <p:txBody>
          <a:bodyPr wrap="square" anchor="t" lIns="0" rIns="0" tIns="0" bIns="0">
            <a:spAutoFit/>
          </a:bodyPr>
          <a:lstStyle/>
          <a:p>
            <a:pPr algn="ctr"/>
            <a:r>
              <a:rPr sz="3000" b="1">
                <a:solidFill>
                  <a:srgbClr val="72C493"/>
                </a:solidFill>
                <a:latin typeface="Arial"/>
              </a:rPr>
              <a:t>15 juin 2026</a:t>
            </a:r>
          </a:p>
        </p:txBody>
      </p:sp>
      <p:sp>
        <p:nvSpPr>
          <p:cNvPr id="9" name="TextBox 8"/>
          <p:cNvSpPr txBox="1"/>
          <p:nvPr/>
        </p:nvSpPr>
        <p:spPr>
          <a:xfrm>
            <a:off x="1179575" y="5349240"/>
            <a:ext cx="2865120" cy="1828800"/>
          </a:xfrm>
          <a:prstGeom prst="rect">
            <a:avLst/>
          </a:prstGeom>
          <a:noFill/>
        </p:spPr>
        <p:txBody>
          <a:bodyPr wrap="square" anchor="t" lIns="0" rIns="0" tIns="0" bIns="0">
            <a:spAutoFit/>
          </a:bodyPr>
          <a:lstStyle/>
          <a:p>
            <a:pPr algn="ctr"/>
            <a:r>
              <a:rPr sz="2400" b="0">
                <a:solidFill>
                  <a:srgbClr val="FAF5EC"/>
                </a:solidFill>
                <a:latin typeface="Arial"/>
              </a:rPr>
              <a:t>Courrier du Maire à La Poste</a:t>
            </a:r>
          </a:p>
        </p:txBody>
      </p:sp>
      <p:sp>
        <p:nvSpPr>
          <p:cNvPr id="10" name="Oval 9"/>
          <p:cNvSpPr/>
          <p:nvPr/>
        </p:nvSpPr>
        <p:spPr>
          <a:xfrm>
            <a:off x="5614416" y="3749039"/>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2</a:t>
            </a:r>
          </a:p>
        </p:txBody>
      </p:sp>
      <p:sp>
        <p:nvSpPr>
          <p:cNvPr id="11" name="TextBox 10"/>
          <p:cNvSpPr txBox="1"/>
          <p:nvPr/>
        </p:nvSpPr>
        <p:spPr>
          <a:xfrm>
            <a:off x="4501896" y="4663440"/>
            <a:ext cx="2865120" cy="548640"/>
          </a:xfrm>
          <a:prstGeom prst="rect">
            <a:avLst/>
          </a:prstGeom>
          <a:noFill/>
        </p:spPr>
        <p:txBody>
          <a:bodyPr wrap="square" anchor="t" lIns="0" rIns="0" tIns="0" bIns="0">
            <a:spAutoFit/>
          </a:bodyPr>
          <a:lstStyle/>
          <a:p>
            <a:pPr algn="ctr"/>
            <a:r>
              <a:rPr sz="3000" b="1">
                <a:solidFill>
                  <a:srgbClr val="72C493"/>
                </a:solidFill>
                <a:latin typeface="Arial"/>
              </a:rPr>
              <a:t>Juin 2026</a:t>
            </a:r>
          </a:p>
        </p:txBody>
      </p:sp>
      <p:sp>
        <p:nvSpPr>
          <p:cNvPr id="12" name="TextBox 11"/>
          <p:cNvSpPr txBox="1"/>
          <p:nvPr/>
        </p:nvSpPr>
        <p:spPr>
          <a:xfrm>
            <a:off x="4501896" y="5349240"/>
            <a:ext cx="2865120" cy="1828800"/>
          </a:xfrm>
          <a:prstGeom prst="rect">
            <a:avLst/>
          </a:prstGeom>
          <a:noFill/>
        </p:spPr>
        <p:txBody>
          <a:bodyPr wrap="square" anchor="t" lIns="0" rIns="0" tIns="0" bIns="0">
            <a:spAutoFit/>
          </a:bodyPr>
          <a:lstStyle/>
          <a:p>
            <a:pPr algn="ctr"/>
            <a:r>
              <a:rPr sz="2400" b="0">
                <a:solidFill>
                  <a:srgbClr val="FAF5EC"/>
                </a:solidFill>
                <a:latin typeface="Arial"/>
              </a:rPr>
              <a:t>Le Maire reçoit le délégué de La Poste et s'oppose à la fermeture</a:t>
            </a:r>
          </a:p>
        </p:txBody>
      </p:sp>
      <p:sp>
        <p:nvSpPr>
          <p:cNvPr id="13" name="Oval 12"/>
          <p:cNvSpPr/>
          <p:nvPr/>
        </p:nvSpPr>
        <p:spPr>
          <a:xfrm>
            <a:off x="8936736" y="3749039"/>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3</a:t>
            </a:r>
          </a:p>
        </p:txBody>
      </p:sp>
      <p:sp>
        <p:nvSpPr>
          <p:cNvPr id="14" name="TextBox 13"/>
          <p:cNvSpPr txBox="1"/>
          <p:nvPr/>
        </p:nvSpPr>
        <p:spPr>
          <a:xfrm>
            <a:off x="7824216" y="4663440"/>
            <a:ext cx="2865120" cy="548640"/>
          </a:xfrm>
          <a:prstGeom prst="rect">
            <a:avLst/>
          </a:prstGeom>
          <a:noFill/>
        </p:spPr>
        <p:txBody>
          <a:bodyPr wrap="square" anchor="t" lIns="0" rIns="0" tIns="0" bIns="0">
            <a:spAutoFit/>
          </a:bodyPr>
          <a:lstStyle/>
          <a:p>
            <a:pPr algn="ctr"/>
            <a:r>
              <a:rPr sz="3000" b="1">
                <a:solidFill>
                  <a:srgbClr val="72C493"/>
                </a:solidFill>
                <a:latin typeface="Arial"/>
              </a:rPr>
              <a:t>10 juillet 2026</a:t>
            </a:r>
          </a:p>
        </p:txBody>
      </p:sp>
      <p:sp>
        <p:nvSpPr>
          <p:cNvPr id="15" name="TextBox 14"/>
          <p:cNvSpPr txBox="1"/>
          <p:nvPr/>
        </p:nvSpPr>
        <p:spPr>
          <a:xfrm>
            <a:off x="7824216" y="5349240"/>
            <a:ext cx="2865120" cy="1828800"/>
          </a:xfrm>
          <a:prstGeom prst="rect">
            <a:avLst/>
          </a:prstGeom>
          <a:noFill/>
        </p:spPr>
        <p:txBody>
          <a:bodyPr wrap="square" anchor="t" lIns="0" rIns="0" tIns="0" bIns="0">
            <a:spAutoFit/>
          </a:bodyPr>
          <a:lstStyle/>
          <a:p>
            <a:pPr algn="ctr"/>
            <a:r>
              <a:rPr sz="2400" b="0">
                <a:solidFill>
                  <a:srgbClr val="FAF5EC"/>
                </a:solidFill>
                <a:latin typeface="Arial"/>
              </a:rPr>
              <a:t>Nouvel échange entre le Maire et La Poste</a:t>
            </a:r>
          </a:p>
        </p:txBody>
      </p:sp>
      <p:pic>
        <p:nvPicPr>
          <p:cNvPr id="16" name="Picture 15" descr="Services_01_bureau_de_poste.jpg"/>
          <p:cNvPicPr>
            <a:picLocks noChangeAspect="1"/>
          </p:cNvPicPr>
          <p:nvPr/>
        </p:nvPicPr>
        <p:blipFill>
          <a:blip r:embed="rId4"/>
          <a:stretch>
            <a:fillRect/>
          </a:stretch>
        </p:blipFill>
        <p:spPr>
          <a:xfrm>
            <a:off x="11384280" y="2854642"/>
            <a:ext cx="5943600" cy="3343275"/>
          </a:xfrm>
          <a:prstGeom prst="rect">
            <a:avLst/>
          </a:prstGeom>
        </p:spPr>
      </p:pic>
      <p:sp>
        <p:nvSpPr>
          <p:cNvPr id="17" name="Rectangle 16"/>
          <p:cNvSpPr/>
          <p:nvPr/>
        </p:nvSpPr>
        <p:spPr>
          <a:xfrm>
            <a:off x="11384280" y="7086600"/>
            <a:ext cx="5943600" cy="224028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658600" y="7086600"/>
            <a:ext cx="5394960" cy="2240280"/>
          </a:xfrm>
          <a:prstGeom prst="rect">
            <a:avLst/>
          </a:prstGeom>
          <a:noFill/>
        </p:spPr>
        <p:txBody>
          <a:bodyPr wrap="square" anchor="ctr" lIns="0" rIns="0" tIns="0" bIns="0">
            <a:spAutoFit/>
          </a:bodyPr>
          <a:lstStyle/>
          <a:p>
            <a:pPr algn="ctr"/>
            <a:r>
              <a:rPr sz="2200" b="1">
                <a:solidFill>
                  <a:srgbClr val="C9CCDA"/>
                </a:solidFill>
                <a:latin typeface="Arial"/>
              </a:rPr>
              <a:t>[Situation actuelle du bureau à compléter]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SERVICES PUBLICS DE PROXIMITÉ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Le réseau de bus</a:t>
            </a:r>
          </a:p>
        </p:txBody>
      </p:sp>
      <p:sp>
        <p:nvSpPr>
          <p:cNvPr id="5" name="Rectangle 4"/>
          <p:cNvSpPr/>
          <p:nvPr/>
        </p:nvSpPr>
        <p:spPr>
          <a:xfrm>
            <a:off x="950976" y="2286000"/>
            <a:ext cx="6035040" cy="585216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2697480"/>
            <a:ext cx="5303520" cy="1828800"/>
          </a:xfrm>
          <a:prstGeom prst="rect">
            <a:avLst/>
          </a:prstGeom>
          <a:noFill/>
        </p:spPr>
        <p:txBody>
          <a:bodyPr wrap="square" anchor="t" lIns="0" rIns="0" tIns="0" bIns="0">
            <a:spAutoFit/>
          </a:bodyPr>
          <a:lstStyle/>
          <a:p>
            <a:pPr algn="l"/>
            <a:r>
              <a:rPr sz="12000" b="1">
                <a:solidFill>
                  <a:srgbClr val="72C493"/>
                </a:solidFill>
                <a:latin typeface="Arial"/>
              </a:rPr>
              <a:t>400</a:t>
            </a:r>
          </a:p>
        </p:txBody>
      </p:sp>
      <p:sp>
        <p:nvSpPr>
          <p:cNvPr id="7" name="TextBox 6"/>
          <p:cNvSpPr txBox="1"/>
          <p:nvPr/>
        </p:nvSpPr>
        <p:spPr>
          <a:xfrm>
            <a:off x="1371600" y="4572000"/>
            <a:ext cx="5303520" cy="1463040"/>
          </a:xfrm>
          <a:prstGeom prst="rect">
            <a:avLst/>
          </a:prstGeom>
          <a:noFill/>
        </p:spPr>
        <p:txBody>
          <a:bodyPr wrap="square" anchor="t" lIns="0" rIns="0" tIns="0" bIns="0">
            <a:spAutoFit/>
          </a:bodyPr>
          <a:lstStyle/>
          <a:p>
            <a:pPr algn="l"/>
            <a:r>
              <a:rPr sz="3000" b="1">
                <a:solidFill>
                  <a:srgbClr val="FFFFFF"/>
                </a:solidFill>
                <a:latin typeface="Arial"/>
              </a:rPr>
              <a:t>signalements recueillis par la Ville</a:t>
            </a:r>
          </a:p>
        </p:txBody>
      </p:sp>
      <p:sp>
        <p:nvSpPr>
          <p:cNvPr id="8" name="Rectangle 7"/>
          <p:cNvSpPr/>
          <p:nvPr/>
        </p:nvSpPr>
        <p:spPr>
          <a:xfrm>
            <a:off x="7589520" y="2395728"/>
            <a:ext cx="566928" cy="5669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50" b="1">
                <a:solidFill>
                  <a:srgbClr val="0E1F5B"/>
                </a:solidFill>
                <a:latin typeface="Arial"/>
              </a:rPr>
              <a:t>01</a:t>
            </a:r>
          </a:p>
        </p:txBody>
      </p:sp>
      <p:sp>
        <p:nvSpPr>
          <p:cNvPr id="9" name="TextBox 8"/>
          <p:cNvSpPr txBox="1"/>
          <p:nvPr/>
        </p:nvSpPr>
        <p:spPr>
          <a:xfrm>
            <a:off x="8412480" y="2377440"/>
            <a:ext cx="8869680" cy="1874519"/>
          </a:xfrm>
          <a:prstGeom prst="rect">
            <a:avLst/>
          </a:prstGeom>
          <a:noFill/>
        </p:spPr>
        <p:txBody>
          <a:bodyPr wrap="square" anchor="t" lIns="0" rIns="0" tIns="0" bIns="0">
            <a:spAutoFit/>
          </a:bodyPr>
          <a:lstStyle/>
          <a:p>
            <a:pPr algn="l"/>
            <a:r>
              <a:rPr sz="2600" b="1">
                <a:solidFill>
                  <a:srgbClr val="0E1F5B"/>
                </a:solidFill>
                <a:latin typeface="Arial"/>
              </a:rPr>
              <a:t>Le Maire a rencontré deux fois Île-de-France Mobilités</a:t>
            </a:r>
          </a:p>
        </p:txBody>
      </p:sp>
      <p:sp>
        <p:nvSpPr>
          <p:cNvPr id="10" name="Rectangle 9"/>
          <p:cNvSpPr/>
          <p:nvPr/>
        </p:nvSpPr>
        <p:spPr>
          <a:xfrm>
            <a:off x="7589520" y="4270248"/>
            <a:ext cx="566928" cy="5669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50" b="1">
                <a:solidFill>
                  <a:srgbClr val="0E1F5B"/>
                </a:solidFill>
                <a:latin typeface="Arial"/>
              </a:rPr>
              <a:t>02</a:t>
            </a:r>
          </a:p>
        </p:txBody>
      </p:sp>
      <p:sp>
        <p:nvSpPr>
          <p:cNvPr id="11" name="TextBox 10"/>
          <p:cNvSpPr txBox="1"/>
          <p:nvPr/>
        </p:nvSpPr>
        <p:spPr>
          <a:xfrm>
            <a:off x="8412480" y="4251960"/>
            <a:ext cx="8869680" cy="1874519"/>
          </a:xfrm>
          <a:prstGeom prst="rect">
            <a:avLst/>
          </a:prstGeom>
          <a:noFill/>
        </p:spPr>
        <p:txBody>
          <a:bodyPr wrap="square" anchor="t" lIns="0" rIns="0" tIns="0" bIns="0">
            <a:spAutoFit/>
          </a:bodyPr>
          <a:lstStyle/>
          <a:p>
            <a:pPr algn="l"/>
            <a:r>
              <a:rPr sz="2600" b="1">
                <a:solidFill>
                  <a:srgbClr val="0E1F5B"/>
                </a:solidFill>
                <a:latin typeface="Arial"/>
              </a:rPr>
              <a:t>La modification non concertée du trajet de la ligne 220 a été suspendue</a:t>
            </a:r>
          </a:p>
        </p:txBody>
      </p:sp>
      <p:sp>
        <p:nvSpPr>
          <p:cNvPr id="12" name="Rectangle 11"/>
          <p:cNvSpPr/>
          <p:nvPr/>
        </p:nvSpPr>
        <p:spPr>
          <a:xfrm>
            <a:off x="7589520" y="6144767"/>
            <a:ext cx="566928" cy="5669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50" b="1">
                <a:solidFill>
                  <a:srgbClr val="0E1F5B"/>
                </a:solidFill>
                <a:latin typeface="Arial"/>
              </a:rPr>
              <a:t>03</a:t>
            </a:r>
          </a:p>
        </p:txBody>
      </p:sp>
      <p:sp>
        <p:nvSpPr>
          <p:cNvPr id="13" name="TextBox 12"/>
          <p:cNvSpPr txBox="1"/>
          <p:nvPr/>
        </p:nvSpPr>
        <p:spPr>
          <a:xfrm>
            <a:off x="8412480" y="6126479"/>
            <a:ext cx="8869680" cy="1874519"/>
          </a:xfrm>
          <a:prstGeom prst="rect">
            <a:avLst/>
          </a:prstGeom>
          <a:noFill/>
        </p:spPr>
        <p:txBody>
          <a:bodyPr wrap="square" anchor="t" lIns="0" rIns="0" tIns="0" bIns="0">
            <a:spAutoFit/>
          </a:bodyPr>
          <a:lstStyle/>
          <a:p>
            <a:pPr algn="l"/>
            <a:r>
              <a:rPr sz="2600" b="1">
                <a:solidFill>
                  <a:srgbClr val="0E1F5B"/>
                </a:solidFill>
                <a:latin typeface="Arial"/>
              </a:rPr>
              <a:t>Un courrier aux exploitants pour exiger un retour au niveau de service prévu et l'application des pénalités</a:t>
            </a:r>
          </a:p>
        </p:txBody>
      </p:sp>
      <p:cxnSp>
        <p:nvCxnSpPr>
          <p:cNvPr id="14" name="Connector 13"/>
          <p:cNvCxnSpPr/>
          <p:nvPr/>
        </p:nvCxnSpPr>
        <p:spPr>
          <a:xfrm>
            <a:off x="950976" y="8549640"/>
            <a:ext cx="16386048" cy="0"/>
          </a:xfrm>
          <a:prstGeom prst="line">
            <a:avLst/>
          </a:prstGeom>
          <a:ln w="25400">
            <a:solidFill>
              <a:srgbClr val="72C493"/>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50976" y="8732520"/>
            <a:ext cx="16367759" cy="548640"/>
          </a:xfrm>
          <a:prstGeom prst="rect">
            <a:avLst/>
          </a:prstGeom>
          <a:noFill/>
        </p:spPr>
        <p:txBody>
          <a:bodyPr wrap="square" anchor="t" lIns="0" rIns="0" tIns="0" bIns="0">
            <a:spAutoFit/>
          </a:bodyPr>
          <a:lstStyle/>
          <a:p>
            <a:pPr algn="l"/>
            <a:r>
              <a:rPr sz="2200" b="0">
                <a:solidFill>
                  <a:srgbClr val="0E1F5B"/>
                </a:solidFill>
                <a:latin typeface="Arial"/>
              </a:rPr>
              <a:t>Le réseau est organisé par Île-de-France Mobilités et exploité par Keolis et RATP Cap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ÉQUIPEMENTS ET CADRE DE VIE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La tribune du stade Alain-Mimoun</a:t>
            </a:r>
          </a:p>
        </p:txBody>
      </p:sp>
      <p:sp>
        <p:nvSpPr>
          <p:cNvPr id="5" name="Rectangle 4"/>
          <p:cNvSpPr/>
          <p:nvPr/>
        </p:nvSpPr>
        <p:spPr>
          <a:xfrm>
            <a:off x="950976" y="2286000"/>
            <a:ext cx="5074920" cy="49834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50976" y="2286000"/>
            <a:ext cx="507492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16736" y="2651760"/>
            <a:ext cx="4389120" cy="457200"/>
          </a:xfrm>
          <a:prstGeom prst="rect">
            <a:avLst/>
          </a:prstGeom>
          <a:noFill/>
        </p:spPr>
        <p:txBody>
          <a:bodyPr wrap="square" anchor="t" lIns="0" rIns="0" tIns="0" bIns="0">
            <a:spAutoFit/>
          </a:bodyPr>
          <a:lstStyle/>
          <a:p>
            <a:pPr algn="l"/>
            <a:r>
              <a:rPr sz="2200" b="1" spc="150">
                <a:solidFill>
                  <a:srgbClr val="72C493"/>
                </a:solidFill>
                <a:latin typeface="Arial"/>
              </a:rPr>
              <a:t>LE BÂTIMENT</a:t>
            </a:r>
          </a:p>
        </p:txBody>
      </p:sp>
      <p:sp>
        <p:nvSpPr>
          <p:cNvPr id="8" name="Oval 7"/>
          <p:cNvSpPr/>
          <p:nvPr/>
        </p:nvSpPr>
        <p:spPr>
          <a:xfrm>
            <a:off x="1316736" y="3493008"/>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773936" y="3383280"/>
            <a:ext cx="3977639" cy="1188720"/>
          </a:xfrm>
          <a:prstGeom prst="rect">
            <a:avLst/>
          </a:prstGeom>
          <a:noFill/>
        </p:spPr>
        <p:txBody>
          <a:bodyPr wrap="square" anchor="t" lIns="0" rIns="0" tIns="0" bIns="0">
            <a:spAutoFit/>
          </a:bodyPr>
          <a:lstStyle/>
          <a:p>
            <a:pPr algn="l"/>
            <a:r>
              <a:rPr sz="2400" b="1">
                <a:solidFill>
                  <a:srgbClr val="FFFFFF"/>
                </a:solidFill>
                <a:latin typeface="Arial"/>
              </a:rPr>
              <a:t>Des toitures solarisées</a:t>
            </a:r>
          </a:p>
        </p:txBody>
      </p:sp>
      <p:sp>
        <p:nvSpPr>
          <p:cNvPr id="10" name="Oval 9"/>
          <p:cNvSpPr/>
          <p:nvPr/>
        </p:nvSpPr>
        <p:spPr>
          <a:xfrm>
            <a:off x="1316736" y="4754880"/>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73936" y="4645152"/>
            <a:ext cx="3977639" cy="1188720"/>
          </a:xfrm>
          <a:prstGeom prst="rect">
            <a:avLst/>
          </a:prstGeom>
          <a:noFill/>
        </p:spPr>
        <p:txBody>
          <a:bodyPr wrap="square" anchor="t" lIns="0" rIns="0" tIns="0" bIns="0">
            <a:spAutoFit/>
          </a:bodyPr>
          <a:lstStyle/>
          <a:p>
            <a:pPr algn="l"/>
            <a:r>
              <a:rPr sz="2400" b="1">
                <a:solidFill>
                  <a:srgbClr val="FFFFFF"/>
                </a:solidFill>
                <a:latin typeface="Arial"/>
              </a:rPr>
              <a:t>Une façade végétalisée</a:t>
            </a:r>
          </a:p>
        </p:txBody>
      </p:sp>
      <p:sp>
        <p:nvSpPr>
          <p:cNvPr id="12" name="Oval 11"/>
          <p:cNvSpPr/>
          <p:nvPr/>
        </p:nvSpPr>
        <p:spPr>
          <a:xfrm>
            <a:off x="1316736" y="6016752"/>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773936" y="5907024"/>
            <a:ext cx="3977639" cy="1188720"/>
          </a:xfrm>
          <a:prstGeom prst="rect">
            <a:avLst/>
          </a:prstGeom>
          <a:noFill/>
        </p:spPr>
        <p:txBody>
          <a:bodyPr wrap="square" anchor="t" lIns="0" rIns="0" tIns="0" bIns="0">
            <a:spAutoFit/>
          </a:bodyPr>
          <a:lstStyle/>
          <a:p>
            <a:pPr algn="l"/>
            <a:r>
              <a:rPr sz="2400" b="1">
                <a:solidFill>
                  <a:srgbClr val="FFFFFF"/>
                </a:solidFill>
                <a:latin typeface="Arial"/>
              </a:rPr>
              <a:t>L'installation des sièges</a:t>
            </a:r>
          </a:p>
        </p:txBody>
      </p:sp>
      <p:sp>
        <p:nvSpPr>
          <p:cNvPr id="14" name="Rectangle 13"/>
          <p:cNvSpPr/>
          <p:nvPr/>
        </p:nvSpPr>
        <p:spPr>
          <a:xfrm>
            <a:off x="6300216" y="2286000"/>
            <a:ext cx="5074920" cy="49834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0216" y="2286000"/>
            <a:ext cx="507492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65976" y="2651760"/>
            <a:ext cx="4389120" cy="457200"/>
          </a:xfrm>
          <a:prstGeom prst="rect">
            <a:avLst/>
          </a:prstGeom>
          <a:noFill/>
        </p:spPr>
        <p:txBody>
          <a:bodyPr wrap="square" anchor="t" lIns="0" rIns="0" tIns="0" bIns="0">
            <a:spAutoFit/>
          </a:bodyPr>
          <a:lstStyle/>
          <a:p>
            <a:pPr algn="l"/>
            <a:r>
              <a:rPr sz="2200" b="1" spc="150">
                <a:solidFill>
                  <a:srgbClr val="72C493"/>
                </a:solidFill>
                <a:latin typeface="Arial"/>
              </a:rPr>
              <a:t>LES ESPACES VERTS</a:t>
            </a:r>
          </a:p>
        </p:txBody>
      </p:sp>
      <p:sp>
        <p:nvSpPr>
          <p:cNvPr id="17" name="Oval 16"/>
          <p:cNvSpPr/>
          <p:nvPr/>
        </p:nvSpPr>
        <p:spPr>
          <a:xfrm>
            <a:off x="6665976" y="3493008"/>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23176" y="3383280"/>
            <a:ext cx="3977639" cy="1188720"/>
          </a:xfrm>
          <a:prstGeom prst="rect">
            <a:avLst/>
          </a:prstGeom>
          <a:noFill/>
        </p:spPr>
        <p:txBody>
          <a:bodyPr wrap="square" anchor="t" lIns="0" rIns="0" tIns="0" bIns="0">
            <a:spAutoFit/>
          </a:bodyPr>
          <a:lstStyle/>
          <a:p>
            <a:pPr algn="l"/>
            <a:r>
              <a:rPr sz="2400" b="1">
                <a:solidFill>
                  <a:srgbClr val="FFFFFF"/>
                </a:solidFill>
                <a:latin typeface="Arial"/>
              </a:rPr>
              <a:t>Les arbres replantés avant tout abattage</a:t>
            </a:r>
          </a:p>
        </p:txBody>
      </p:sp>
      <p:sp>
        <p:nvSpPr>
          <p:cNvPr id="19" name="Oval 18"/>
          <p:cNvSpPr/>
          <p:nvPr/>
        </p:nvSpPr>
        <p:spPr>
          <a:xfrm>
            <a:off x="6665976" y="4754880"/>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23176" y="4645152"/>
            <a:ext cx="3977639" cy="1188720"/>
          </a:xfrm>
          <a:prstGeom prst="rect">
            <a:avLst/>
          </a:prstGeom>
          <a:noFill/>
        </p:spPr>
        <p:txBody>
          <a:bodyPr wrap="square" anchor="t" lIns="0" rIns="0" tIns="0" bIns="0">
            <a:spAutoFit/>
          </a:bodyPr>
          <a:lstStyle/>
          <a:p>
            <a:pPr algn="l"/>
            <a:r>
              <a:rPr sz="2400" b="1">
                <a:solidFill>
                  <a:srgbClr val="FFFFFF"/>
                </a:solidFill>
                <a:latin typeface="Arial"/>
              </a:rPr>
              <a:t>Une compensation végétale doublée</a:t>
            </a:r>
          </a:p>
        </p:txBody>
      </p:sp>
      <p:sp>
        <p:nvSpPr>
          <p:cNvPr id="21" name="Oval 20"/>
          <p:cNvSpPr/>
          <p:nvPr/>
        </p:nvSpPr>
        <p:spPr>
          <a:xfrm>
            <a:off x="6665976" y="6016752"/>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23176" y="5907024"/>
            <a:ext cx="3977639" cy="1188720"/>
          </a:xfrm>
          <a:prstGeom prst="rect">
            <a:avLst/>
          </a:prstGeom>
          <a:noFill/>
        </p:spPr>
        <p:txBody>
          <a:bodyPr wrap="square" anchor="t" lIns="0" rIns="0" tIns="0" bIns="0">
            <a:spAutoFit/>
          </a:bodyPr>
          <a:lstStyle/>
          <a:p>
            <a:pPr algn="l"/>
            <a:r>
              <a:rPr sz="2400" b="1">
                <a:solidFill>
                  <a:srgbClr val="FFFFFF"/>
                </a:solidFill>
                <a:latin typeface="Arial"/>
              </a:rPr>
              <a:t>Une haie contre les nuisances sonores</a:t>
            </a:r>
          </a:p>
        </p:txBody>
      </p:sp>
      <p:sp>
        <p:nvSpPr>
          <p:cNvPr id="23" name="Rectangle 22"/>
          <p:cNvSpPr/>
          <p:nvPr/>
        </p:nvSpPr>
        <p:spPr>
          <a:xfrm>
            <a:off x="950976" y="7589520"/>
            <a:ext cx="10424160" cy="173736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25296" y="7589520"/>
            <a:ext cx="9875520" cy="1737360"/>
          </a:xfrm>
          <a:prstGeom prst="rect">
            <a:avLst/>
          </a:prstGeom>
          <a:noFill/>
        </p:spPr>
        <p:txBody>
          <a:bodyPr wrap="square" anchor="ctr" lIns="0" rIns="0" tIns="0" bIns="0">
            <a:spAutoFit/>
          </a:bodyPr>
          <a:lstStyle/>
          <a:p>
            <a:pPr algn="ctr"/>
            <a:r>
              <a:rPr sz="2200" b="1">
                <a:solidFill>
                  <a:srgbClr val="C9CCDA"/>
                </a:solidFill>
                <a:latin typeface="Arial"/>
              </a:rPr>
              <a:t>[Montant et calendrier à compléter]</a:t>
            </a:r>
          </a:p>
        </p:txBody>
      </p:sp>
      <p:pic>
        <p:nvPicPr>
          <p:cNvPr id="25" name="Picture 24" descr="Equipements_01_stade_Alain_Mimoun.jpg"/>
          <p:cNvPicPr>
            <a:picLocks noChangeAspect="1"/>
          </p:cNvPicPr>
          <p:nvPr/>
        </p:nvPicPr>
        <p:blipFill>
          <a:blip r:embed="rId4"/>
          <a:stretch>
            <a:fillRect/>
          </a:stretch>
        </p:blipFill>
        <p:spPr>
          <a:xfrm>
            <a:off x="11841480" y="3234690"/>
            <a:ext cx="5486400" cy="3086100"/>
          </a:xfrm>
          <a:prstGeom prst="rect">
            <a:avLst/>
          </a:prstGeom>
        </p:spPr>
      </p:pic>
      <p:sp>
        <p:nvSpPr>
          <p:cNvPr id="26" name="Rectangle 25"/>
          <p:cNvSpPr/>
          <p:nvPr/>
        </p:nvSpPr>
        <p:spPr>
          <a:xfrm>
            <a:off x="11841480" y="7589520"/>
            <a:ext cx="5486400" cy="173736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115800" y="7589520"/>
            <a:ext cx="4937760" cy="1737360"/>
          </a:xfrm>
          <a:prstGeom prst="rect">
            <a:avLst/>
          </a:prstGeom>
          <a:noFill/>
        </p:spPr>
        <p:txBody>
          <a:bodyPr wrap="square" anchor="ctr" lIns="0" rIns="0" tIns="0" bIns="0">
            <a:spAutoFit/>
          </a:bodyPr>
          <a:lstStyle/>
          <a:p>
            <a:pPr algn="ctr"/>
            <a:r>
              <a:rPr sz="2200" b="1">
                <a:solidFill>
                  <a:srgbClr val="C9CCDA"/>
                </a:solidFill>
                <a:latin typeface="Arial"/>
              </a:rPr>
              <a:t>[Perspective de la tribune à fournir]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ÉQUIPEMENTS ET CADRE DE VIE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Une nouvelle aire de jeux rue de la Chapelle</a:t>
            </a:r>
          </a:p>
        </p:txBody>
      </p:sp>
      <p:pic>
        <p:nvPicPr>
          <p:cNvPr id="5" name="Picture 4" descr="Equipements_02_square_Astronautes_plan.png"/>
          <p:cNvPicPr>
            <a:picLocks noChangeAspect="1"/>
          </p:cNvPicPr>
          <p:nvPr/>
        </p:nvPicPr>
        <p:blipFill>
          <a:blip r:embed="rId4"/>
          <a:stretch>
            <a:fillRect/>
          </a:stretch>
        </p:blipFill>
        <p:spPr>
          <a:xfrm>
            <a:off x="950976" y="2325929"/>
            <a:ext cx="10241280" cy="5497981"/>
          </a:xfrm>
          <a:prstGeom prst="rect">
            <a:avLst/>
          </a:prstGeom>
        </p:spPr>
      </p:pic>
      <p:sp>
        <p:nvSpPr>
          <p:cNvPr id="6" name="TextBox 5"/>
          <p:cNvSpPr txBox="1"/>
          <p:nvPr/>
        </p:nvSpPr>
        <p:spPr>
          <a:xfrm>
            <a:off x="11658600" y="2240280"/>
            <a:ext cx="5669280" cy="411480"/>
          </a:xfrm>
          <a:prstGeom prst="rect">
            <a:avLst/>
          </a:prstGeom>
          <a:noFill/>
        </p:spPr>
        <p:txBody>
          <a:bodyPr wrap="square" anchor="t" lIns="0" rIns="0" tIns="0" bIns="0">
            <a:spAutoFit/>
          </a:bodyPr>
          <a:lstStyle/>
          <a:p>
            <a:pPr algn="l"/>
            <a:r>
              <a:rPr sz="2100" b="1" spc="150">
                <a:solidFill>
                  <a:srgbClr val="72C493"/>
                </a:solidFill>
                <a:latin typeface="Arial"/>
              </a:rPr>
              <a:t>LE SQUARE</a:t>
            </a:r>
          </a:p>
        </p:txBody>
      </p:sp>
      <p:sp>
        <p:nvSpPr>
          <p:cNvPr id="7" name="Oval 6"/>
          <p:cNvSpPr/>
          <p:nvPr/>
        </p:nvSpPr>
        <p:spPr>
          <a:xfrm>
            <a:off x="11658600" y="2907791"/>
            <a:ext cx="219456" cy="219456"/>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070080" y="2788920"/>
            <a:ext cx="5257800" cy="1234440"/>
          </a:xfrm>
          <a:prstGeom prst="rect">
            <a:avLst/>
          </a:prstGeom>
          <a:noFill/>
        </p:spPr>
        <p:txBody>
          <a:bodyPr wrap="square" anchor="t" lIns="0" rIns="0" tIns="0" bIns="0">
            <a:spAutoFit/>
          </a:bodyPr>
          <a:lstStyle/>
          <a:p>
            <a:pPr algn="l"/>
            <a:r>
              <a:rPr sz="2200" b="1">
                <a:solidFill>
                  <a:srgbClr val="0E1F5B"/>
                </a:solidFill>
                <a:latin typeface="Arial"/>
              </a:rPr>
              <a:t>Square du boulevard des Astronautes, rue de la Chapelle</a:t>
            </a:r>
          </a:p>
        </p:txBody>
      </p:sp>
      <p:sp>
        <p:nvSpPr>
          <p:cNvPr id="9" name="Oval 8"/>
          <p:cNvSpPr/>
          <p:nvPr/>
        </p:nvSpPr>
        <p:spPr>
          <a:xfrm>
            <a:off x="11658600" y="4206240"/>
            <a:ext cx="219456" cy="219456"/>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070080" y="4087368"/>
            <a:ext cx="5257800" cy="1234440"/>
          </a:xfrm>
          <a:prstGeom prst="rect">
            <a:avLst/>
          </a:prstGeom>
          <a:noFill/>
        </p:spPr>
        <p:txBody>
          <a:bodyPr wrap="square" anchor="t" lIns="0" rIns="0" tIns="0" bIns="0">
            <a:spAutoFit/>
          </a:bodyPr>
          <a:lstStyle/>
          <a:p>
            <a:pPr algn="l"/>
            <a:r>
              <a:rPr sz="2200" b="1">
                <a:solidFill>
                  <a:srgbClr val="0E1F5B"/>
                </a:solidFill>
                <a:latin typeface="Arial"/>
              </a:rPr>
              <a:t>Des jeux pour les enfants de 1 an à 10-12 ans</a:t>
            </a:r>
          </a:p>
        </p:txBody>
      </p:sp>
      <p:sp>
        <p:nvSpPr>
          <p:cNvPr id="11" name="Oval 10"/>
          <p:cNvSpPr/>
          <p:nvPr/>
        </p:nvSpPr>
        <p:spPr>
          <a:xfrm>
            <a:off x="11658600" y="5504688"/>
            <a:ext cx="219456" cy="219456"/>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070080" y="5385816"/>
            <a:ext cx="5257800" cy="1234440"/>
          </a:xfrm>
          <a:prstGeom prst="rect">
            <a:avLst/>
          </a:prstGeom>
          <a:noFill/>
        </p:spPr>
        <p:txBody>
          <a:bodyPr wrap="square" anchor="t" lIns="0" rIns="0" tIns="0" bIns="0">
            <a:spAutoFit/>
          </a:bodyPr>
          <a:lstStyle/>
          <a:p>
            <a:pPr algn="l"/>
            <a:r>
              <a:rPr sz="2200" b="1">
                <a:solidFill>
                  <a:srgbClr val="0E1F5B"/>
                </a:solidFill>
                <a:latin typeface="Arial"/>
              </a:rPr>
              <a:t>Sol souple, bancs, chaises longues et tables de jeux en plastique recyclé</a:t>
            </a:r>
          </a:p>
        </p:txBody>
      </p:sp>
      <p:sp>
        <p:nvSpPr>
          <p:cNvPr id="13" name="Oval 12"/>
          <p:cNvSpPr/>
          <p:nvPr/>
        </p:nvSpPr>
        <p:spPr>
          <a:xfrm>
            <a:off x="11658600" y="6803136"/>
            <a:ext cx="219456" cy="219456"/>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070080" y="6684264"/>
            <a:ext cx="5257800" cy="1234440"/>
          </a:xfrm>
          <a:prstGeom prst="rect">
            <a:avLst/>
          </a:prstGeom>
          <a:noFill/>
        </p:spPr>
        <p:txBody>
          <a:bodyPr wrap="square" anchor="t" lIns="0" rIns="0" tIns="0" bIns="0">
            <a:spAutoFit/>
          </a:bodyPr>
          <a:lstStyle/>
          <a:p>
            <a:pPr algn="l"/>
            <a:r>
              <a:rPr sz="2200" b="1">
                <a:solidFill>
                  <a:srgbClr val="0E1F5B"/>
                </a:solidFill>
                <a:latin typeface="Arial"/>
              </a:rPr>
              <a:t>Le séquoia géant et les arbres existants conservés</a:t>
            </a:r>
          </a:p>
        </p:txBody>
      </p:sp>
      <p:cxnSp>
        <p:nvCxnSpPr>
          <p:cNvPr id="15" name="Connector 14"/>
          <p:cNvCxnSpPr/>
          <p:nvPr/>
        </p:nvCxnSpPr>
        <p:spPr>
          <a:xfrm>
            <a:off x="3678936" y="8321040"/>
            <a:ext cx="10911839" cy="0"/>
          </a:xfrm>
          <a:prstGeom prst="line">
            <a:avLst/>
          </a:prstGeom>
          <a:ln w="63500">
            <a:solidFill>
              <a:srgbClr val="72C493"/>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3358896" y="8001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1</a:t>
            </a:r>
          </a:p>
        </p:txBody>
      </p:sp>
      <p:sp>
        <p:nvSpPr>
          <p:cNvPr id="17" name="TextBox 16"/>
          <p:cNvSpPr txBox="1"/>
          <p:nvPr/>
        </p:nvSpPr>
        <p:spPr>
          <a:xfrm>
            <a:off x="1179576" y="8750808"/>
            <a:ext cx="4998719" cy="548640"/>
          </a:xfrm>
          <a:prstGeom prst="rect">
            <a:avLst/>
          </a:prstGeom>
          <a:noFill/>
        </p:spPr>
        <p:txBody>
          <a:bodyPr wrap="square" anchor="t" lIns="0" rIns="0" tIns="0" bIns="0">
            <a:spAutoFit/>
          </a:bodyPr>
          <a:lstStyle/>
          <a:p>
            <a:pPr algn="ctr"/>
            <a:r>
              <a:rPr sz="2800" b="1">
                <a:solidFill>
                  <a:srgbClr val="0E1F5B"/>
                </a:solidFill>
                <a:latin typeface="Arial"/>
              </a:rPr>
              <a:t>Cet hiver</a:t>
            </a:r>
          </a:p>
        </p:txBody>
      </p:sp>
      <p:sp>
        <p:nvSpPr>
          <p:cNvPr id="18" name="TextBox 17"/>
          <p:cNvSpPr txBox="1"/>
          <p:nvPr/>
        </p:nvSpPr>
        <p:spPr>
          <a:xfrm>
            <a:off x="1179576" y="9299448"/>
            <a:ext cx="4998719" cy="1828800"/>
          </a:xfrm>
          <a:prstGeom prst="rect">
            <a:avLst/>
          </a:prstGeom>
          <a:noFill/>
        </p:spPr>
        <p:txBody>
          <a:bodyPr wrap="square" anchor="t" lIns="0" rIns="0" tIns="0" bIns="0">
            <a:spAutoFit/>
          </a:bodyPr>
          <a:lstStyle/>
          <a:p>
            <a:pPr algn="ctr"/>
            <a:r>
              <a:rPr sz="2400" b="0">
                <a:solidFill>
                  <a:srgbClr val="0E1F5B"/>
                </a:solidFill>
                <a:latin typeface="Arial"/>
              </a:rPr>
              <a:t>Concertation avec les riverains</a:t>
            </a:r>
          </a:p>
        </p:txBody>
      </p:sp>
      <p:sp>
        <p:nvSpPr>
          <p:cNvPr id="19" name="Oval 18"/>
          <p:cNvSpPr/>
          <p:nvPr/>
        </p:nvSpPr>
        <p:spPr>
          <a:xfrm>
            <a:off x="8814815" y="8001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2</a:t>
            </a:r>
          </a:p>
        </p:txBody>
      </p:sp>
      <p:sp>
        <p:nvSpPr>
          <p:cNvPr id="20" name="TextBox 19"/>
          <p:cNvSpPr txBox="1"/>
          <p:nvPr/>
        </p:nvSpPr>
        <p:spPr>
          <a:xfrm>
            <a:off x="6635495" y="8750808"/>
            <a:ext cx="4998719" cy="548640"/>
          </a:xfrm>
          <a:prstGeom prst="rect">
            <a:avLst/>
          </a:prstGeom>
          <a:noFill/>
        </p:spPr>
        <p:txBody>
          <a:bodyPr wrap="square" anchor="t" lIns="0" rIns="0" tIns="0" bIns="0">
            <a:spAutoFit/>
          </a:bodyPr>
          <a:lstStyle/>
          <a:p>
            <a:pPr algn="ctr"/>
            <a:r>
              <a:rPr sz="2800" b="1">
                <a:solidFill>
                  <a:srgbClr val="0E1F5B"/>
                </a:solidFill>
                <a:latin typeface="Arial"/>
              </a:rPr>
              <a:t>Fin du printemps</a:t>
            </a:r>
          </a:p>
        </p:txBody>
      </p:sp>
      <p:sp>
        <p:nvSpPr>
          <p:cNvPr id="21" name="TextBox 20"/>
          <p:cNvSpPr txBox="1"/>
          <p:nvPr/>
        </p:nvSpPr>
        <p:spPr>
          <a:xfrm>
            <a:off x="6635495" y="9299448"/>
            <a:ext cx="4998719" cy="1828800"/>
          </a:xfrm>
          <a:prstGeom prst="rect">
            <a:avLst/>
          </a:prstGeom>
          <a:noFill/>
        </p:spPr>
        <p:txBody>
          <a:bodyPr wrap="square" anchor="t" lIns="0" rIns="0" tIns="0" bIns="0">
            <a:spAutoFit/>
          </a:bodyPr>
          <a:lstStyle/>
          <a:p>
            <a:pPr algn="ctr"/>
            <a:r>
              <a:rPr sz="2400" b="0">
                <a:solidFill>
                  <a:srgbClr val="0E1F5B"/>
                </a:solidFill>
                <a:latin typeface="Arial"/>
              </a:rPr>
              <a:t>Travaux</a:t>
            </a:r>
          </a:p>
        </p:txBody>
      </p:sp>
      <p:sp>
        <p:nvSpPr>
          <p:cNvPr id="22" name="Oval 21"/>
          <p:cNvSpPr/>
          <p:nvPr/>
        </p:nvSpPr>
        <p:spPr>
          <a:xfrm>
            <a:off x="14270735" y="8001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3</a:t>
            </a:r>
          </a:p>
        </p:txBody>
      </p:sp>
      <p:sp>
        <p:nvSpPr>
          <p:cNvPr id="23" name="TextBox 22"/>
          <p:cNvSpPr txBox="1"/>
          <p:nvPr/>
        </p:nvSpPr>
        <p:spPr>
          <a:xfrm>
            <a:off x="12091416" y="8750808"/>
            <a:ext cx="4998719" cy="548640"/>
          </a:xfrm>
          <a:prstGeom prst="rect">
            <a:avLst/>
          </a:prstGeom>
          <a:noFill/>
        </p:spPr>
        <p:txBody>
          <a:bodyPr wrap="square" anchor="t" lIns="0" rIns="0" tIns="0" bIns="0">
            <a:spAutoFit/>
          </a:bodyPr>
          <a:lstStyle/>
          <a:p>
            <a:pPr algn="ctr"/>
            <a:r>
              <a:rPr sz="2800" b="1">
                <a:solidFill>
                  <a:srgbClr val="0E1F5B"/>
                </a:solidFill>
                <a:latin typeface="Arial"/>
              </a:rPr>
              <a:t>À l'automne</a:t>
            </a:r>
          </a:p>
        </p:txBody>
      </p:sp>
      <p:sp>
        <p:nvSpPr>
          <p:cNvPr id="24" name="TextBox 23"/>
          <p:cNvSpPr txBox="1"/>
          <p:nvPr/>
        </p:nvSpPr>
        <p:spPr>
          <a:xfrm>
            <a:off x="12091416" y="9299448"/>
            <a:ext cx="4998719" cy="1828800"/>
          </a:xfrm>
          <a:prstGeom prst="rect">
            <a:avLst/>
          </a:prstGeom>
          <a:noFill/>
        </p:spPr>
        <p:txBody>
          <a:bodyPr wrap="square" anchor="t" lIns="0" rIns="0" tIns="0" bIns="0">
            <a:spAutoFit/>
          </a:bodyPr>
          <a:lstStyle/>
          <a:p>
            <a:pPr algn="ctr"/>
            <a:r>
              <a:rPr sz="2400" b="0">
                <a:solidFill>
                  <a:srgbClr val="0E1F5B"/>
                </a:solidFill>
                <a:latin typeface="Arial"/>
              </a:rPr>
              <a:t>Plantations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ÉQUIPEMENTS ET CADRE DE VIE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 Fort de Villiers</a:t>
            </a:r>
          </a:p>
        </p:txBody>
      </p:sp>
      <p:pic>
        <p:nvPicPr>
          <p:cNvPr id="5" name="Picture 4" descr="Equipements_03_fort_de_Villiers.jpg"/>
          <p:cNvPicPr>
            <a:picLocks noChangeAspect="1"/>
          </p:cNvPicPr>
          <p:nvPr/>
        </p:nvPicPr>
        <p:blipFill>
          <a:blip r:embed="rId4"/>
          <a:stretch>
            <a:fillRect/>
          </a:stretch>
        </p:blipFill>
        <p:spPr>
          <a:xfrm>
            <a:off x="950976" y="2575560"/>
            <a:ext cx="9692640" cy="6461760"/>
          </a:xfrm>
          <a:prstGeom prst="rect">
            <a:avLst/>
          </a:prstGeom>
        </p:spPr>
      </p:pic>
      <p:sp>
        <p:nvSpPr>
          <p:cNvPr id="6" name="Rectangle 5"/>
          <p:cNvSpPr/>
          <p:nvPr/>
        </p:nvSpPr>
        <p:spPr>
          <a:xfrm>
            <a:off x="11155680" y="2286000"/>
            <a:ext cx="6181344" cy="704088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0" y="2286000"/>
            <a:ext cx="5632704" cy="7040880"/>
          </a:xfrm>
          <a:prstGeom prst="rect">
            <a:avLst/>
          </a:prstGeom>
          <a:noFill/>
        </p:spPr>
        <p:txBody>
          <a:bodyPr wrap="square" anchor="ctr" lIns="0" rIns="0" tIns="0" bIns="0">
            <a:spAutoFit/>
          </a:bodyPr>
          <a:lstStyle/>
          <a:p>
            <a:pPr algn="ctr"/>
            <a:r>
              <a:rPr sz="2200" b="1">
                <a:solidFill>
                  <a:srgbClr val="C9CCDA"/>
                </a:solidFill>
                <a:latin typeface="Arial"/>
              </a:rPr>
              <a:t>[Contenu à compléter]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SANTÉ ET ACCUEIL DES SENIORS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Une maison médicale</a:t>
            </a:r>
          </a:p>
        </p:txBody>
      </p:sp>
      <p:sp>
        <p:nvSpPr>
          <p:cNvPr id="5" name="Rectangle 4"/>
          <p:cNvSpPr/>
          <p:nvPr/>
        </p:nvSpPr>
        <p:spPr>
          <a:xfrm>
            <a:off x="950976" y="2377440"/>
            <a:ext cx="16367759" cy="694944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25296" y="2377440"/>
            <a:ext cx="15819119" cy="6949440"/>
          </a:xfrm>
          <a:prstGeom prst="rect">
            <a:avLst/>
          </a:prstGeom>
          <a:noFill/>
        </p:spPr>
        <p:txBody>
          <a:bodyPr wrap="square" anchor="ctr" lIns="0" rIns="0" tIns="0" bIns="0">
            <a:spAutoFit/>
          </a:bodyPr>
          <a:lstStyle/>
          <a:p>
            <a:pPr algn="ctr"/>
            <a:r>
              <a:rPr sz="2200" b="1">
                <a:solidFill>
                  <a:srgbClr val="8A90B0"/>
                </a:solidFill>
                <a:latin typeface="Arial"/>
              </a:rPr>
              <a:t>[Contenu à compléter : localisation, praticiens attendus, calendrier]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SANTÉ ET ACCUEIL DES SENIORS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Un projet de maison de retraite</a:t>
            </a:r>
          </a:p>
        </p:txBody>
      </p:sp>
      <p:sp>
        <p:nvSpPr>
          <p:cNvPr id="5" name="Rectangle 4"/>
          <p:cNvSpPr/>
          <p:nvPr/>
        </p:nvSpPr>
        <p:spPr>
          <a:xfrm>
            <a:off x="950976" y="2377440"/>
            <a:ext cx="16367759" cy="694944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25296" y="2377440"/>
            <a:ext cx="15819119" cy="6949440"/>
          </a:xfrm>
          <a:prstGeom prst="rect">
            <a:avLst/>
          </a:prstGeom>
          <a:noFill/>
        </p:spPr>
        <p:txBody>
          <a:bodyPr wrap="square" anchor="ctr" lIns="0" rIns="0" tIns="0" bIns="0">
            <a:spAutoFit/>
          </a:bodyPr>
          <a:lstStyle/>
          <a:p>
            <a:pPr algn="ctr"/>
            <a:r>
              <a:rPr sz="2200" b="1">
                <a:solidFill>
                  <a:srgbClr val="C9CCDA"/>
                </a:solidFill>
                <a:latin typeface="Arial"/>
              </a:rPr>
              <a:t>[Contenu à compléter : type d'établissement, nombre de places, état d'avancement]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SERVICES PUBLICS DE PROXIMITÉ · LES BUS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Les bus du quartier et vos signalements</a:t>
            </a:r>
          </a:p>
        </p:txBody>
      </p:sp>
      <p:pic>
        <p:nvPicPr>
          <p:cNvPr id="5" name="Picture 4" descr="fond_carte_bus.png"/>
          <p:cNvPicPr>
            <a:picLocks noChangeAspect="1"/>
          </p:cNvPicPr>
          <p:nvPr/>
        </p:nvPicPr>
        <p:blipFill>
          <a:blip r:embed="rId4"/>
          <a:stretch>
            <a:fillRect/>
          </a:stretch>
        </p:blipFill>
        <p:spPr>
          <a:xfrm>
            <a:off x="950976" y="2240280"/>
            <a:ext cx="11247120" cy="6326505"/>
          </a:xfrm>
          <a:prstGeom prst="rect">
            <a:avLst/>
          </a:prstGeom>
        </p:spPr>
      </p:pic>
      <p:sp>
        <p:nvSpPr>
          <p:cNvPr id="6" name="TextBox 5"/>
          <p:cNvSpPr txBox="1"/>
          <p:nvPr/>
        </p:nvSpPr>
        <p:spPr>
          <a:xfrm>
            <a:off x="950976" y="8639937"/>
            <a:ext cx="11247120" cy="274320"/>
          </a:xfrm>
          <a:prstGeom prst="rect">
            <a:avLst/>
          </a:prstGeom>
          <a:noFill/>
        </p:spPr>
        <p:txBody>
          <a:bodyPr wrap="square" anchor="t" lIns="0" rIns="0" tIns="0" bIns="0">
            <a:spAutoFit/>
          </a:bodyPr>
          <a:lstStyle/>
          <a:p>
            <a:pPr algn="r"/>
            <a:r>
              <a:rPr sz="1100" b="0">
                <a:solidFill>
                  <a:srgbClr val="C9CCDA"/>
                </a:solidFill>
                <a:latin typeface="Arial"/>
              </a:rPr>
              <a:t>Rues : IGN – BD TOPO · Lignes et arrêts : Île-de-France Mobilités</a:t>
            </a:r>
          </a:p>
        </p:txBody>
      </p:sp>
      <p:sp>
        <p:nvSpPr>
          <p:cNvPr id="7" name="Rounded Rectangle 6"/>
          <p:cNvSpPr/>
          <p:nvPr/>
        </p:nvSpPr>
        <p:spPr>
          <a:xfrm>
            <a:off x="9839192" y="5758856"/>
            <a:ext cx="603504" cy="347472"/>
          </a:xfrm>
          <a:prstGeom prst="roundRect">
            <a:avLst/>
          </a:prstGeom>
          <a:solidFill>
            <a:srgbClr val="D2D200"/>
          </a:solidFill>
          <a:ln w="254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E1F5B"/>
                </a:solidFill>
                <a:latin typeface="Arial"/>
              </a:rPr>
              <a:t>310</a:t>
            </a:r>
          </a:p>
        </p:txBody>
      </p:sp>
      <p:sp>
        <p:nvSpPr>
          <p:cNvPr id="8" name="Rounded Rectangle 7"/>
          <p:cNvSpPr/>
          <p:nvPr/>
        </p:nvSpPr>
        <p:spPr>
          <a:xfrm>
            <a:off x="4471284" y="5250820"/>
            <a:ext cx="603504" cy="347472"/>
          </a:xfrm>
          <a:prstGeom prst="roundRect">
            <a:avLst/>
          </a:prstGeom>
          <a:solidFill>
            <a:srgbClr val="D2D200"/>
          </a:solidFill>
          <a:ln w="254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E1F5B"/>
                </a:solidFill>
                <a:latin typeface="Arial"/>
              </a:rPr>
              <a:t>310</a:t>
            </a:r>
          </a:p>
        </p:txBody>
      </p:sp>
      <p:sp>
        <p:nvSpPr>
          <p:cNvPr id="9" name="Rounded Rectangle 8"/>
          <p:cNvSpPr/>
          <p:nvPr/>
        </p:nvSpPr>
        <p:spPr>
          <a:xfrm>
            <a:off x="8305864" y="4002849"/>
            <a:ext cx="603504" cy="347472"/>
          </a:xfrm>
          <a:prstGeom prst="roundRect">
            <a:avLst/>
          </a:prstGeom>
          <a:solidFill>
            <a:srgbClr val="FF5A00"/>
          </a:solidFill>
          <a:ln w="254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E1F5B"/>
                </a:solidFill>
                <a:latin typeface="Arial"/>
              </a:rPr>
              <a:t>312</a:t>
            </a:r>
          </a:p>
        </p:txBody>
      </p:sp>
      <p:sp>
        <p:nvSpPr>
          <p:cNvPr id="10" name="Rounded Rectangle 9"/>
          <p:cNvSpPr/>
          <p:nvPr/>
        </p:nvSpPr>
        <p:spPr>
          <a:xfrm>
            <a:off x="9452604" y="7512750"/>
            <a:ext cx="603504" cy="347472"/>
          </a:xfrm>
          <a:prstGeom prst="roundRect">
            <a:avLst/>
          </a:prstGeom>
          <a:solidFill>
            <a:srgbClr val="FF5A00"/>
          </a:solidFill>
          <a:ln w="254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E1F5B"/>
                </a:solidFill>
                <a:latin typeface="Arial"/>
              </a:rPr>
              <a:t>312</a:t>
            </a:r>
          </a:p>
        </p:txBody>
      </p:sp>
      <p:sp>
        <p:nvSpPr>
          <p:cNvPr id="11" name="Rounded Rectangle 10"/>
          <p:cNvSpPr/>
          <p:nvPr/>
        </p:nvSpPr>
        <p:spPr>
          <a:xfrm>
            <a:off x="6009677" y="4296885"/>
            <a:ext cx="603504" cy="347472"/>
          </a:xfrm>
          <a:prstGeom prst="roundRect">
            <a:avLst/>
          </a:prstGeom>
          <a:solidFill>
            <a:srgbClr val="DC9600"/>
          </a:solidFill>
          <a:ln w="254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E1F5B"/>
                </a:solidFill>
                <a:latin typeface="Arial"/>
              </a:rPr>
              <a:t>320</a:t>
            </a:r>
          </a:p>
        </p:txBody>
      </p:sp>
      <p:sp>
        <p:nvSpPr>
          <p:cNvPr id="12" name="TextBox 11"/>
          <p:cNvSpPr txBox="1"/>
          <p:nvPr/>
        </p:nvSpPr>
        <p:spPr>
          <a:xfrm>
            <a:off x="6975350" y="3662263"/>
            <a:ext cx="1379529" cy="274320"/>
          </a:xfrm>
          <a:prstGeom prst="rect">
            <a:avLst/>
          </a:prstGeom>
          <a:solidFill>
            <a:srgbClr val="0E1F5B"/>
          </a:solidFill>
        </p:spPr>
        <p:txBody>
          <a:bodyPr wrap="none" anchor="t" lIns="45720" rIns="45720" tIns="0" bIns="0"/>
          <a:lstStyle/>
          <a:p>
            <a:pPr algn="l"/>
            <a:r>
              <a:rPr sz="1200" b="1">
                <a:solidFill>
                  <a:srgbClr val="FFFFFF"/>
                </a:solidFill>
                <a:latin typeface="Arial"/>
              </a:rPr>
              <a:t>Ballon – Chapelle</a:t>
            </a:r>
          </a:p>
        </p:txBody>
      </p:sp>
      <p:sp>
        <p:nvSpPr>
          <p:cNvPr id="13" name="Rectangle 12"/>
          <p:cNvSpPr/>
          <p:nvPr/>
        </p:nvSpPr>
        <p:spPr>
          <a:xfrm>
            <a:off x="8354880" y="3662263"/>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1</a:t>
            </a:r>
          </a:p>
        </p:txBody>
      </p:sp>
      <p:sp>
        <p:nvSpPr>
          <p:cNvPr id="14" name="TextBox 13"/>
          <p:cNvSpPr txBox="1"/>
          <p:nvPr/>
        </p:nvSpPr>
        <p:spPr>
          <a:xfrm>
            <a:off x="8157480" y="5215666"/>
            <a:ext cx="744728" cy="274320"/>
          </a:xfrm>
          <a:prstGeom prst="rect">
            <a:avLst/>
          </a:prstGeom>
          <a:solidFill>
            <a:srgbClr val="0E1F5B"/>
          </a:solidFill>
        </p:spPr>
        <p:txBody>
          <a:bodyPr wrap="none" anchor="t" lIns="45720" rIns="45720" tIns="0" bIns="0"/>
          <a:lstStyle/>
          <a:p>
            <a:pPr algn="l"/>
            <a:r>
              <a:rPr sz="1200" b="1">
                <a:solidFill>
                  <a:srgbClr val="FFFFFF"/>
                </a:solidFill>
                <a:latin typeface="Arial"/>
              </a:rPr>
              <a:t>Chapelle</a:t>
            </a:r>
          </a:p>
        </p:txBody>
      </p:sp>
      <p:sp>
        <p:nvSpPr>
          <p:cNvPr id="15" name="Rectangle 14"/>
          <p:cNvSpPr/>
          <p:nvPr/>
        </p:nvSpPr>
        <p:spPr>
          <a:xfrm>
            <a:off x="8902208" y="5215666"/>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1</a:t>
            </a:r>
          </a:p>
        </p:txBody>
      </p:sp>
      <p:sp>
        <p:nvSpPr>
          <p:cNvPr id="16" name="TextBox 15"/>
          <p:cNvSpPr txBox="1"/>
          <p:nvPr/>
        </p:nvSpPr>
        <p:spPr>
          <a:xfrm>
            <a:off x="2645135" y="5134663"/>
            <a:ext cx="1219192" cy="274320"/>
          </a:xfrm>
          <a:prstGeom prst="rect">
            <a:avLst/>
          </a:prstGeom>
          <a:solidFill>
            <a:srgbClr val="0E1F5B"/>
          </a:solidFill>
        </p:spPr>
        <p:txBody>
          <a:bodyPr wrap="none" anchor="t" lIns="45720" rIns="45720" tIns="0" bIns="0"/>
          <a:lstStyle/>
          <a:p>
            <a:pPr algn="l"/>
            <a:r>
              <a:rPr sz="1200" b="1">
                <a:solidFill>
                  <a:srgbClr val="FFFFFF"/>
                </a:solidFill>
                <a:latin typeface="Arial"/>
              </a:rPr>
              <a:t>Cité des Hêtres</a:t>
            </a:r>
          </a:p>
        </p:txBody>
      </p:sp>
      <p:sp>
        <p:nvSpPr>
          <p:cNvPr id="17" name="Rectangle 16"/>
          <p:cNvSpPr/>
          <p:nvPr/>
        </p:nvSpPr>
        <p:spPr>
          <a:xfrm>
            <a:off x="3864327" y="5134663"/>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28</a:t>
            </a:r>
          </a:p>
        </p:txBody>
      </p:sp>
      <p:sp>
        <p:nvSpPr>
          <p:cNvPr id="18" name="TextBox 17"/>
          <p:cNvSpPr txBox="1"/>
          <p:nvPr/>
        </p:nvSpPr>
        <p:spPr>
          <a:xfrm>
            <a:off x="8682316" y="6521195"/>
            <a:ext cx="1368615" cy="274320"/>
          </a:xfrm>
          <a:prstGeom prst="rect">
            <a:avLst/>
          </a:prstGeom>
          <a:solidFill>
            <a:srgbClr val="0E1F5B"/>
          </a:solidFill>
        </p:spPr>
        <p:txBody>
          <a:bodyPr wrap="none" anchor="t" lIns="45720" rIns="45720" tIns="0" bIns="0"/>
          <a:lstStyle/>
          <a:p>
            <a:pPr algn="l"/>
            <a:r>
              <a:rPr sz="1200" b="1">
                <a:solidFill>
                  <a:srgbClr val="FFFFFF"/>
                </a:solidFill>
                <a:latin typeface="Arial"/>
              </a:rPr>
              <a:t>Collège des Yvris</a:t>
            </a:r>
          </a:p>
        </p:txBody>
      </p:sp>
      <p:sp>
        <p:nvSpPr>
          <p:cNvPr id="19" name="Rectangle 18"/>
          <p:cNvSpPr/>
          <p:nvPr/>
        </p:nvSpPr>
        <p:spPr>
          <a:xfrm>
            <a:off x="10050932" y="6521195"/>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5</a:t>
            </a:r>
          </a:p>
        </p:txBody>
      </p:sp>
      <p:sp>
        <p:nvSpPr>
          <p:cNvPr id="20" name="TextBox 19"/>
          <p:cNvSpPr txBox="1"/>
          <p:nvPr/>
        </p:nvSpPr>
        <p:spPr>
          <a:xfrm>
            <a:off x="5284254" y="4608323"/>
            <a:ext cx="964795" cy="274320"/>
          </a:xfrm>
          <a:prstGeom prst="rect">
            <a:avLst/>
          </a:prstGeom>
          <a:solidFill>
            <a:srgbClr val="0E1F5B"/>
          </a:solidFill>
        </p:spPr>
        <p:txBody>
          <a:bodyPr wrap="none" anchor="t" lIns="45720" rIns="45720" tIns="0" bIns="0"/>
          <a:lstStyle/>
          <a:p>
            <a:pPr algn="l"/>
            <a:r>
              <a:rPr sz="1200" b="1">
                <a:solidFill>
                  <a:srgbClr val="FFFFFF"/>
                </a:solidFill>
                <a:latin typeface="Arial"/>
              </a:rPr>
              <a:t>Gabriel Péri</a:t>
            </a:r>
          </a:p>
        </p:txBody>
      </p:sp>
      <p:sp>
        <p:nvSpPr>
          <p:cNvPr id="21" name="Rectangle 20"/>
          <p:cNvSpPr/>
          <p:nvPr/>
        </p:nvSpPr>
        <p:spPr>
          <a:xfrm>
            <a:off x="6249050" y="4608323"/>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2</a:t>
            </a:r>
          </a:p>
        </p:txBody>
      </p:sp>
      <p:sp>
        <p:nvSpPr>
          <p:cNvPr id="22" name="TextBox 21"/>
          <p:cNvSpPr txBox="1"/>
          <p:nvPr/>
        </p:nvSpPr>
        <p:spPr>
          <a:xfrm>
            <a:off x="8888062" y="2397402"/>
            <a:ext cx="1557527" cy="274320"/>
          </a:xfrm>
          <a:prstGeom prst="rect">
            <a:avLst/>
          </a:prstGeom>
          <a:solidFill>
            <a:srgbClr val="0E1F5B"/>
          </a:solidFill>
        </p:spPr>
        <p:txBody>
          <a:bodyPr wrap="none" anchor="t" lIns="45720" rIns="45720" tIns="0" bIns="0"/>
          <a:lstStyle/>
          <a:p>
            <a:pPr algn="l"/>
            <a:r>
              <a:rPr sz="1200" b="1">
                <a:solidFill>
                  <a:srgbClr val="FFFFFF"/>
                </a:solidFill>
                <a:latin typeface="Arial"/>
              </a:rPr>
              <a:t>La Butte aux Cailles</a:t>
            </a:r>
          </a:p>
        </p:txBody>
      </p:sp>
      <p:sp>
        <p:nvSpPr>
          <p:cNvPr id="23" name="TextBox 22"/>
          <p:cNvSpPr txBox="1"/>
          <p:nvPr/>
        </p:nvSpPr>
        <p:spPr>
          <a:xfrm>
            <a:off x="6844337" y="2669657"/>
            <a:ext cx="922528" cy="274320"/>
          </a:xfrm>
          <a:prstGeom prst="rect">
            <a:avLst/>
          </a:prstGeom>
          <a:solidFill>
            <a:srgbClr val="0E1F5B"/>
          </a:solidFill>
        </p:spPr>
        <p:txBody>
          <a:bodyPr wrap="none" anchor="t" lIns="45720" rIns="45720" tIns="0" bIns="0"/>
          <a:lstStyle/>
          <a:p>
            <a:pPr algn="l"/>
            <a:r>
              <a:rPr sz="1200" b="1">
                <a:solidFill>
                  <a:srgbClr val="FFFFFF"/>
                </a:solidFill>
                <a:latin typeface="Arial"/>
              </a:rPr>
              <a:t>Le Closeau</a:t>
            </a:r>
          </a:p>
        </p:txBody>
      </p:sp>
      <p:sp>
        <p:nvSpPr>
          <p:cNvPr id="24" name="Rectangle 23"/>
          <p:cNvSpPr/>
          <p:nvPr/>
        </p:nvSpPr>
        <p:spPr>
          <a:xfrm>
            <a:off x="7766865" y="2669657"/>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4</a:t>
            </a:r>
          </a:p>
        </p:txBody>
      </p:sp>
      <p:sp>
        <p:nvSpPr>
          <p:cNvPr id="25" name="TextBox 24"/>
          <p:cNvSpPr txBox="1"/>
          <p:nvPr/>
        </p:nvSpPr>
        <p:spPr>
          <a:xfrm>
            <a:off x="3076045" y="4251752"/>
            <a:ext cx="626062" cy="274320"/>
          </a:xfrm>
          <a:prstGeom prst="rect">
            <a:avLst/>
          </a:prstGeom>
          <a:solidFill>
            <a:srgbClr val="0E1F5B"/>
          </a:solidFill>
        </p:spPr>
        <p:txBody>
          <a:bodyPr wrap="none" anchor="t" lIns="45720" rIns="45720" tIns="0" bIns="0"/>
          <a:lstStyle/>
          <a:p>
            <a:pPr algn="l"/>
            <a:r>
              <a:rPr sz="1200" b="1">
                <a:solidFill>
                  <a:srgbClr val="FFFFFF"/>
                </a:solidFill>
                <a:latin typeface="Arial"/>
              </a:rPr>
              <a:t>Le Fort</a:t>
            </a:r>
          </a:p>
        </p:txBody>
      </p:sp>
      <p:sp>
        <p:nvSpPr>
          <p:cNvPr id="26" name="Rectangle 25"/>
          <p:cNvSpPr/>
          <p:nvPr/>
        </p:nvSpPr>
        <p:spPr>
          <a:xfrm>
            <a:off x="3702108" y="4251752"/>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12</a:t>
            </a:r>
          </a:p>
        </p:txBody>
      </p:sp>
      <p:sp>
        <p:nvSpPr>
          <p:cNvPr id="27" name="TextBox 26"/>
          <p:cNvSpPr txBox="1"/>
          <p:nvPr/>
        </p:nvSpPr>
        <p:spPr>
          <a:xfrm>
            <a:off x="10733207" y="4762737"/>
            <a:ext cx="1162835" cy="274320"/>
          </a:xfrm>
          <a:prstGeom prst="rect">
            <a:avLst/>
          </a:prstGeom>
          <a:solidFill>
            <a:srgbClr val="0E1F5B"/>
          </a:solidFill>
        </p:spPr>
        <p:txBody>
          <a:bodyPr wrap="none" anchor="t" lIns="45720" rIns="45720" tIns="0" bIns="0"/>
          <a:lstStyle/>
          <a:p>
            <a:pPr algn="l"/>
            <a:r>
              <a:rPr sz="1200" b="1">
                <a:solidFill>
                  <a:srgbClr val="FFFFFF"/>
                </a:solidFill>
                <a:latin typeface="Arial"/>
              </a:rPr>
              <a:t>Les Aérostiers</a:t>
            </a:r>
          </a:p>
        </p:txBody>
      </p:sp>
      <p:sp>
        <p:nvSpPr>
          <p:cNvPr id="28" name="TextBox 27"/>
          <p:cNvSpPr txBox="1"/>
          <p:nvPr/>
        </p:nvSpPr>
        <p:spPr>
          <a:xfrm>
            <a:off x="9861216" y="5377957"/>
            <a:ext cx="1032859" cy="274320"/>
          </a:xfrm>
          <a:prstGeom prst="rect">
            <a:avLst/>
          </a:prstGeom>
          <a:solidFill>
            <a:srgbClr val="0E1F5B"/>
          </a:solidFill>
        </p:spPr>
        <p:txBody>
          <a:bodyPr wrap="none" anchor="t" lIns="45720" rIns="45720" tIns="0" bIns="0"/>
          <a:lstStyle/>
          <a:p>
            <a:pPr algn="l"/>
            <a:r>
              <a:rPr sz="1200" b="1">
                <a:solidFill>
                  <a:srgbClr val="FFFFFF"/>
                </a:solidFill>
                <a:latin typeface="Arial"/>
              </a:rPr>
              <a:t>Les Graviers</a:t>
            </a:r>
          </a:p>
        </p:txBody>
      </p:sp>
      <p:sp>
        <p:nvSpPr>
          <p:cNvPr id="29" name="Rectangle 28"/>
          <p:cNvSpPr/>
          <p:nvPr/>
        </p:nvSpPr>
        <p:spPr>
          <a:xfrm>
            <a:off x="10894075" y="5377957"/>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5</a:t>
            </a:r>
          </a:p>
        </p:txBody>
      </p:sp>
      <p:sp>
        <p:nvSpPr>
          <p:cNvPr id="30" name="TextBox 29"/>
          <p:cNvSpPr txBox="1"/>
          <p:nvPr/>
        </p:nvSpPr>
        <p:spPr>
          <a:xfrm>
            <a:off x="6670787" y="5748576"/>
            <a:ext cx="1854192" cy="274320"/>
          </a:xfrm>
          <a:prstGeom prst="rect">
            <a:avLst/>
          </a:prstGeom>
          <a:solidFill>
            <a:srgbClr val="0E1F5B"/>
          </a:solidFill>
        </p:spPr>
        <p:txBody>
          <a:bodyPr wrap="none" anchor="t" lIns="45720" rIns="45720" tIns="0" bIns="0"/>
          <a:lstStyle/>
          <a:p>
            <a:pPr algn="l"/>
            <a:r>
              <a:rPr sz="1200" b="1">
                <a:solidFill>
                  <a:srgbClr val="FFFFFF"/>
                </a:solidFill>
                <a:latin typeface="Arial"/>
              </a:rPr>
              <a:t>Les Richardets – Centre</a:t>
            </a:r>
          </a:p>
        </p:txBody>
      </p:sp>
      <p:sp>
        <p:nvSpPr>
          <p:cNvPr id="31" name="Rectangle 30"/>
          <p:cNvSpPr/>
          <p:nvPr/>
        </p:nvSpPr>
        <p:spPr>
          <a:xfrm>
            <a:off x="8524979" y="5748576"/>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19</a:t>
            </a:r>
          </a:p>
        </p:txBody>
      </p:sp>
      <p:sp>
        <p:nvSpPr>
          <p:cNvPr id="32" name="TextBox 31"/>
          <p:cNvSpPr txBox="1"/>
          <p:nvPr/>
        </p:nvSpPr>
        <p:spPr>
          <a:xfrm>
            <a:off x="6868518" y="7762442"/>
            <a:ext cx="2401681" cy="274320"/>
          </a:xfrm>
          <a:prstGeom prst="rect">
            <a:avLst/>
          </a:prstGeom>
          <a:solidFill>
            <a:srgbClr val="0E1F5B"/>
          </a:solidFill>
        </p:spPr>
        <p:txBody>
          <a:bodyPr wrap="none" anchor="t" lIns="45720" rIns="45720" tIns="0" bIns="0"/>
          <a:lstStyle/>
          <a:p>
            <a:pPr algn="l"/>
            <a:r>
              <a:rPr sz="1200" b="1">
                <a:solidFill>
                  <a:srgbClr val="FFFFFF"/>
                </a:solidFill>
                <a:latin typeface="Arial"/>
              </a:rPr>
              <a:t>Les Yvris – Noisy-le-Grand RER</a:t>
            </a:r>
          </a:p>
        </p:txBody>
      </p:sp>
      <p:sp>
        <p:nvSpPr>
          <p:cNvPr id="33" name="Rectangle 32"/>
          <p:cNvSpPr/>
          <p:nvPr/>
        </p:nvSpPr>
        <p:spPr>
          <a:xfrm>
            <a:off x="9270199" y="7762442"/>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19</a:t>
            </a:r>
          </a:p>
        </p:txBody>
      </p:sp>
      <p:sp>
        <p:nvSpPr>
          <p:cNvPr id="34" name="TextBox 33"/>
          <p:cNvSpPr txBox="1"/>
          <p:nvPr/>
        </p:nvSpPr>
        <p:spPr>
          <a:xfrm>
            <a:off x="2047015" y="3366958"/>
            <a:ext cx="1091596" cy="274320"/>
          </a:xfrm>
          <a:prstGeom prst="rect">
            <a:avLst/>
          </a:prstGeom>
          <a:solidFill>
            <a:srgbClr val="0E1F5B"/>
          </a:solidFill>
        </p:spPr>
        <p:txBody>
          <a:bodyPr wrap="none" anchor="t" lIns="45720" rIns="45720" tIns="0" bIns="0"/>
          <a:lstStyle/>
          <a:p>
            <a:pPr algn="l"/>
            <a:r>
              <a:rPr sz="1200" b="1">
                <a:solidFill>
                  <a:srgbClr val="FFFFFF"/>
                </a:solidFill>
                <a:latin typeface="Arial"/>
              </a:rPr>
              <a:t>Moulin à Vent</a:t>
            </a:r>
          </a:p>
        </p:txBody>
      </p:sp>
      <p:sp>
        <p:nvSpPr>
          <p:cNvPr id="35" name="TextBox 34"/>
          <p:cNvSpPr txBox="1"/>
          <p:nvPr/>
        </p:nvSpPr>
        <p:spPr>
          <a:xfrm>
            <a:off x="4710302" y="5714055"/>
            <a:ext cx="1345795" cy="274320"/>
          </a:xfrm>
          <a:prstGeom prst="rect">
            <a:avLst/>
          </a:prstGeom>
          <a:solidFill>
            <a:srgbClr val="0E1F5B"/>
          </a:solidFill>
        </p:spPr>
        <p:txBody>
          <a:bodyPr wrap="none" anchor="t" lIns="45720" rIns="45720" tIns="0" bIns="0"/>
          <a:lstStyle/>
          <a:p>
            <a:pPr algn="l"/>
            <a:r>
              <a:rPr sz="1200" b="1">
                <a:solidFill>
                  <a:srgbClr val="FFFFFF"/>
                </a:solidFill>
                <a:latin typeface="Arial"/>
              </a:rPr>
              <a:t>Place du Combat</a:t>
            </a:r>
          </a:p>
        </p:txBody>
      </p:sp>
      <p:sp>
        <p:nvSpPr>
          <p:cNvPr id="36" name="Rectangle 35"/>
          <p:cNvSpPr/>
          <p:nvPr/>
        </p:nvSpPr>
        <p:spPr>
          <a:xfrm>
            <a:off x="6056098" y="5714055"/>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23</a:t>
            </a:r>
          </a:p>
        </p:txBody>
      </p:sp>
      <p:sp>
        <p:nvSpPr>
          <p:cNvPr id="37" name="TextBox 36"/>
          <p:cNvSpPr txBox="1"/>
          <p:nvPr/>
        </p:nvSpPr>
        <p:spPr>
          <a:xfrm>
            <a:off x="4564636" y="3791306"/>
            <a:ext cx="1464262" cy="274320"/>
          </a:xfrm>
          <a:prstGeom prst="rect">
            <a:avLst/>
          </a:prstGeom>
          <a:solidFill>
            <a:srgbClr val="0E1F5B"/>
          </a:solidFill>
        </p:spPr>
        <p:txBody>
          <a:bodyPr wrap="none" anchor="t" lIns="45720" rIns="45720" tIns="0" bIns="0"/>
          <a:lstStyle/>
          <a:p>
            <a:pPr algn="l"/>
            <a:r>
              <a:rPr sz="1200" b="1">
                <a:solidFill>
                  <a:srgbClr val="FFFFFF"/>
                </a:solidFill>
                <a:latin typeface="Arial"/>
              </a:rPr>
              <a:t>Rue de la Chapelle</a:t>
            </a:r>
          </a:p>
        </p:txBody>
      </p:sp>
      <p:sp>
        <p:nvSpPr>
          <p:cNvPr id="38" name="Rectangle 37"/>
          <p:cNvSpPr/>
          <p:nvPr/>
        </p:nvSpPr>
        <p:spPr>
          <a:xfrm>
            <a:off x="6028898" y="3791306"/>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6</a:t>
            </a:r>
          </a:p>
        </p:txBody>
      </p:sp>
      <p:sp>
        <p:nvSpPr>
          <p:cNvPr id="39" name="TextBox 38"/>
          <p:cNvSpPr txBox="1"/>
          <p:nvPr/>
        </p:nvSpPr>
        <p:spPr>
          <a:xfrm>
            <a:off x="8249464" y="4712312"/>
            <a:ext cx="1493035" cy="274320"/>
          </a:xfrm>
          <a:prstGeom prst="rect">
            <a:avLst/>
          </a:prstGeom>
          <a:solidFill>
            <a:srgbClr val="0E1F5B"/>
          </a:solidFill>
        </p:spPr>
        <p:txBody>
          <a:bodyPr wrap="none" anchor="t" lIns="45720" rIns="45720" tIns="0" bIns="0"/>
          <a:lstStyle/>
          <a:p>
            <a:pPr algn="l"/>
            <a:r>
              <a:rPr sz="1200" b="1">
                <a:solidFill>
                  <a:srgbClr val="FFFFFF"/>
                </a:solidFill>
                <a:latin typeface="Arial"/>
              </a:rPr>
              <a:t>Rue des Aérostiers</a:t>
            </a:r>
          </a:p>
        </p:txBody>
      </p:sp>
      <p:sp>
        <p:nvSpPr>
          <p:cNvPr id="40" name="Rectangle 39"/>
          <p:cNvSpPr/>
          <p:nvPr/>
        </p:nvSpPr>
        <p:spPr>
          <a:xfrm>
            <a:off x="9742499" y="4712312"/>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3</a:t>
            </a:r>
          </a:p>
        </p:txBody>
      </p:sp>
      <p:sp>
        <p:nvSpPr>
          <p:cNvPr id="41" name="TextBox 40"/>
          <p:cNvSpPr txBox="1"/>
          <p:nvPr/>
        </p:nvSpPr>
        <p:spPr>
          <a:xfrm>
            <a:off x="9429494" y="3886101"/>
            <a:ext cx="1133863" cy="274320"/>
          </a:xfrm>
          <a:prstGeom prst="rect">
            <a:avLst/>
          </a:prstGeom>
          <a:solidFill>
            <a:srgbClr val="0E1F5B"/>
          </a:solidFill>
        </p:spPr>
        <p:txBody>
          <a:bodyPr wrap="none" anchor="t" lIns="45720" rIns="45720" tIns="0" bIns="0"/>
          <a:lstStyle/>
          <a:p>
            <a:pPr algn="l"/>
            <a:r>
              <a:rPr sz="1200" b="1">
                <a:solidFill>
                  <a:srgbClr val="FFFFFF"/>
                </a:solidFill>
                <a:latin typeface="Arial"/>
              </a:rPr>
              <a:t>Rue du Ballon</a:t>
            </a:r>
          </a:p>
        </p:txBody>
      </p:sp>
      <p:sp>
        <p:nvSpPr>
          <p:cNvPr id="42" name="Rectangle 41"/>
          <p:cNvSpPr/>
          <p:nvPr/>
        </p:nvSpPr>
        <p:spPr>
          <a:xfrm>
            <a:off x="10563358" y="3886101"/>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25</a:t>
            </a:r>
          </a:p>
        </p:txBody>
      </p:sp>
      <p:sp>
        <p:nvSpPr>
          <p:cNvPr id="43" name="TextBox 42"/>
          <p:cNvSpPr txBox="1"/>
          <p:nvPr/>
        </p:nvSpPr>
        <p:spPr>
          <a:xfrm>
            <a:off x="6629692" y="6553373"/>
            <a:ext cx="970351" cy="274320"/>
          </a:xfrm>
          <a:prstGeom prst="rect">
            <a:avLst/>
          </a:prstGeom>
          <a:solidFill>
            <a:srgbClr val="0E1F5B"/>
          </a:solidFill>
        </p:spPr>
        <p:txBody>
          <a:bodyPr wrap="none" anchor="t" lIns="45720" rIns="45720" tIns="0" bIns="0"/>
          <a:lstStyle/>
          <a:p>
            <a:pPr algn="l"/>
            <a:r>
              <a:rPr sz="1200" b="1">
                <a:solidFill>
                  <a:srgbClr val="FFFFFF"/>
                </a:solidFill>
                <a:latin typeface="Arial"/>
              </a:rPr>
              <a:t>Victor Hugo</a:t>
            </a:r>
          </a:p>
        </p:txBody>
      </p:sp>
      <p:sp>
        <p:nvSpPr>
          <p:cNvPr id="44" name="Rectangle 43"/>
          <p:cNvSpPr/>
          <p:nvPr/>
        </p:nvSpPr>
        <p:spPr>
          <a:xfrm>
            <a:off x="7600043" y="6553373"/>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3</a:t>
            </a:r>
          </a:p>
        </p:txBody>
      </p:sp>
      <p:sp>
        <p:nvSpPr>
          <p:cNvPr id="45" name="Rectangle 44"/>
          <p:cNvSpPr/>
          <p:nvPr/>
        </p:nvSpPr>
        <p:spPr>
          <a:xfrm>
            <a:off x="950976" y="9069705"/>
            <a:ext cx="731520" cy="182880"/>
          </a:xfrm>
          <a:prstGeom prst="rect">
            <a:avLst/>
          </a:prstGeom>
          <a:solidFill>
            <a:srgbClr val="D2D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819656" y="8950833"/>
            <a:ext cx="1463040" cy="411480"/>
          </a:xfrm>
          <a:prstGeom prst="rect">
            <a:avLst/>
          </a:prstGeom>
          <a:noFill/>
        </p:spPr>
        <p:txBody>
          <a:bodyPr wrap="square" anchor="t" lIns="0" rIns="0" tIns="0" bIns="0">
            <a:spAutoFit/>
          </a:bodyPr>
          <a:lstStyle/>
          <a:p>
            <a:pPr algn="l"/>
            <a:r>
              <a:rPr sz="2000" b="1">
                <a:solidFill>
                  <a:srgbClr val="FFFFFF"/>
                </a:solidFill>
                <a:latin typeface="Arial"/>
              </a:rPr>
              <a:t>Ligne 310</a:t>
            </a:r>
          </a:p>
        </p:txBody>
      </p:sp>
      <p:sp>
        <p:nvSpPr>
          <p:cNvPr id="47" name="Rectangle 46"/>
          <p:cNvSpPr/>
          <p:nvPr/>
        </p:nvSpPr>
        <p:spPr>
          <a:xfrm>
            <a:off x="3328416" y="9069705"/>
            <a:ext cx="731520" cy="182880"/>
          </a:xfrm>
          <a:prstGeom prst="rect">
            <a:avLst/>
          </a:prstGeom>
          <a:solidFill>
            <a:srgbClr val="FF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197096" y="8950833"/>
            <a:ext cx="1463040" cy="411480"/>
          </a:xfrm>
          <a:prstGeom prst="rect">
            <a:avLst/>
          </a:prstGeom>
          <a:noFill/>
        </p:spPr>
        <p:txBody>
          <a:bodyPr wrap="square" anchor="t" lIns="0" rIns="0" tIns="0" bIns="0">
            <a:spAutoFit/>
          </a:bodyPr>
          <a:lstStyle/>
          <a:p>
            <a:pPr algn="l"/>
            <a:r>
              <a:rPr sz="2000" b="1">
                <a:solidFill>
                  <a:srgbClr val="FFFFFF"/>
                </a:solidFill>
                <a:latin typeface="Arial"/>
              </a:rPr>
              <a:t>Ligne 312</a:t>
            </a:r>
          </a:p>
        </p:txBody>
      </p:sp>
      <p:sp>
        <p:nvSpPr>
          <p:cNvPr id="49" name="Rectangle 48"/>
          <p:cNvSpPr/>
          <p:nvPr/>
        </p:nvSpPr>
        <p:spPr>
          <a:xfrm>
            <a:off x="5705856" y="9069705"/>
            <a:ext cx="731520" cy="182880"/>
          </a:xfrm>
          <a:prstGeom prst="rect">
            <a:avLst/>
          </a:prstGeom>
          <a:solidFill>
            <a:srgbClr val="DC9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74536" y="8950833"/>
            <a:ext cx="1463040" cy="411480"/>
          </a:xfrm>
          <a:prstGeom prst="rect">
            <a:avLst/>
          </a:prstGeom>
          <a:noFill/>
        </p:spPr>
        <p:txBody>
          <a:bodyPr wrap="square" anchor="t" lIns="0" rIns="0" tIns="0" bIns="0">
            <a:spAutoFit/>
          </a:bodyPr>
          <a:lstStyle/>
          <a:p>
            <a:pPr algn="l"/>
            <a:r>
              <a:rPr sz="2000" b="1">
                <a:solidFill>
                  <a:srgbClr val="FFFFFF"/>
                </a:solidFill>
                <a:latin typeface="Arial"/>
              </a:rPr>
              <a:t>Ligne 320</a:t>
            </a:r>
          </a:p>
        </p:txBody>
      </p:sp>
      <p:sp>
        <p:nvSpPr>
          <p:cNvPr id="51" name="TextBox 50"/>
          <p:cNvSpPr txBox="1"/>
          <p:nvPr/>
        </p:nvSpPr>
        <p:spPr>
          <a:xfrm>
            <a:off x="12618720" y="2148840"/>
            <a:ext cx="4754880" cy="1097280"/>
          </a:xfrm>
          <a:prstGeom prst="rect">
            <a:avLst/>
          </a:prstGeom>
          <a:noFill/>
        </p:spPr>
        <p:txBody>
          <a:bodyPr wrap="square" anchor="t" lIns="0" rIns="0" tIns="0" bIns="0">
            <a:spAutoFit/>
          </a:bodyPr>
          <a:lstStyle/>
          <a:p>
            <a:pPr algn="l"/>
            <a:r>
              <a:rPr sz="7200" b="1">
                <a:solidFill>
                  <a:srgbClr val="72C493"/>
                </a:solidFill>
                <a:latin typeface="Arial"/>
              </a:rPr>
              <a:t>156</a:t>
            </a:r>
          </a:p>
        </p:txBody>
      </p:sp>
      <p:sp>
        <p:nvSpPr>
          <p:cNvPr id="52" name="TextBox 51"/>
          <p:cNvSpPr txBox="1"/>
          <p:nvPr/>
        </p:nvSpPr>
        <p:spPr>
          <a:xfrm>
            <a:off x="12618720" y="3246120"/>
            <a:ext cx="4754880" cy="731520"/>
          </a:xfrm>
          <a:prstGeom prst="rect">
            <a:avLst/>
          </a:prstGeom>
          <a:noFill/>
        </p:spPr>
        <p:txBody>
          <a:bodyPr wrap="square" anchor="t" lIns="0" rIns="0" tIns="0" bIns="0">
            <a:spAutoFit/>
          </a:bodyPr>
          <a:lstStyle/>
          <a:p>
            <a:pPr algn="l"/>
            <a:r>
              <a:rPr sz="2200" b="1">
                <a:solidFill>
                  <a:srgbClr val="FFFFFF"/>
                </a:solidFill>
                <a:latin typeface="Arial"/>
              </a:rPr>
              <a:t>signalements aux arrêts du quartier</a:t>
            </a:r>
          </a:p>
        </p:txBody>
      </p:sp>
      <p:sp>
        <p:nvSpPr>
          <p:cNvPr id="53" name="TextBox 52"/>
          <p:cNvSpPr txBox="1"/>
          <p:nvPr/>
        </p:nvSpPr>
        <p:spPr>
          <a:xfrm>
            <a:off x="12618720" y="3931920"/>
            <a:ext cx="4754880" cy="411480"/>
          </a:xfrm>
          <a:prstGeom prst="rect">
            <a:avLst/>
          </a:prstGeom>
          <a:noFill/>
        </p:spPr>
        <p:txBody>
          <a:bodyPr wrap="square" anchor="t" lIns="0" rIns="0" tIns="0" bIns="0">
            <a:spAutoFit/>
          </a:bodyPr>
          <a:lstStyle/>
          <a:p>
            <a:pPr algn="l"/>
            <a:r>
              <a:rPr sz="1700" b="0">
                <a:solidFill>
                  <a:srgbClr val="8A90B0"/>
                </a:solidFill>
                <a:latin typeface="Arial"/>
              </a:rPr>
              <a:t>sur 472 dans toute la ville</a:t>
            </a:r>
          </a:p>
        </p:txBody>
      </p:sp>
      <p:sp>
        <p:nvSpPr>
          <p:cNvPr id="54" name="TextBox 53"/>
          <p:cNvSpPr txBox="1"/>
          <p:nvPr/>
        </p:nvSpPr>
        <p:spPr>
          <a:xfrm>
            <a:off x="12618720" y="4572000"/>
            <a:ext cx="4754880" cy="365760"/>
          </a:xfrm>
          <a:prstGeom prst="rect">
            <a:avLst/>
          </a:prstGeom>
          <a:noFill/>
        </p:spPr>
        <p:txBody>
          <a:bodyPr wrap="square" anchor="t" lIns="0" rIns="0" tIns="0" bIns="0">
            <a:spAutoFit/>
          </a:bodyPr>
          <a:lstStyle/>
          <a:p>
            <a:pPr algn="l"/>
            <a:r>
              <a:rPr sz="1600" b="1" spc="120">
                <a:solidFill>
                  <a:srgbClr val="72C493"/>
                </a:solidFill>
                <a:latin typeface="Arial"/>
              </a:rPr>
              <a:t>ARRÊTS LES PLUS SIGNALÉS</a:t>
            </a:r>
          </a:p>
        </p:txBody>
      </p:sp>
      <p:sp>
        <p:nvSpPr>
          <p:cNvPr id="55" name="TextBox 54"/>
          <p:cNvSpPr txBox="1"/>
          <p:nvPr/>
        </p:nvSpPr>
        <p:spPr>
          <a:xfrm>
            <a:off x="12618720" y="5029200"/>
            <a:ext cx="731520" cy="411480"/>
          </a:xfrm>
          <a:prstGeom prst="rect">
            <a:avLst/>
          </a:prstGeom>
          <a:noFill/>
        </p:spPr>
        <p:txBody>
          <a:bodyPr wrap="square" anchor="t" lIns="0" rIns="0" tIns="0" bIns="0">
            <a:spAutoFit/>
          </a:bodyPr>
          <a:lstStyle/>
          <a:p>
            <a:pPr algn="l"/>
            <a:r>
              <a:rPr sz="2200" b="1">
                <a:solidFill>
                  <a:srgbClr val="72C493"/>
                </a:solidFill>
                <a:latin typeface="Arial"/>
              </a:rPr>
              <a:t>28</a:t>
            </a:r>
          </a:p>
        </p:txBody>
      </p:sp>
      <p:sp>
        <p:nvSpPr>
          <p:cNvPr id="56" name="TextBox 55"/>
          <p:cNvSpPr txBox="1"/>
          <p:nvPr/>
        </p:nvSpPr>
        <p:spPr>
          <a:xfrm>
            <a:off x="13350240" y="5065776"/>
            <a:ext cx="4023360" cy="411480"/>
          </a:xfrm>
          <a:prstGeom prst="rect">
            <a:avLst/>
          </a:prstGeom>
          <a:noFill/>
        </p:spPr>
        <p:txBody>
          <a:bodyPr wrap="square" anchor="t" lIns="0" rIns="0" tIns="0" bIns="0">
            <a:spAutoFit/>
          </a:bodyPr>
          <a:lstStyle/>
          <a:p>
            <a:pPr algn="l"/>
            <a:r>
              <a:rPr sz="1800" b="1">
                <a:solidFill>
                  <a:srgbClr val="FFFFFF"/>
                </a:solidFill>
                <a:latin typeface="Arial"/>
              </a:rPr>
              <a:t>Cité des Hêtres</a:t>
            </a:r>
          </a:p>
        </p:txBody>
      </p:sp>
      <p:sp>
        <p:nvSpPr>
          <p:cNvPr id="57" name="TextBox 56"/>
          <p:cNvSpPr txBox="1"/>
          <p:nvPr/>
        </p:nvSpPr>
        <p:spPr>
          <a:xfrm>
            <a:off x="12618720" y="5486400"/>
            <a:ext cx="731520" cy="411480"/>
          </a:xfrm>
          <a:prstGeom prst="rect">
            <a:avLst/>
          </a:prstGeom>
          <a:noFill/>
        </p:spPr>
        <p:txBody>
          <a:bodyPr wrap="square" anchor="t" lIns="0" rIns="0" tIns="0" bIns="0">
            <a:spAutoFit/>
          </a:bodyPr>
          <a:lstStyle/>
          <a:p>
            <a:pPr algn="l"/>
            <a:r>
              <a:rPr sz="2200" b="1">
                <a:solidFill>
                  <a:srgbClr val="72C493"/>
                </a:solidFill>
                <a:latin typeface="Arial"/>
              </a:rPr>
              <a:t>25</a:t>
            </a:r>
          </a:p>
        </p:txBody>
      </p:sp>
      <p:sp>
        <p:nvSpPr>
          <p:cNvPr id="58" name="TextBox 57"/>
          <p:cNvSpPr txBox="1"/>
          <p:nvPr/>
        </p:nvSpPr>
        <p:spPr>
          <a:xfrm>
            <a:off x="13350240" y="5522976"/>
            <a:ext cx="4023360" cy="411480"/>
          </a:xfrm>
          <a:prstGeom prst="rect">
            <a:avLst/>
          </a:prstGeom>
          <a:noFill/>
        </p:spPr>
        <p:txBody>
          <a:bodyPr wrap="square" anchor="t" lIns="0" rIns="0" tIns="0" bIns="0">
            <a:spAutoFit/>
          </a:bodyPr>
          <a:lstStyle/>
          <a:p>
            <a:pPr algn="l"/>
            <a:r>
              <a:rPr sz="1800" b="1">
                <a:solidFill>
                  <a:srgbClr val="FFFFFF"/>
                </a:solidFill>
                <a:latin typeface="Arial"/>
              </a:rPr>
              <a:t>Rue du Ballon</a:t>
            </a:r>
          </a:p>
        </p:txBody>
      </p:sp>
      <p:sp>
        <p:nvSpPr>
          <p:cNvPr id="59" name="TextBox 58"/>
          <p:cNvSpPr txBox="1"/>
          <p:nvPr/>
        </p:nvSpPr>
        <p:spPr>
          <a:xfrm>
            <a:off x="12618720" y="5943600"/>
            <a:ext cx="731520" cy="411480"/>
          </a:xfrm>
          <a:prstGeom prst="rect">
            <a:avLst/>
          </a:prstGeom>
          <a:noFill/>
        </p:spPr>
        <p:txBody>
          <a:bodyPr wrap="square" anchor="t" lIns="0" rIns="0" tIns="0" bIns="0">
            <a:spAutoFit/>
          </a:bodyPr>
          <a:lstStyle/>
          <a:p>
            <a:pPr algn="l"/>
            <a:r>
              <a:rPr sz="2200" b="1">
                <a:solidFill>
                  <a:srgbClr val="72C493"/>
                </a:solidFill>
                <a:latin typeface="Arial"/>
              </a:rPr>
              <a:t>23</a:t>
            </a:r>
          </a:p>
        </p:txBody>
      </p:sp>
      <p:sp>
        <p:nvSpPr>
          <p:cNvPr id="60" name="TextBox 59"/>
          <p:cNvSpPr txBox="1"/>
          <p:nvPr/>
        </p:nvSpPr>
        <p:spPr>
          <a:xfrm>
            <a:off x="13350240" y="5980176"/>
            <a:ext cx="4023360" cy="411480"/>
          </a:xfrm>
          <a:prstGeom prst="rect">
            <a:avLst/>
          </a:prstGeom>
          <a:noFill/>
        </p:spPr>
        <p:txBody>
          <a:bodyPr wrap="square" anchor="t" lIns="0" rIns="0" tIns="0" bIns="0">
            <a:spAutoFit/>
          </a:bodyPr>
          <a:lstStyle/>
          <a:p>
            <a:pPr algn="l"/>
            <a:r>
              <a:rPr sz="1800" b="1">
                <a:solidFill>
                  <a:srgbClr val="FFFFFF"/>
                </a:solidFill>
                <a:latin typeface="Arial"/>
              </a:rPr>
              <a:t>Place du Combat</a:t>
            </a:r>
          </a:p>
        </p:txBody>
      </p:sp>
      <p:sp>
        <p:nvSpPr>
          <p:cNvPr id="61" name="TextBox 60"/>
          <p:cNvSpPr txBox="1"/>
          <p:nvPr/>
        </p:nvSpPr>
        <p:spPr>
          <a:xfrm>
            <a:off x="12618720" y="6400800"/>
            <a:ext cx="731520" cy="411480"/>
          </a:xfrm>
          <a:prstGeom prst="rect">
            <a:avLst/>
          </a:prstGeom>
          <a:noFill/>
        </p:spPr>
        <p:txBody>
          <a:bodyPr wrap="square" anchor="t" lIns="0" rIns="0" tIns="0" bIns="0">
            <a:spAutoFit/>
          </a:bodyPr>
          <a:lstStyle/>
          <a:p>
            <a:pPr algn="l"/>
            <a:r>
              <a:rPr sz="2200" b="1">
                <a:solidFill>
                  <a:srgbClr val="72C493"/>
                </a:solidFill>
                <a:latin typeface="Arial"/>
              </a:rPr>
              <a:t>19</a:t>
            </a:r>
          </a:p>
        </p:txBody>
      </p:sp>
      <p:sp>
        <p:nvSpPr>
          <p:cNvPr id="62" name="TextBox 61"/>
          <p:cNvSpPr txBox="1"/>
          <p:nvPr/>
        </p:nvSpPr>
        <p:spPr>
          <a:xfrm>
            <a:off x="13350240" y="6437376"/>
            <a:ext cx="4023360" cy="411480"/>
          </a:xfrm>
          <a:prstGeom prst="rect">
            <a:avLst/>
          </a:prstGeom>
          <a:noFill/>
        </p:spPr>
        <p:txBody>
          <a:bodyPr wrap="square" anchor="t" lIns="0" rIns="0" tIns="0" bIns="0">
            <a:spAutoFit/>
          </a:bodyPr>
          <a:lstStyle/>
          <a:p>
            <a:pPr algn="l"/>
            <a:r>
              <a:rPr sz="1800" b="1">
                <a:solidFill>
                  <a:srgbClr val="FFFFFF"/>
                </a:solidFill>
                <a:latin typeface="Arial"/>
              </a:rPr>
              <a:t>Les Richardets – Centre</a:t>
            </a:r>
          </a:p>
        </p:txBody>
      </p:sp>
      <p:sp>
        <p:nvSpPr>
          <p:cNvPr id="63" name="TextBox 62"/>
          <p:cNvSpPr txBox="1"/>
          <p:nvPr/>
        </p:nvSpPr>
        <p:spPr>
          <a:xfrm>
            <a:off x="12618720" y="6995160"/>
            <a:ext cx="4754880" cy="365760"/>
          </a:xfrm>
          <a:prstGeom prst="rect">
            <a:avLst/>
          </a:prstGeom>
          <a:noFill/>
        </p:spPr>
        <p:txBody>
          <a:bodyPr wrap="square" anchor="t" lIns="0" rIns="0" tIns="0" bIns="0">
            <a:spAutoFit/>
          </a:bodyPr>
          <a:lstStyle/>
          <a:p>
            <a:pPr algn="l"/>
            <a:r>
              <a:rPr sz="1600" b="1" spc="120">
                <a:solidFill>
                  <a:srgbClr val="72C493"/>
                </a:solidFill>
                <a:latin typeface="Arial"/>
              </a:rPr>
              <a:t>PROBLÈMES LES PLUS CITÉS</a:t>
            </a:r>
          </a:p>
        </p:txBody>
      </p:sp>
      <p:sp>
        <p:nvSpPr>
          <p:cNvPr id="64" name="TextBox 63"/>
          <p:cNvSpPr txBox="1"/>
          <p:nvPr/>
        </p:nvSpPr>
        <p:spPr>
          <a:xfrm>
            <a:off x="12618720" y="7452360"/>
            <a:ext cx="4754880" cy="320040"/>
          </a:xfrm>
          <a:prstGeom prst="rect">
            <a:avLst/>
          </a:prstGeom>
          <a:noFill/>
        </p:spPr>
        <p:txBody>
          <a:bodyPr wrap="square" anchor="t" lIns="0" rIns="0" tIns="0" bIns="0">
            <a:spAutoFit/>
          </a:bodyPr>
          <a:lstStyle/>
          <a:p>
            <a:pPr algn="l"/>
            <a:r>
              <a:rPr sz="1500" b="0">
                <a:solidFill>
                  <a:srgbClr val="FFFFFF"/>
                </a:solidFill>
                <a:latin typeface="Arial"/>
              </a:rPr>
              <a:t>Non passage du bus</a:t>
            </a:r>
          </a:p>
        </p:txBody>
      </p:sp>
      <p:sp>
        <p:nvSpPr>
          <p:cNvPr id="65" name="Rectangle 64"/>
          <p:cNvSpPr/>
          <p:nvPr/>
        </p:nvSpPr>
        <p:spPr>
          <a:xfrm>
            <a:off x="12618720" y="7781544"/>
            <a:ext cx="3931920" cy="20116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6642080" y="7708392"/>
            <a:ext cx="731520" cy="320040"/>
          </a:xfrm>
          <a:prstGeom prst="rect">
            <a:avLst/>
          </a:prstGeom>
          <a:noFill/>
        </p:spPr>
        <p:txBody>
          <a:bodyPr wrap="square" anchor="t" lIns="0" rIns="0" tIns="0" bIns="0">
            <a:spAutoFit/>
          </a:bodyPr>
          <a:lstStyle/>
          <a:p>
            <a:pPr algn="l"/>
            <a:r>
              <a:rPr sz="1500" b="1">
                <a:solidFill>
                  <a:srgbClr val="72C493"/>
                </a:solidFill>
                <a:latin typeface="Arial"/>
              </a:rPr>
              <a:t>65</a:t>
            </a:r>
          </a:p>
        </p:txBody>
      </p:sp>
      <p:sp>
        <p:nvSpPr>
          <p:cNvPr id="67" name="TextBox 66"/>
          <p:cNvSpPr txBox="1"/>
          <p:nvPr/>
        </p:nvSpPr>
        <p:spPr>
          <a:xfrm>
            <a:off x="12618720" y="8110728"/>
            <a:ext cx="4754880" cy="320040"/>
          </a:xfrm>
          <a:prstGeom prst="rect">
            <a:avLst/>
          </a:prstGeom>
          <a:noFill/>
        </p:spPr>
        <p:txBody>
          <a:bodyPr wrap="square" anchor="t" lIns="0" rIns="0" tIns="0" bIns="0">
            <a:spAutoFit/>
          </a:bodyPr>
          <a:lstStyle/>
          <a:p>
            <a:pPr algn="l"/>
            <a:r>
              <a:rPr sz="1500" b="0">
                <a:solidFill>
                  <a:srgbClr val="FFFFFF"/>
                </a:solidFill>
                <a:latin typeface="Arial"/>
              </a:rPr>
              <a:t>Retard inférieur à 15 min</a:t>
            </a:r>
          </a:p>
        </p:txBody>
      </p:sp>
      <p:sp>
        <p:nvSpPr>
          <p:cNvPr id="68" name="Rectangle 67"/>
          <p:cNvSpPr/>
          <p:nvPr/>
        </p:nvSpPr>
        <p:spPr>
          <a:xfrm>
            <a:off x="12618720" y="8439912"/>
            <a:ext cx="1935714" cy="20116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4645874" y="8366760"/>
            <a:ext cx="731520" cy="320040"/>
          </a:xfrm>
          <a:prstGeom prst="rect">
            <a:avLst/>
          </a:prstGeom>
          <a:noFill/>
        </p:spPr>
        <p:txBody>
          <a:bodyPr wrap="square" anchor="t" lIns="0" rIns="0" tIns="0" bIns="0">
            <a:spAutoFit/>
          </a:bodyPr>
          <a:lstStyle/>
          <a:p>
            <a:pPr algn="l"/>
            <a:r>
              <a:rPr sz="1500" b="1">
                <a:solidFill>
                  <a:srgbClr val="72C493"/>
                </a:solidFill>
                <a:latin typeface="Arial"/>
              </a:rPr>
              <a:t>32</a:t>
            </a:r>
          </a:p>
        </p:txBody>
      </p:sp>
      <p:sp>
        <p:nvSpPr>
          <p:cNvPr id="70" name="TextBox 69"/>
          <p:cNvSpPr txBox="1"/>
          <p:nvPr/>
        </p:nvSpPr>
        <p:spPr>
          <a:xfrm>
            <a:off x="12618720" y="8769096"/>
            <a:ext cx="4754880" cy="320040"/>
          </a:xfrm>
          <a:prstGeom prst="rect">
            <a:avLst/>
          </a:prstGeom>
          <a:noFill/>
        </p:spPr>
        <p:txBody>
          <a:bodyPr wrap="square" anchor="t" lIns="0" rIns="0" tIns="0" bIns="0">
            <a:spAutoFit/>
          </a:bodyPr>
          <a:lstStyle/>
          <a:p>
            <a:pPr algn="l"/>
            <a:r>
              <a:rPr sz="1500" b="0">
                <a:solidFill>
                  <a:srgbClr val="FFFFFF"/>
                </a:solidFill>
                <a:latin typeface="Arial"/>
              </a:rPr>
              <a:t>Affichage en temps réel erroné</a:t>
            </a:r>
          </a:p>
        </p:txBody>
      </p:sp>
      <p:sp>
        <p:nvSpPr>
          <p:cNvPr id="71" name="Rectangle 70"/>
          <p:cNvSpPr/>
          <p:nvPr/>
        </p:nvSpPr>
        <p:spPr>
          <a:xfrm>
            <a:off x="12618720" y="9098280"/>
            <a:ext cx="1935714" cy="20116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645874" y="9025128"/>
            <a:ext cx="731520" cy="320040"/>
          </a:xfrm>
          <a:prstGeom prst="rect">
            <a:avLst/>
          </a:prstGeom>
          <a:noFill/>
        </p:spPr>
        <p:txBody>
          <a:bodyPr wrap="square" anchor="t" lIns="0" rIns="0" tIns="0" bIns="0">
            <a:spAutoFit/>
          </a:bodyPr>
          <a:lstStyle/>
          <a:p>
            <a:pPr algn="l"/>
            <a:r>
              <a:rPr sz="1500" b="1">
                <a:solidFill>
                  <a:srgbClr val="72C493"/>
                </a:solidFill>
                <a:latin typeface="Arial"/>
              </a:rPr>
              <a:t>32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LES ÉCOLES DU QUARTIER</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Les travaux dans les écoles du quartier</a:t>
            </a:r>
          </a:p>
        </p:txBody>
      </p:sp>
      <p:sp>
        <p:nvSpPr>
          <p:cNvPr id="5" name="Rectangle 4"/>
          <p:cNvSpPr/>
          <p:nvPr/>
        </p:nvSpPr>
        <p:spPr>
          <a:xfrm>
            <a:off x="950976" y="2240280"/>
            <a:ext cx="8046720" cy="493776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50976" y="2240280"/>
            <a:ext cx="804672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71016" y="2560320"/>
            <a:ext cx="4206240" cy="548640"/>
          </a:xfrm>
          <a:prstGeom prst="rect">
            <a:avLst/>
          </a:prstGeom>
          <a:noFill/>
        </p:spPr>
        <p:txBody>
          <a:bodyPr wrap="square" anchor="t" lIns="0" rIns="0" tIns="0" bIns="0">
            <a:spAutoFit/>
          </a:bodyPr>
          <a:lstStyle/>
          <a:p>
            <a:pPr algn="l"/>
            <a:r>
              <a:rPr sz="2800" b="1">
                <a:solidFill>
                  <a:srgbClr val="FFFFFF"/>
                </a:solidFill>
                <a:latin typeface="Arial"/>
              </a:rPr>
              <a:t>École des Gobelins</a:t>
            </a:r>
          </a:p>
        </p:txBody>
      </p:sp>
      <p:sp>
        <p:nvSpPr>
          <p:cNvPr id="8" name="TextBox 7"/>
          <p:cNvSpPr txBox="1"/>
          <p:nvPr/>
        </p:nvSpPr>
        <p:spPr>
          <a:xfrm>
            <a:off x="1271016" y="3108960"/>
            <a:ext cx="4480560" cy="640080"/>
          </a:xfrm>
          <a:prstGeom prst="rect">
            <a:avLst/>
          </a:prstGeom>
          <a:noFill/>
        </p:spPr>
        <p:txBody>
          <a:bodyPr wrap="square" anchor="t" lIns="0" rIns="0" tIns="0" bIns="0">
            <a:spAutoFit/>
          </a:bodyPr>
          <a:lstStyle/>
          <a:p>
            <a:pPr algn="l"/>
            <a:r>
              <a:rPr sz="1600" b="0">
                <a:solidFill>
                  <a:srgbClr val="8A90B0"/>
                </a:solidFill>
                <a:latin typeface="Arial"/>
              </a:rPr>
              <a:t>pour accueillir l'école des Richardets</a:t>
            </a:r>
          </a:p>
        </p:txBody>
      </p:sp>
      <p:sp>
        <p:nvSpPr>
          <p:cNvPr id="9" name="TextBox 8"/>
          <p:cNvSpPr txBox="1"/>
          <p:nvPr/>
        </p:nvSpPr>
        <p:spPr>
          <a:xfrm>
            <a:off x="5157216" y="2496312"/>
            <a:ext cx="3520440" cy="822960"/>
          </a:xfrm>
          <a:prstGeom prst="rect">
            <a:avLst/>
          </a:prstGeom>
          <a:noFill/>
        </p:spPr>
        <p:txBody>
          <a:bodyPr wrap="square" anchor="t" lIns="0" rIns="0" tIns="0" bIns="0">
            <a:spAutoFit/>
          </a:bodyPr>
          <a:lstStyle/>
          <a:p>
            <a:pPr algn="r"/>
            <a:r>
              <a:rPr sz="4800" b="1">
                <a:solidFill>
                  <a:srgbClr val="72C493"/>
                </a:solidFill>
                <a:latin typeface="Arial"/>
              </a:rPr>
              <a:t>1,3 M€</a:t>
            </a:r>
          </a:p>
        </p:txBody>
      </p:sp>
      <p:sp>
        <p:nvSpPr>
          <p:cNvPr id="10" name="TextBox 9"/>
          <p:cNvSpPr txBox="1"/>
          <p:nvPr/>
        </p:nvSpPr>
        <p:spPr>
          <a:xfrm>
            <a:off x="5157216" y="3291840"/>
            <a:ext cx="3520440" cy="320040"/>
          </a:xfrm>
          <a:prstGeom prst="rect">
            <a:avLst/>
          </a:prstGeom>
          <a:noFill/>
        </p:spPr>
        <p:txBody>
          <a:bodyPr wrap="square" anchor="t" lIns="0" rIns="0" tIns="0" bIns="0">
            <a:spAutoFit/>
          </a:bodyPr>
          <a:lstStyle/>
          <a:p>
            <a:pPr algn="r"/>
            <a:r>
              <a:rPr sz="1300" b="1" spc="150">
                <a:solidFill>
                  <a:srgbClr val="72C493"/>
                </a:solidFill>
                <a:latin typeface="Arial"/>
              </a:rPr>
              <a:t>INVESTIS CETTE ANNÉE</a:t>
            </a:r>
          </a:p>
        </p:txBody>
      </p:sp>
      <p:sp>
        <p:nvSpPr>
          <p:cNvPr id="11" name="TextBox 10"/>
          <p:cNvSpPr txBox="1"/>
          <p:nvPr/>
        </p:nvSpPr>
        <p:spPr>
          <a:xfrm>
            <a:off x="1271016" y="3749039"/>
            <a:ext cx="7406640" cy="320040"/>
          </a:xfrm>
          <a:prstGeom prst="rect">
            <a:avLst/>
          </a:prstGeom>
          <a:noFill/>
        </p:spPr>
        <p:txBody>
          <a:bodyPr wrap="square" anchor="t" lIns="0" rIns="0" tIns="0" bIns="0">
            <a:spAutoFit/>
          </a:bodyPr>
          <a:lstStyle/>
          <a:p>
            <a:pPr algn="l"/>
            <a:r>
              <a:rPr sz="1500" b="1" spc="150">
                <a:solidFill>
                  <a:srgbClr val="72C493"/>
                </a:solidFill>
                <a:latin typeface="Arial"/>
              </a:rPr>
              <a:t>RÉALISÉ CETTE ANNÉE</a:t>
            </a:r>
          </a:p>
        </p:txBody>
      </p:sp>
      <p:sp>
        <p:nvSpPr>
          <p:cNvPr id="12" name="Oval 11"/>
          <p:cNvSpPr/>
          <p:nvPr/>
        </p:nvSpPr>
        <p:spPr>
          <a:xfrm>
            <a:off x="1289304" y="4197096"/>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91056" y="4114800"/>
            <a:ext cx="7086600" cy="347472"/>
          </a:xfrm>
          <a:prstGeom prst="rect">
            <a:avLst/>
          </a:prstGeom>
          <a:noFill/>
        </p:spPr>
        <p:txBody>
          <a:bodyPr wrap="square" anchor="t" lIns="0" rIns="0" tIns="0" bIns="0">
            <a:spAutoFit/>
          </a:bodyPr>
          <a:lstStyle/>
          <a:p>
            <a:pPr algn="l"/>
            <a:r>
              <a:rPr sz="1700" b="1">
                <a:solidFill>
                  <a:srgbClr val="FAF5EC"/>
                </a:solidFill>
                <a:latin typeface="Arial"/>
              </a:rPr>
              <a:t>Création de sanitaires</a:t>
            </a:r>
          </a:p>
        </p:txBody>
      </p:sp>
      <p:sp>
        <p:nvSpPr>
          <p:cNvPr id="14" name="Oval 13"/>
          <p:cNvSpPr/>
          <p:nvPr/>
        </p:nvSpPr>
        <p:spPr>
          <a:xfrm>
            <a:off x="1289304" y="4544568"/>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91056" y="4462272"/>
            <a:ext cx="7086600" cy="347472"/>
          </a:xfrm>
          <a:prstGeom prst="rect">
            <a:avLst/>
          </a:prstGeom>
          <a:noFill/>
        </p:spPr>
        <p:txBody>
          <a:bodyPr wrap="square" anchor="t" lIns="0" rIns="0" tIns="0" bIns="0">
            <a:spAutoFit/>
          </a:bodyPr>
          <a:lstStyle/>
          <a:p>
            <a:pPr algn="l"/>
            <a:r>
              <a:rPr sz="1700" b="1">
                <a:solidFill>
                  <a:srgbClr val="FAF5EC"/>
                </a:solidFill>
                <a:latin typeface="Arial"/>
              </a:rPr>
              <a:t>Réfection des sols et des peintures</a:t>
            </a:r>
          </a:p>
        </p:txBody>
      </p:sp>
      <p:sp>
        <p:nvSpPr>
          <p:cNvPr id="16" name="Oval 15"/>
          <p:cNvSpPr/>
          <p:nvPr/>
        </p:nvSpPr>
        <p:spPr>
          <a:xfrm>
            <a:off x="1289304" y="4892040"/>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591056" y="4809744"/>
            <a:ext cx="7086600" cy="347472"/>
          </a:xfrm>
          <a:prstGeom prst="rect">
            <a:avLst/>
          </a:prstGeom>
          <a:noFill/>
        </p:spPr>
        <p:txBody>
          <a:bodyPr wrap="square" anchor="t" lIns="0" rIns="0" tIns="0" bIns="0">
            <a:spAutoFit/>
          </a:bodyPr>
          <a:lstStyle/>
          <a:p>
            <a:pPr algn="l"/>
            <a:r>
              <a:rPr sz="1700" b="1">
                <a:solidFill>
                  <a:srgbClr val="FAF5EC"/>
                </a:solidFill>
                <a:latin typeface="Arial"/>
              </a:rPr>
              <a:t>Travaux électriques</a:t>
            </a:r>
          </a:p>
        </p:txBody>
      </p:sp>
      <p:sp>
        <p:nvSpPr>
          <p:cNvPr id="18" name="Oval 17"/>
          <p:cNvSpPr/>
          <p:nvPr/>
        </p:nvSpPr>
        <p:spPr>
          <a:xfrm>
            <a:off x="1289304" y="5239512"/>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91056" y="5157216"/>
            <a:ext cx="7086600" cy="347472"/>
          </a:xfrm>
          <a:prstGeom prst="rect">
            <a:avLst/>
          </a:prstGeom>
          <a:noFill/>
        </p:spPr>
        <p:txBody>
          <a:bodyPr wrap="square" anchor="t" lIns="0" rIns="0" tIns="0" bIns="0">
            <a:spAutoFit/>
          </a:bodyPr>
          <a:lstStyle/>
          <a:p>
            <a:pPr algn="l"/>
            <a:r>
              <a:rPr sz="1700" b="1">
                <a:solidFill>
                  <a:srgbClr val="FAF5EC"/>
                </a:solidFill>
                <a:latin typeface="Arial"/>
              </a:rPr>
              <a:t>Clôtures et portails</a:t>
            </a:r>
          </a:p>
        </p:txBody>
      </p:sp>
      <p:sp>
        <p:nvSpPr>
          <p:cNvPr id="20" name="Oval 19"/>
          <p:cNvSpPr/>
          <p:nvPr/>
        </p:nvSpPr>
        <p:spPr>
          <a:xfrm>
            <a:off x="1289304" y="5586983"/>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591056" y="5504688"/>
            <a:ext cx="7086600" cy="347472"/>
          </a:xfrm>
          <a:prstGeom prst="rect">
            <a:avLst/>
          </a:prstGeom>
          <a:noFill/>
        </p:spPr>
        <p:txBody>
          <a:bodyPr wrap="square" anchor="t" lIns="0" rIns="0" tIns="0" bIns="0">
            <a:spAutoFit/>
          </a:bodyPr>
          <a:lstStyle/>
          <a:p>
            <a:pPr algn="l"/>
            <a:r>
              <a:rPr sz="1700" b="1">
                <a:solidFill>
                  <a:srgbClr val="FAF5EC"/>
                </a:solidFill>
                <a:latin typeface="Arial"/>
              </a:rPr>
              <a:t>Rénovation de la cour et pose de pare-ballons</a:t>
            </a:r>
          </a:p>
        </p:txBody>
      </p:sp>
      <p:sp>
        <p:nvSpPr>
          <p:cNvPr id="22" name="Rectangle 21"/>
          <p:cNvSpPr/>
          <p:nvPr/>
        </p:nvSpPr>
        <p:spPr>
          <a:xfrm>
            <a:off x="9272016" y="2240280"/>
            <a:ext cx="8046720" cy="493776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72016" y="2240280"/>
            <a:ext cx="804672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92056" y="2560320"/>
            <a:ext cx="4206240" cy="548640"/>
          </a:xfrm>
          <a:prstGeom prst="rect">
            <a:avLst/>
          </a:prstGeom>
          <a:noFill/>
        </p:spPr>
        <p:txBody>
          <a:bodyPr wrap="square" anchor="t" lIns="0" rIns="0" tIns="0" bIns="0">
            <a:spAutoFit/>
          </a:bodyPr>
          <a:lstStyle/>
          <a:p>
            <a:pPr algn="l"/>
            <a:r>
              <a:rPr sz="2800" b="1">
                <a:solidFill>
                  <a:srgbClr val="FFFFFF"/>
                </a:solidFill>
                <a:latin typeface="Arial"/>
              </a:rPr>
              <a:t>Les Charmilles</a:t>
            </a:r>
          </a:p>
        </p:txBody>
      </p:sp>
      <p:sp>
        <p:nvSpPr>
          <p:cNvPr id="25" name="TextBox 24"/>
          <p:cNvSpPr txBox="1"/>
          <p:nvPr/>
        </p:nvSpPr>
        <p:spPr>
          <a:xfrm>
            <a:off x="9592056" y="3108960"/>
            <a:ext cx="4480560" cy="640080"/>
          </a:xfrm>
          <a:prstGeom prst="rect">
            <a:avLst/>
          </a:prstGeom>
          <a:noFill/>
        </p:spPr>
        <p:txBody>
          <a:bodyPr wrap="square" anchor="t" lIns="0" rIns="0" tIns="0" bIns="0">
            <a:spAutoFit/>
          </a:bodyPr>
          <a:lstStyle/>
          <a:p>
            <a:pPr algn="l"/>
            <a:r>
              <a:rPr sz="1600" b="0">
                <a:solidFill>
                  <a:srgbClr val="8A90B0"/>
                </a:solidFill>
                <a:latin typeface="Arial"/>
              </a:rPr>
              <a:t>pour l'assainissement et le hall du groupe scolaire</a:t>
            </a:r>
          </a:p>
        </p:txBody>
      </p:sp>
      <p:sp>
        <p:nvSpPr>
          <p:cNvPr id="26" name="TextBox 25"/>
          <p:cNvSpPr txBox="1"/>
          <p:nvPr/>
        </p:nvSpPr>
        <p:spPr>
          <a:xfrm>
            <a:off x="13478256" y="2496312"/>
            <a:ext cx="3520440" cy="822960"/>
          </a:xfrm>
          <a:prstGeom prst="rect">
            <a:avLst/>
          </a:prstGeom>
          <a:noFill/>
        </p:spPr>
        <p:txBody>
          <a:bodyPr wrap="square" anchor="t" lIns="0" rIns="0" tIns="0" bIns="0">
            <a:spAutoFit/>
          </a:bodyPr>
          <a:lstStyle/>
          <a:p>
            <a:pPr algn="r"/>
            <a:r>
              <a:rPr sz="4800" b="1">
                <a:solidFill>
                  <a:srgbClr val="72C493"/>
                </a:solidFill>
                <a:latin typeface="Arial"/>
              </a:rPr>
              <a:t>23 000 €</a:t>
            </a:r>
          </a:p>
        </p:txBody>
      </p:sp>
      <p:sp>
        <p:nvSpPr>
          <p:cNvPr id="27" name="TextBox 26"/>
          <p:cNvSpPr txBox="1"/>
          <p:nvPr/>
        </p:nvSpPr>
        <p:spPr>
          <a:xfrm>
            <a:off x="13478256" y="3291840"/>
            <a:ext cx="3520440" cy="320040"/>
          </a:xfrm>
          <a:prstGeom prst="rect">
            <a:avLst/>
          </a:prstGeom>
          <a:noFill/>
        </p:spPr>
        <p:txBody>
          <a:bodyPr wrap="square" anchor="t" lIns="0" rIns="0" tIns="0" bIns="0">
            <a:spAutoFit/>
          </a:bodyPr>
          <a:lstStyle/>
          <a:p>
            <a:pPr algn="r"/>
            <a:r>
              <a:rPr sz="1300" b="1" spc="150">
                <a:solidFill>
                  <a:srgbClr val="72C493"/>
                </a:solidFill>
                <a:latin typeface="Arial"/>
              </a:rPr>
              <a:t>INVESTIS CETTE ANNÉE</a:t>
            </a:r>
          </a:p>
        </p:txBody>
      </p:sp>
      <p:sp>
        <p:nvSpPr>
          <p:cNvPr id="28" name="TextBox 27"/>
          <p:cNvSpPr txBox="1"/>
          <p:nvPr/>
        </p:nvSpPr>
        <p:spPr>
          <a:xfrm>
            <a:off x="9592056" y="3749039"/>
            <a:ext cx="7406640" cy="320040"/>
          </a:xfrm>
          <a:prstGeom prst="rect">
            <a:avLst/>
          </a:prstGeom>
          <a:noFill/>
        </p:spPr>
        <p:txBody>
          <a:bodyPr wrap="square" anchor="t" lIns="0" rIns="0" tIns="0" bIns="0">
            <a:spAutoFit/>
          </a:bodyPr>
          <a:lstStyle/>
          <a:p>
            <a:pPr algn="l"/>
            <a:r>
              <a:rPr sz="1500" b="1" spc="150">
                <a:solidFill>
                  <a:srgbClr val="72C493"/>
                </a:solidFill>
                <a:latin typeface="Arial"/>
              </a:rPr>
              <a:t>FAIT</a:t>
            </a:r>
          </a:p>
        </p:txBody>
      </p:sp>
      <p:sp>
        <p:nvSpPr>
          <p:cNvPr id="29" name="Oval 28"/>
          <p:cNvSpPr/>
          <p:nvPr/>
        </p:nvSpPr>
        <p:spPr>
          <a:xfrm>
            <a:off x="9610344" y="4197096"/>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912096" y="4114800"/>
            <a:ext cx="7086600" cy="347472"/>
          </a:xfrm>
          <a:prstGeom prst="rect">
            <a:avLst/>
          </a:prstGeom>
          <a:noFill/>
        </p:spPr>
        <p:txBody>
          <a:bodyPr wrap="square" anchor="t" lIns="0" rIns="0" tIns="0" bIns="0">
            <a:spAutoFit/>
          </a:bodyPr>
          <a:lstStyle/>
          <a:p>
            <a:pPr algn="l"/>
            <a:r>
              <a:rPr sz="1700" b="1">
                <a:solidFill>
                  <a:srgbClr val="FAF5EC"/>
                </a:solidFill>
                <a:latin typeface="Arial"/>
              </a:rPr>
              <a:t>Mise en conformité du réseau d'assainissement (19 000 €)</a:t>
            </a:r>
          </a:p>
        </p:txBody>
      </p:sp>
      <p:sp>
        <p:nvSpPr>
          <p:cNvPr id="31" name="Oval 30"/>
          <p:cNvSpPr/>
          <p:nvPr/>
        </p:nvSpPr>
        <p:spPr>
          <a:xfrm>
            <a:off x="9610344" y="4544568"/>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912096" y="4462272"/>
            <a:ext cx="7086600" cy="347472"/>
          </a:xfrm>
          <a:prstGeom prst="rect">
            <a:avLst/>
          </a:prstGeom>
          <a:noFill/>
        </p:spPr>
        <p:txBody>
          <a:bodyPr wrap="square" anchor="t" lIns="0" rIns="0" tIns="0" bIns="0">
            <a:spAutoFit/>
          </a:bodyPr>
          <a:lstStyle/>
          <a:p>
            <a:pPr algn="l"/>
            <a:r>
              <a:rPr sz="1700" b="1">
                <a:solidFill>
                  <a:srgbClr val="FAF5EC"/>
                </a:solidFill>
                <a:latin typeface="Arial"/>
              </a:rPr>
              <a:t>Remise en état du hall : plâtrerie et peinture (4 000 €)</a:t>
            </a:r>
          </a:p>
        </p:txBody>
      </p:sp>
      <p:sp>
        <p:nvSpPr>
          <p:cNvPr id="33" name="Oval 32"/>
          <p:cNvSpPr/>
          <p:nvPr/>
        </p:nvSpPr>
        <p:spPr>
          <a:xfrm>
            <a:off x="9610344" y="4892040"/>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912096" y="4809744"/>
            <a:ext cx="7086600" cy="347472"/>
          </a:xfrm>
          <a:prstGeom prst="rect">
            <a:avLst/>
          </a:prstGeom>
          <a:noFill/>
        </p:spPr>
        <p:txBody>
          <a:bodyPr wrap="square" anchor="t" lIns="0" rIns="0" tIns="0" bIns="0">
            <a:spAutoFit/>
          </a:bodyPr>
          <a:lstStyle/>
          <a:p>
            <a:pPr algn="l"/>
            <a:r>
              <a:rPr sz="1700" b="1">
                <a:solidFill>
                  <a:srgbClr val="FAF5EC"/>
                </a:solidFill>
                <a:latin typeface="Arial"/>
              </a:rPr>
              <a:t>Faux plafonds remplacés, étais du réfectoire déposés</a:t>
            </a:r>
          </a:p>
        </p:txBody>
      </p:sp>
      <p:sp>
        <p:nvSpPr>
          <p:cNvPr id="35" name="Oval 34"/>
          <p:cNvSpPr/>
          <p:nvPr/>
        </p:nvSpPr>
        <p:spPr>
          <a:xfrm>
            <a:off x="9610344" y="5239512"/>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5157216"/>
            <a:ext cx="7086600" cy="347472"/>
          </a:xfrm>
          <a:prstGeom prst="rect">
            <a:avLst/>
          </a:prstGeom>
          <a:noFill/>
        </p:spPr>
        <p:txBody>
          <a:bodyPr wrap="square" anchor="t" lIns="0" rIns="0" tIns="0" bIns="0">
            <a:spAutoFit/>
          </a:bodyPr>
          <a:lstStyle/>
          <a:p>
            <a:pPr algn="l"/>
            <a:r>
              <a:rPr sz="1700" b="1">
                <a:solidFill>
                  <a:srgbClr val="FAF5EC"/>
                </a:solidFill>
                <a:latin typeface="Arial"/>
              </a:rPr>
              <a:t>Portes réglées, poignée remplacée</a:t>
            </a:r>
          </a:p>
        </p:txBody>
      </p:sp>
      <p:sp>
        <p:nvSpPr>
          <p:cNvPr id="37" name="Oval 36"/>
          <p:cNvSpPr/>
          <p:nvPr/>
        </p:nvSpPr>
        <p:spPr>
          <a:xfrm>
            <a:off x="9610344" y="5586983"/>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912096" y="5504688"/>
            <a:ext cx="7086600" cy="347472"/>
          </a:xfrm>
          <a:prstGeom prst="rect">
            <a:avLst/>
          </a:prstGeom>
          <a:noFill/>
        </p:spPr>
        <p:txBody>
          <a:bodyPr wrap="square" anchor="t" lIns="0" rIns="0" tIns="0" bIns="0">
            <a:spAutoFit/>
          </a:bodyPr>
          <a:lstStyle/>
          <a:p>
            <a:pPr algn="l"/>
            <a:r>
              <a:rPr sz="1700" b="1">
                <a:solidFill>
                  <a:srgbClr val="FAF5EC"/>
                </a:solidFill>
                <a:latin typeface="Arial"/>
              </a:rPr>
              <a:t>Ventilateurs, films anti-UV et bancs dans la cour</a:t>
            </a:r>
          </a:p>
        </p:txBody>
      </p:sp>
      <p:sp>
        <p:nvSpPr>
          <p:cNvPr id="39" name="TextBox 38"/>
          <p:cNvSpPr txBox="1"/>
          <p:nvPr/>
        </p:nvSpPr>
        <p:spPr>
          <a:xfrm>
            <a:off x="9592056" y="5897879"/>
            <a:ext cx="7406640" cy="320040"/>
          </a:xfrm>
          <a:prstGeom prst="rect">
            <a:avLst/>
          </a:prstGeom>
          <a:noFill/>
        </p:spPr>
        <p:txBody>
          <a:bodyPr wrap="square" anchor="t" lIns="0" rIns="0" tIns="0" bIns="0">
            <a:spAutoFit/>
          </a:bodyPr>
          <a:lstStyle/>
          <a:p>
            <a:pPr algn="l"/>
            <a:r>
              <a:rPr sz="1500" b="1" spc="150">
                <a:solidFill>
                  <a:srgbClr val="72C493"/>
                </a:solidFill>
                <a:latin typeface="Arial"/>
              </a:rPr>
              <a:t>PROGRAMMÉ</a:t>
            </a:r>
          </a:p>
        </p:txBody>
      </p:sp>
      <p:sp>
        <p:nvSpPr>
          <p:cNvPr id="40" name="Oval 39"/>
          <p:cNvSpPr/>
          <p:nvPr/>
        </p:nvSpPr>
        <p:spPr>
          <a:xfrm>
            <a:off x="9610344" y="6345936"/>
            <a:ext cx="155448" cy="155448"/>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912096" y="6263640"/>
            <a:ext cx="7086600" cy="347472"/>
          </a:xfrm>
          <a:prstGeom prst="rect">
            <a:avLst/>
          </a:prstGeom>
          <a:noFill/>
        </p:spPr>
        <p:txBody>
          <a:bodyPr wrap="square" anchor="t" lIns="0" rIns="0" tIns="0" bIns="0">
            <a:spAutoFit/>
          </a:bodyPr>
          <a:lstStyle/>
          <a:p>
            <a:pPr algn="l"/>
            <a:r>
              <a:rPr sz="1700" b="1">
                <a:solidFill>
                  <a:srgbClr val="FAF5EC"/>
                </a:solidFill>
                <a:latin typeface="Arial"/>
              </a:rPr>
              <a:t>Infiltration et peinture, classe de CM1-CM2</a:t>
            </a:r>
          </a:p>
        </p:txBody>
      </p:sp>
      <p:sp>
        <p:nvSpPr>
          <p:cNvPr id="42" name="Oval 41"/>
          <p:cNvSpPr/>
          <p:nvPr/>
        </p:nvSpPr>
        <p:spPr>
          <a:xfrm>
            <a:off x="9610344" y="6693407"/>
            <a:ext cx="155448" cy="155448"/>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912096" y="6611112"/>
            <a:ext cx="7086600" cy="347472"/>
          </a:xfrm>
          <a:prstGeom prst="rect">
            <a:avLst/>
          </a:prstGeom>
          <a:noFill/>
        </p:spPr>
        <p:txBody>
          <a:bodyPr wrap="square" anchor="t" lIns="0" rIns="0" tIns="0" bIns="0">
            <a:spAutoFit/>
          </a:bodyPr>
          <a:lstStyle/>
          <a:p>
            <a:pPr algn="l"/>
            <a:r>
              <a:rPr sz="1700" b="1">
                <a:solidFill>
                  <a:srgbClr val="FAF5EC"/>
                </a:solidFill>
                <a:latin typeface="Arial"/>
              </a:rPr>
              <a:t>Peinture de l'office du réfectoire</a:t>
            </a:r>
          </a:p>
        </p:txBody>
      </p:sp>
      <p:sp>
        <p:nvSpPr>
          <p:cNvPr id="44" name="Rectangle 43"/>
          <p:cNvSpPr/>
          <p:nvPr/>
        </p:nvSpPr>
        <p:spPr>
          <a:xfrm>
            <a:off x="950976" y="7406640"/>
            <a:ext cx="5276088" cy="20116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50976" y="7406640"/>
            <a:ext cx="91440" cy="201168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271016" y="7607808"/>
            <a:ext cx="4727448" cy="457200"/>
          </a:xfrm>
          <a:prstGeom prst="rect">
            <a:avLst/>
          </a:prstGeom>
          <a:noFill/>
        </p:spPr>
        <p:txBody>
          <a:bodyPr wrap="square" anchor="t" lIns="0" rIns="0" tIns="0" bIns="0">
            <a:spAutoFit/>
          </a:bodyPr>
          <a:lstStyle/>
          <a:p>
            <a:pPr algn="l"/>
            <a:r>
              <a:rPr sz="2200" b="1">
                <a:solidFill>
                  <a:srgbClr val="FFFFFF"/>
                </a:solidFill>
                <a:latin typeface="Arial"/>
              </a:rPr>
              <a:t>Les Yvris</a:t>
            </a:r>
          </a:p>
        </p:txBody>
      </p:sp>
      <p:sp>
        <p:nvSpPr>
          <p:cNvPr id="47" name="Oval 46"/>
          <p:cNvSpPr/>
          <p:nvPr/>
        </p:nvSpPr>
        <p:spPr>
          <a:xfrm>
            <a:off x="1289304" y="8229600"/>
            <a:ext cx="146304" cy="14630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572768" y="8156448"/>
            <a:ext cx="4407407" cy="640080"/>
          </a:xfrm>
          <a:prstGeom prst="rect">
            <a:avLst/>
          </a:prstGeom>
          <a:noFill/>
        </p:spPr>
        <p:txBody>
          <a:bodyPr wrap="square" anchor="t" lIns="0" rIns="0" tIns="0" bIns="0">
            <a:spAutoFit/>
          </a:bodyPr>
          <a:lstStyle/>
          <a:p>
            <a:pPr algn="l"/>
            <a:r>
              <a:rPr sz="1600" b="1">
                <a:solidFill>
                  <a:srgbClr val="FAF5EC"/>
                </a:solidFill>
                <a:latin typeface="Arial"/>
              </a:rPr>
              <a:t>Drapeau de l'entrée remis en état</a:t>
            </a:r>
          </a:p>
        </p:txBody>
      </p:sp>
      <p:sp>
        <p:nvSpPr>
          <p:cNvPr id="49" name="Oval 48"/>
          <p:cNvSpPr/>
          <p:nvPr/>
        </p:nvSpPr>
        <p:spPr>
          <a:xfrm>
            <a:off x="1289304" y="8613648"/>
            <a:ext cx="146304" cy="146304"/>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572768" y="8540496"/>
            <a:ext cx="4407407" cy="640080"/>
          </a:xfrm>
          <a:prstGeom prst="rect">
            <a:avLst/>
          </a:prstGeom>
          <a:noFill/>
        </p:spPr>
        <p:txBody>
          <a:bodyPr wrap="square" anchor="t" lIns="0" rIns="0" tIns="0" bIns="0">
            <a:spAutoFit/>
          </a:bodyPr>
          <a:lstStyle/>
          <a:p>
            <a:pPr algn="l"/>
            <a:r>
              <a:rPr sz="1600" b="1">
                <a:solidFill>
                  <a:srgbClr val="FAF5EC"/>
                </a:solidFill>
                <a:latin typeface="Arial"/>
              </a:rPr>
              <a:t>Peinture du hall élémentaire et du bureau de la direction</a:t>
            </a:r>
          </a:p>
        </p:txBody>
      </p:sp>
      <p:sp>
        <p:nvSpPr>
          <p:cNvPr id="51" name="Rectangle 50"/>
          <p:cNvSpPr/>
          <p:nvPr/>
        </p:nvSpPr>
        <p:spPr>
          <a:xfrm>
            <a:off x="6492240" y="7406640"/>
            <a:ext cx="5276088" cy="20116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492240" y="7406640"/>
            <a:ext cx="91440" cy="201168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812279" y="7607808"/>
            <a:ext cx="4727448" cy="457200"/>
          </a:xfrm>
          <a:prstGeom prst="rect">
            <a:avLst/>
          </a:prstGeom>
          <a:noFill/>
        </p:spPr>
        <p:txBody>
          <a:bodyPr wrap="square" anchor="t" lIns="0" rIns="0" tIns="0" bIns="0">
            <a:spAutoFit/>
          </a:bodyPr>
          <a:lstStyle/>
          <a:p>
            <a:pPr algn="l"/>
            <a:r>
              <a:rPr sz="2200" b="1">
                <a:solidFill>
                  <a:srgbClr val="FFFFFF"/>
                </a:solidFill>
                <a:latin typeface="Arial"/>
              </a:rPr>
              <a:t>Maternelle des Richardets</a:t>
            </a:r>
          </a:p>
        </p:txBody>
      </p:sp>
      <p:sp>
        <p:nvSpPr>
          <p:cNvPr id="54" name="Oval 53"/>
          <p:cNvSpPr/>
          <p:nvPr/>
        </p:nvSpPr>
        <p:spPr>
          <a:xfrm>
            <a:off x="6830568" y="8229600"/>
            <a:ext cx="146304" cy="14630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114031" y="8156448"/>
            <a:ext cx="4407407" cy="640080"/>
          </a:xfrm>
          <a:prstGeom prst="rect">
            <a:avLst/>
          </a:prstGeom>
          <a:noFill/>
        </p:spPr>
        <p:txBody>
          <a:bodyPr wrap="square" anchor="t" lIns="0" rIns="0" tIns="0" bIns="0">
            <a:spAutoFit/>
          </a:bodyPr>
          <a:lstStyle/>
          <a:p>
            <a:pPr algn="l"/>
            <a:r>
              <a:rPr sz="1600" b="1">
                <a:solidFill>
                  <a:srgbClr val="FAF5EC"/>
                </a:solidFill>
                <a:latin typeface="Arial"/>
              </a:rPr>
              <a:t>Un rafraîchisseur d'air</a:t>
            </a:r>
          </a:p>
        </p:txBody>
      </p:sp>
      <p:sp>
        <p:nvSpPr>
          <p:cNvPr id="56" name="Oval 55"/>
          <p:cNvSpPr/>
          <p:nvPr/>
        </p:nvSpPr>
        <p:spPr>
          <a:xfrm>
            <a:off x="6830568" y="8613648"/>
            <a:ext cx="146304" cy="14630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14031" y="8540496"/>
            <a:ext cx="4407407" cy="640080"/>
          </a:xfrm>
          <a:prstGeom prst="rect">
            <a:avLst/>
          </a:prstGeom>
          <a:noFill/>
        </p:spPr>
        <p:txBody>
          <a:bodyPr wrap="square" anchor="t" lIns="0" rIns="0" tIns="0" bIns="0">
            <a:spAutoFit/>
          </a:bodyPr>
          <a:lstStyle/>
          <a:p>
            <a:pPr algn="l"/>
            <a:r>
              <a:rPr sz="1600" b="1">
                <a:solidFill>
                  <a:srgbClr val="FAF5EC"/>
                </a:solidFill>
                <a:latin typeface="Arial"/>
              </a:rPr>
              <a:t>Des films de protection solaire sur les vitrages</a:t>
            </a:r>
          </a:p>
        </p:txBody>
      </p:sp>
      <p:sp>
        <p:nvSpPr>
          <p:cNvPr id="58" name="Rectangle 57"/>
          <p:cNvSpPr/>
          <p:nvPr/>
        </p:nvSpPr>
        <p:spPr>
          <a:xfrm>
            <a:off x="12033504" y="7406640"/>
            <a:ext cx="5276088" cy="20116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12033504" y="7406640"/>
            <a:ext cx="91440" cy="201168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2353544" y="7607808"/>
            <a:ext cx="4727448" cy="457200"/>
          </a:xfrm>
          <a:prstGeom prst="rect">
            <a:avLst/>
          </a:prstGeom>
          <a:noFill/>
        </p:spPr>
        <p:txBody>
          <a:bodyPr wrap="square" anchor="t" lIns="0" rIns="0" tIns="0" bIns="0">
            <a:spAutoFit/>
          </a:bodyPr>
          <a:lstStyle/>
          <a:p>
            <a:pPr algn="l"/>
            <a:r>
              <a:rPr sz="2200" b="1">
                <a:solidFill>
                  <a:srgbClr val="FFFFFF"/>
                </a:solidFill>
                <a:latin typeface="Arial"/>
              </a:rPr>
              <a:t>Paul-Serelle</a:t>
            </a:r>
          </a:p>
        </p:txBody>
      </p:sp>
      <p:sp>
        <p:nvSpPr>
          <p:cNvPr id="61" name="Oval 60"/>
          <p:cNvSpPr/>
          <p:nvPr/>
        </p:nvSpPr>
        <p:spPr>
          <a:xfrm>
            <a:off x="12371832" y="8229600"/>
            <a:ext cx="146304" cy="146304"/>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2655296" y="8156448"/>
            <a:ext cx="4407407" cy="640080"/>
          </a:xfrm>
          <a:prstGeom prst="rect">
            <a:avLst/>
          </a:prstGeom>
          <a:noFill/>
        </p:spPr>
        <p:txBody>
          <a:bodyPr wrap="square" anchor="t" lIns="0" rIns="0" tIns="0" bIns="0">
            <a:spAutoFit/>
          </a:bodyPr>
          <a:lstStyle/>
          <a:p>
            <a:pPr algn="l"/>
            <a:r>
              <a:rPr sz="1600" b="1">
                <a:solidFill>
                  <a:srgbClr val="FAF5EC"/>
                </a:solidFill>
                <a:latin typeface="Arial"/>
              </a:rPr>
              <a:t>Sécurisation du carrefour, à l'étude</a:t>
            </a:r>
          </a:p>
        </p:txBody>
      </p:sp>
      <p:sp>
        <p:nvSpPr>
          <p:cNvPr id="63" name="Oval 62"/>
          <p:cNvSpPr/>
          <p:nvPr/>
        </p:nvSpPr>
        <p:spPr>
          <a:xfrm>
            <a:off x="12371832" y="8613648"/>
            <a:ext cx="146304" cy="146304"/>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2655296" y="8540496"/>
            <a:ext cx="4407407" cy="640080"/>
          </a:xfrm>
          <a:prstGeom prst="rect">
            <a:avLst/>
          </a:prstGeom>
          <a:noFill/>
        </p:spPr>
        <p:txBody>
          <a:bodyPr wrap="square" anchor="t" lIns="0" rIns="0" tIns="0" bIns="0">
            <a:spAutoFit/>
          </a:bodyPr>
          <a:lstStyle/>
          <a:p>
            <a:pPr algn="l"/>
            <a:r>
              <a:rPr sz="1600" b="1">
                <a:solidFill>
                  <a:srgbClr val="FAF5EC"/>
                </a:solidFill>
                <a:latin typeface="Arial"/>
              </a:rPr>
              <a:t>Réparation des fuites de la salle polyvalente</a:t>
            </a:r>
          </a:p>
        </p:txBody>
      </p:sp>
      <p:sp>
        <p:nvSpPr>
          <p:cNvPr id="65" name="Oval 64"/>
          <p:cNvSpPr/>
          <p:nvPr/>
        </p:nvSpPr>
        <p:spPr>
          <a:xfrm>
            <a:off x="12801600" y="9628632"/>
            <a:ext cx="137160" cy="13716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3030200" y="9564624"/>
            <a:ext cx="3200400" cy="274320"/>
          </a:xfrm>
          <a:prstGeom prst="rect">
            <a:avLst/>
          </a:prstGeom>
          <a:noFill/>
        </p:spPr>
        <p:txBody>
          <a:bodyPr wrap="square" anchor="t" lIns="0" rIns="0" tIns="0" bIns="0">
            <a:spAutoFit/>
          </a:bodyPr>
          <a:lstStyle/>
          <a:p>
            <a:pPr algn="l"/>
            <a:r>
              <a:rPr sz="1300" b="0">
                <a:solidFill>
                  <a:srgbClr val="8A90B0"/>
                </a:solidFill>
                <a:latin typeface="Arial"/>
              </a:rPr>
              <a:t>réalisé</a:t>
            </a:r>
          </a:p>
        </p:txBody>
      </p:sp>
      <p:sp>
        <p:nvSpPr>
          <p:cNvPr id="67" name="Oval 66"/>
          <p:cNvSpPr/>
          <p:nvPr/>
        </p:nvSpPr>
        <p:spPr>
          <a:xfrm>
            <a:off x="14127480" y="9628632"/>
            <a:ext cx="137160" cy="137160"/>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4356080" y="9564624"/>
            <a:ext cx="3200400" cy="274320"/>
          </a:xfrm>
          <a:prstGeom prst="rect">
            <a:avLst/>
          </a:prstGeom>
          <a:noFill/>
        </p:spPr>
        <p:txBody>
          <a:bodyPr wrap="square" anchor="t" lIns="0" rIns="0" tIns="0" bIns="0">
            <a:spAutoFit/>
          </a:bodyPr>
          <a:lstStyle/>
          <a:p>
            <a:pPr algn="l"/>
            <a:r>
              <a:rPr sz="1300" b="0">
                <a:solidFill>
                  <a:srgbClr val="8A90B0"/>
                </a:solidFill>
                <a:latin typeface="Arial"/>
              </a:rPr>
              <a:t>programmé ou à l'étude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LES ÉCOLES · LE PÉRISCOLAIRE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Plus de places et plus d'animateurs</a:t>
            </a:r>
          </a:p>
        </p:txBody>
      </p:sp>
      <p:sp>
        <p:nvSpPr>
          <p:cNvPr id="5" name="TextBox 4"/>
          <p:cNvSpPr txBox="1"/>
          <p:nvPr/>
        </p:nvSpPr>
        <p:spPr>
          <a:xfrm>
            <a:off x="950976" y="2011680"/>
            <a:ext cx="14447520" cy="457200"/>
          </a:xfrm>
          <a:prstGeom prst="rect">
            <a:avLst/>
          </a:prstGeom>
          <a:noFill/>
        </p:spPr>
        <p:txBody>
          <a:bodyPr wrap="square" anchor="t" lIns="0" rIns="0" tIns="0" bIns="0">
            <a:spAutoFit/>
          </a:bodyPr>
          <a:lstStyle/>
          <a:p>
            <a:pPr algn="l"/>
            <a:r>
              <a:rPr sz="2100" b="0">
                <a:solidFill>
                  <a:srgbClr val="FFFFFF"/>
                </a:solidFill>
                <a:latin typeface="Arial"/>
              </a:rPr>
              <a:t>Dans toute la ville, rentrée 2026 comparée à la rentrée 2025</a:t>
            </a:r>
          </a:p>
        </p:txBody>
      </p:sp>
      <p:cxnSp>
        <p:nvCxnSpPr>
          <p:cNvPr id="6" name="Connector 5"/>
          <p:cNvCxnSpPr/>
          <p:nvPr/>
        </p:nvCxnSpPr>
        <p:spPr>
          <a:xfrm>
            <a:off x="950976" y="2743200"/>
            <a:ext cx="7955279" cy="0"/>
          </a:xfrm>
          <a:prstGeom prst="line">
            <a:avLst/>
          </a:prstGeom>
          <a:ln w="25400">
            <a:solidFill>
              <a:srgbClr val="72C493"/>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950976" y="2880360"/>
            <a:ext cx="7955279" cy="411480"/>
          </a:xfrm>
          <a:prstGeom prst="rect">
            <a:avLst/>
          </a:prstGeom>
          <a:noFill/>
        </p:spPr>
        <p:txBody>
          <a:bodyPr wrap="square" anchor="t" lIns="0" rIns="0" tIns="0" bIns="0">
            <a:spAutoFit/>
          </a:bodyPr>
          <a:lstStyle/>
          <a:p>
            <a:pPr algn="l"/>
            <a:r>
              <a:rPr sz="2100" b="1" spc="150">
                <a:solidFill>
                  <a:srgbClr val="72C493"/>
                </a:solidFill>
                <a:latin typeface="Arial"/>
              </a:rPr>
              <a:t>LE MERCREDI</a:t>
            </a:r>
          </a:p>
        </p:txBody>
      </p:sp>
      <p:sp>
        <p:nvSpPr>
          <p:cNvPr id="8" name="TextBox 7"/>
          <p:cNvSpPr txBox="1"/>
          <p:nvPr/>
        </p:nvSpPr>
        <p:spPr>
          <a:xfrm>
            <a:off x="950976" y="3474720"/>
            <a:ext cx="7955279" cy="365760"/>
          </a:xfrm>
          <a:prstGeom prst="rect">
            <a:avLst/>
          </a:prstGeom>
          <a:noFill/>
        </p:spPr>
        <p:txBody>
          <a:bodyPr wrap="square" anchor="t" lIns="0" rIns="0" tIns="0" bIns="0">
            <a:spAutoFit/>
          </a:bodyPr>
          <a:lstStyle/>
          <a:p>
            <a:pPr algn="l"/>
            <a:r>
              <a:rPr sz="2000" b="1">
                <a:solidFill>
                  <a:srgbClr val="FFFFFF"/>
                </a:solidFill>
                <a:latin typeface="Arial"/>
              </a:rPr>
              <a:t>Places en accueil de loisirs</a:t>
            </a:r>
          </a:p>
        </p:txBody>
      </p:sp>
      <p:sp>
        <p:nvSpPr>
          <p:cNvPr id="9" name="TextBox 8"/>
          <p:cNvSpPr txBox="1"/>
          <p:nvPr/>
        </p:nvSpPr>
        <p:spPr>
          <a:xfrm>
            <a:off x="950976" y="3977639"/>
            <a:ext cx="1188720" cy="320040"/>
          </a:xfrm>
          <a:prstGeom prst="rect">
            <a:avLst/>
          </a:prstGeom>
          <a:noFill/>
        </p:spPr>
        <p:txBody>
          <a:bodyPr wrap="square" anchor="t" lIns="0" rIns="0" tIns="0" bIns="0">
            <a:spAutoFit/>
          </a:bodyPr>
          <a:lstStyle/>
          <a:p>
            <a:pPr algn="l"/>
            <a:r>
              <a:rPr sz="1500" b="1">
                <a:solidFill>
                  <a:srgbClr val="8A90B0"/>
                </a:solidFill>
                <a:latin typeface="Arial"/>
              </a:rPr>
              <a:t>Sept. 2025</a:t>
            </a:r>
          </a:p>
        </p:txBody>
      </p:sp>
      <p:sp>
        <p:nvSpPr>
          <p:cNvPr id="10" name="TextBox 9"/>
          <p:cNvSpPr txBox="1"/>
          <p:nvPr/>
        </p:nvSpPr>
        <p:spPr>
          <a:xfrm>
            <a:off x="950976" y="4224528"/>
            <a:ext cx="1828800" cy="548640"/>
          </a:xfrm>
          <a:prstGeom prst="rect">
            <a:avLst/>
          </a:prstGeom>
          <a:noFill/>
        </p:spPr>
        <p:txBody>
          <a:bodyPr wrap="square" anchor="t" lIns="0" rIns="0" tIns="0" bIns="0">
            <a:spAutoFit/>
          </a:bodyPr>
          <a:lstStyle/>
          <a:p>
            <a:pPr algn="l"/>
            <a:r>
              <a:rPr sz="3200" b="1">
                <a:solidFill>
                  <a:srgbClr val="8A90B0"/>
                </a:solidFill>
                <a:latin typeface="Arial"/>
              </a:rPr>
              <a:t>1 616</a:t>
            </a:r>
          </a:p>
        </p:txBody>
      </p:sp>
      <p:sp>
        <p:nvSpPr>
          <p:cNvPr id="11" name="TextBox 10"/>
          <p:cNvSpPr txBox="1"/>
          <p:nvPr/>
        </p:nvSpPr>
        <p:spPr>
          <a:xfrm>
            <a:off x="2825496" y="4133087"/>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12" name="TextBox 11"/>
          <p:cNvSpPr txBox="1"/>
          <p:nvPr/>
        </p:nvSpPr>
        <p:spPr>
          <a:xfrm>
            <a:off x="3465576" y="3840480"/>
            <a:ext cx="1280160" cy="320040"/>
          </a:xfrm>
          <a:prstGeom prst="rect">
            <a:avLst/>
          </a:prstGeom>
          <a:noFill/>
        </p:spPr>
        <p:txBody>
          <a:bodyPr wrap="square" anchor="t" lIns="0" rIns="0" tIns="0" bIns="0">
            <a:spAutoFit/>
          </a:bodyPr>
          <a:lstStyle/>
          <a:p>
            <a:pPr algn="l"/>
            <a:r>
              <a:rPr sz="1500" b="1">
                <a:solidFill>
                  <a:srgbClr val="72C493"/>
                </a:solidFill>
                <a:latin typeface="Arial"/>
              </a:rPr>
              <a:t>Oct. 2026</a:t>
            </a:r>
          </a:p>
        </p:txBody>
      </p:sp>
      <p:sp>
        <p:nvSpPr>
          <p:cNvPr id="13" name="TextBox 12"/>
          <p:cNvSpPr txBox="1"/>
          <p:nvPr/>
        </p:nvSpPr>
        <p:spPr>
          <a:xfrm>
            <a:off x="3465576" y="4041648"/>
            <a:ext cx="2468880" cy="777240"/>
          </a:xfrm>
          <a:prstGeom prst="rect">
            <a:avLst/>
          </a:prstGeom>
          <a:noFill/>
        </p:spPr>
        <p:txBody>
          <a:bodyPr wrap="square" anchor="t" lIns="0" rIns="0" tIns="0" bIns="0">
            <a:spAutoFit/>
          </a:bodyPr>
          <a:lstStyle/>
          <a:p>
            <a:pPr algn="l"/>
            <a:r>
              <a:rPr sz="4800" b="1">
                <a:solidFill>
                  <a:srgbClr val="FFFFFF"/>
                </a:solidFill>
                <a:latin typeface="Arial"/>
              </a:rPr>
              <a:t>1 784</a:t>
            </a:r>
          </a:p>
        </p:txBody>
      </p:sp>
      <p:sp>
        <p:nvSpPr>
          <p:cNvPr id="14" name="Rectangle 13"/>
          <p:cNvSpPr/>
          <p:nvPr/>
        </p:nvSpPr>
        <p:spPr>
          <a:xfrm>
            <a:off x="6025896" y="4206240"/>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+168 places, soit +10 %</a:t>
            </a:r>
          </a:p>
        </p:txBody>
      </p:sp>
      <p:sp>
        <p:nvSpPr>
          <p:cNvPr id="15" name="TextBox 14"/>
          <p:cNvSpPr txBox="1"/>
          <p:nvPr/>
        </p:nvSpPr>
        <p:spPr>
          <a:xfrm>
            <a:off x="950976" y="4892040"/>
            <a:ext cx="7955279" cy="365760"/>
          </a:xfrm>
          <a:prstGeom prst="rect">
            <a:avLst/>
          </a:prstGeom>
          <a:noFill/>
        </p:spPr>
        <p:txBody>
          <a:bodyPr wrap="square" anchor="t" lIns="0" rIns="0" tIns="0" bIns="0">
            <a:spAutoFit/>
          </a:bodyPr>
          <a:lstStyle/>
          <a:p>
            <a:pPr algn="l"/>
            <a:r>
              <a:rPr sz="2000" b="1">
                <a:solidFill>
                  <a:srgbClr val="FFFFFF"/>
                </a:solidFill>
                <a:latin typeface="Arial"/>
              </a:rPr>
              <a:t>Animateurs recrutés</a:t>
            </a:r>
          </a:p>
        </p:txBody>
      </p:sp>
      <p:sp>
        <p:nvSpPr>
          <p:cNvPr id="16" name="TextBox 15"/>
          <p:cNvSpPr txBox="1"/>
          <p:nvPr/>
        </p:nvSpPr>
        <p:spPr>
          <a:xfrm>
            <a:off x="950976" y="5394959"/>
            <a:ext cx="1188720" cy="320040"/>
          </a:xfrm>
          <a:prstGeom prst="rect">
            <a:avLst/>
          </a:prstGeom>
          <a:noFill/>
        </p:spPr>
        <p:txBody>
          <a:bodyPr wrap="square" anchor="t" lIns="0" rIns="0" tIns="0" bIns="0">
            <a:spAutoFit/>
          </a:bodyPr>
          <a:lstStyle/>
          <a:p>
            <a:pPr algn="l"/>
            <a:r>
              <a:rPr sz="1500" b="1">
                <a:solidFill>
                  <a:srgbClr val="8A90B0"/>
                </a:solidFill>
                <a:latin typeface="Arial"/>
              </a:rPr>
              <a:t>Sept. 2025</a:t>
            </a:r>
          </a:p>
        </p:txBody>
      </p:sp>
      <p:sp>
        <p:nvSpPr>
          <p:cNvPr id="17" name="TextBox 16"/>
          <p:cNvSpPr txBox="1"/>
          <p:nvPr/>
        </p:nvSpPr>
        <p:spPr>
          <a:xfrm>
            <a:off x="950976" y="5641848"/>
            <a:ext cx="1828800" cy="548640"/>
          </a:xfrm>
          <a:prstGeom prst="rect">
            <a:avLst/>
          </a:prstGeom>
          <a:noFill/>
        </p:spPr>
        <p:txBody>
          <a:bodyPr wrap="square" anchor="t" lIns="0" rIns="0" tIns="0" bIns="0">
            <a:spAutoFit/>
          </a:bodyPr>
          <a:lstStyle/>
          <a:p>
            <a:pPr algn="l"/>
            <a:r>
              <a:rPr sz="3200" b="1">
                <a:solidFill>
                  <a:srgbClr val="8A90B0"/>
                </a:solidFill>
                <a:latin typeface="Arial"/>
              </a:rPr>
              <a:t>145</a:t>
            </a:r>
          </a:p>
        </p:txBody>
      </p:sp>
      <p:sp>
        <p:nvSpPr>
          <p:cNvPr id="18" name="TextBox 17"/>
          <p:cNvSpPr txBox="1"/>
          <p:nvPr/>
        </p:nvSpPr>
        <p:spPr>
          <a:xfrm>
            <a:off x="2825496" y="5550407"/>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19" name="TextBox 18"/>
          <p:cNvSpPr txBox="1"/>
          <p:nvPr/>
        </p:nvSpPr>
        <p:spPr>
          <a:xfrm>
            <a:off x="3465576" y="5257800"/>
            <a:ext cx="1280160" cy="320040"/>
          </a:xfrm>
          <a:prstGeom prst="rect">
            <a:avLst/>
          </a:prstGeom>
          <a:noFill/>
        </p:spPr>
        <p:txBody>
          <a:bodyPr wrap="square" anchor="t" lIns="0" rIns="0" tIns="0" bIns="0">
            <a:spAutoFit/>
          </a:bodyPr>
          <a:lstStyle/>
          <a:p>
            <a:pPr algn="l"/>
            <a:r>
              <a:rPr sz="1500" b="1">
                <a:solidFill>
                  <a:srgbClr val="72C493"/>
                </a:solidFill>
                <a:latin typeface="Arial"/>
              </a:rPr>
              <a:t>Oct. 2026</a:t>
            </a:r>
          </a:p>
        </p:txBody>
      </p:sp>
      <p:sp>
        <p:nvSpPr>
          <p:cNvPr id="20" name="TextBox 19"/>
          <p:cNvSpPr txBox="1"/>
          <p:nvPr/>
        </p:nvSpPr>
        <p:spPr>
          <a:xfrm>
            <a:off x="3465576" y="5458968"/>
            <a:ext cx="2468880" cy="777240"/>
          </a:xfrm>
          <a:prstGeom prst="rect">
            <a:avLst/>
          </a:prstGeom>
          <a:noFill/>
        </p:spPr>
        <p:txBody>
          <a:bodyPr wrap="square" anchor="t" lIns="0" rIns="0" tIns="0" bIns="0">
            <a:spAutoFit/>
          </a:bodyPr>
          <a:lstStyle/>
          <a:p>
            <a:pPr algn="l"/>
            <a:r>
              <a:rPr sz="4800" b="1">
                <a:solidFill>
                  <a:srgbClr val="FFFFFF"/>
                </a:solidFill>
                <a:latin typeface="Arial"/>
              </a:rPr>
              <a:t>162</a:t>
            </a:r>
          </a:p>
        </p:txBody>
      </p:sp>
      <p:sp>
        <p:nvSpPr>
          <p:cNvPr id="21" name="Rectangle 20"/>
          <p:cNvSpPr/>
          <p:nvPr/>
        </p:nvSpPr>
        <p:spPr>
          <a:xfrm>
            <a:off x="6025896" y="5623559"/>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+17 animateurs</a:t>
            </a:r>
          </a:p>
        </p:txBody>
      </p:sp>
      <p:cxnSp>
        <p:nvCxnSpPr>
          <p:cNvPr id="22" name="Connector 21"/>
          <p:cNvCxnSpPr/>
          <p:nvPr/>
        </p:nvCxnSpPr>
        <p:spPr>
          <a:xfrm>
            <a:off x="9381744" y="2743200"/>
            <a:ext cx="7955280" cy="0"/>
          </a:xfrm>
          <a:prstGeom prst="line">
            <a:avLst/>
          </a:prstGeom>
          <a:ln w="25400">
            <a:solidFill>
              <a:srgbClr val="72C493"/>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9381744" y="2880360"/>
            <a:ext cx="7955279" cy="411480"/>
          </a:xfrm>
          <a:prstGeom prst="rect">
            <a:avLst/>
          </a:prstGeom>
          <a:noFill/>
        </p:spPr>
        <p:txBody>
          <a:bodyPr wrap="square" anchor="t" lIns="0" rIns="0" tIns="0" bIns="0">
            <a:spAutoFit/>
          </a:bodyPr>
          <a:lstStyle/>
          <a:p>
            <a:pPr algn="l"/>
            <a:r>
              <a:rPr sz="2100" b="1" spc="150">
                <a:solidFill>
                  <a:srgbClr val="72C493"/>
                </a:solidFill>
                <a:latin typeface="Arial"/>
              </a:rPr>
              <a:t>À LA CANTINE</a:t>
            </a:r>
          </a:p>
        </p:txBody>
      </p:sp>
      <p:sp>
        <p:nvSpPr>
          <p:cNvPr id="24" name="TextBox 23"/>
          <p:cNvSpPr txBox="1"/>
          <p:nvPr/>
        </p:nvSpPr>
        <p:spPr>
          <a:xfrm>
            <a:off x="9381744" y="3474720"/>
            <a:ext cx="7955279" cy="365760"/>
          </a:xfrm>
          <a:prstGeom prst="rect">
            <a:avLst/>
          </a:prstGeom>
          <a:noFill/>
        </p:spPr>
        <p:txBody>
          <a:bodyPr wrap="square" anchor="t" lIns="0" rIns="0" tIns="0" bIns="0">
            <a:spAutoFit/>
          </a:bodyPr>
          <a:lstStyle/>
          <a:p>
            <a:pPr algn="l"/>
            <a:r>
              <a:rPr sz="2000" b="1">
                <a:solidFill>
                  <a:srgbClr val="FFFFFF"/>
                </a:solidFill>
                <a:latin typeface="Arial"/>
              </a:rPr>
              <a:t>Enfants accueillis</a:t>
            </a:r>
          </a:p>
        </p:txBody>
      </p:sp>
      <p:sp>
        <p:nvSpPr>
          <p:cNvPr id="25" name="TextBox 24"/>
          <p:cNvSpPr txBox="1"/>
          <p:nvPr/>
        </p:nvSpPr>
        <p:spPr>
          <a:xfrm>
            <a:off x="9381744" y="3977639"/>
            <a:ext cx="1188720" cy="320040"/>
          </a:xfrm>
          <a:prstGeom prst="rect">
            <a:avLst/>
          </a:prstGeom>
          <a:noFill/>
        </p:spPr>
        <p:txBody>
          <a:bodyPr wrap="square" anchor="t" lIns="0" rIns="0" tIns="0" bIns="0">
            <a:spAutoFit/>
          </a:bodyPr>
          <a:lstStyle/>
          <a:p>
            <a:pPr algn="l"/>
            <a:r>
              <a:rPr sz="1500" b="1">
                <a:solidFill>
                  <a:srgbClr val="8A90B0"/>
                </a:solidFill>
                <a:latin typeface="Arial"/>
              </a:rPr>
              <a:t>2025</a:t>
            </a:r>
          </a:p>
        </p:txBody>
      </p:sp>
      <p:sp>
        <p:nvSpPr>
          <p:cNvPr id="26" name="TextBox 25"/>
          <p:cNvSpPr txBox="1"/>
          <p:nvPr/>
        </p:nvSpPr>
        <p:spPr>
          <a:xfrm>
            <a:off x="9381744" y="4224528"/>
            <a:ext cx="1828800" cy="548640"/>
          </a:xfrm>
          <a:prstGeom prst="rect">
            <a:avLst/>
          </a:prstGeom>
          <a:noFill/>
        </p:spPr>
        <p:txBody>
          <a:bodyPr wrap="square" anchor="t" lIns="0" rIns="0" tIns="0" bIns="0">
            <a:spAutoFit/>
          </a:bodyPr>
          <a:lstStyle/>
          <a:p>
            <a:pPr algn="l"/>
            <a:r>
              <a:rPr sz="3200" b="1">
                <a:solidFill>
                  <a:srgbClr val="8A90B0"/>
                </a:solidFill>
                <a:latin typeface="Arial"/>
              </a:rPr>
              <a:t>5 543</a:t>
            </a:r>
          </a:p>
        </p:txBody>
      </p:sp>
      <p:sp>
        <p:nvSpPr>
          <p:cNvPr id="27" name="TextBox 26"/>
          <p:cNvSpPr txBox="1"/>
          <p:nvPr/>
        </p:nvSpPr>
        <p:spPr>
          <a:xfrm>
            <a:off x="11256264" y="4133087"/>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28" name="TextBox 27"/>
          <p:cNvSpPr txBox="1"/>
          <p:nvPr/>
        </p:nvSpPr>
        <p:spPr>
          <a:xfrm>
            <a:off x="11896344" y="3840480"/>
            <a:ext cx="1280160" cy="320040"/>
          </a:xfrm>
          <a:prstGeom prst="rect">
            <a:avLst/>
          </a:prstGeom>
          <a:noFill/>
        </p:spPr>
        <p:txBody>
          <a:bodyPr wrap="square" anchor="t" lIns="0" rIns="0" tIns="0" bIns="0">
            <a:spAutoFit/>
          </a:bodyPr>
          <a:lstStyle/>
          <a:p>
            <a:pPr algn="l"/>
            <a:r>
              <a:rPr sz="1500" b="1">
                <a:solidFill>
                  <a:srgbClr val="72C493"/>
                </a:solidFill>
                <a:latin typeface="Arial"/>
              </a:rPr>
              <a:t>2026</a:t>
            </a:r>
          </a:p>
        </p:txBody>
      </p:sp>
      <p:sp>
        <p:nvSpPr>
          <p:cNvPr id="29" name="TextBox 28"/>
          <p:cNvSpPr txBox="1"/>
          <p:nvPr/>
        </p:nvSpPr>
        <p:spPr>
          <a:xfrm>
            <a:off x="11896344" y="4041648"/>
            <a:ext cx="2468880" cy="777240"/>
          </a:xfrm>
          <a:prstGeom prst="rect">
            <a:avLst/>
          </a:prstGeom>
          <a:noFill/>
        </p:spPr>
        <p:txBody>
          <a:bodyPr wrap="square" anchor="t" lIns="0" rIns="0" tIns="0" bIns="0">
            <a:spAutoFit/>
          </a:bodyPr>
          <a:lstStyle/>
          <a:p>
            <a:pPr algn="l"/>
            <a:r>
              <a:rPr sz="4800" b="1">
                <a:solidFill>
                  <a:srgbClr val="FFFFFF"/>
                </a:solidFill>
                <a:latin typeface="Arial"/>
              </a:rPr>
              <a:t>5 727</a:t>
            </a:r>
          </a:p>
        </p:txBody>
      </p:sp>
      <p:sp>
        <p:nvSpPr>
          <p:cNvPr id="30" name="Rectangle 29"/>
          <p:cNvSpPr/>
          <p:nvPr/>
        </p:nvSpPr>
        <p:spPr>
          <a:xfrm>
            <a:off x="14456664" y="4206240"/>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+3,3 %</a:t>
            </a:r>
          </a:p>
        </p:txBody>
      </p:sp>
      <p:sp>
        <p:nvSpPr>
          <p:cNvPr id="31" name="TextBox 30"/>
          <p:cNvSpPr txBox="1"/>
          <p:nvPr/>
        </p:nvSpPr>
        <p:spPr>
          <a:xfrm>
            <a:off x="9381744" y="4892040"/>
            <a:ext cx="7955279" cy="365760"/>
          </a:xfrm>
          <a:prstGeom prst="rect">
            <a:avLst/>
          </a:prstGeom>
          <a:noFill/>
        </p:spPr>
        <p:txBody>
          <a:bodyPr wrap="square" anchor="t" lIns="0" rIns="0" tIns="0" bIns="0">
            <a:spAutoFit/>
          </a:bodyPr>
          <a:lstStyle/>
          <a:p>
            <a:pPr algn="l"/>
            <a:r>
              <a:rPr sz="2000" b="1">
                <a:solidFill>
                  <a:srgbClr val="FFFFFF"/>
                </a:solidFill>
                <a:latin typeface="Arial"/>
              </a:rPr>
              <a:t>Animateurs en maternelle</a:t>
            </a:r>
          </a:p>
        </p:txBody>
      </p:sp>
      <p:sp>
        <p:nvSpPr>
          <p:cNvPr id="32" name="TextBox 31"/>
          <p:cNvSpPr txBox="1"/>
          <p:nvPr/>
        </p:nvSpPr>
        <p:spPr>
          <a:xfrm>
            <a:off x="9381744" y="5394959"/>
            <a:ext cx="1188720" cy="320040"/>
          </a:xfrm>
          <a:prstGeom prst="rect">
            <a:avLst/>
          </a:prstGeom>
          <a:noFill/>
        </p:spPr>
        <p:txBody>
          <a:bodyPr wrap="square" anchor="t" lIns="0" rIns="0" tIns="0" bIns="0">
            <a:spAutoFit/>
          </a:bodyPr>
          <a:lstStyle/>
          <a:p>
            <a:pPr algn="l"/>
            <a:r>
              <a:rPr sz="1500" b="1">
                <a:solidFill>
                  <a:srgbClr val="8A90B0"/>
                </a:solidFill>
                <a:latin typeface="Arial"/>
              </a:rPr>
              <a:t>2025</a:t>
            </a:r>
          </a:p>
        </p:txBody>
      </p:sp>
      <p:sp>
        <p:nvSpPr>
          <p:cNvPr id="33" name="TextBox 32"/>
          <p:cNvSpPr txBox="1"/>
          <p:nvPr/>
        </p:nvSpPr>
        <p:spPr>
          <a:xfrm>
            <a:off x="9381744" y="5641848"/>
            <a:ext cx="1828800" cy="548640"/>
          </a:xfrm>
          <a:prstGeom prst="rect">
            <a:avLst/>
          </a:prstGeom>
          <a:noFill/>
        </p:spPr>
        <p:txBody>
          <a:bodyPr wrap="square" anchor="t" lIns="0" rIns="0" tIns="0" bIns="0">
            <a:spAutoFit/>
          </a:bodyPr>
          <a:lstStyle/>
          <a:p>
            <a:pPr algn="l"/>
            <a:r>
              <a:rPr sz="3200" b="1">
                <a:solidFill>
                  <a:srgbClr val="8A90B0"/>
                </a:solidFill>
                <a:latin typeface="Arial"/>
              </a:rPr>
              <a:t>199</a:t>
            </a:r>
          </a:p>
        </p:txBody>
      </p:sp>
      <p:sp>
        <p:nvSpPr>
          <p:cNvPr id="34" name="TextBox 33"/>
          <p:cNvSpPr txBox="1"/>
          <p:nvPr/>
        </p:nvSpPr>
        <p:spPr>
          <a:xfrm>
            <a:off x="11256264" y="5550407"/>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35" name="TextBox 34"/>
          <p:cNvSpPr txBox="1"/>
          <p:nvPr/>
        </p:nvSpPr>
        <p:spPr>
          <a:xfrm>
            <a:off x="11896344" y="5257800"/>
            <a:ext cx="1280160" cy="320040"/>
          </a:xfrm>
          <a:prstGeom prst="rect">
            <a:avLst/>
          </a:prstGeom>
          <a:noFill/>
        </p:spPr>
        <p:txBody>
          <a:bodyPr wrap="square" anchor="t" lIns="0" rIns="0" tIns="0" bIns="0">
            <a:spAutoFit/>
          </a:bodyPr>
          <a:lstStyle/>
          <a:p>
            <a:pPr algn="l"/>
            <a:r>
              <a:rPr sz="1500" b="1">
                <a:solidFill>
                  <a:srgbClr val="72C493"/>
                </a:solidFill>
                <a:latin typeface="Arial"/>
              </a:rPr>
              <a:t>2026</a:t>
            </a:r>
          </a:p>
        </p:txBody>
      </p:sp>
      <p:sp>
        <p:nvSpPr>
          <p:cNvPr id="36" name="TextBox 35"/>
          <p:cNvSpPr txBox="1"/>
          <p:nvPr/>
        </p:nvSpPr>
        <p:spPr>
          <a:xfrm>
            <a:off x="11896344" y="5458968"/>
            <a:ext cx="2468880" cy="777240"/>
          </a:xfrm>
          <a:prstGeom prst="rect">
            <a:avLst/>
          </a:prstGeom>
          <a:noFill/>
        </p:spPr>
        <p:txBody>
          <a:bodyPr wrap="square" anchor="t" lIns="0" rIns="0" tIns="0" bIns="0">
            <a:spAutoFit/>
          </a:bodyPr>
          <a:lstStyle/>
          <a:p>
            <a:pPr algn="l"/>
            <a:r>
              <a:rPr sz="4800" b="1">
                <a:solidFill>
                  <a:srgbClr val="FFFFFF"/>
                </a:solidFill>
                <a:latin typeface="Arial"/>
              </a:rPr>
              <a:t>248</a:t>
            </a:r>
          </a:p>
        </p:txBody>
      </p:sp>
      <p:sp>
        <p:nvSpPr>
          <p:cNvPr id="37" name="Rectangle 36"/>
          <p:cNvSpPr/>
          <p:nvPr/>
        </p:nvSpPr>
        <p:spPr>
          <a:xfrm>
            <a:off x="14456664" y="5623559"/>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+49 animateurs</a:t>
            </a:r>
          </a:p>
        </p:txBody>
      </p:sp>
      <p:sp>
        <p:nvSpPr>
          <p:cNvPr id="38" name="TextBox 37"/>
          <p:cNvSpPr txBox="1"/>
          <p:nvPr/>
        </p:nvSpPr>
        <p:spPr>
          <a:xfrm>
            <a:off x="9381744" y="6309360"/>
            <a:ext cx="7955279" cy="365760"/>
          </a:xfrm>
          <a:prstGeom prst="rect">
            <a:avLst/>
          </a:prstGeom>
          <a:noFill/>
        </p:spPr>
        <p:txBody>
          <a:bodyPr wrap="square" anchor="t" lIns="0" rIns="0" tIns="0" bIns="0">
            <a:spAutoFit/>
          </a:bodyPr>
          <a:lstStyle/>
          <a:p>
            <a:pPr algn="l"/>
            <a:r>
              <a:rPr sz="2000" b="1">
                <a:solidFill>
                  <a:srgbClr val="FFFFFF"/>
                </a:solidFill>
                <a:latin typeface="Arial"/>
              </a:rPr>
              <a:t>Animateurs en élémentaire</a:t>
            </a:r>
          </a:p>
        </p:txBody>
      </p:sp>
      <p:sp>
        <p:nvSpPr>
          <p:cNvPr id="39" name="TextBox 38"/>
          <p:cNvSpPr txBox="1"/>
          <p:nvPr/>
        </p:nvSpPr>
        <p:spPr>
          <a:xfrm>
            <a:off x="9381744" y="6812280"/>
            <a:ext cx="1188720" cy="320040"/>
          </a:xfrm>
          <a:prstGeom prst="rect">
            <a:avLst/>
          </a:prstGeom>
          <a:noFill/>
        </p:spPr>
        <p:txBody>
          <a:bodyPr wrap="square" anchor="t" lIns="0" rIns="0" tIns="0" bIns="0">
            <a:spAutoFit/>
          </a:bodyPr>
          <a:lstStyle/>
          <a:p>
            <a:pPr algn="l"/>
            <a:r>
              <a:rPr sz="1500" b="1">
                <a:solidFill>
                  <a:srgbClr val="8A90B0"/>
                </a:solidFill>
                <a:latin typeface="Arial"/>
              </a:rPr>
              <a:t>2025</a:t>
            </a:r>
          </a:p>
        </p:txBody>
      </p:sp>
      <p:sp>
        <p:nvSpPr>
          <p:cNvPr id="40" name="TextBox 39"/>
          <p:cNvSpPr txBox="1"/>
          <p:nvPr/>
        </p:nvSpPr>
        <p:spPr>
          <a:xfrm>
            <a:off x="9381744" y="7059168"/>
            <a:ext cx="1828800" cy="548640"/>
          </a:xfrm>
          <a:prstGeom prst="rect">
            <a:avLst/>
          </a:prstGeom>
          <a:noFill/>
        </p:spPr>
        <p:txBody>
          <a:bodyPr wrap="square" anchor="t" lIns="0" rIns="0" tIns="0" bIns="0">
            <a:spAutoFit/>
          </a:bodyPr>
          <a:lstStyle/>
          <a:p>
            <a:pPr algn="l"/>
            <a:r>
              <a:rPr sz="3200" b="1">
                <a:solidFill>
                  <a:srgbClr val="8A90B0"/>
                </a:solidFill>
                <a:latin typeface="Arial"/>
              </a:rPr>
              <a:t>123</a:t>
            </a:r>
          </a:p>
        </p:txBody>
      </p:sp>
      <p:sp>
        <p:nvSpPr>
          <p:cNvPr id="41" name="TextBox 40"/>
          <p:cNvSpPr txBox="1"/>
          <p:nvPr/>
        </p:nvSpPr>
        <p:spPr>
          <a:xfrm>
            <a:off x="11256264" y="6967728"/>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42" name="TextBox 41"/>
          <p:cNvSpPr txBox="1"/>
          <p:nvPr/>
        </p:nvSpPr>
        <p:spPr>
          <a:xfrm>
            <a:off x="11896344" y="6675120"/>
            <a:ext cx="1280160" cy="320040"/>
          </a:xfrm>
          <a:prstGeom prst="rect">
            <a:avLst/>
          </a:prstGeom>
          <a:noFill/>
        </p:spPr>
        <p:txBody>
          <a:bodyPr wrap="square" anchor="t" lIns="0" rIns="0" tIns="0" bIns="0">
            <a:spAutoFit/>
          </a:bodyPr>
          <a:lstStyle/>
          <a:p>
            <a:pPr algn="l"/>
            <a:r>
              <a:rPr sz="1500" b="1">
                <a:solidFill>
                  <a:srgbClr val="72C493"/>
                </a:solidFill>
                <a:latin typeface="Arial"/>
              </a:rPr>
              <a:t>2026</a:t>
            </a:r>
          </a:p>
        </p:txBody>
      </p:sp>
      <p:sp>
        <p:nvSpPr>
          <p:cNvPr id="43" name="TextBox 42"/>
          <p:cNvSpPr txBox="1"/>
          <p:nvPr/>
        </p:nvSpPr>
        <p:spPr>
          <a:xfrm>
            <a:off x="11896344" y="6876288"/>
            <a:ext cx="2468880" cy="777240"/>
          </a:xfrm>
          <a:prstGeom prst="rect">
            <a:avLst/>
          </a:prstGeom>
          <a:noFill/>
        </p:spPr>
        <p:txBody>
          <a:bodyPr wrap="square" anchor="t" lIns="0" rIns="0" tIns="0" bIns="0">
            <a:spAutoFit/>
          </a:bodyPr>
          <a:lstStyle/>
          <a:p>
            <a:pPr algn="l"/>
            <a:r>
              <a:rPr sz="4800" b="1">
                <a:solidFill>
                  <a:srgbClr val="FFFFFF"/>
                </a:solidFill>
                <a:latin typeface="Arial"/>
              </a:rPr>
              <a:t>130</a:t>
            </a:r>
          </a:p>
        </p:txBody>
      </p:sp>
      <p:sp>
        <p:nvSpPr>
          <p:cNvPr id="44" name="Rectangle 43"/>
          <p:cNvSpPr/>
          <p:nvPr/>
        </p:nvSpPr>
        <p:spPr>
          <a:xfrm>
            <a:off x="14456664" y="7040880"/>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+5 %</a:t>
            </a:r>
          </a:p>
        </p:txBody>
      </p:sp>
      <p:sp>
        <p:nvSpPr>
          <p:cNvPr id="45" name="Rectangle 44"/>
          <p:cNvSpPr/>
          <p:nvPr/>
        </p:nvSpPr>
        <p:spPr>
          <a:xfrm>
            <a:off x="950976" y="7909560"/>
            <a:ext cx="7955279" cy="160020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271016" y="8092440"/>
            <a:ext cx="7315200" cy="365760"/>
          </a:xfrm>
          <a:prstGeom prst="rect">
            <a:avLst/>
          </a:prstGeom>
          <a:noFill/>
        </p:spPr>
        <p:txBody>
          <a:bodyPr wrap="square" anchor="t" lIns="0" rIns="0" tIns="0" bIns="0">
            <a:spAutoFit/>
          </a:bodyPr>
          <a:lstStyle/>
          <a:p>
            <a:pPr algn="l"/>
            <a:r>
              <a:rPr sz="1700" b="1" spc="150">
                <a:solidFill>
                  <a:srgbClr val="72C493"/>
                </a:solidFill>
                <a:latin typeface="Arial"/>
              </a:rPr>
              <a:t>CANTINES DE MATERNELLE</a:t>
            </a:r>
          </a:p>
        </p:txBody>
      </p:sp>
      <p:sp>
        <p:nvSpPr>
          <p:cNvPr id="47" name="TextBox 46"/>
          <p:cNvSpPr txBox="1"/>
          <p:nvPr/>
        </p:nvSpPr>
        <p:spPr>
          <a:xfrm>
            <a:off x="1271016" y="8503920"/>
            <a:ext cx="7315200" cy="914400"/>
          </a:xfrm>
          <a:prstGeom prst="rect">
            <a:avLst/>
          </a:prstGeom>
          <a:noFill/>
        </p:spPr>
        <p:txBody>
          <a:bodyPr wrap="square" anchor="t" lIns="0" rIns="0" tIns="0" bIns="0">
            <a:spAutoFit/>
          </a:bodyPr>
          <a:lstStyle/>
          <a:p>
            <a:pPr algn="l"/>
            <a:r>
              <a:rPr sz="2100" b="1">
                <a:solidFill>
                  <a:srgbClr val="FFFFFF"/>
                </a:solidFill>
                <a:latin typeface="Arial"/>
              </a:rPr>
              <a:t>96 % des cantines à 1 animateur pour 10 enfants ou mieux, contre 44 % en 2025</a:t>
            </a:r>
          </a:p>
        </p:txBody>
      </p:sp>
      <p:sp>
        <p:nvSpPr>
          <p:cNvPr id="48" name="Rectangle 47"/>
          <p:cNvSpPr/>
          <p:nvPr/>
        </p:nvSpPr>
        <p:spPr>
          <a:xfrm>
            <a:off x="9381744" y="7909560"/>
            <a:ext cx="7955279" cy="160020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701784" y="8092440"/>
            <a:ext cx="7315200" cy="365760"/>
          </a:xfrm>
          <a:prstGeom prst="rect">
            <a:avLst/>
          </a:prstGeom>
          <a:noFill/>
        </p:spPr>
        <p:txBody>
          <a:bodyPr wrap="square" anchor="t" lIns="0" rIns="0" tIns="0" bIns="0">
            <a:spAutoFit/>
          </a:bodyPr>
          <a:lstStyle/>
          <a:p>
            <a:pPr algn="l"/>
            <a:r>
              <a:rPr sz="1700" b="1" spc="150">
                <a:solidFill>
                  <a:srgbClr val="72C493"/>
                </a:solidFill>
                <a:latin typeface="Arial"/>
              </a:rPr>
              <a:t>CANTINES D'ÉLÉMENTAIRE</a:t>
            </a:r>
          </a:p>
        </p:txBody>
      </p:sp>
      <p:sp>
        <p:nvSpPr>
          <p:cNvPr id="50" name="TextBox 49"/>
          <p:cNvSpPr txBox="1"/>
          <p:nvPr/>
        </p:nvSpPr>
        <p:spPr>
          <a:xfrm>
            <a:off x="9701784" y="8503920"/>
            <a:ext cx="7315200" cy="914400"/>
          </a:xfrm>
          <a:prstGeom prst="rect">
            <a:avLst/>
          </a:prstGeom>
          <a:noFill/>
        </p:spPr>
        <p:txBody>
          <a:bodyPr wrap="square" anchor="t" lIns="0" rIns="0" tIns="0" bIns="0">
            <a:spAutoFit/>
          </a:bodyPr>
          <a:lstStyle/>
          <a:p>
            <a:pPr algn="l"/>
            <a:r>
              <a:rPr sz="2100" b="1">
                <a:solidFill>
                  <a:srgbClr val="FFFFFF"/>
                </a:solidFill>
                <a:latin typeface="Arial"/>
              </a:rPr>
              <a:t>14 cantines sur 26 à 1 pour 25, 19 d'ici mi-octobre. Objectif : toutes d'ici la fin de l'année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CIRCULATION ET SÉCURITÉ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Une nouvelle piste cyclable pour joindre le centre</a:t>
            </a:r>
          </a:p>
        </p:txBody>
      </p:sp>
      <p:sp>
        <p:nvSpPr>
          <p:cNvPr id="5" name="Rectangle 4"/>
          <p:cNvSpPr/>
          <p:nvPr/>
        </p:nvSpPr>
        <p:spPr>
          <a:xfrm>
            <a:off x="950976" y="2331720"/>
            <a:ext cx="16367759" cy="6355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bilites_01_piste_cyclable_plan.png"/>
          <p:cNvPicPr>
            <a:picLocks noChangeAspect="1"/>
          </p:cNvPicPr>
          <p:nvPr/>
        </p:nvPicPr>
        <p:blipFill>
          <a:blip r:embed="rId4"/>
          <a:stretch>
            <a:fillRect/>
          </a:stretch>
        </p:blipFill>
        <p:spPr>
          <a:xfrm>
            <a:off x="1088136" y="2790495"/>
            <a:ext cx="16093440" cy="5437528"/>
          </a:xfrm>
          <a:prstGeom prst="rect">
            <a:avLst/>
          </a:prstGeom>
        </p:spPr>
      </p:pic>
      <p:sp>
        <p:nvSpPr>
          <p:cNvPr id="7" name="Rectangle 6"/>
          <p:cNvSpPr/>
          <p:nvPr/>
        </p:nvSpPr>
        <p:spPr>
          <a:xfrm>
            <a:off x="950976" y="9006840"/>
            <a:ext cx="822960" cy="329184"/>
          </a:xfrm>
          <a:prstGeom prst="rect">
            <a:avLst/>
          </a:prstGeom>
          <a:solidFill>
            <a:srgbClr val="E847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965960" y="8961119"/>
            <a:ext cx="7315200" cy="411480"/>
          </a:xfrm>
          <a:prstGeom prst="rect">
            <a:avLst/>
          </a:prstGeom>
          <a:noFill/>
        </p:spPr>
        <p:txBody>
          <a:bodyPr wrap="square" anchor="t" lIns="0" rIns="0" tIns="0" bIns="0">
            <a:spAutoFit/>
          </a:bodyPr>
          <a:lstStyle/>
          <a:p>
            <a:pPr algn="l"/>
            <a:r>
              <a:rPr sz="2200" b="1">
                <a:solidFill>
                  <a:srgbClr val="0E1F5B"/>
                </a:solidFill>
                <a:latin typeface="Arial"/>
              </a:rPr>
              <a:t>Piste cyclable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457</TotalTime>
  <Words>2646</Words>
  <Application>Microsoft Office PowerPoint</Application>
  <PresentationFormat>Personnalisé</PresentationFormat>
  <Paragraphs>305</Paragraphs>
  <Slides>29</Slides>
  <Notes>29</Notes>
  <HiddenSlides>0</HiddenSlides>
  <MMClips>0</MMClips>
  <ScaleCrop>false</ScaleCrop>
  <HeadingPairs>
    <vt:vector size="6" baseType="variant">
      <vt:variant>
        <vt:lpstr>Polices utilisées</vt:lpstr>
      </vt:variant>
      <vt:variant>
        <vt:i4>2</vt:i4>
      </vt:variant>
      <vt:variant>
        <vt:lpstr>Thème</vt:lpstr>
      </vt:variant>
      <vt:variant>
        <vt:i4>1</vt:i4>
      </vt:variant>
      <vt:variant>
        <vt:lpstr>Titres des diapositives</vt:lpstr>
      </vt:variant>
      <vt:variant>
        <vt:i4>29</vt:i4>
      </vt:variant>
    </vt:vector>
  </HeadingPairs>
  <TitlesOfParts>
    <vt:vector size="32" baseType="lpstr">
      <vt:lpstr>Arial</vt:lpstr>
      <vt:lpstr>Calibri</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BOUSSEMART Benjamin</cp:lastModifiedBy>
  <cp:revision>27</cp:revision>
  <cp:lastPrinted>2026-10-12T16:29:05Z</cp:lastPrinted>
  <dcterms:created xsi:type="dcterms:W3CDTF">2026-10-12T08:47:28Z</dcterms:created>
  <dcterms:modified xsi:type="dcterms:W3CDTF">2026-10-12T16:41:58Z</dcterms:modified>
</cp:coreProperties>
</file>