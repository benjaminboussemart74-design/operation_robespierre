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02" r:id="rId38"/>
    <p:sldId id="303" r:id="rId39"/>
    <p:sldId id="304" r:id="rId40"/>
    <p:sldId id="315" r:id="rId51"/>
    <p:sldId id="316" r:id="rId52"/>
    <p:sldId id="305" r:id="rId41"/>
    <p:sldId id="306" r:id="rId42"/>
    <p:sldId id="307" r:id="rId43"/>
    <p:sldId id="308" r:id="rId44"/>
    <p:sldId id="314" r:id="rId50"/>
    <p:sldId id="295" r:id="rId28"/>
    <p:sldId id="309" r:id="rId45"/>
    <p:sldId id="310" r:id="rId46"/>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décidée par La Poste sans information des habitants. Le Maire s'y est opposé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cercles verts indiquent le nombre de signalements recueillis par le formulaire de la Ville pour chaque arrêt.</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tableau de suivi des travaux des écoles (visites 2026), comptes rendus des conseils d'école du printemps 2026, tableau de suivi municipal des travaux 2026-2027. Les travaux « programmés » aux Charmilles et aux Yvris étaient prévus pour l'été 2026 : leur réalisation reste à confirmer auprès de la Direction des Bâtiments.</a:t>
            </a:r>
          </a:p>
          <a:p/>
          <a:p>
            <a:r>
              <a:t>Demandes en attente, à connaître (non projetées). Charmilles maternelle : fissures, étais posés au réfectoire,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3.png"/><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3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39.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969264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06040"/>
            <a:ext cx="8961120" cy="457200"/>
          </a:xfrm>
          <a:prstGeom prst="rect">
            <a:avLst/>
          </a:prstGeom>
          <a:noFill/>
        </p:spPr>
        <p:txBody>
          <a:bodyPr wrap="square" anchor="t" lIns="0" rIns="0" tIns="0" bIns="0">
            <a:spAutoFit/>
          </a:bodyPr>
          <a:lstStyle/>
          <a:p>
            <a:pPr algn="l"/>
            <a:r>
              <a:rPr sz="2200" b="1" spc="150">
                <a:solidFill>
                  <a:srgbClr val="72C493"/>
                </a:solidFill>
                <a:latin typeface="Arial"/>
              </a:rPr>
              <a:t>RÉOUVERTURE PRÉVUE EN</a:t>
            </a:r>
          </a:p>
        </p:txBody>
      </p:sp>
      <p:sp>
        <p:nvSpPr>
          <p:cNvPr id="7" name="TextBox 6"/>
          <p:cNvSpPr txBox="1"/>
          <p:nvPr/>
        </p:nvSpPr>
        <p:spPr>
          <a:xfrm>
            <a:off x="1371600" y="3063240"/>
            <a:ext cx="8961120" cy="1463040"/>
          </a:xfrm>
          <a:prstGeom prst="rect">
            <a:avLst/>
          </a:prstGeom>
          <a:noFill/>
        </p:spPr>
        <p:txBody>
          <a:bodyPr wrap="square" anchor="t" lIns="0" rIns="0" tIns="0" bIns="0">
            <a:spAutoFit/>
          </a:bodyPr>
          <a:lstStyle/>
          <a:p>
            <a:pPr algn="l"/>
            <a:r>
              <a:rPr sz="8000" b="1">
                <a:solidFill>
                  <a:srgbClr val="FFFFFF"/>
                </a:solidFill>
                <a:latin typeface="Arial"/>
              </a:rPr>
              <a:t>septembre 2028</a:t>
            </a:r>
          </a:p>
        </p:txBody>
      </p:sp>
      <p:sp>
        <p:nvSpPr>
          <p:cNvPr id="8" name="TextBox 7"/>
          <p:cNvSpPr txBox="1"/>
          <p:nvPr/>
        </p:nvSpPr>
        <p:spPr>
          <a:xfrm>
            <a:off x="1371600" y="4572000"/>
            <a:ext cx="8961120" cy="1280160"/>
          </a:xfrm>
          <a:prstGeom prst="rect">
            <a:avLst/>
          </a:prstGeom>
          <a:noFill/>
        </p:spPr>
        <p:txBody>
          <a:bodyPr wrap="square" anchor="t" lIns="0" rIns="0" tIns="0" bIns="0">
            <a:spAutoFit/>
          </a:bodyPr>
          <a:lstStyle/>
          <a:p>
            <a:pPr algn="l"/>
            <a:r>
              <a:rPr sz="24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Sept. 2026</a:t>
            </a:r>
          </a:p>
        </p:txBody>
      </p:sp>
      <p:sp>
        <p:nvSpPr>
          <p:cNvPr id="11" name="TextBox 10"/>
          <p:cNvSpPr txBox="1"/>
          <p:nvPr/>
        </p:nvSpPr>
        <p:spPr>
          <a:xfrm>
            <a:off x="127101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593445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449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20 mois</a:t>
            </a:r>
          </a:p>
        </p:txBody>
      </p:sp>
      <p:sp>
        <p:nvSpPr>
          <p:cNvPr id="14" name="TextBox 13"/>
          <p:cNvSpPr txBox="1"/>
          <p:nvPr/>
        </p:nvSpPr>
        <p:spPr>
          <a:xfrm>
            <a:off x="625449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de travaux prévus, pour une école agrandie et rénovée</a:t>
            </a:r>
          </a:p>
        </p:txBody>
      </p:sp>
      <p:sp>
        <p:nvSpPr>
          <p:cNvPr id="15" name="Rectangle 14"/>
          <p:cNvSpPr/>
          <p:nvPr/>
        </p:nvSpPr>
        <p:spPr>
          <a:xfrm>
            <a:off x="11155680" y="233172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0" y="2331720"/>
            <a:ext cx="5632704" cy="7040880"/>
          </a:xfrm>
          <a:prstGeom prst="rect">
            <a:avLst/>
          </a:prstGeom>
          <a:noFill/>
        </p:spPr>
        <p:txBody>
          <a:bodyPr wrap="square" anchor="ctr" lIns="0" rIns="0" tIns="0" bIns="0">
            <a:spAutoFit/>
          </a:bodyPr>
          <a:lstStyle/>
          <a:p>
            <a:pPr algn="ctr"/>
            <a:r>
              <a:rPr sz="2200" b="1">
                <a:solidFill>
                  <a:srgbClr val="8A90B0"/>
                </a:solidFill>
                <a:latin typeface="Arial"/>
              </a:rPr>
              <a:t>[Photo du chantier à fournir]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996696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12136" y="4069079"/>
            <a:ext cx="664464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92095"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15 juin 2026</a:t>
            </a:r>
          </a:p>
        </p:txBody>
      </p:sp>
      <p:sp>
        <p:nvSpPr>
          <p:cNvPr id="9" name="TextBox 8"/>
          <p:cNvSpPr txBox="1"/>
          <p:nvPr/>
        </p:nvSpPr>
        <p:spPr>
          <a:xfrm>
            <a:off x="1179575"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Courrier du Maire à La Poste</a:t>
            </a:r>
          </a:p>
        </p:txBody>
      </p:sp>
      <p:sp>
        <p:nvSpPr>
          <p:cNvPr id="10" name="Oval 9"/>
          <p:cNvSpPr/>
          <p:nvPr/>
        </p:nvSpPr>
        <p:spPr>
          <a:xfrm>
            <a:off x="561441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0189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2" name="TextBox 11"/>
          <p:cNvSpPr txBox="1"/>
          <p:nvPr/>
        </p:nvSpPr>
        <p:spPr>
          <a:xfrm>
            <a:off x="450189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sp>
        <p:nvSpPr>
          <p:cNvPr id="13" name="Oval 12"/>
          <p:cNvSpPr/>
          <p:nvPr/>
        </p:nvSpPr>
        <p:spPr>
          <a:xfrm>
            <a:off x="893673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782421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10 juillet 2026</a:t>
            </a:r>
          </a:p>
        </p:txBody>
      </p:sp>
      <p:sp>
        <p:nvSpPr>
          <p:cNvPr id="15" name="TextBox 14"/>
          <p:cNvSpPr txBox="1"/>
          <p:nvPr/>
        </p:nvSpPr>
        <p:spPr>
          <a:xfrm>
            <a:off x="782421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Nouvel échange entre le Maire et La Poste</a:t>
            </a:r>
          </a:p>
        </p:txBody>
      </p:sp>
      <p:pic>
        <p:nvPicPr>
          <p:cNvPr id="16" name="Picture 15" descr="Services_01_bureau_de_poste.jpg"/>
          <p:cNvPicPr>
            <a:picLocks noChangeAspect="1"/>
          </p:cNvPicPr>
          <p:nvPr/>
        </p:nvPicPr>
        <p:blipFill>
          <a:blip r:embed="rId4"/>
          <a:stretch>
            <a:fillRect/>
          </a:stretch>
        </p:blipFill>
        <p:spPr>
          <a:xfrm>
            <a:off x="11384280" y="2854642"/>
            <a:ext cx="5943600" cy="3343275"/>
          </a:xfrm>
          <a:prstGeom prst="rect">
            <a:avLst/>
          </a:prstGeom>
        </p:spPr>
      </p:pic>
      <p:sp>
        <p:nvSpPr>
          <p:cNvPr id="17" name="Rectangle 16"/>
          <p:cNvSpPr/>
          <p:nvPr/>
        </p:nvSpPr>
        <p:spPr>
          <a:xfrm>
            <a:off x="11384280" y="7086600"/>
            <a:ext cx="5943600" cy="22402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58600" y="7086600"/>
            <a:ext cx="5394960" cy="224028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1673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 BÂTIMENT</a:t>
            </a:r>
          </a:p>
        </p:txBody>
      </p:sp>
      <p:sp>
        <p:nvSpPr>
          <p:cNvPr id="8" name="Oval 7"/>
          <p:cNvSpPr/>
          <p:nvPr/>
        </p:nvSpPr>
        <p:spPr>
          <a:xfrm>
            <a:off x="131673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393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Des toitures solarisées</a:t>
            </a:r>
          </a:p>
        </p:txBody>
      </p:sp>
      <p:sp>
        <p:nvSpPr>
          <p:cNvPr id="10" name="Oval 9"/>
          <p:cNvSpPr/>
          <p:nvPr/>
        </p:nvSpPr>
        <p:spPr>
          <a:xfrm>
            <a:off x="131673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7393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façade végétalisée</a:t>
            </a:r>
          </a:p>
        </p:txBody>
      </p:sp>
      <p:sp>
        <p:nvSpPr>
          <p:cNvPr id="12" name="Oval 11"/>
          <p:cNvSpPr/>
          <p:nvPr/>
        </p:nvSpPr>
        <p:spPr>
          <a:xfrm>
            <a:off x="131673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393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L'installation des sièges</a:t>
            </a:r>
          </a:p>
        </p:txBody>
      </p:sp>
      <p:sp>
        <p:nvSpPr>
          <p:cNvPr id="14" name="Rectangle 13"/>
          <p:cNvSpPr/>
          <p:nvPr/>
        </p:nvSpPr>
        <p:spPr>
          <a:xfrm>
            <a:off x="630021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021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6597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LES ESPACES VERTS</a:t>
            </a:r>
          </a:p>
        </p:txBody>
      </p:sp>
      <p:sp>
        <p:nvSpPr>
          <p:cNvPr id="17" name="Oval 16"/>
          <p:cNvSpPr/>
          <p:nvPr/>
        </p:nvSpPr>
        <p:spPr>
          <a:xfrm>
            <a:off x="666597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2317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Les arbres replantés avant tout abattage</a:t>
            </a:r>
          </a:p>
        </p:txBody>
      </p:sp>
      <p:sp>
        <p:nvSpPr>
          <p:cNvPr id="19" name="Oval 18"/>
          <p:cNvSpPr/>
          <p:nvPr/>
        </p:nvSpPr>
        <p:spPr>
          <a:xfrm>
            <a:off x="666597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compensation végétale doublée</a:t>
            </a:r>
          </a:p>
        </p:txBody>
      </p:sp>
      <p:sp>
        <p:nvSpPr>
          <p:cNvPr id="21" name="Oval 20"/>
          <p:cNvSpPr/>
          <p:nvPr/>
        </p:nvSpPr>
        <p:spPr>
          <a:xfrm>
            <a:off x="666597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Une haie contre les nuisances sonores</a:t>
            </a:r>
          </a:p>
        </p:txBody>
      </p:sp>
      <p:sp>
        <p:nvSpPr>
          <p:cNvPr id="23" name="Rectangle 22"/>
          <p:cNvSpPr/>
          <p:nvPr/>
        </p:nvSpPr>
        <p:spPr>
          <a:xfrm>
            <a:off x="950976" y="7589520"/>
            <a:ext cx="1042416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25296" y="7589520"/>
            <a:ext cx="9875520" cy="1737360"/>
          </a:xfrm>
          <a:prstGeom prst="rect">
            <a:avLst/>
          </a:prstGeom>
          <a:noFill/>
        </p:spPr>
        <p:txBody>
          <a:bodyPr wrap="square" anchor="ctr" lIns="0" rIns="0" tIns="0" bIns="0">
            <a:spAutoFit/>
          </a:bodyPr>
          <a:lstStyle/>
          <a:p>
            <a:pPr algn="ctr"/>
            <a:r>
              <a:rPr sz="2200" b="1">
                <a:solidFill>
                  <a:srgbClr val="C9CCDA"/>
                </a:solidFill>
                <a:latin typeface="Arial"/>
              </a:rPr>
              <a:t>[Montant et calendrier à compléter]</a:t>
            </a:r>
          </a:p>
        </p:txBody>
      </p:sp>
      <p:pic>
        <p:nvPicPr>
          <p:cNvPr id="25" name="Picture 24" descr="Equipements_01_stade_Alain_Mimoun.jpg"/>
          <p:cNvPicPr>
            <a:picLocks noChangeAspect="1"/>
          </p:cNvPicPr>
          <p:nvPr/>
        </p:nvPicPr>
        <p:blipFill>
          <a:blip r:embed="rId4"/>
          <a:stretch>
            <a:fillRect/>
          </a:stretch>
        </p:blipFill>
        <p:spPr>
          <a:xfrm>
            <a:off x="11841480" y="3234690"/>
            <a:ext cx="5486400" cy="3086100"/>
          </a:xfrm>
          <a:prstGeom prst="rect">
            <a:avLst/>
          </a:prstGeom>
        </p:spPr>
      </p:pic>
      <p:sp>
        <p:nvSpPr>
          <p:cNvPr id="26" name="Rectangle 25"/>
          <p:cNvSpPr/>
          <p:nvPr/>
        </p:nvSpPr>
        <p:spPr>
          <a:xfrm>
            <a:off x="11841480" y="7589520"/>
            <a:ext cx="548640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15800" y="7589520"/>
            <a:ext cx="4937760" cy="1737360"/>
          </a:xfrm>
          <a:prstGeom prst="rect">
            <a:avLst/>
          </a:prstGeom>
          <a:noFill/>
        </p:spPr>
        <p:txBody>
          <a:bodyPr wrap="square" anchor="ctr" lIns="0" rIns="0" tIns="0" bIns="0">
            <a:spAutoFit/>
          </a:bodyPr>
          <a:lstStyle/>
          <a:p>
            <a:pPr algn="ctr"/>
            <a:r>
              <a:rPr sz="2200" b="1">
                <a:solidFill>
                  <a:srgbClr val="C9CCDA"/>
                </a:solidFill>
                <a:latin typeface="Arial"/>
              </a:rPr>
              <a:t>[Perspective de la tribune à fournir]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950976" y="2325929"/>
            <a:ext cx="10241280" cy="5497981"/>
          </a:xfrm>
          <a:prstGeom prst="rect">
            <a:avLst/>
          </a:prstGeom>
        </p:spPr>
      </p:pic>
      <p:sp>
        <p:nvSpPr>
          <p:cNvPr id="6" name="TextBox 5"/>
          <p:cNvSpPr txBox="1"/>
          <p:nvPr/>
        </p:nvSpPr>
        <p:spPr>
          <a:xfrm>
            <a:off x="11658600" y="2240280"/>
            <a:ext cx="5669280" cy="411480"/>
          </a:xfrm>
          <a:prstGeom prst="rect">
            <a:avLst/>
          </a:prstGeom>
          <a:noFill/>
        </p:spPr>
        <p:txBody>
          <a:bodyPr wrap="square" anchor="t" lIns="0" rIns="0" tIns="0" bIns="0">
            <a:spAutoFit/>
          </a:bodyPr>
          <a:lstStyle/>
          <a:p>
            <a:pPr algn="l"/>
            <a:r>
              <a:rPr sz="2100" b="1" spc="150">
                <a:solidFill>
                  <a:srgbClr val="72C493"/>
                </a:solidFill>
                <a:latin typeface="Arial"/>
              </a:rPr>
              <a:t>LE SQUARE</a:t>
            </a:r>
          </a:p>
        </p:txBody>
      </p:sp>
      <p:sp>
        <p:nvSpPr>
          <p:cNvPr id="7" name="Oval 6"/>
          <p:cNvSpPr/>
          <p:nvPr/>
        </p:nvSpPr>
        <p:spPr>
          <a:xfrm>
            <a:off x="11658600" y="2907791"/>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0" y="2788920"/>
            <a:ext cx="5257800" cy="1234440"/>
          </a:xfrm>
          <a:prstGeom prst="rect">
            <a:avLst/>
          </a:prstGeom>
          <a:noFill/>
        </p:spPr>
        <p:txBody>
          <a:bodyPr wrap="square" anchor="t" lIns="0" rIns="0" tIns="0" bIns="0">
            <a:spAutoFit/>
          </a:bodyPr>
          <a:lstStyle/>
          <a:p>
            <a:pPr algn="l"/>
            <a:r>
              <a:rPr sz="2200" b="1">
                <a:solidFill>
                  <a:srgbClr val="0E1F5B"/>
                </a:solidFill>
                <a:latin typeface="Arial"/>
              </a:rPr>
              <a:t>Square du boulevard des Astronautes, rue de la Chapelle</a:t>
            </a:r>
          </a:p>
        </p:txBody>
      </p:sp>
      <p:sp>
        <p:nvSpPr>
          <p:cNvPr id="9" name="Oval 8"/>
          <p:cNvSpPr/>
          <p:nvPr/>
        </p:nvSpPr>
        <p:spPr>
          <a:xfrm>
            <a:off x="11658600" y="4206240"/>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0" y="4087368"/>
            <a:ext cx="5257800" cy="1234440"/>
          </a:xfrm>
          <a:prstGeom prst="rect">
            <a:avLst/>
          </a:prstGeom>
          <a:noFill/>
        </p:spPr>
        <p:txBody>
          <a:bodyPr wrap="square" anchor="t" lIns="0" rIns="0" tIns="0" bIns="0">
            <a:spAutoFit/>
          </a:bodyPr>
          <a:lstStyle/>
          <a:p>
            <a:pPr algn="l"/>
            <a:r>
              <a:rPr sz="2200" b="1">
                <a:solidFill>
                  <a:srgbClr val="0E1F5B"/>
                </a:solidFill>
                <a:latin typeface="Arial"/>
              </a:rPr>
              <a:t>Des jeux pour les enfants de 1 an à 10-12 ans</a:t>
            </a:r>
          </a:p>
        </p:txBody>
      </p:sp>
      <p:sp>
        <p:nvSpPr>
          <p:cNvPr id="11" name="Oval 10"/>
          <p:cNvSpPr/>
          <p:nvPr/>
        </p:nvSpPr>
        <p:spPr>
          <a:xfrm>
            <a:off x="11658600" y="5504688"/>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0" y="5385816"/>
            <a:ext cx="5257800" cy="1234440"/>
          </a:xfrm>
          <a:prstGeom prst="rect">
            <a:avLst/>
          </a:prstGeom>
          <a:noFill/>
        </p:spPr>
        <p:txBody>
          <a:bodyPr wrap="square" anchor="t" lIns="0" rIns="0" tIns="0" bIns="0">
            <a:spAutoFit/>
          </a:bodyPr>
          <a:lstStyle/>
          <a:p>
            <a:pPr algn="l"/>
            <a:r>
              <a:rPr sz="2200" b="1">
                <a:solidFill>
                  <a:srgbClr val="0E1F5B"/>
                </a:solidFill>
                <a:latin typeface="Arial"/>
              </a:rPr>
              <a:t>Sol souple, bancs, chaises longues et tables de jeux en plastique recyclé</a:t>
            </a:r>
          </a:p>
        </p:txBody>
      </p:sp>
      <p:sp>
        <p:nvSpPr>
          <p:cNvPr id="13" name="Oval 12"/>
          <p:cNvSpPr/>
          <p:nvPr/>
        </p:nvSpPr>
        <p:spPr>
          <a:xfrm>
            <a:off x="11658600" y="6803136"/>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0" y="6684264"/>
            <a:ext cx="5257800" cy="1234440"/>
          </a:xfrm>
          <a:prstGeom prst="rect">
            <a:avLst/>
          </a:prstGeom>
          <a:noFill/>
        </p:spPr>
        <p:txBody>
          <a:bodyPr wrap="square" anchor="t" lIns="0" rIns="0" tIns="0" bIns="0">
            <a:spAutoFit/>
          </a:bodyPr>
          <a:lstStyle/>
          <a:p>
            <a:pPr algn="l"/>
            <a:r>
              <a:rPr sz="2200" b="1">
                <a:solidFill>
                  <a:srgbClr val="0E1F5B"/>
                </a:solidFill>
                <a:latin typeface="Arial"/>
              </a:rPr>
              <a:t>Le séquoia géant et les arbres existants conservés</a:t>
            </a:r>
          </a:p>
        </p:txBody>
      </p:sp>
      <p:cxnSp>
        <p:nvCxnSpPr>
          <p:cNvPr id="15" name="Connector 14"/>
          <p:cNvCxnSpPr/>
          <p:nvPr/>
        </p:nvCxnSpPr>
        <p:spPr>
          <a:xfrm>
            <a:off x="3678936" y="8321040"/>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358896"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17" name="TextBox 16"/>
          <p:cNvSpPr txBox="1"/>
          <p:nvPr/>
        </p:nvSpPr>
        <p:spPr>
          <a:xfrm>
            <a:off x="117957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Cet hiver</a:t>
            </a:r>
          </a:p>
        </p:txBody>
      </p:sp>
      <p:sp>
        <p:nvSpPr>
          <p:cNvPr id="18" name="TextBox 17"/>
          <p:cNvSpPr txBox="1"/>
          <p:nvPr/>
        </p:nvSpPr>
        <p:spPr>
          <a:xfrm>
            <a:off x="117957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Concertation avec les riverains</a:t>
            </a:r>
          </a:p>
        </p:txBody>
      </p:sp>
      <p:sp>
        <p:nvSpPr>
          <p:cNvPr id="19" name="Oval 18"/>
          <p:cNvSpPr/>
          <p:nvPr/>
        </p:nvSpPr>
        <p:spPr>
          <a:xfrm>
            <a:off x="881481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20" name="TextBox 19"/>
          <p:cNvSpPr txBox="1"/>
          <p:nvPr/>
        </p:nvSpPr>
        <p:spPr>
          <a:xfrm>
            <a:off x="6635495"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Fin du printemps</a:t>
            </a:r>
          </a:p>
        </p:txBody>
      </p:sp>
      <p:sp>
        <p:nvSpPr>
          <p:cNvPr id="21" name="TextBox 20"/>
          <p:cNvSpPr txBox="1"/>
          <p:nvPr/>
        </p:nvSpPr>
        <p:spPr>
          <a:xfrm>
            <a:off x="6635495"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Travaux</a:t>
            </a:r>
          </a:p>
        </p:txBody>
      </p:sp>
      <p:sp>
        <p:nvSpPr>
          <p:cNvPr id="22" name="Oval 21"/>
          <p:cNvSpPr/>
          <p:nvPr/>
        </p:nvSpPr>
        <p:spPr>
          <a:xfrm>
            <a:off x="1427073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23" name="TextBox 22"/>
          <p:cNvSpPr txBox="1"/>
          <p:nvPr/>
        </p:nvSpPr>
        <p:spPr>
          <a:xfrm>
            <a:off x="1209141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À l'automne</a:t>
            </a:r>
          </a:p>
        </p:txBody>
      </p:sp>
      <p:sp>
        <p:nvSpPr>
          <p:cNvPr id="24" name="TextBox 23"/>
          <p:cNvSpPr txBox="1"/>
          <p:nvPr/>
        </p:nvSpPr>
        <p:spPr>
          <a:xfrm>
            <a:off x="1209141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Plantations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jp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 IGN – BD ORTHO · Lignes et arrêts : Île-de-France Mobilités</a:t>
            </a:r>
          </a:p>
        </p:txBody>
      </p:sp>
      <p:sp>
        <p:nvSpPr>
          <p:cNvPr id="7" name="TextBox 6"/>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8" name="TextBox 7"/>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9" name="TextBox 8"/>
          <p:cNvSpPr txBox="1"/>
          <p:nvPr/>
        </p:nvSpPr>
        <p:spPr>
          <a:xfrm>
            <a:off x="4656815" y="5244391"/>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0" name="TextBox 9"/>
          <p:cNvSpPr txBox="1"/>
          <p:nvPr/>
        </p:nvSpPr>
        <p:spPr>
          <a:xfrm>
            <a:off x="10876876" y="684123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1" name="TextBox 10"/>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12" name="TextBox 1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13" name="TextBox 1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14" name="TextBox 13"/>
          <p:cNvSpPr txBox="1"/>
          <p:nvPr/>
        </p:nvSpPr>
        <p:spPr>
          <a:xfrm>
            <a:off x="385328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15" name="TextBox 14"/>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16" name="TextBox 15"/>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17" name="TextBox 16"/>
          <p:cNvSpPr txBox="1"/>
          <p:nvPr/>
        </p:nvSpPr>
        <p:spPr>
          <a:xfrm>
            <a:off x="5802107" y="5684568"/>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18" name="TextBox 17"/>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19" name="TextBox 18"/>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20" name="TextBox 19"/>
          <p:cNvSpPr txBox="1"/>
          <p:nvPr/>
        </p:nvSpPr>
        <p:spPr>
          <a:xfrm>
            <a:off x="4344542" y="562261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21" name="TextBox 20"/>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22" name="TextBox 21"/>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23" name="TextBox 22"/>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24" name="TextBox 23"/>
          <p:cNvSpPr txBox="1"/>
          <p:nvPr/>
        </p:nvSpPr>
        <p:spPr>
          <a:xfrm>
            <a:off x="8367052" y="6580805"/>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25" name="TextBox 24"/>
          <p:cNvSpPr txBox="1"/>
          <p:nvPr/>
        </p:nvSpPr>
        <p:spPr>
          <a:xfrm>
            <a:off x="12618720" y="2286000"/>
            <a:ext cx="4754880" cy="411480"/>
          </a:xfrm>
          <a:prstGeom prst="rect">
            <a:avLst/>
          </a:prstGeom>
          <a:noFill/>
        </p:spPr>
        <p:txBody>
          <a:bodyPr wrap="square" anchor="t" lIns="0" rIns="0" tIns="0" bIns="0">
            <a:spAutoFit/>
          </a:bodyPr>
          <a:lstStyle/>
          <a:p>
            <a:pPr algn="l"/>
            <a:r>
              <a:rPr sz="1800" b="1" spc="120">
                <a:solidFill>
                  <a:srgbClr val="72C493"/>
                </a:solidFill>
                <a:latin typeface="Arial"/>
              </a:rPr>
              <a:t>LIGNES QUI TRAVERSENT LE QUARTIER</a:t>
            </a:r>
          </a:p>
        </p:txBody>
      </p:sp>
      <p:sp>
        <p:nvSpPr>
          <p:cNvPr id="26" name="Rectangle 25"/>
          <p:cNvSpPr/>
          <p:nvPr/>
        </p:nvSpPr>
        <p:spPr>
          <a:xfrm>
            <a:off x="12618720" y="3035808"/>
            <a:ext cx="914400" cy="201168"/>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0" y="2926080"/>
            <a:ext cx="3566160" cy="457200"/>
          </a:xfrm>
          <a:prstGeom prst="rect">
            <a:avLst/>
          </a:prstGeom>
          <a:noFill/>
        </p:spPr>
        <p:txBody>
          <a:bodyPr wrap="square" anchor="t" lIns="0" rIns="0" tIns="0" bIns="0">
            <a:spAutoFit/>
          </a:bodyPr>
          <a:lstStyle/>
          <a:p>
            <a:pPr algn="l"/>
            <a:r>
              <a:rPr sz="2400" b="1">
                <a:solidFill>
                  <a:srgbClr val="FFFFFF"/>
                </a:solidFill>
                <a:latin typeface="Arial"/>
              </a:rPr>
              <a:t>Ligne 310</a:t>
            </a:r>
          </a:p>
        </p:txBody>
      </p:sp>
      <p:sp>
        <p:nvSpPr>
          <p:cNvPr id="28" name="Rectangle 27"/>
          <p:cNvSpPr/>
          <p:nvPr/>
        </p:nvSpPr>
        <p:spPr>
          <a:xfrm>
            <a:off x="12618720" y="3721608"/>
            <a:ext cx="914400" cy="201168"/>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716000" y="3611880"/>
            <a:ext cx="3566160" cy="457200"/>
          </a:xfrm>
          <a:prstGeom prst="rect">
            <a:avLst/>
          </a:prstGeom>
          <a:noFill/>
        </p:spPr>
        <p:txBody>
          <a:bodyPr wrap="square" anchor="t" lIns="0" rIns="0" tIns="0" bIns="0">
            <a:spAutoFit/>
          </a:bodyPr>
          <a:lstStyle/>
          <a:p>
            <a:pPr algn="l"/>
            <a:r>
              <a:rPr sz="2400" b="1">
                <a:solidFill>
                  <a:srgbClr val="FFFFFF"/>
                </a:solidFill>
                <a:latin typeface="Arial"/>
              </a:rPr>
              <a:t>Ligne 312</a:t>
            </a:r>
          </a:p>
        </p:txBody>
      </p:sp>
      <p:sp>
        <p:nvSpPr>
          <p:cNvPr id="30" name="Rectangle 29"/>
          <p:cNvSpPr/>
          <p:nvPr/>
        </p:nvSpPr>
        <p:spPr>
          <a:xfrm>
            <a:off x="12618720" y="4407408"/>
            <a:ext cx="914400" cy="201168"/>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716000" y="4297680"/>
            <a:ext cx="3566160" cy="457200"/>
          </a:xfrm>
          <a:prstGeom prst="rect">
            <a:avLst/>
          </a:prstGeom>
          <a:noFill/>
        </p:spPr>
        <p:txBody>
          <a:bodyPr wrap="square" anchor="t" lIns="0" rIns="0" tIns="0" bIns="0">
            <a:spAutoFit/>
          </a:bodyPr>
          <a:lstStyle/>
          <a:p>
            <a:pPr algn="l"/>
            <a:r>
              <a:rPr sz="2400" b="1">
                <a:solidFill>
                  <a:srgbClr val="FFFFFF"/>
                </a:solidFill>
                <a:latin typeface="Arial"/>
              </a:rPr>
              <a:t>Ligne 320</a:t>
            </a:r>
          </a:p>
        </p:txBody>
      </p:sp>
      <p:sp>
        <p:nvSpPr>
          <p:cNvPr id="32" name="TextBox 31"/>
          <p:cNvSpPr txBox="1"/>
          <p:nvPr/>
        </p:nvSpPr>
        <p:spPr>
          <a:xfrm>
            <a:off x="12618720" y="5074920"/>
            <a:ext cx="4754880" cy="411480"/>
          </a:xfrm>
          <a:prstGeom prst="rect">
            <a:avLst/>
          </a:prstGeom>
          <a:noFill/>
        </p:spPr>
        <p:txBody>
          <a:bodyPr wrap="square" anchor="t" lIns="0" rIns="0" tIns="0" bIns="0">
            <a:spAutoFit/>
          </a:bodyPr>
          <a:lstStyle/>
          <a:p>
            <a:pPr algn="l"/>
            <a:r>
              <a:rPr sz="1800" b="1" spc="120">
                <a:solidFill>
                  <a:srgbClr val="72C493"/>
                </a:solidFill>
                <a:latin typeface="Arial"/>
              </a:rPr>
              <a:t>SIGNALEMENTS PAR ARRÊT</a:t>
            </a:r>
          </a:p>
        </p:txBody>
      </p:sp>
      <p:sp>
        <p:nvSpPr>
          <p:cNvPr id="33" name="Rectangle 32"/>
          <p:cNvSpPr/>
          <p:nvPr/>
        </p:nvSpPr>
        <p:spPr>
          <a:xfrm>
            <a:off x="12618720" y="5623560"/>
            <a:ext cx="4718304" cy="320040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0" y="5623560"/>
            <a:ext cx="4169664" cy="3200400"/>
          </a:xfrm>
          <a:prstGeom prst="rect">
            <a:avLst/>
          </a:prstGeom>
          <a:noFill/>
        </p:spPr>
        <p:txBody>
          <a:bodyPr wrap="square" anchor="ctr" lIns="0" rIns="0" tIns="0" bIns="0">
            <a:spAutoFit/>
          </a:bodyPr>
          <a:lstStyle/>
          <a:p>
            <a:pPr algn="ctr"/>
            <a:r>
              <a:rPr sz="2200" b="1">
                <a:solidFill>
                  <a:srgbClr val="C9CCDA"/>
                </a:solidFill>
                <a:latin typeface="Arial"/>
              </a:rPr>
              <a:t>[Nombre de signalements par arrêt à compléter]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529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Les Charmilles</a:t>
            </a:r>
          </a:p>
        </p:txBody>
      </p:sp>
      <p:sp>
        <p:nvSpPr>
          <p:cNvPr id="8" name="TextBox 7"/>
          <p:cNvSpPr txBox="1"/>
          <p:nvPr/>
        </p:nvSpPr>
        <p:spPr>
          <a:xfrm>
            <a:off x="1225296"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9" name="Oval 8"/>
          <p:cNvSpPr/>
          <p:nvPr/>
        </p:nvSpPr>
        <p:spPr>
          <a:xfrm>
            <a:off x="1243584" y="363016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45336" y="3538728"/>
            <a:ext cx="3063240" cy="914400"/>
          </a:xfrm>
          <a:prstGeom prst="rect">
            <a:avLst/>
          </a:prstGeom>
          <a:noFill/>
        </p:spPr>
        <p:txBody>
          <a:bodyPr wrap="square" anchor="t" lIns="0" rIns="0" tIns="0" bIns="0">
            <a:spAutoFit/>
          </a:bodyPr>
          <a:lstStyle/>
          <a:p>
            <a:pPr algn="l"/>
            <a:r>
              <a:rPr sz="1700" b="1">
                <a:solidFill>
                  <a:srgbClr val="FAF5EC"/>
                </a:solidFill>
                <a:latin typeface="Arial"/>
              </a:rPr>
              <a:t>Étais du réfectoire déposés (mai 2026)</a:t>
            </a:r>
          </a:p>
        </p:txBody>
      </p:sp>
      <p:sp>
        <p:nvSpPr>
          <p:cNvPr id="11" name="Oval 10"/>
          <p:cNvSpPr/>
          <p:nvPr/>
        </p:nvSpPr>
        <p:spPr>
          <a:xfrm>
            <a:off x="1243584" y="4325112"/>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45336" y="4233672"/>
            <a:ext cx="3063240" cy="914400"/>
          </a:xfrm>
          <a:prstGeom prst="rect">
            <a:avLst/>
          </a:prstGeom>
          <a:noFill/>
        </p:spPr>
        <p:txBody>
          <a:bodyPr wrap="square" anchor="t" lIns="0" rIns="0" tIns="0" bIns="0">
            <a:spAutoFit/>
          </a:bodyPr>
          <a:lstStyle/>
          <a:p>
            <a:pPr algn="l"/>
            <a:r>
              <a:rPr sz="1700" b="1">
                <a:solidFill>
                  <a:srgbClr val="FAF5EC"/>
                </a:solidFill>
                <a:latin typeface="Arial"/>
              </a:rPr>
              <a:t>Ventilateurs et films anti-UV</a:t>
            </a:r>
          </a:p>
        </p:txBody>
      </p:sp>
      <p:sp>
        <p:nvSpPr>
          <p:cNvPr id="13" name="Oval 12"/>
          <p:cNvSpPr/>
          <p:nvPr/>
        </p:nvSpPr>
        <p:spPr>
          <a:xfrm>
            <a:off x="1243584" y="5020055"/>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45336" y="4928616"/>
            <a:ext cx="3063240" cy="914400"/>
          </a:xfrm>
          <a:prstGeom prst="rect">
            <a:avLst/>
          </a:prstGeom>
          <a:noFill/>
        </p:spPr>
        <p:txBody>
          <a:bodyPr wrap="square" anchor="t" lIns="0" rIns="0" tIns="0" bIns="0">
            <a:spAutoFit/>
          </a:bodyPr>
          <a:lstStyle/>
          <a:p>
            <a:pPr algn="l"/>
            <a:r>
              <a:rPr sz="1700" b="1">
                <a:solidFill>
                  <a:srgbClr val="FAF5EC"/>
                </a:solidFill>
                <a:latin typeface="Arial"/>
              </a:rPr>
              <a:t>Bancs dans la cour</a:t>
            </a:r>
          </a:p>
        </p:txBody>
      </p:sp>
      <p:sp>
        <p:nvSpPr>
          <p:cNvPr id="15" name="Oval 14"/>
          <p:cNvSpPr/>
          <p:nvPr/>
        </p:nvSpPr>
        <p:spPr>
          <a:xfrm>
            <a:off x="1243584" y="5440679"/>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5336" y="5349240"/>
            <a:ext cx="3063240" cy="914400"/>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17" name="TextBox 16"/>
          <p:cNvSpPr txBox="1"/>
          <p:nvPr/>
        </p:nvSpPr>
        <p:spPr>
          <a:xfrm>
            <a:off x="1225296" y="6153912"/>
            <a:ext cx="3429000" cy="365760"/>
          </a:xfrm>
          <a:prstGeom prst="rect">
            <a:avLst/>
          </a:prstGeom>
          <a:noFill/>
        </p:spPr>
        <p:txBody>
          <a:bodyPr wrap="square" anchor="t" lIns="0" rIns="0" tIns="0" bIns="0">
            <a:spAutoFit/>
          </a:bodyPr>
          <a:lstStyle/>
          <a:p>
            <a:pPr algn="l"/>
            <a:r>
              <a:rPr sz="1600" b="1" spc="150">
                <a:solidFill>
                  <a:srgbClr val="72C493"/>
                </a:solidFill>
                <a:latin typeface="Arial"/>
              </a:rPr>
              <a:t>EN COURS</a:t>
            </a:r>
          </a:p>
        </p:txBody>
      </p:sp>
      <p:sp>
        <p:nvSpPr>
          <p:cNvPr id="18" name="Oval 17"/>
          <p:cNvSpPr/>
          <p:nvPr/>
        </p:nvSpPr>
        <p:spPr>
          <a:xfrm>
            <a:off x="1243584" y="6629399"/>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45336" y="6537959"/>
            <a:ext cx="3063240" cy="914400"/>
          </a:xfrm>
          <a:prstGeom prst="rect">
            <a:avLst/>
          </a:prstGeom>
          <a:noFill/>
        </p:spPr>
        <p:txBody>
          <a:bodyPr wrap="square" anchor="t" lIns="0" rIns="0" tIns="0" bIns="0">
            <a:spAutoFit/>
          </a:bodyPr>
          <a:lstStyle/>
          <a:p>
            <a:pPr algn="l"/>
            <a:r>
              <a:rPr sz="1700" b="1">
                <a:solidFill>
                  <a:srgbClr val="FAF5EC"/>
                </a:solidFill>
                <a:latin typeface="Arial"/>
              </a:rPr>
              <a:t>Remplacement des dalles de faux plafond abîmées</a:t>
            </a:r>
          </a:p>
        </p:txBody>
      </p:sp>
      <p:sp>
        <p:nvSpPr>
          <p:cNvPr id="20" name="TextBox 19"/>
          <p:cNvSpPr txBox="1"/>
          <p:nvPr/>
        </p:nvSpPr>
        <p:spPr>
          <a:xfrm>
            <a:off x="1225296" y="7342631"/>
            <a:ext cx="3429000" cy="365760"/>
          </a:xfrm>
          <a:prstGeom prst="rect">
            <a:avLst/>
          </a:prstGeom>
          <a:noFill/>
        </p:spPr>
        <p:txBody>
          <a:bodyPr wrap="square" anchor="t" lIns="0" rIns="0" tIns="0" bIns="0">
            <a:spAutoFit/>
          </a:bodyPr>
          <a:lstStyle/>
          <a:p>
            <a:pPr algn="l"/>
            <a:r>
              <a:rPr sz="1600" b="1" spc="150">
                <a:solidFill>
                  <a:srgbClr val="72C493"/>
                </a:solidFill>
                <a:latin typeface="Arial"/>
              </a:rPr>
              <a:t>PROGRAMMÉ</a:t>
            </a:r>
          </a:p>
        </p:txBody>
      </p:sp>
      <p:sp>
        <p:nvSpPr>
          <p:cNvPr id="21" name="Oval 20"/>
          <p:cNvSpPr/>
          <p:nvPr/>
        </p:nvSpPr>
        <p:spPr>
          <a:xfrm>
            <a:off x="1243584" y="7818119"/>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45336" y="7726679"/>
            <a:ext cx="3063240" cy="914400"/>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23" name="Oval 22"/>
          <p:cNvSpPr/>
          <p:nvPr/>
        </p:nvSpPr>
        <p:spPr>
          <a:xfrm>
            <a:off x="1243584" y="8513063"/>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45336" y="8421624"/>
            <a:ext cx="3063240" cy="914400"/>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25" name="Rectangle 24"/>
          <p:cNvSpPr/>
          <p:nvPr/>
        </p:nvSpPr>
        <p:spPr>
          <a:xfrm>
            <a:off x="511149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1149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8581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Les Yvris</a:t>
            </a:r>
          </a:p>
        </p:txBody>
      </p:sp>
      <p:sp>
        <p:nvSpPr>
          <p:cNvPr id="28" name="TextBox 27"/>
          <p:cNvSpPr txBox="1"/>
          <p:nvPr/>
        </p:nvSpPr>
        <p:spPr>
          <a:xfrm>
            <a:off x="5385816"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29" name="Oval 28"/>
          <p:cNvSpPr/>
          <p:nvPr/>
        </p:nvSpPr>
        <p:spPr>
          <a:xfrm>
            <a:off x="5404104" y="363016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05856" y="3538728"/>
            <a:ext cx="3063240" cy="914400"/>
          </a:xfrm>
          <a:prstGeom prst="rect">
            <a:avLst/>
          </a:prstGeom>
          <a:noFill/>
        </p:spPr>
        <p:txBody>
          <a:bodyPr wrap="square" anchor="t" lIns="0" rIns="0" tIns="0" bIns="0">
            <a:spAutoFit/>
          </a:bodyPr>
          <a:lstStyle/>
          <a:p>
            <a:pPr algn="l"/>
            <a:r>
              <a:rPr sz="1700" b="1">
                <a:solidFill>
                  <a:srgbClr val="FAF5EC"/>
                </a:solidFill>
                <a:latin typeface="Arial"/>
              </a:rPr>
              <a:t>Remise en état du drapeau de l'entrée (juin 2026)</a:t>
            </a:r>
          </a:p>
        </p:txBody>
      </p:sp>
      <p:sp>
        <p:nvSpPr>
          <p:cNvPr id="31" name="TextBox 30"/>
          <p:cNvSpPr txBox="1"/>
          <p:nvPr/>
        </p:nvSpPr>
        <p:spPr>
          <a:xfrm>
            <a:off x="5385816" y="4343400"/>
            <a:ext cx="3429000" cy="365760"/>
          </a:xfrm>
          <a:prstGeom prst="rect">
            <a:avLst/>
          </a:prstGeom>
          <a:noFill/>
        </p:spPr>
        <p:txBody>
          <a:bodyPr wrap="square" anchor="t" lIns="0" rIns="0" tIns="0" bIns="0">
            <a:spAutoFit/>
          </a:bodyPr>
          <a:lstStyle/>
          <a:p>
            <a:pPr algn="l"/>
            <a:r>
              <a:rPr sz="1600" b="1" spc="150">
                <a:solidFill>
                  <a:srgbClr val="72C493"/>
                </a:solidFill>
                <a:latin typeface="Arial"/>
              </a:rPr>
              <a:t>PROGRAMMÉ</a:t>
            </a:r>
          </a:p>
        </p:txBody>
      </p:sp>
      <p:sp>
        <p:nvSpPr>
          <p:cNvPr id="32" name="Oval 31"/>
          <p:cNvSpPr/>
          <p:nvPr/>
        </p:nvSpPr>
        <p:spPr>
          <a:xfrm>
            <a:off x="5404104" y="481888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05856" y="4727448"/>
            <a:ext cx="3063240" cy="914400"/>
          </a:xfrm>
          <a:prstGeom prst="rect">
            <a:avLst/>
          </a:prstGeom>
          <a:noFill/>
        </p:spPr>
        <p:txBody>
          <a:bodyPr wrap="square" anchor="t" lIns="0" rIns="0" tIns="0" bIns="0">
            <a:spAutoFit/>
          </a:bodyPr>
          <a:lstStyle/>
          <a:p>
            <a:pPr algn="l"/>
            <a:r>
              <a:rPr sz="1700" b="1">
                <a:solidFill>
                  <a:srgbClr val="FAF5EC"/>
                </a:solidFill>
                <a:latin typeface="Arial"/>
              </a:rPr>
              <a:t>Peinture du hall élémentaire et du bureau de la direction</a:t>
            </a:r>
          </a:p>
        </p:txBody>
      </p:sp>
      <p:sp>
        <p:nvSpPr>
          <p:cNvPr id="34" name="Rectangle 33"/>
          <p:cNvSpPr/>
          <p:nvPr/>
        </p:nvSpPr>
        <p:spPr>
          <a:xfrm>
            <a:off x="927201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27201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4633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Maternelle des Richardets</a:t>
            </a:r>
          </a:p>
        </p:txBody>
      </p:sp>
      <p:sp>
        <p:nvSpPr>
          <p:cNvPr id="37" name="TextBox 36"/>
          <p:cNvSpPr txBox="1"/>
          <p:nvPr/>
        </p:nvSpPr>
        <p:spPr>
          <a:xfrm>
            <a:off x="9546336" y="352044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38" name="Oval 37"/>
          <p:cNvSpPr/>
          <p:nvPr/>
        </p:nvSpPr>
        <p:spPr>
          <a:xfrm>
            <a:off x="9564624" y="399592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866376" y="3904488"/>
            <a:ext cx="3063240" cy="914400"/>
          </a:xfrm>
          <a:prstGeom prst="rect">
            <a:avLst/>
          </a:prstGeom>
          <a:noFill/>
        </p:spPr>
        <p:txBody>
          <a:bodyPr wrap="square" anchor="t" lIns="0" rIns="0" tIns="0" bIns="0">
            <a:spAutoFit/>
          </a:bodyPr>
          <a:lstStyle/>
          <a:p>
            <a:pPr algn="l"/>
            <a:r>
              <a:rPr sz="1700" b="1">
                <a:solidFill>
                  <a:srgbClr val="FAF5EC"/>
                </a:solidFill>
                <a:latin typeface="Arial"/>
              </a:rPr>
              <a:t>Un rafraîchisseur d'air</a:t>
            </a:r>
          </a:p>
        </p:txBody>
      </p:sp>
      <p:sp>
        <p:nvSpPr>
          <p:cNvPr id="40" name="Oval 39"/>
          <p:cNvSpPr/>
          <p:nvPr/>
        </p:nvSpPr>
        <p:spPr>
          <a:xfrm>
            <a:off x="9564624" y="4416552"/>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66376" y="4325112"/>
            <a:ext cx="3063240" cy="914400"/>
          </a:xfrm>
          <a:prstGeom prst="rect">
            <a:avLst/>
          </a:prstGeom>
          <a:noFill/>
        </p:spPr>
        <p:txBody>
          <a:bodyPr wrap="square" anchor="t" lIns="0" rIns="0" tIns="0" bIns="0">
            <a:spAutoFit/>
          </a:bodyPr>
          <a:lstStyle/>
          <a:p>
            <a:pPr algn="l"/>
            <a:r>
              <a:rPr sz="1700" b="1">
                <a:solidFill>
                  <a:srgbClr val="FAF5EC"/>
                </a:solidFill>
                <a:latin typeface="Arial"/>
              </a:rPr>
              <a:t>Des films de protection solaire sur les vitrages</a:t>
            </a:r>
          </a:p>
        </p:txBody>
      </p:sp>
      <p:sp>
        <p:nvSpPr>
          <p:cNvPr id="42" name="Rectangle 41"/>
          <p:cNvSpPr/>
          <p:nvPr/>
        </p:nvSpPr>
        <p:spPr>
          <a:xfrm>
            <a:off x="13432535"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432535"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3706855" y="2560320"/>
            <a:ext cx="3429000" cy="868680"/>
          </a:xfrm>
          <a:prstGeom prst="rect">
            <a:avLst/>
          </a:prstGeom>
          <a:noFill/>
        </p:spPr>
        <p:txBody>
          <a:bodyPr wrap="square" anchor="t" lIns="0" rIns="0" tIns="0" bIns="0">
            <a:spAutoFit/>
          </a:bodyPr>
          <a:lstStyle/>
          <a:p>
            <a:pPr algn="l"/>
            <a:r>
              <a:rPr sz="2600" b="1">
                <a:solidFill>
                  <a:srgbClr val="FFFFFF"/>
                </a:solidFill>
                <a:latin typeface="Arial"/>
              </a:rPr>
              <a:t>Paul-Serelle</a:t>
            </a:r>
          </a:p>
        </p:txBody>
      </p:sp>
      <p:sp>
        <p:nvSpPr>
          <p:cNvPr id="45" name="TextBox 44"/>
          <p:cNvSpPr txBox="1"/>
          <p:nvPr/>
        </p:nvSpPr>
        <p:spPr>
          <a:xfrm>
            <a:off x="13706855"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L'ÉTUDE</a:t>
            </a:r>
          </a:p>
        </p:txBody>
      </p:sp>
      <p:sp>
        <p:nvSpPr>
          <p:cNvPr id="46" name="Oval 45"/>
          <p:cNvSpPr/>
          <p:nvPr/>
        </p:nvSpPr>
        <p:spPr>
          <a:xfrm>
            <a:off x="13725143" y="363016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026895" y="3538728"/>
            <a:ext cx="3063240" cy="914400"/>
          </a:xfrm>
          <a:prstGeom prst="rect">
            <a:avLst/>
          </a:prstGeom>
          <a:noFill/>
        </p:spPr>
        <p:txBody>
          <a:bodyPr wrap="square" anchor="t" lIns="0" rIns="0" tIns="0" bIns="0">
            <a:spAutoFit/>
          </a:bodyPr>
          <a:lstStyle/>
          <a:p>
            <a:pPr algn="l"/>
            <a:r>
              <a:rPr sz="1700" b="1">
                <a:solidFill>
                  <a:srgbClr val="FAF5EC"/>
                </a:solidFill>
                <a:latin typeface="Arial"/>
              </a:rPr>
              <a:t>Sécurisation du carrefour rue Paul-Serelle</a:t>
            </a:r>
          </a:p>
        </p:txBody>
      </p:sp>
      <p:sp>
        <p:nvSpPr>
          <p:cNvPr id="48" name="TextBox 47"/>
          <p:cNvSpPr txBox="1"/>
          <p:nvPr/>
        </p:nvSpPr>
        <p:spPr>
          <a:xfrm>
            <a:off x="13706855" y="434340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RÉALISER</a:t>
            </a:r>
          </a:p>
        </p:txBody>
      </p:sp>
      <p:sp>
        <p:nvSpPr>
          <p:cNvPr id="49" name="Oval 48"/>
          <p:cNvSpPr/>
          <p:nvPr/>
        </p:nvSpPr>
        <p:spPr>
          <a:xfrm>
            <a:off x="13725143" y="481888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026895" y="4727448"/>
            <a:ext cx="3063240" cy="914400"/>
          </a:xfrm>
          <a:prstGeom prst="rect">
            <a:avLst/>
          </a:prstGeom>
          <a:noFill/>
        </p:spPr>
        <p:txBody>
          <a:bodyPr wrap="square" anchor="t" lIns="0" rIns="0" tIns="0" bIns="0">
            <a:spAutoFit/>
          </a:bodyPr>
          <a:lstStyle/>
          <a:p>
            <a:pPr algn="l"/>
            <a:r>
              <a:rPr sz="1700" b="1">
                <a:solidFill>
                  <a:srgbClr val="FAF5EC"/>
                </a:solidFill>
                <a:latin typeface="Arial"/>
              </a:rPr>
              <a:t>Réparation des fuites de la salle polyvalente</a:t>
            </a:r>
          </a:p>
        </p:txBody>
      </p:sp>
      <p:sp>
        <p:nvSpPr>
          <p:cNvPr id="51" name="TextBox 50"/>
          <p:cNvSpPr txBox="1"/>
          <p:nvPr/>
        </p:nvSpPr>
        <p:spPr>
          <a:xfrm>
            <a:off x="13706855" y="553212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PROGRAMMER</a:t>
            </a:r>
          </a:p>
        </p:txBody>
      </p:sp>
      <p:sp>
        <p:nvSpPr>
          <p:cNvPr id="52" name="Oval 51"/>
          <p:cNvSpPr/>
          <p:nvPr/>
        </p:nvSpPr>
        <p:spPr>
          <a:xfrm>
            <a:off x="13725143" y="6007607"/>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4026895" y="5916168"/>
            <a:ext cx="3063240" cy="914400"/>
          </a:xfrm>
          <a:prstGeom prst="rect">
            <a:avLst/>
          </a:prstGeom>
          <a:noFill/>
        </p:spPr>
        <p:txBody>
          <a:bodyPr wrap="square" anchor="t" lIns="0" rIns="0" tIns="0" bIns="0">
            <a:spAutoFit/>
          </a:bodyPr>
          <a:lstStyle/>
          <a:p>
            <a:pPr algn="l"/>
            <a:r>
              <a:rPr sz="1700" b="1">
                <a:solidFill>
                  <a:srgbClr val="FAF5EC"/>
                </a:solidFill>
                <a:latin typeface="Arial"/>
              </a:rPr>
              <a:t>Réverbère devant le portail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anchor="t" lIns="0" rIns="0" tIns="0" bIns="0">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anchor="t" lIns="0" rIns="0" tIns="0" bIns="0">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anchor="t" lIns="0" rIns="0" tIns="0" bIns="0">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anchor="t" lIns="0" rIns="0" tIns="0" bIns="0">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anchor="t" lIns="0" rIns="0" tIns="0" bIns="0">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anchor="t" lIns="0" rIns="0" tIns="0" bIns="0">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anchor="t" lIns="0" rIns="0" tIns="0" bIns="0">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anchor="t" lIns="0" rIns="0" tIns="0" bIns="0">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anchor="t" lIns="0" rIns="0" tIns="0" bIns="0">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anchor="t" lIns="0" rIns="0" tIns="0" bIns="0">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anchor="t" lIns="0" rIns="0" tIns="0" bIns="0">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anchor="t" lIns="0" rIns="0" tIns="0" bIns="0">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01784"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anchor="t" lIns="0" rIns="0" tIns="0" bIns="0">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