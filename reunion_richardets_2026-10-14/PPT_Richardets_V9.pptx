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15" r:id="rId8"/>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endParaRPr/>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endParaRPr/>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endParaRPr/>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cxnSp>
        <p:nvCxnSpPr>
          <p:cNvPr id="5" name="Connector 4"/>
          <p:cNvCxnSpPr/>
          <p:nvPr/>
        </p:nvCxnSpPr>
        <p:spPr>
          <a:xfrm>
            <a:off x="3678936" y="3749039"/>
            <a:ext cx="1091183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335889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7" name="TextBox 6"/>
          <p:cNvSpPr txBox="1"/>
          <p:nvPr/>
        </p:nvSpPr>
        <p:spPr>
          <a:xfrm>
            <a:off x="1179576"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1er juillet 2026</a:t>
            </a:r>
          </a:p>
        </p:txBody>
      </p:sp>
      <p:sp>
        <p:nvSpPr>
          <p:cNvPr id="8" name="TextBox 7"/>
          <p:cNvSpPr txBox="1"/>
          <p:nvPr/>
        </p:nvSpPr>
        <p:spPr>
          <a:xfrm>
            <a:off x="1179576"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de restauration</a:t>
            </a:r>
          </a:p>
        </p:txBody>
      </p:sp>
      <p:sp>
        <p:nvSpPr>
          <p:cNvPr id="9" name="Oval 8"/>
          <p:cNvSpPr/>
          <p:nvPr/>
        </p:nvSpPr>
        <p:spPr>
          <a:xfrm>
            <a:off x="8814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0" name="TextBox 9"/>
          <p:cNvSpPr txBox="1"/>
          <p:nvPr/>
        </p:nvSpPr>
        <p:spPr>
          <a:xfrm>
            <a:off x="6635495"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6 juillet 2026</a:t>
            </a:r>
          </a:p>
        </p:txBody>
      </p:sp>
      <p:sp>
        <p:nvSpPr>
          <p:cNvPr id="11" name="TextBox 10"/>
          <p:cNvSpPr txBox="1"/>
          <p:nvPr/>
        </p:nvSpPr>
        <p:spPr>
          <a:xfrm>
            <a:off x="6635495"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Déménagement du matériel scolaire, après la fin de l'année</a:t>
            </a:r>
          </a:p>
        </p:txBody>
      </p:sp>
      <p:sp>
        <p:nvSpPr>
          <p:cNvPr id="12" name="Oval 11"/>
          <p:cNvSpPr/>
          <p:nvPr/>
        </p:nvSpPr>
        <p:spPr>
          <a:xfrm>
            <a:off x="1427073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3" name="TextBox 12"/>
          <p:cNvSpPr txBox="1"/>
          <p:nvPr/>
        </p:nvSpPr>
        <p:spPr>
          <a:xfrm>
            <a:off x="12091416" y="4343400"/>
            <a:ext cx="4998719" cy="548640"/>
          </a:xfrm>
          <a:prstGeom prst="rect">
            <a:avLst/>
          </a:prstGeom>
          <a:noFill/>
        </p:spPr>
        <p:txBody>
          <a:bodyPr wrap="square" lIns="0" tIns="0" rIns="0" bIns="0" anchor="t">
            <a:spAutoFit/>
          </a:bodyPr>
          <a:lstStyle/>
          <a:p>
            <a:pPr algn="ctr"/>
            <a:r>
              <a:rPr sz="3000" b="1">
                <a:solidFill>
                  <a:srgbClr val="72C493"/>
                </a:solidFill>
                <a:latin typeface="Arial"/>
              </a:rPr>
              <a:t>20 juillet 2026</a:t>
            </a:r>
          </a:p>
        </p:txBody>
      </p:sp>
      <p:sp>
        <p:nvSpPr>
          <p:cNvPr id="14" name="TextBox 13"/>
          <p:cNvSpPr txBox="1"/>
          <p:nvPr/>
        </p:nvSpPr>
        <p:spPr>
          <a:xfrm>
            <a:off x="12091416" y="5029200"/>
            <a:ext cx="4998719" cy="1828800"/>
          </a:xfrm>
          <a:prstGeom prst="rect">
            <a:avLst/>
          </a:prstGeom>
          <a:noFill/>
        </p:spPr>
        <p:txBody>
          <a:bodyPr wrap="square" lIns="0" tIns="0" rIns="0" bIns="0" anchor="t">
            <a:spAutoFit/>
          </a:bodyPr>
          <a:lstStyle/>
          <a:p>
            <a:pPr algn="ctr"/>
            <a:r>
              <a:rPr sz="2400" b="0">
                <a:solidFill>
                  <a:srgbClr val="FAF5EC"/>
                </a:solidFill>
                <a:latin typeface="Arial"/>
              </a:rPr>
              <a:t>Installation à l'école des Gobelins</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5097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101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École des Gobelins</a:t>
            </a:r>
          </a:p>
        </p:txBody>
      </p:sp>
      <p:sp>
        <p:nvSpPr>
          <p:cNvPr id="8" name="TextBox 7"/>
          <p:cNvSpPr txBox="1"/>
          <p:nvPr/>
        </p:nvSpPr>
        <p:spPr>
          <a:xfrm>
            <a:off x="127101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accueillir l'école des Richardets</a:t>
            </a:r>
          </a:p>
        </p:txBody>
      </p:sp>
      <p:sp>
        <p:nvSpPr>
          <p:cNvPr id="9" name="TextBox 8"/>
          <p:cNvSpPr txBox="1"/>
          <p:nvPr/>
        </p:nvSpPr>
        <p:spPr>
          <a:xfrm>
            <a:off x="515721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1,3 M€</a:t>
            </a:r>
          </a:p>
        </p:txBody>
      </p:sp>
      <p:sp>
        <p:nvSpPr>
          <p:cNvPr id="10" name="TextBox 9"/>
          <p:cNvSpPr txBox="1"/>
          <p:nvPr/>
        </p:nvSpPr>
        <p:spPr>
          <a:xfrm>
            <a:off x="515721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11" name="TextBox 10"/>
          <p:cNvSpPr txBox="1"/>
          <p:nvPr/>
        </p:nvSpPr>
        <p:spPr>
          <a:xfrm>
            <a:off x="127101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RÉALISÉ CETTE ANNÉE</a:t>
            </a:r>
          </a:p>
        </p:txBody>
      </p:sp>
      <p:sp>
        <p:nvSpPr>
          <p:cNvPr id="12" name="Oval 11"/>
          <p:cNvSpPr/>
          <p:nvPr/>
        </p:nvSpPr>
        <p:spPr>
          <a:xfrm>
            <a:off x="128930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9105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Création de sanitaires</a:t>
            </a:r>
          </a:p>
        </p:txBody>
      </p:sp>
      <p:sp>
        <p:nvSpPr>
          <p:cNvPr id="14" name="Oval 13"/>
          <p:cNvSpPr/>
          <p:nvPr/>
        </p:nvSpPr>
        <p:spPr>
          <a:xfrm>
            <a:off x="128930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9105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Réfection des sols et des peintures</a:t>
            </a:r>
          </a:p>
        </p:txBody>
      </p:sp>
      <p:sp>
        <p:nvSpPr>
          <p:cNvPr id="16" name="Oval 15"/>
          <p:cNvSpPr/>
          <p:nvPr/>
        </p:nvSpPr>
        <p:spPr>
          <a:xfrm>
            <a:off x="128930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9105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Travaux électriques</a:t>
            </a:r>
          </a:p>
        </p:txBody>
      </p:sp>
      <p:sp>
        <p:nvSpPr>
          <p:cNvPr id="18" name="Oval 17"/>
          <p:cNvSpPr/>
          <p:nvPr/>
        </p:nvSpPr>
        <p:spPr>
          <a:xfrm>
            <a:off x="128930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9105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Clôtures et portails</a:t>
            </a:r>
          </a:p>
        </p:txBody>
      </p:sp>
      <p:sp>
        <p:nvSpPr>
          <p:cNvPr id="20" name="Oval 19"/>
          <p:cNvSpPr/>
          <p:nvPr/>
        </p:nvSpPr>
        <p:spPr>
          <a:xfrm>
            <a:off x="128930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9105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Rénovation de la cour et pose de pare-ballons</a:t>
            </a:r>
          </a:p>
        </p:txBody>
      </p:sp>
      <p:sp>
        <p:nvSpPr>
          <p:cNvPr id="22" name="Rectangle 21"/>
          <p:cNvSpPr/>
          <p:nvPr/>
        </p:nvSpPr>
        <p:spPr>
          <a:xfrm>
            <a:off x="927201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7201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9205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Les Charmilles</a:t>
            </a:r>
          </a:p>
        </p:txBody>
      </p:sp>
      <p:sp>
        <p:nvSpPr>
          <p:cNvPr id="25" name="TextBox 24"/>
          <p:cNvSpPr txBox="1"/>
          <p:nvPr/>
        </p:nvSpPr>
        <p:spPr>
          <a:xfrm>
            <a:off x="959205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l'assainissement et le hall du groupe scolaire</a:t>
            </a:r>
          </a:p>
        </p:txBody>
      </p:sp>
      <p:sp>
        <p:nvSpPr>
          <p:cNvPr id="26" name="TextBox 25"/>
          <p:cNvSpPr txBox="1"/>
          <p:nvPr/>
        </p:nvSpPr>
        <p:spPr>
          <a:xfrm>
            <a:off x="1347825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23 000 €</a:t>
            </a:r>
          </a:p>
        </p:txBody>
      </p:sp>
      <p:sp>
        <p:nvSpPr>
          <p:cNvPr id="27" name="TextBox 26"/>
          <p:cNvSpPr txBox="1"/>
          <p:nvPr/>
        </p:nvSpPr>
        <p:spPr>
          <a:xfrm>
            <a:off x="1347825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28" name="TextBox 27"/>
          <p:cNvSpPr txBox="1"/>
          <p:nvPr/>
        </p:nvSpPr>
        <p:spPr>
          <a:xfrm>
            <a:off x="959205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FAIT</a:t>
            </a:r>
          </a:p>
        </p:txBody>
      </p:sp>
      <p:sp>
        <p:nvSpPr>
          <p:cNvPr id="29" name="Oval 28"/>
          <p:cNvSpPr/>
          <p:nvPr/>
        </p:nvSpPr>
        <p:spPr>
          <a:xfrm>
            <a:off x="961034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1209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Mise en conformité du réseau d'assainissement (19 000 €)</a:t>
            </a:r>
          </a:p>
        </p:txBody>
      </p:sp>
      <p:sp>
        <p:nvSpPr>
          <p:cNvPr id="31" name="Oval 30"/>
          <p:cNvSpPr/>
          <p:nvPr/>
        </p:nvSpPr>
        <p:spPr>
          <a:xfrm>
            <a:off x="961034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1209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Remise en état du hall : plâtrerie et peinture (4 000 €)</a:t>
            </a:r>
          </a:p>
        </p:txBody>
      </p:sp>
      <p:sp>
        <p:nvSpPr>
          <p:cNvPr id="33" name="Oval 32"/>
          <p:cNvSpPr/>
          <p:nvPr/>
        </p:nvSpPr>
        <p:spPr>
          <a:xfrm>
            <a:off x="961034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91209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Faux plafonds remplacés, étais du réfectoire déposés</a:t>
            </a:r>
          </a:p>
        </p:txBody>
      </p:sp>
      <p:sp>
        <p:nvSpPr>
          <p:cNvPr id="35" name="Oval 34"/>
          <p:cNvSpPr/>
          <p:nvPr/>
        </p:nvSpPr>
        <p:spPr>
          <a:xfrm>
            <a:off x="961034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1209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Portes réglées, poignée remplacée</a:t>
            </a:r>
          </a:p>
        </p:txBody>
      </p:sp>
      <p:sp>
        <p:nvSpPr>
          <p:cNvPr id="37" name="Oval 36"/>
          <p:cNvSpPr/>
          <p:nvPr/>
        </p:nvSpPr>
        <p:spPr>
          <a:xfrm>
            <a:off x="961034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1209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Ventilateurs, films anti-UV et bancs dans la cour</a:t>
            </a:r>
          </a:p>
        </p:txBody>
      </p:sp>
      <p:sp>
        <p:nvSpPr>
          <p:cNvPr id="39" name="TextBox 38"/>
          <p:cNvSpPr txBox="1"/>
          <p:nvPr/>
        </p:nvSpPr>
        <p:spPr>
          <a:xfrm>
            <a:off x="9592056" y="5897879"/>
            <a:ext cx="7406640" cy="320040"/>
          </a:xfrm>
          <a:prstGeom prst="rect">
            <a:avLst/>
          </a:prstGeom>
          <a:noFill/>
        </p:spPr>
        <p:txBody>
          <a:bodyPr wrap="square" lIns="0" tIns="0" rIns="0" bIns="0" anchor="t">
            <a:spAutoFit/>
          </a:bodyPr>
          <a:lstStyle/>
          <a:p>
            <a:pPr algn="l"/>
            <a:r>
              <a:rPr sz="1500" b="1" spc="150">
                <a:solidFill>
                  <a:srgbClr val="72C493"/>
                </a:solidFill>
                <a:latin typeface="Arial"/>
              </a:rPr>
              <a:t>PROGRAMMÉ</a:t>
            </a:r>
          </a:p>
        </p:txBody>
      </p:sp>
      <p:sp>
        <p:nvSpPr>
          <p:cNvPr id="40" name="Oval 39"/>
          <p:cNvSpPr/>
          <p:nvPr/>
        </p:nvSpPr>
        <p:spPr>
          <a:xfrm>
            <a:off x="9610344" y="6345936"/>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912096" y="6263640"/>
            <a:ext cx="7086600" cy="347472"/>
          </a:xfrm>
          <a:prstGeom prst="rect">
            <a:avLst/>
          </a:prstGeom>
          <a:noFill/>
        </p:spPr>
        <p:txBody>
          <a:bodyPr wrap="square" lIns="0" tIns="0" rIns="0" bIns="0" anchor="t">
            <a:spAutoFit/>
          </a:bodyPr>
          <a:lstStyle/>
          <a:p>
            <a:pPr algn="l"/>
            <a:r>
              <a:rPr sz="1700" b="1">
                <a:solidFill>
                  <a:srgbClr val="FAF5EC"/>
                </a:solidFill>
                <a:latin typeface="Arial"/>
              </a:rPr>
              <a:t>Infiltration et peinture, classe de CM1-CM2</a:t>
            </a:r>
          </a:p>
        </p:txBody>
      </p:sp>
      <p:sp>
        <p:nvSpPr>
          <p:cNvPr id="42" name="Oval 41"/>
          <p:cNvSpPr/>
          <p:nvPr/>
        </p:nvSpPr>
        <p:spPr>
          <a:xfrm>
            <a:off x="9610344" y="6693407"/>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912096" y="6611112"/>
            <a:ext cx="7086600" cy="347472"/>
          </a:xfrm>
          <a:prstGeom prst="rect">
            <a:avLst/>
          </a:prstGeom>
          <a:noFill/>
        </p:spPr>
        <p:txBody>
          <a:bodyPr wrap="square" lIns="0" tIns="0" rIns="0" bIns="0" anchor="t">
            <a:spAutoFit/>
          </a:bodyPr>
          <a:lstStyle/>
          <a:p>
            <a:pPr algn="l"/>
            <a:r>
              <a:rPr sz="1700" b="1">
                <a:solidFill>
                  <a:srgbClr val="FAF5EC"/>
                </a:solidFill>
                <a:latin typeface="Arial"/>
              </a:rPr>
              <a:t>Peinture de l'office du réfectoire</a:t>
            </a:r>
          </a:p>
        </p:txBody>
      </p:sp>
      <p:sp>
        <p:nvSpPr>
          <p:cNvPr id="44" name="Rectangle 43"/>
          <p:cNvSpPr/>
          <p:nvPr/>
        </p:nvSpPr>
        <p:spPr>
          <a:xfrm>
            <a:off x="950976"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0976"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7607808"/>
            <a:ext cx="4727448" cy="457200"/>
          </a:xfrm>
          <a:prstGeom prst="rect">
            <a:avLst/>
          </a:prstGeom>
          <a:noFill/>
        </p:spPr>
        <p:txBody>
          <a:bodyPr wrap="square" lIns="0" tIns="0" rIns="0" bIns="0" anchor="t">
            <a:spAutoFit/>
          </a:bodyPr>
          <a:lstStyle/>
          <a:p>
            <a:pPr algn="l"/>
            <a:r>
              <a:rPr sz="2200" b="1">
                <a:solidFill>
                  <a:srgbClr val="FFFFFF"/>
                </a:solidFill>
                <a:latin typeface="Arial"/>
              </a:rPr>
              <a:t>Les Yvris</a:t>
            </a:r>
          </a:p>
        </p:txBody>
      </p:sp>
      <p:sp>
        <p:nvSpPr>
          <p:cNvPr id="47" name="Oval 46"/>
          <p:cNvSpPr/>
          <p:nvPr/>
        </p:nvSpPr>
        <p:spPr>
          <a:xfrm>
            <a:off x="1289304"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572768" y="8156448"/>
            <a:ext cx="4407407" cy="640080"/>
          </a:xfrm>
          <a:prstGeom prst="rect">
            <a:avLst/>
          </a:prstGeom>
          <a:noFill/>
        </p:spPr>
        <p:txBody>
          <a:bodyPr wrap="square" lIns="0" tIns="0" rIns="0" bIns="0" anchor="t">
            <a:spAutoFit/>
          </a:bodyPr>
          <a:lstStyle/>
          <a:p>
            <a:pPr algn="l"/>
            <a:r>
              <a:rPr sz="1600" b="1">
                <a:solidFill>
                  <a:srgbClr val="FAF5EC"/>
                </a:solidFill>
                <a:latin typeface="Arial"/>
              </a:rPr>
              <a:t>Drapeau de l'entrée remis en état</a:t>
            </a:r>
          </a:p>
        </p:txBody>
      </p:sp>
      <p:sp>
        <p:nvSpPr>
          <p:cNvPr id="49" name="Oval 48"/>
          <p:cNvSpPr/>
          <p:nvPr/>
        </p:nvSpPr>
        <p:spPr>
          <a:xfrm>
            <a:off x="1289304"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72768" y="8540496"/>
            <a:ext cx="4407407" cy="640080"/>
          </a:xfrm>
          <a:prstGeom prst="rect">
            <a:avLst/>
          </a:prstGeom>
          <a:noFill/>
        </p:spPr>
        <p:txBody>
          <a:bodyPr wrap="square" lIns="0" tIns="0" rIns="0" bIns="0" anchor="t">
            <a:spAutoFit/>
          </a:bodyPr>
          <a:lstStyle/>
          <a:p>
            <a:pPr algn="l"/>
            <a:r>
              <a:rPr sz="1600" b="1">
                <a:solidFill>
                  <a:srgbClr val="FAF5EC"/>
                </a:solidFill>
                <a:latin typeface="Arial"/>
              </a:rPr>
              <a:t>Peinture du hall élémentaire et du bureau de la direction</a:t>
            </a:r>
          </a:p>
        </p:txBody>
      </p:sp>
      <p:sp>
        <p:nvSpPr>
          <p:cNvPr id="51" name="Rectangle 50"/>
          <p:cNvSpPr/>
          <p:nvPr/>
        </p:nvSpPr>
        <p:spPr>
          <a:xfrm>
            <a:off x="6492240"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492240"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12279" y="7607808"/>
            <a:ext cx="4727448" cy="457200"/>
          </a:xfrm>
          <a:prstGeom prst="rect">
            <a:avLst/>
          </a:prstGeom>
          <a:noFill/>
        </p:spPr>
        <p:txBody>
          <a:bodyPr wrap="square" lIns="0" tIns="0" rIns="0" bIns="0" anchor="t">
            <a:spAutoFit/>
          </a:bodyPr>
          <a:lstStyle/>
          <a:p>
            <a:pPr algn="l"/>
            <a:r>
              <a:rPr sz="2200" b="1">
                <a:solidFill>
                  <a:srgbClr val="FFFFFF"/>
                </a:solidFill>
                <a:latin typeface="Arial"/>
              </a:rPr>
              <a:t>Maternelle des Richardets</a:t>
            </a:r>
          </a:p>
        </p:txBody>
      </p:sp>
      <p:sp>
        <p:nvSpPr>
          <p:cNvPr id="54" name="Oval 53"/>
          <p:cNvSpPr/>
          <p:nvPr/>
        </p:nvSpPr>
        <p:spPr>
          <a:xfrm>
            <a:off x="6830568"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14031" y="8156448"/>
            <a:ext cx="4407407" cy="640080"/>
          </a:xfrm>
          <a:prstGeom prst="rect">
            <a:avLst/>
          </a:prstGeom>
          <a:noFill/>
        </p:spPr>
        <p:txBody>
          <a:bodyPr wrap="square" lIns="0" tIns="0" rIns="0" bIns="0" anchor="t">
            <a:spAutoFit/>
          </a:bodyPr>
          <a:lstStyle/>
          <a:p>
            <a:pPr algn="l"/>
            <a:r>
              <a:rPr sz="1600" b="1">
                <a:solidFill>
                  <a:srgbClr val="FAF5EC"/>
                </a:solidFill>
                <a:latin typeface="Arial"/>
              </a:rPr>
              <a:t>Un rafraîchisseur d'air</a:t>
            </a:r>
          </a:p>
        </p:txBody>
      </p:sp>
      <p:sp>
        <p:nvSpPr>
          <p:cNvPr id="56" name="Oval 55"/>
          <p:cNvSpPr/>
          <p:nvPr/>
        </p:nvSpPr>
        <p:spPr>
          <a:xfrm>
            <a:off x="6830568" y="861364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14031" y="8540496"/>
            <a:ext cx="4407407" cy="640080"/>
          </a:xfrm>
          <a:prstGeom prst="rect">
            <a:avLst/>
          </a:prstGeom>
          <a:noFill/>
        </p:spPr>
        <p:txBody>
          <a:bodyPr wrap="square" lIns="0" tIns="0" rIns="0" bIns="0" anchor="t">
            <a:spAutoFit/>
          </a:bodyPr>
          <a:lstStyle/>
          <a:p>
            <a:pPr algn="l"/>
            <a:r>
              <a:rPr sz="1600" b="1">
                <a:solidFill>
                  <a:srgbClr val="FAF5EC"/>
                </a:solidFill>
                <a:latin typeface="Arial"/>
              </a:rPr>
              <a:t>Des films de protection solaire sur les vitrages</a:t>
            </a:r>
          </a:p>
        </p:txBody>
      </p:sp>
      <p:sp>
        <p:nvSpPr>
          <p:cNvPr id="58" name="Rectangle 57"/>
          <p:cNvSpPr/>
          <p:nvPr/>
        </p:nvSpPr>
        <p:spPr>
          <a:xfrm>
            <a:off x="12033504"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2033504"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2353544" y="7607808"/>
            <a:ext cx="4727448" cy="457200"/>
          </a:xfrm>
          <a:prstGeom prst="rect">
            <a:avLst/>
          </a:prstGeom>
          <a:noFill/>
        </p:spPr>
        <p:txBody>
          <a:bodyPr wrap="square" lIns="0" tIns="0" rIns="0" bIns="0" anchor="t">
            <a:spAutoFit/>
          </a:bodyPr>
          <a:lstStyle/>
          <a:p>
            <a:pPr algn="l"/>
            <a:r>
              <a:rPr sz="2200" b="1">
                <a:solidFill>
                  <a:srgbClr val="FFFFFF"/>
                </a:solidFill>
                <a:latin typeface="Arial"/>
              </a:rPr>
              <a:t>Paul-Serelle</a:t>
            </a:r>
          </a:p>
        </p:txBody>
      </p:sp>
      <p:sp>
        <p:nvSpPr>
          <p:cNvPr id="61" name="Oval 60"/>
          <p:cNvSpPr/>
          <p:nvPr/>
        </p:nvSpPr>
        <p:spPr>
          <a:xfrm>
            <a:off x="12371832" y="8229600"/>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2655296" y="8156448"/>
            <a:ext cx="4407407" cy="640080"/>
          </a:xfrm>
          <a:prstGeom prst="rect">
            <a:avLst/>
          </a:prstGeom>
          <a:noFill/>
        </p:spPr>
        <p:txBody>
          <a:bodyPr wrap="square" lIns="0" tIns="0" rIns="0" bIns="0" anchor="t">
            <a:spAutoFit/>
          </a:bodyPr>
          <a:lstStyle/>
          <a:p>
            <a:pPr algn="l"/>
            <a:r>
              <a:rPr sz="1600" b="1">
                <a:solidFill>
                  <a:srgbClr val="FAF5EC"/>
                </a:solidFill>
                <a:latin typeface="Arial"/>
              </a:rPr>
              <a:t>Sécurisation du carrefour, à l'étude</a:t>
            </a:r>
          </a:p>
        </p:txBody>
      </p:sp>
      <p:sp>
        <p:nvSpPr>
          <p:cNvPr id="63" name="Oval 62"/>
          <p:cNvSpPr/>
          <p:nvPr/>
        </p:nvSpPr>
        <p:spPr>
          <a:xfrm>
            <a:off x="12371832"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2655296" y="8540496"/>
            <a:ext cx="4407407" cy="640080"/>
          </a:xfrm>
          <a:prstGeom prst="rect">
            <a:avLst/>
          </a:prstGeom>
          <a:noFill/>
        </p:spPr>
        <p:txBody>
          <a:bodyPr wrap="square" lIns="0" tIns="0" rIns="0" bIns="0" anchor="t">
            <a:spAutoFit/>
          </a:bodyPr>
          <a:lstStyle/>
          <a:p>
            <a:pPr algn="l"/>
            <a:r>
              <a:rPr sz="1600" b="1">
                <a:solidFill>
                  <a:srgbClr val="FAF5EC"/>
                </a:solidFill>
                <a:latin typeface="Arial"/>
              </a:rPr>
              <a:t>Réparation des fuites de la salle polyvalente</a:t>
            </a:r>
          </a:p>
        </p:txBody>
      </p:sp>
      <p:sp>
        <p:nvSpPr>
          <p:cNvPr id="65" name="Oval 64"/>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03020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réalisé</a:t>
            </a:r>
          </a:p>
        </p:txBody>
      </p:sp>
      <p:sp>
        <p:nvSpPr>
          <p:cNvPr id="67" name="Oval 66"/>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435608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programmé ou à l'étude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