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301" r:id="rId5"/>
    <p:sldId id="320" r:id="rId6"/>
    <p:sldId id="302" r:id="rId7"/>
    <p:sldId id="326" r:id="rId33"/>
    <p:sldId id="324" r:id="rId8"/>
    <p:sldId id="316" r:id="rId9"/>
    <p:sldId id="305" r:id="rId10"/>
    <p:sldId id="327" r:id="rId32"/>
    <p:sldId id="329" r:id="rId11"/>
    <p:sldId id="306" r:id="rId12"/>
    <p:sldId id="318" r:id="rId13"/>
    <p:sldId id="307" r:id="rId14"/>
    <p:sldId id="314" r:id="rId15"/>
    <p:sldId id="295" r:id="rId16"/>
    <p:sldId id="321" r:id="rId30"/>
    <p:sldId id="322" r:id="rId31"/>
    <p:sldId id="309" r:id="rId17"/>
    <p:sldId id="310" r:id="rId18"/>
    <p:sldId id="319" r:id="rId19"/>
    <p:sldId id="311" r:id="rId20"/>
    <p:sldId id="312" r:id="rId21"/>
    <p:sldId id="288" r:id="rId22"/>
    <p:sldId id="289" r:id="rId23"/>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3.xml"/><Relationship Id="rId21" Type="http://schemas.openxmlformats.org/officeDocument/2006/relationships/slide" Target="slides/slide24.xml"/><Relationship Id="rId22" Type="http://schemas.openxmlformats.org/officeDocument/2006/relationships/slide" Target="slides/slide25.xml"/><Relationship Id="rId23" Type="http://schemas.openxmlformats.org/officeDocument/2006/relationships/slide" Target="slides/slide26.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11.xml"/><Relationship Id="rId3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giratoire et de la piste cyclable (en rouge), qui contourne le rond-point et se poursuit le long de la voie (coupe A-A).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Parking situé dans le secteur du gymnase des Yvris, chemin de la Noisette, près de l'école élémentaire des Yvris et du collège Saint-Exupéry (point fourni : 48°49'35.57" N, 2°35'00.63" E). Vues : orthophotographies IGN. Règles de la zone bleue à compléter : périmètre, durée de stationnement autorisée, date de mise en place, contrôle.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Ancien projet (avant l'élection du Maire) : une tribune de 600 places pour un coût de 4 millions d'euros, avec l'abattage de 13 arbres. Nouveau projet : toitures solarisées, façade en bois, plan de revégétalisation du stade avec la plantation de nouvelles essences d'arbres aux abords de la zone pavillonnaire pour limiter les nuisances sonores ; une demande de subvention de 1 million d'euros va être déposée.</a:t>
            </a:r>
          </a:p>
          <a:p/>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visuel : création d'une troisième voie ; reconstruction de la gare des Yvris – Noisy-le-Grand avec un nouveau bâtiment voyageurs, accès aux quais par une passerelle et des ascenseurs (mise aux normes d'accessibilité) ; reconstruction des ponts Paul-Serelle et des Yvris avec un tablier pour les modes doux ; démolition d'un passage souterrain et construction d'une passerelle piétonne accessible aux personnes à mobilité réduite ; rénovation de 4 ponts dans les bois Saint-Martin et de Célie pour faciliter le passage de la faune.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plan projeté : parvis ouest avec square de proximité et dépose-minute ; parvis est avec kiosque, consigne vélos et arceaux ; terminus de la ligne 310 et local chauffeurs ; bus en passage avenue du Bois Saint-Martin ; piste cyclable ; accès RER sud-est ; parking végétalisé de 175 places.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 En haut à gauche, la route vers le centre-ville ; en haut à droite, la route vers l'entrée d'autoroute.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Description du projet. Augmentation de la capacité d'accueil du groupe scolaire en prévision d'une forte ascension démographique sur le secteur sud de la Ville (aménagement de salles supplémentaires par la création d'extensions et la réfection des logements de fonction). Mise en cohérence des espaces existants avec les besoins pédagogiques (restructuration lourde du groupe scolaire visant à une optimisation organisationnelle des bâtiments, et une amélioration du confort d'accueil des enfants et des conditions d'enseignement). Mise aux normes générale (accueil PMR).</a:t>
            </a:r>
          </a:p>
          <a:p/>
          <a:p>
            <a:r>
              <a:t>Programme de rénovation : réfection des logements de fonction pour loger des salles supplémentaires ; remaniement et agrandissement du pôle restauration ; re-cloisonnement partiel des espaces existants ; mise aux normes PMR de la circulation ; remplacement des menuiseries extérieures et isolation des combles ; réaménagement des cours de récréation (remplacement des clôtures, création des rangements extérieurs, séparation des cours).</a:t>
            </a:r>
          </a:p>
          <a:p/>
          <a:p>
            <a:r>
              <a:t>Programme de construction neuve : construction d'extensions permettant de créer des locaux manquants au bon fonctionnement des entités pédagogiques ; construction de deux nouveaux préaux.</a:t>
            </a:r>
          </a:p>
          <a:p/>
          <a:p>
            <a:r>
              <a:t>Illustration : plan des 1er et 2e étages et du sous-sol partiel (dossier de consultation des entreprises, mars 2020, « Réaménagement et extension du groupe scolaire des Richardets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2.jpg"/><Relationship Id="rId4" Type="http://schemas.openxmlformats.org/officeDocument/2006/relationships/notesSlide" Target="../notesSlides/notesSlide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0.jpg"/><Relationship Id="rId4"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jpg"/><Relationship Id="rId4"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cxnSp>
        <p:nvCxnSpPr>
          <p:cNvPr id="17" name="Connector 16"/>
          <p:cNvCxnSpPr/>
          <p:nvPr/>
        </p:nvCxnSpPr>
        <p:spPr>
          <a:xfrm>
            <a:off x="2996946" y="3749039"/>
            <a:ext cx="1227581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7690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19" name="TextBox 18"/>
          <p:cNvSpPr txBox="1"/>
          <p:nvPr/>
        </p:nvSpPr>
        <p:spPr>
          <a:xfrm>
            <a:off x="117957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2024</a:t>
            </a:r>
          </a:p>
        </p:txBody>
      </p:sp>
      <p:sp>
        <p:nvSpPr>
          <p:cNvPr id="20" name="TextBox 19"/>
          <p:cNvSpPr txBox="1"/>
          <p:nvPr/>
        </p:nvSpPr>
        <p:spPr>
          <a:xfrm>
            <a:off x="117957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Projet validé par l'ancienne municipalité</a:t>
            </a:r>
          </a:p>
        </p:txBody>
      </p:sp>
      <p:sp>
        <p:nvSpPr>
          <p:cNvPr id="21" name="Oval 20"/>
          <p:cNvSpPr/>
          <p:nvPr/>
        </p:nvSpPr>
        <p:spPr>
          <a:xfrm>
            <a:off x="676884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22" name="TextBox 21"/>
          <p:cNvSpPr txBox="1"/>
          <p:nvPr/>
        </p:nvSpPr>
        <p:spPr>
          <a:xfrm>
            <a:off x="527151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1er juillet 2026</a:t>
            </a:r>
          </a:p>
        </p:txBody>
      </p:sp>
      <p:sp>
        <p:nvSpPr>
          <p:cNvPr id="23" name="TextBox 22"/>
          <p:cNvSpPr txBox="1"/>
          <p:nvPr/>
        </p:nvSpPr>
        <p:spPr>
          <a:xfrm>
            <a:off x="527151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de restauration</a:t>
            </a:r>
          </a:p>
        </p:txBody>
      </p:sp>
      <p:sp>
        <p:nvSpPr>
          <p:cNvPr id="24" name="Oval 23"/>
          <p:cNvSpPr/>
          <p:nvPr/>
        </p:nvSpPr>
        <p:spPr>
          <a:xfrm>
            <a:off x="1086078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25" name="TextBox 24"/>
          <p:cNvSpPr txBox="1"/>
          <p:nvPr/>
        </p:nvSpPr>
        <p:spPr>
          <a:xfrm>
            <a:off x="9363455"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6 juillet 2026</a:t>
            </a:r>
          </a:p>
        </p:txBody>
      </p:sp>
      <p:sp>
        <p:nvSpPr>
          <p:cNvPr id="26" name="TextBox 25"/>
          <p:cNvSpPr txBox="1"/>
          <p:nvPr/>
        </p:nvSpPr>
        <p:spPr>
          <a:xfrm>
            <a:off x="9363455"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scolaire, après la fin de l'année</a:t>
            </a:r>
          </a:p>
        </p:txBody>
      </p:sp>
      <p:sp>
        <p:nvSpPr>
          <p:cNvPr id="27" name="Oval 26"/>
          <p:cNvSpPr/>
          <p:nvPr/>
        </p:nvSpPr>
        <p:spPr>
          <a:xfrm>
            <a:off x="1495272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4</a:t>
            </a:r>
          </a:p>
        </p:txBody>
      </p:sp>
      <p:sp>
        <p:nvSpPr>
          <p:cNvPr id="28" name="TextBox 27"/>
          <p:cNvSpPr txBox="1"/>
          <p:nvPr/>
        </p:nvSpPr>
        <p:spPr>
          <a:xfrm>
            <a:off x="1345539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 juillet 2026</a:t>
            </a:r>
          </a:p>
        </p:txBody>
      </p:sp>
      <p:sp>
        <p:nvSpPr>
          <p:cNvPr id="29" name="TextBox 28"/>
          <p:cNvSpPr txBox="1"/>
          <p:nvPr/>
        </p:nvSpPr>
        <p:spPr>
          <a:xfrm>
            <a:off x="1345539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Installation à l'école des Gobelins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chantier de l'école</a:t>
            </a: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école agrandie et rénovée</a:t>
            </a:r>
          </a:p>
        </p:txBody>
      </p:sp>
      <p:sp>
        <p:nvSpPr>
          <p:cNvPr id="5" name="Rectangle 4"/>
          <p:cNvSpPr/>
          <p:nvPr/>
        </p:nvSpPr>
        <p:spPr>
          <a:xfrm>
            <a:off x="950976"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Accueillir plus d'élèves</a:t>
            </a:r>
          </a:p>
        </p:txBody>
      </p:sp>
      <p:sp>
        <p:nvSpPr>
          <p:cNvPr id="7" name="TextBox 6"/>
          <p:cNvSpPr txBox="1"/>
          <p:nvPr/>
        </p:nvSpPr>
        <p:spPr>
          <a:xfrm>
            <a:off x="1316736"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en prévision de la forte hausse démographique du sud de la Ville</a:t>
            </a:r>
          </a:p>
        </p:txBody>
      </p:sp>
      <p:sp>
        <p:nvSpPr>
          <p:cNvPr id="8" name="Rectangle 7"/>
          <p:cNvSpPr/>
          <p:nvPr/>
        </p:nvSpPr>
        <p:spPr>
          <a:xfrm>
            <a:off x="6492240"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Adapter les espaces</a:t>
            </a:r>
          </a:p>
        </p:txBody>
      </p:sp>
      <p:sp>
        <p:nvSpPr>
          <p:cNvPr id="10" name="TextBox 9"/>
          <p:cNvSpPr txBox="1"/>
          <p:nvPr/>
        </p:nvSpPr>
        <p:spPr>
          <a:xfrm>
            <a:off x="6858000"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aux besoins pédagogiques, pour le confort des enfants et de meilleures conditions d'enseignement</a:t>
            </a:r>
          </a:p>
        </p:txBody>
      </p:sp>
      <p:sp>
        <p:nvSpPr>
          <p:cNvPr id="11" name="Rectangle 10"/>
          <p:cNvSpPr/>
          <p:nvPr/>
        </p:nvSpPr>
        <p:spPr>
          <a:xfrm>
            <a:off x="12033504"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99264" y="2514600"/>
            <a:ext cx="4544568" cy="457200"/>
          </a:xfrm>
          <a:prstGeom prst="rect">
            <a:avLst/>
          </a:prstGeom>
          <a:noFill/>
        </p:spPr>
        <p:txBody>
          <a:bodyPr wrap="square" anchor="t" lIns="0" rIns="0" tIns="0" bIns="0">
            <a:spAutoFit/>
          </a:bodyPr>
          <a:lstStyle/>
          <a:p>
            <a:pPr algn="l"/>
            <a:r>
              <a:rPr sz="2600" b="1">
                <a:solidFill>
                  <a:srgbClr val="72C493"/>
                </a:solidFill>
                <a:latin typeface="Arial"/>
              </a:rPr>
              <a:t>Mettre aux normes</a:t>
            </a:r>
          </a:p>
        </p:txBody>
      </p:sp>
      <p:sp>
        <p:nvSpPr>
          <p:cNvPr id="13" name="TextBox 12"/>
          <p:cNvSpPr txBox="1"/>
          <p:nvPr/>
        </p:nvSpPr>
        <p:spPr>
          <a:xfrm>
            <a:off x="12399264"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l'ensemble du groupe scolaire, notamment pour l'accueil des personnes à mobilité réduite</a:t>
            </a:r>
          </a:p>
        </p:txBody>
      </p:sp>
      <p:sp>
        <p:nvSpPr>
          <p:cNvPr id="14" name="TextBox 13"/>
          <p:cNvSpPr txBox="1"/>
          <p:nvPr/>
        </p:nvSpPr>
        <p:spPr>
          <a:xfrm>
            <a:off x="950976" y="4526280"/>
            <a:ext cx="9418320" cy="365760"/>
          </a:xfrm>
          <a:prstGeom prst="rect">
            <a:avLst/>
          </a:prstGeom>
          <a:noFill/>
        </p:spPr>
        <p:txBody>
          <a:bodyPr wrap="square" anchor="t" lIns="0" rIns="0" tIns="0" bIns="0">
            <a:spAutoFit/>
          </a:bodyPr>
          <a:lstStyle/>
          <a:p>
            <a:pPr algn="l"/>
            <a:r>
              <a:rPr sz="1800" b="1" spc="150">
                <a:solidFill>
                  <a:srgbClr val="72C493"/>
                </a:solidFill>
                <a:latin typeface="Arial"/>
              </a:rPr>
              <a:t>RÉNOVATION DE L'EXISTANT</a:t>
            </a:r>
          </a:p>
        </p:txBody>
      </p:sp>
      <p:cxnSp>
        <p:nvCxnSpPr>
          <p:cNvPr id="15" name="Connector 14"/>
          <p:cNvCxnSpPr/>
          <p:nvPr/>
        </p:nvCxnSpPr>
        <p:spPr>
          <a:xfrm>
            <a:off x="950976" y="4965192"/>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9264" y="5221224"/>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148072"/>
            <a:ext cx="9052560" cy="640080"/>
          </a:xfrm>
          <a:prstGeom prst="rect">
            <a:avLst/>
          </a:prstGeom>
          <a:noFill/>
        </p:spPr>
        <p:txBody>
          <a:bodyPr wrap="square" anchor="t" lIns="0" rIns="0" tIns="0" bIns="0">
            <a:spAutoFit/>
          </a:bodyPr>
          <a:lstStyle/>
          <a:p>
            <a:pPr algn="l"/>
            <a:r>
              <a:rPr sz="1700" b="1">
                <a:solidFill>
                  <a:srgbClr val="0E1F5B"/>
                </a:solidFill>
                <a:latin typeface="Arial"/>
              </a:rPr>
              <a:t>Réfection des logements de fonction pour y créer des salles supplémentaires</a:t>
            </a:r>
          </a:p>
        </p:txBody>
      </p:sp>
      <p:sp>
        <p:nvSpPr>
          <p:cNvPr id="18" name="Oval 17"/>
          <p:cNvSpPr/>
          <p:nvPr/>
        </p:nvSpPr>
        <p:spPr>
          <a:xfrm>
            <a:off x="969264" y="565099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98448" y="5577840"/>
            <a:ext cx="9052560" cy="640080"/>
          </a:xfrm>
          <a:prstGeom prst="rect">
            <a:avLst/>
          </a:prstGeom>
          <a:noFill/>
        </p:spPr>
        <p:txBody>
          <a:bodyPr wrap="square" anchor="t" lIns="0" rIns="0" tIns="0" bIns="0">
            <a:spAutoFit/>
          </a:bodyPr>
          <a:lstStyle/>
          <a:p>
            <a:pPr algn="l"/>
            <a:r>
              <a:rPr sz="1700" b="1">
                <a:solidFill>
                  <a:srgbClr val="0E1F5B"/>
                </a:solidFill>
                <a:latin typeface="Arial"/>
              </a:rPr>
              <a:t>Remaniement et agrandissement du pôle restauration</a:t>
            </a:r>
          </a:p>
        </p:txBody>
      </p:sp>
      <p:sp>
        <p:nvSpPr>
          <p:cNvPr id="20" name="Oval 19"/>
          <p:cNvSpPr/>
          <p:nvPr/>
        </p:nvSpPr>
        <p:spPr>
          <a:xfrm>
            <a:off x="969264" y="6080759"/>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98448" y="6007607"/>
            <a:ext cx="9052560" cy="640080"/>
          </a:xfrm>
          <a:prstGeom prst="rect">
            <a:avLst/>
          </a:prstGeom>
          <a:noFill/>
        </p:spPr>
        <p:txBody>
          <a:bodyPr wrap="square" anchor="t" lIns="0" rIns="0" tIns="0" bIns="0">
            <a:spAutoFit/>
          </a:bodyPr>
          <a:lstStyle/>
          <a:p>
            <a:pPr algn="l"/>
            <a:r>
              <a:rPr sz="1700" b="1">
                <a:solidFill>
                  <a:srgbClr val="0E1F5B"/>
                </a:solidFill>
                <a:latin typeface="Arial"/>
              </a:rPr>
              <a:t>Re-cloisonnement partiel des espaces existants</a:t>
            </a:r>
          </a:p>
        </p:txBody>
      </p:sp>
      <p:sp>
        <p:nvSpPr>
          <p:cNvPr id="22" name="Oval 21"/>
          <p:cNvSpPr/>
          <p:nvPr/>
        </p:nvSpPr>
        <p:spPr>
          <a:xfrm>
            <a:off x="969264" y="6510527"/>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98448" y="6437375"/>
            <a:ext cx="9052560" cy="640080"/>
          </a:xfrm>
          <a:prstGeom prst="rect">
            <a:avLst/>
          </a:prstGeom>
          <a:noFill/>
        </p:spPr>
        <p:txBody>
          <a:bodyPr wrap="square" anchor="t" lIns="0" rIns="0" tIns="0" bIns="0">
            <a:spAutoFit/>
          </a:bodyPr>
          <a:lstStyle/>
          <a:p>
            <a:pPr algn="l"/>
            <a:r>
              <a:rPr sz="1700" b="1">
                <a:solidFill>
                  <a:srgbClr val="0E1F5B"/>
                </a:solidFill>
                <a:latin typeface="Arial"/>
              </a:rPr>
              <a:t>Mise aux normes PMR de la circulation</a:t>
            </a:r>
          </a:p>
        </p:txBody>
      </p:sp>
      <p:sp>
        <p:nvSpPr>
          <p:cNvPr id="24" name="Oval 23"/>
          <p:cNvSpPr/>
          <p:nvPr/>
        </p:nvSpPr>
        <p:spPr>
          <a:xfrm>
            <a:off x="969264" y="6940295"/>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98448" y="6867143"/>
            <a:ext cx="9052560" cy="640080"/>
          </a:xfrm>
          <a:prstGeom prst="rect">
            <a:avLst/>
          </a:prstGeom>
          <a:noFill/>
        </p:spPr>
        <p:txBody>
          <a:bodyPr wrap="square" anchor="t" lIns="0" rIns="0" tIns="0" bIns="0">
            <a:spAutoFit/>
          </a:bodyPr>
          <a:lstStyle/>
          <a:p>
            <a:pPr algn="l"/>
            <a:r>
              <a:rPr sz="1700" b="1">
                <a:solidFill>
                  <a:srgbClr val="0E1F5B"/>
                </a:solidFill>
                <a:latin typeface="Arial"/>
              </a:rPr>
              <a:t>Remplacement des menuiseries extérieures et isolation des combles</a:t>
            </a:r>
          </a:p>
        </p:txBody>
      </p:sp>
      <p:sp>
        <p:nvSpPr>
          <p:cNvPr id="26" name="Oval 25"/>
          <p:cNvSpPr/>
          <p:nvPr/>
        </p:nvSpPr>
        <p:spPr>
          <a:xfrm>
            <a:off x="969264" y="737006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98448" y="7296911"/>
            <a:ext cx="9052560" cy="640080"/>
          </a:xfrm>
          <a:prstGeom prst="rect">
            <a:avLst/>
          </a:prstGeom>
          <a:noFill/>
        </p:spPr>
        <p:txBody>
          <a:bodyPr wrap="square" anchor="t" lIns="0" rIns="0" tIns="0" bIns="0">
            <a:spAutoFit/>
          </a:bodyPr>
          <a:lstStyle/>
          <a:p>
            <a:pPr algn="l"/>
            <a:r>
              <a:rPr sz="1700" b="1">
                <a:solidFill>
                  <a:srgbClr val="0E1F5B"/>
                </a:solidFill>
                <a:latin typeface="Arial"/>
              </a:rPr>
              <a:t>Réaménagement des cours : clôtures remplacées, rangements extérieurs, cours séparées</a:t>
            </a:r>
          </a:p>
        </p:txBody>
      </p:sp>
      <p:sp>
        <p:nvSpPr>
          <p:cNvPr id="28" name="TextBox 27"/>
          <p:cNvSpPr txBox="1"/>
          <p:nvPr/>
        </p:nvSpPr>
        <p:spPr>
          <a:xfrm>
            <a:off x="950976" y="8183879"/>
            <a:ext cx="9418320" cy="365760"/>
          </a:xfrm>
          <a:prstGeom prst="rect">
            <a:avLst/>
          </a:prstGeom>
          <a:noFill/>
        </p:spPr>
        <p:txBody>
          <a:bodyPr wrap="square" anchor="t" lIns="0" rIns="0" tIns="0" bIns="0">
            <a:spAutoFit/>
          </a:bodyPr>
          <a:lstStyle/>
          <a:p>
            <a:pPr algn="l"/>
            <a:r>
              <a:rPr sz="1800" b="1" spc="150">
                <a:solidFill>
                  <a:srgbClr val="72C493"/>
                </a:solidFill>
                <a:latin typeface="Arial"/>
              </a:rPr>
              <a:t>CONSTRUCTION NEUVE</a:t>
            </a:r>
          </a:p>
        </p:txBody>
      </p:sp>
      <p:cxnSp>
        <p:nvCxnSpPr>
          <p:cNvPr id="29" name="Connector 28"/>
          <p:cNvCxnSpPr/>
          <p:nvPr/>
        </p:nvCxnSpPr>
        <p:spPr>
          <a:xfrm>
            <a:off x="950976" y="8622791"/>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69264" y="887882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98448" y="8805671"/>
            <a:ext cx="9052560" cy="640080"/>
          </a:xfrm>
          <a:prstGeom prst="rect">
            <a:avLst/>
          </a:prstGeom>
          <a:noFill/>
        </p:spPr>
        <p:txBody>
          <a:bodyPr wrap="square" anchor="t" lIns="0" rIns="0" tIns="0" bIns="0">
            <a:spAutoFit/>
          </a:bodyPr>
          <a:lstStyle/>
          <a:p>
            <a:pPr algn="l"/>
            <a:r>
              <a:rPr sz="1700" b="1">
                <a:solidFill>
                  <a:srgbClr val="0E1F5B"/>
                </a:solidFill>
                <a:latin typeface="Arial"/>
              </a:rPr>
              <a:t>Des extensions pour créer les locaux qui manquent au bon fonctionnement de l'école</a:t>
            </a:r>
          </a:p>
        </p:txBody>
      </p:sp>
      <p:sp>
        <p:nvSpPr>
          <p:cNvPr id="32" name="Oval 31"/>
          <p:cNvSpPr/>
          <p:nvPr/>
        </p:nvSpPr>
        <p:spPr>
          <a:xfrm>
            <a:off x="969264" y="9308591"/>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98448" y="9235439"/>
            <a:ext cx="9052560" cy="640080"/>
          </a:xfrm>
          <a:prstGeom prst="rect">
            <a:avLst/>
          </a:prstGeom>
          <a:noFill/>
        </p:spPr>
        <p:txBody>
          <a:bodyPr wrap="square" anchor="t" lIns="0" rIns="0" tIns="0" bIns="0">
            <a:spAutoFit/>
          </a:bodyPr>
          <a:lstStyle/>
          <a:p>
            <a:pPr algn="l"/>
            <a:r>
              <a:rPr sz="1700" b="1">
                <a:solidFill>
                  <a:srgbClr val="0E1F5B"/>
                </a:solidFill>
                <a:latin typeface="Arial"/>
              </a:rPr>
              <a:t>Deux nouveaux préaux</a:t>
            </a:r>
          </a:p>
        </p:txBody>
      </p:sp>
      <p:pic>
        <p:nvPicPr>
          <p:cNvPr id="34" name="Picture 33" descr="Ecole_03_plan_etages_Richardets.jpg"/>
          <p:cNvPicPr>
            <a:picLocks noChangeAspect="1"/>
          </p:cNvPicPr>
          <p:nvPr/>
        </p:nvPicPr>
        <p:blipFill>
          <a:blip r:embed="rId3"/>
          <a:stretch>
            <a:fillRect/>
          </a:stretch>
        </p:blipFill>
        <p:spPr>
          <a:xfrm>
            <a:off x="11018447" y="4526280"/>
            <a:ext cx="6300288" cy="4434840"/>
          </a:xfrm>
          <a:prstGeom prst="rect">
            <a:avLst/>
          </a:prstGeom>
          <a:ln>
            <a:solidFill>
              <a:srgbClr val="0E1F5B"/>
            </a:solidFill>
          </a:ln>
        </p:spPr>
      </p:pic>
      <p:sp>
        <p:nvSpPr>
          <p:cNvPr id="35" name="Rectangle 34"/>
          <p:cNvSpPr/>
          <p:nvPr/>
        </p:nvSpPr>
        <p:spPr>
          <a:xfrm>
            <a:off x="11018447" y="8961120"/>
            <a:ext cx="6300288" cy="4114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01326" y="8961120"/>
            <a:ext cx="5934527" cy="411480"/>
          </a:xfrm>
          <a:prstGeom prst="rect">
            <a:avLst/>
          </a:prstGeom>
          <a:noFill/>
        </p:spPr>
        <p:txBody>
          <a:bodyPr wrap="square" anchor="ctr" lIns="0" rIns="0" tIns="0" bIns="0">
            <a:spAutoFit/>
          </a:bodyPr>
          <a:lstStyle/>
          <a:p>
            <a:pPr algn="l"/>
            <a:r>
              <a:rPr sz="1400" b="1" spc="100">
                <a:solidFill>
                  <a:srgbClr val="0E1F5B"/>
                </a:solidFill>
                <a:latin typeface="Arial"/>
              </a:rPr>
              <a:t>PLAN DES 1ER ET 2E ÉTAGES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71016" y="2606040"/>
            <a:ext cx="4727448" cy="457200"/>
          </a:xfrm>
          <a:prstGeom prst="rect">
            <a:avLst/>
          </a:prstGeom>
          <a:noFill/>
        </p:spPr>
        <p:txBody>
          <a:bodyPr wrap="square" anchor="t" lIns="0" rIns="0" tIns="0" bIns="0">
            <a:spAutoFit/>
          </a:bodyPr>
          <a:lstStyle/>
          <a:p>
            <a:pPr algn="l"/>
            <a:r>
              <a:rPr sz="2400" b="1">
                <a:solidFill>
                  <a:srgbClr val="FFFFFF"/>
                </a:solidFill>
                <a:latin typeface="Arial"/>
              </a:rPr>
              <a:t>École des Gobelins</a:t>
            </a:r>
          </a:p>
        </p:txBody>
      </p:sp>
      <p:sp>
        <p:nvSpPr>
          <p:cNvPr id="8" name="TextBox 7"/>
          <p:cNvSpPr txBox="1"/>
          <p:nvPr/>
        </p:nvSpPr>
        <p:spPr>
          <a:xfrm>
            <a:off x="1271016" y="3090672"/>
            <a:ext cx="4727448" cy="320040"/>
          </a:xfrm>
          <a:prstGeom prst="rect">
            <a:avLst/>
          </a:prstGeom>
          <a:noFill/>
        </p:spPr>
        <p:txBody>
          <a:bodyPr wrap="square" anchor="t" lIns="0" rIns="0" tIns="0" bIns="0">
            <a:spAutoFit/>
          </a:bodyPr>
          <a:lstStyle/>
          <a:p>
            <a:pPr algn="l"/>
            <a:r>
              <a:rPr sz="1500" b="0">
                <a:solidFill>
                  <a:srgbClr val="8A90B0"/>
                </a:solidFill>
                <a:latin typeface="Arial"/>
              </a:rPr>
              <a:t>pour accueillir l'école des Richardets</a:t>
            </a:r>
          </a:p>
        </p:txBody>
      </p:sp>
      <p:sp>
        <p:nvSpPr>
          <p:cNvPr id="9" name="Oval 8"/>
          <p:cNvSpPr/>
          <p:nvPr/>
        </p:nvSpPr>
        <p:spPr>
          <a:xfrm>
            <a:off x="1289304" y="364845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2768" y="3566160"/>
            <a:ext cx="4407407" cy="640080"/>
          </a:xfrm>
          <a:prstGeom prst="rect">
            <a:avLst/>
          </a:prstGeom>
          <a:noFill/>
        </p:spPr>
        <p:txBody>
          <a:bodyPr wrap="square" anchor="t" lIns="0" rIns="0" tIns="0" bIns="0">
            <a:spAutoFit/>
          </a:bodyPr>
          <a:lstStyle/>
          <a:p>
            <a:pPr algn="l"/>
            <a:r>
              <a:rPr sz="1700" b="1">
                <a:solidFill>
                  <a:srgbClr val="FAF5EC"/>
                </a:solidFill>
                <a:latin typeface="Arial"/>
              </a:rPr>
              <a:t>Création de sanitaires</a:t>
            </a:r>
          </a:p>
        </p:txBody>
      </p:sp>
      <p:sp>
        <p:nvSpPr>
          <p:cNvPr id="11" name="Oval 10"/>
          <p:cNvSpPr/>
          <p:nvPr/>
        </p:nvSpPr>
        <p:spPr>
          <a:xfrm>
            <a:off x="1289304" y="408736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05072"/>
            <a:ext cx="4407407" cy="640080"/>
          </a:xfrm>
          <a:prstGeom prst="rect">
            <a:avLst/>
          </a:prstGeom>
          <a:noFill/>
        </p:spPr>
        <p:txBody>
          <a:bodyPr wrap="square" anchor="t" lIns="0" rIns="0" tIns="0" bIns="0">
            <a:spAutoFit/>
          </a:bodyPr>
          <a:lstStyle/>
          <a:p>
            <a:pPr algn="l"/>
            <a:r>
              <a:rPr sz="1700" b="1">
                <a:solidFill>
                  <a:srgbClr val="FAF5EC"/>
                </a:solidFill>
                <a:latin typeface="Arial"/>
              </a:rPr>
              <a:t>Sols, peintures et électricité refaits</a:t>
            </a:r>
          </a:p>
        </p:txBody>
      </p:sp>
      <p:sp>
        <p:nvSpPr>
          <p:cNvPr id="13" name="Oval 12"/>
          <p:cNvSpPr/>
          <p:nvPr/>
        </p:nvSpPr>
        <p:spPr>
          <a:xfrm>
            <a:off x="1289304" y="4526279"/>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72768" y="4443983"/>
            <a:ext cx="4407407" cy="640080"/>
          </a:xfrm>
          <a:prstGeom prst="rect">
            <a:avLst/>
          </a:prstGeom>
          <a:noFill/>
        </p:spPr>
        <p:txBody>
          <a:bodyPr wrap="square" anchor="t" lIns="0" rIns="0" tIns="0" bIns="0">
            <a:spAutoFit/>
          </a:bodyPr>
          <a:lstStyle/>
          <a:p>
            <a:pPr algn="l"/>
            <a:r>
              <a:rPr sz="1700" b="1">
                <a:solidFill>
                  <a:srgbClr val="FAF5EC"/>
                </a:solidFill>
                <a:latin typeface="Arial"/>
              </a:rPr>
              <a:t>Clôtures et portails</a:t>
            </a:r>
          </a:p>
        </p:txBody>
      </p:sp>
      <p:sp>
        <p:nvSpPr>
          <p:cNvPr id="15" name="Oval 14"/>
          <p:cNvSpPr/>
          <p:nvPr/>
        </p:nvSpPr>
        <p:spPr>
          <a:xfrm>
            <a:off x="1289304" y="4965192"/>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72768" y="4882896"/>
            <a:ext cx="4407407" cy="640080"/>
          </a:xfrm>
          <a:prstGeom prst="rect">
            <a:avLst/>
          </a:prstGeom>
          <a:noFill/>
        </p:spPr>
        <p:txBody>
          <a:bodyPr wrap="square" anchor="t" lIns="0" rIns="0" tIns="0" bIns="0">
            <a:spAutoFit/>
          </a:bodyPr>
          <a:lstStyle/>
          <a:p>
            <a:pPr algn="l"/>
            <a:r>
              <a:rPr sz="1700" b="1">
                <a:solidFill>
                  <a:srgbClr val="FAF5EC"/>
                </a:solidFill>
                <a:latin typeface="Arial"/>
              </a:rPr>
              <a:t>Cour rénovée, pare-ballons posés</a:t>
            </a:r>
          </a:p>
        </p:txBody>
      </p:sp>
      <p:sp>
        <p:nvSpPr>
          <p:cNvPr id="17" name="Rectangle 16"/>
          <p:cNvSpPr/>
          <p:nvPr/>
        </p:nvSpPr>
        <p:spPr>
          <a:xfrm>
            <a:off x="6492240"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92240"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79"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Charmilles</a:t>
            </a:r>
          </a:p>
        </p:txBody>
      </p:sp>
      <p:sp>
        <p:nvSpPr>
          <p:cNvPr id="20" name="Oval 19"/>
          <p:cNvSpPr/>
          <p:nvPr/>
        </p:nvSpPr>
        <p:spPr>
          <a:xfrm>
            <a:off x="6830568"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1" y="3246120"/>
            <a:ext cx="4407407" cy="640080"/>
          </a:xfrm>
          <a:prstGeom prst="rect">
            <a:avLst/>
          </a:prstGeom>
          <a:noFill/>
        </p:spPr>
        <p:txBody>
          <a:bodyPr wrap="square" anchor="t" lIns="0" rIns="0" tIns="0" bIns="0">
            <a:spAutoFit/>
          </a:bodyPr>
          <a:lstStyle/>
          <a:p>
            <a:pPr algn="l"/>
            <a:r>
              <a:rPr sz="1700" b="1">
                <a:solidFill>
                  <a:srgbClr val="FAF5EC"/>
                </a:solidFill>
                <a:latin typeface="Arial"/>
              </a:rPr>
              <a:t>Assainissement mis en conformité</a:t>
            </a:r>
          </a:p>
        </p:txBody>
      </p:sp>
      <p:sp>
        <p:nvSpPr>
          <p:cNvPr id="22" name="Oval 21"/>
          <p:cNvSpPr/>
          <p:nvPr/>
        </p:nvSpPr>
        <p:spPr>
          <a:xfrm>
            <a:off x="6830568" y="3767327"/>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1" y="3685031"/>
            <a:ext cx="4407407" cy="640080"/>
          </a:xfrm>
          <a:prstGeom prst="rect">
            <a:avLst/>
          </a:prstGeom>
          <a:noFill/>
        </p:spPr>
        <p:txBody>
          <a:bodyPr wrap="square" anchor="t" lIns="0" rIns="0" tIns="0" bIns="0">
            <a:spAutoFit/>
          </a:bodyPr>
          <a:lstStyle/>
          <a:p>
            <a:pPr algn="l"/>
            <a:r>
              <a:rPr sz="1700" b="1">
                <a:solidFill>
                  <a:srgbClr val="FAF5EC"/>
                </a:solidFill>
                <a:latin typeface="Arial"/>
              </a:rPr>
              <a:t>Hall remis en état</a:t>
            </a:r>
          </a:p>
        </p:txBody>
      </p:sp>
      <p:sp>
        <p:nvSpPr>
          <p:cNvPr id="24" name="Oval 23"/>
          <p:cNvSpPr/>
          <p:nvPr/>
        </p:nvSpPr>
        <p:spPr>
          <a:xfrm>
            <a:off x="6830568" y="420624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14031" y="4123944"/>
            <a:ext cx="4407407" cy="640080"/>
          </a:xfrm>
          <a:prstGeom prst="rect">
            <a:avLst/>
          </a:prstGeom>
          <a:noFill/>
        </p:spPr>
        <p:txBody>
          <a:bodyPr wrap="square" anchor="t" lIns="0" rIns="0" tIns="0" bIns="0">
            <a:spAutoFit/>
          </a:bodyPr>
          <a:lstStyle/>
          <a:p>
            <a:pPr algn="l"/>
            <a:r>
              <a:rPr sz="1700" b="1">
                <a:solidFill>
                  <a:srgbClr val="FAF5EC"/>
                </a:solidFill>
                <a:latin typeface="Arial"/>
              </a:rPr>
              <a:t>Faux plafonds remplacés</a:t>
            </a:r>
          </a:p>
        </p:txBody>
      </p:sp>
      <p:sp>
        <p:nvSpPr>
          <p:cNvPr id="26" name="Oval 25"/>
          <p:cNvSpPr/>
          <p:nvPr/>
        </p:nvSpPr>
        <p:spPr>
          <a:xfrm>
            <a:off x="6830568" y="4645152"/>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4031" y="4562856"/>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d'une classe et de l'office</a:t>
            </a:r>
          </a:p>
        </p:txBody>
      </p:sp>
      <p:sp>
        <p:nvSpPr>
          <p:cNvPr id="28" name="Rectangle 27"/>
          <p:cNvSpPr/>
          <p:nvPr/>
        </p:nvSpPr>
        <p:spPr>
          <a:xfrm>
            <a:off x="12033504"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2033504"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53544"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Yvris</a:t>
            </a:r>
          </a:p>
        </p:txBody>
      </p:sp>
      <p:sp>
        <p:nvSpPr>
          <p:cNvPr id="31" name="Oval 30"/>
          <p:cNvSpPr/>
          <p:nvPr/>
        </p:nvSpPr>
        <p:spPr>
          <a:xfrm>
            <a:off x="12371832"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55296" y="3246120"/>
            <a:ext cx="4407407" cy="640080"/>
          </a:xfrm>
          <a:prstGeom prst="rect">
            <a:avLst/>
          </a:prstGeom>
          <a:noFill/>
        </p:spPr>
        <p:txBody>
          <a:bodyPr wrap="square" anchor="t" lIns="0" rIns="0" tIns="0" bIns="0">
            <a:spAutoFit/>
          </a:bodyPr>
          <a:lstStyle/>
          <a:p>
            <a:pPr algn="l"/>
            <a:r>
              <a:rPr sz="1700" b="1">
                <a:solidFill>
                  <a:srgbClr val="FAF5EC"/>
                </a:solidFill>
                <a:latin typeface="Arial"/>
              </a:rPr>
              <a:t>Drapeau de l'entrée remis en état</a:t>
            </a:r>
          </a:p>
        </p:txBody>
      </p:sp>
      <p:sp>
        <p:nvSpPr>
          <p:cNvPr id="33" name="Oval 32"/>
          <p:cNvSpPr/>
          <p:nvPr/>
        </p:nvSpPr>
        <p:spPr>
          <a:xfrm>
            <a:off x="12371832" y="3767327"/>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55296" y="3685031"/>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 hall et du bureau de la direction</a:t>
            </a:r>
          </a:p>
        </p:txBody>
      </p:sp>
      <p:sp>
        <p:nvSpPr>
          <p:cNvPr id="35" name="Rectangle 34"/>
          <p:cNvSpPr/>
          <p:nvPr/>
        </p:nvSpPr>
        <p:spPr>
          <a:xfrm>
            <a:off x="3721608"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21608"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41648" y="5989320"/>
            <a:ext cx="4727448" cy="457200"/>
          </a:xfrm>
          <a:prstGeom prst="rect">
            <a:avLst/>
          </a:prstGeom>
          <a:noFill/>
        </p:spPr>
        <p:txBody>
          <a:bodyPr wrap="square" anchor="t" lIns="0" rIns="0" tIns="0" bIns="0">
            <a:spAutoFit/>
          </a:bodyPr>
          <a:lstStyle/>
          <a:p>
            <a:pPr algn="l"/>
            <a:r>
              <a:rPr sz="2400" b="1">
                <a:solidFill>
                  <a:srgbClr val="FFFFFF"/>
                </a:solidFill>
                <a:latin typeface="Arial"/>
              </a:rPr>
              <a:t>Maternelle des Richardets</a:t>
            </a:r>
          </a:p>
        </p:txBody>
      </p:sp>
      <p:sp>
        <p:nvSpPr>
          <p:cNvPr id="38" name="Oval 37"/>
          <p:cNvSpPr/>
          <p:nvPr/>
        </p:nvSpPr>
        <p:spPr>
          <a:xfrm>
            <a:off x="4059936" y="671169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6629400"/>
            <a:ext cx="4407407" cy="640080"/>
          </a:xfrm>
          <a:prstGeom prst="rect">
            <a:avLst/>
          </a:prstGeom>
          <a:noFill/>
        </p:spPr>
        <p:txBody>
          <a:bodyPr wrap="square" anchor="t" lIns="0" rIns="0" tIns="0" bIns="0">
            <a:spAutoFit/>
          </a:bodyPr>
          <a:lstStyle/>
          <a:p>
            <a:pPr algn="l"/>
            <a:r>
              <a:rPr sz="1700" b="1">
                <a:solidFill>
                  <a:srgbClr val="FAF5EC"/>
                </a:solidFill>
                <a:latin typeface="Arial"/>
              </a:rPr>
              <a:t>Un rafraîchisseur d'air</a:t>
            </a:r>
          </a:p>
        </p:txBody>
      </p:sp>
      <p:sp>
        <p:nvSpPr>
          <p:cNvPr id="40" name="Oval 39"/>
          <p:cNvSpPr/>
          <p:nvPr/>
        </p:nvSpPr>
        <p:spPr>
          <a:xfrm>
            <a:off x="4059936" y="715060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7068312"/>
            <a:ext cx="4407407" cy="640080"/>
          </a:xfrm>
          <a:prstGeom prst="rect">
            <a:avLst/>
          </a:prstGeom>
          <a:noFill/>
        </p:spPr>
        <p:txBody>
          <a:bodyPr wrap="square" anchor="t" lIns="0" rIns="0" tIns="0" bIns="0">
            <a:spAutoFit/>
          </a:bodyPr>
          <a:lstStyle/>
          <a:p>
            <a:pPr algn="l"/>
            <a:r>
              <a:rPr sz="1700" b="1">
                <a:solidFill>
                  <a:srgbClr val="FAF5EC"/>
                </a:solidFill>
                <a:latin typeface="Arial"/>
              </a:rPr>
              <a:t>Films de protection solaire sur les vitrages</a:t>
            </a:r>
          </a:p>
        </p:txBody>
      </p:sp>
      <p:sp>
        <p:nvSpPr>
          <p:cNvPr id="42" name="Rectangle 41"/>
          <p:cNvSpPr/>
          <p:nvPr/>
        </p:nvSpPr>
        <p:spPr>
          <a:xfrm>
            <a:off x="9262872"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62872"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82911" y="5989320"/>
            <a:ext cx="4727448" cy="457200"/>
          </a:xfrm>
          <a:prstGeom prst="rect">
            <a:avLst/>
          </a:prstGeom>
          <a:noFill/>
        </p:spPr>
        <p:txBody>
          <a:bodyPr wrap="square" anchor="t" lIns="0" rIns="0" tIns="0" bIns="0">
            <a:spAutoFit/>
          </a:bodyPr>
          <a:lstStyle/>
          <a:p>
            <a:pPr algn="l"/>
            <a:r>
              <a:rPr sz="2400" b="1">
                <a:solidFill>
                  <a:srgbClr val="FFFFFF"/>
                </a:solidFill>
                <a:latin typeface="Arial"/>
              </a:rPr>
              <a:t>Paul-Serelle</a:t>
            </a:r>
          </a:p>
        </p:txBody>
      </p:sp>
      <p:sp>
        <p:nvSpPr>
          <p:cNvPr id="45" name="TextBox 44"/>
          <p:cNvSpPr txBox="1"/>
          <p:nvPr/>
        </p:nvSpPr>
        <p:spPr>
          <a:xfrm>
            <a:off x="9582911" y="6473952"/>
            <a:ext cx="4727448" cy="320040"/>
          </a:xfrm>
          <a:prstGeom prst="rect">
            <a:avLst/>
          </a:prstGeom>
          <a:noFill/>
        </p:spPr>
        <p:txBody>
          <a:bodyPr wrap="square" anchor="t" lIns="0" rIns="0" tIns="0" bIns="0">
            <a:spAutoFit/>
          </a:bodyPr>
          <a:lstStyle/>
          <a:p>
            <a:pPr algn="l"/>
            <a:r>
              <a:rPr sz="1500" b="0">
                <a:solidFill>
                  <a:srgbClr val="8A90B0"/>
                </a:solidFill>
                <a:latin typeface="Arial"/>
              </a:rPr>
              <a:t>travaux à venir</a:t>
            </a:r>
          </a:p>
        </p:txBody>
      </p:sp>
      <p:sp>
        <p:nvSpPr>
          <p:cNvPr id="46" name="Oval 45"/>
          <p:cNvSpPr/>
          <p:nvPr/>
        </p:nvSpPr>
        <p:spPr>
          <a:xfrm>
            <a:off x="9601199" y="7031736"/>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3" y="6949440"/>
            <a:ext cx="4407407" cy="640080"/>
          </a:xfrm>
          <a:prstGeom prst="rect">
            <a:avLst/>
          </a:prstGeom>
          <a:noFill/>
        </p:spPr>
        <p:txBody>
          <a:bodyPr wrap="square" anchor="t" lIns="0" rIns="0" tIns="0" bIns="0">
            <a:spAutoFit/>
          </a:bodyPr>
          <a:lstStyle/>
          <a:p>
            <a:pPr algn="l"/>
            <a:r>
              <a:rPr sz="1700" b="1">
                <a:solidFill>
                  <a:srgbClr val="FAF5EC"/>
                </a:solidFill>
                <a:latin typeface="Arial"/>
              </a:rPr>
              <a:t>Sécurisation du carrefour : à l'étude</a:t>
            </a:r>
          </a:p>
        </p:txBody>
      </p:sp>
      <p:sp>
        <p:nvSpPr>
          <p:cNvPr id="48" name="Oval 47"/>
          <p:cNvSpPr/>
          <p:nvPr/>
        </p:nvSpPr>
        <p:spPr>
          <a:xfrm>
            <a:off x="9601199" y="7470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84663" y="7388352"/>
            <a:ext cx="4407407" cy="640080"/>
          </a:xfrm>
          <a:prstGeom prst="rect">
            <a:avLst/>
          </a:prstGeom>
          <a:noFill/>
        </p:spPr>
        <p:txBody>
          <a:bodyPr wrap="square" anchor="t" lIns="0" rIns="0" tIns="0" bIns="0">
            <a:spAutoFit/>
          </a:bodyPr>
          <a:lstStyle/>
          <a:p>
            <a:pPr algn="l"/>
            <a:r>
              <a:rPr sz="1700" b="1">
                <a:solidFill>
                  <a:srgbClr val="FAF5EC"/>
                </a:solidFill>
                <a:latin typeface="Arial"/>
              </a:rPr>
              <a:t>Fuites de la salle polyvalente : réparation programmée</a:t>
            </a:r>
          </a:p>
        </p:txBody>
      </p:sp>
      <p:sp>
        <p:nvSpPr>
          <p:cNvPr id="50" name="Oval 49"/>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03020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réalisé</a:t>
            </a:r>
          </a:p>
        </p:txBody>
      </p:sp>
      <p:sp>
        <p:nvSpPr>
          <p:cNvPr id="52" name="Oval 51"/>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435608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programmé ou à l'étude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FFFFFF"/>
                </a:solidFill>
                <a:latin typeface="Arial"/>
              </a:rPr>
              <a:t>Circulation</a:t>
            </a:r>
            <a:r>
              <a:rPr lang="fr-FR" sz="4400" b="1" dirty="0">
                <a:solidFill>
                  <a:srgbClr val="FFFFFF"/>
                </a:solidFill>
                <a:latin typeface="Arial"/>
              </a:rPr>
              <a:t> dans le quartier et</a:t>
            </a:r>
            <a:r>
              <a:rPr sz="4400" b="1" dirty="0">
                <a:solidFill>
                  <a:srgbClr val="FFFFFF"/>
                </a:solidFill>
                <a:latin typeface="Arial"/>
              </a:rPr>
              <a:t> aux </a:t>
            </a:r>
            <a:r>
              <a:rPr sz="4400" b="1" dirty="0" err="1">
                <a:solidFill>
                  <a:srgbClr val="FFFFFF"/>
                </a:solidFill>
                <a:latin typeface="Arial"/>
              </a:rPr>
              <a:t>abords</a:t>
            </a:r>
            <a:r>
              <a:rPr sz="4400" b="1" dirty="0">
                <a:solidFill>
                  <a:srgbClr val="FFFFFF"/>
                </a:solidFill>
                <a:latin typeface="Arial"/>
              </a:rPr>
              <a:t> des </a:t>
            </a:r>
            <a:r>
              <a:rPr sz="4400" b="1" dirty="0" err="1">
                <a:solidFill>
                  <a:srgbClr val="FFFFFF"/>
                </a:solidFill>
                <a:latin typeface="Arial"/>
              </a:rPr>
              <a:t>écoles</a:t>
            </a:r>
            <a:endParaRPr sz="4400" b="1" dirty="0">
              <a:solidFill>
                <a:srgbClr val="FFFFFF"/>
              </a:solidFill>
              <a:latin typeface="Arial"/>
            </a:endParaRP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00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48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696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Vitesse excessive avenue Médéric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bilites_01_piste_cyclable_plan.png"/>
          <p:cNvPicPr>
            <a:picLocks noChangeAspect="1"/>
          </p:cNvPicPr>
          <p:nvPr/>
        </p:nvPicPr>
        <p:blipFill>
          <a:blip r:embed="rId3"/>
          <a:stretch>
            <a:fillRect/>
          </a:stretch>
        </p:blipFill>
        <p:spPr>
          <a:xfrm>
            <a:off x="1088136" y="2790495"/>
            <a:ext cx="16093440" cy="5437528"/>
          </a:xfrm>
          <a:prstGeom prst="rect">
            <a:avLst/>
          </a:prstGeom>
        </p:spPr>
      </p:pic>
      <p:sp>
        <p:nvSpPr>
          <p:cNvPr id="7" name="Up Arrow 6"/>
          <p:cNvSpPr/>
          <p:nvPr/>
        </p:nvSpPr>
        <p:spPr>
          <a:xfrm>
            <a:off x="3703320" y="2395728"/>
            <a:ext cx="548640" cy="685800"/>
          </a:xfrm>
          <a:prstGeom prst="up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34840" y="2514600"/>
            <a:ext cx="283464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2514600"/>
            <a:ext cx="2834640" cy="457200"/>
          </a:xfrm>
          <a:prstGeom prst="rect">
            <a:avLst/>
          </a:prstGeom>
          <a:noFill/>
        </p:spPr>
        <p:txBody>
          <a:bodyPr wrap="square" anchor="ctr" lIns="0" rIns="0" tIns="0" bIns="0">
            <a:spAutoFit/>
          </a:bodyPr>
          <a:lstStyle/>
          <a:p>
            <a:pPr algn="ctr"/>
            <a:r>
              <a:rPr sz="1800" b="1">
                <a:solidFill>
                  <a:srgbClr val="FFFFFF"/>
                </a:solidFill>
                <a:latin typeface="Arial"/>
              </a:rPr>
              <a:t>Vers le centre-ville</a:t>
            </a:r>
          </a:p>
        </p:txBody>
      </p:sp>
      <p:sp>
        <p:nvSpPr>
          <p:cNvPr id="10" name="Right Arrow 9"/>
          <p:cNvSpPr/>
          <p:nvPr/>
        </p:nvSpPr>
        <p:spPr>
          <a:xfrm>
            <a:off x="16322040" y="4114800"/>
            <a:ext cx="868680" cy="548640"/>
          </a:xfrm>
          <a:prstGeom prst="right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3487400" y="3337560"/>
            <a:ext cx="370332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487400" y="3337560"/>
            <a:ext cx="3703320" cy="457200"/>
          </a:xfrm>
          <a:prstGeom prst="rect">
            <a:avLst/>
          </a:prstGeom>
          <a:noFill/>
        </p:spPr>
        <p:txBody>
          <a:bodyPr wrap="square" anchor="ctr" lIns="0" rIns="0" tIns="0" bIns="0">
            <a:spAutoFit/>
          </a:bodyPr>
          <a:lstStyle/>
          <a:p>
            <a:pPr algn="ctr"/>
            <a:r>
              <a:rPr sz="1800" b="1">
                <a:solidFill>
                  <a:srgbClr val="FFFFFF"/>
                </a:solidFill>
                <a:latin typeface="Arial"/>
              </a:rPr>
              <a:t>Vers l'entrée d'autoroute</a:t>
            </a:r>
          </a:p>
        </p:txBody>
      </p:sp>
      <p:sp>
        <p:nvSpPr>
          <p:cNvPr id="13" name="Rectangle 12"/>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65960" y="8961119"/>
            <a:ext cx="7315200" cy="411480"/>
          </a:xfrm>
          <a:prstGeom prst="rect">
            <a:avLst/>
          </a:prstGeom>
          <a:noFill/>
        </p:spPr>
        <p:txBody>
          <a:bodyPr wrap="square" anchor="t" lIns="0" rIns="0" tIns="0" bIns="0">
            <a:spAutoFit/>
          </a:bodyPr>
          <a:lstStyle/>
          <a:p>
            <a:pPr algn="l"/>
            <a:r>
              <a:rPr sz="2200" b="1">
                <a:solidFill>
                  <a:srgbClr val="0E1F5B"/>
                </a:solidFill>
                <a:latin typeface="Arial"/>
              </a:rPr>
              <a:t>Piste cyclable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plan d'aménagement du carrefour</a:t>
            </a:r>
          </a:p>
        </p:txBody>
      </p:sp>
      <p:sp>
        <p:nvSpPr>
          <p:cNvPr id="5" name="Rectangle 4"/>
          <p:cNvSpPr/>
          <p:nvPr/>
        </p:nvSpPr>
        <p:spPr>
          <a:xfrm>
            <a:off x="950976" y="2606040"/>
            <a:ext cx="16367759" cy="48188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bilites_04_piste_cyclable_plan_carrefour.png"/>
          <p:cNvPicPr>
            <a:picLocks noChangeAspect="1"/>
          </p:cNvPicPr>
          <p:nvPr/>
        </p:nvPicPr>
        <p:blipFill>
          <a:blip r:embed="rId3"/>
          <a:stretch>
            <a:fillRect/>
          </a:stretch>
        </p:blipFill>
        <p:spPr>
          <a:xfrm>
            <a:off x="1088136" y="2744330"/>
            <a:ext cx="16093440" cy="4542306"/>
          </a:xfrm>
          <a:prstGeom prst="rect">
            <a:avLst/>
          </a:prstGeom>
        </p:spPr>
      </p:pic>
      <p:sp>
        <p:nvSpPr>
          <p:cNvPr id="7" name="Rectangle 6"/>
          <p:cNvSpPr/>
          <p:nvPr/>
        </p:nvSpPr>
        <p:spPr>
          <a:xfrm>
            <a:off x="950976" y="781812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7772400"/>
            <a:ext cx="7315200" cy="411480"/>
          </a:xfrm>
          <a:prstGeom prst="rect">
            <a:avLst/>
          </a:prstGeom>
          <a:noFill/>
        </p:spPr>
        <p:txBody>
          <a:bodyPr wrap="square" anchor="t" lIns="0" rIns="0" tIns="0" bIns="0">
            <a:spAutoFit/>
          </a:bodyPr>
          <a:lstStyle/>
          <a:p>
            <a:pPr algn="l"/>
            <a:r>
              <a:rPr sz="2200" b="1">
                <a:solidFill>
                  <a:srgbClr val="0E1F5B"/>
                </a:solidFill>
                <a:latin typeface="Arial"/>
              </a:rPr>
              <a:t>Piste cyclable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projet</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914400"/>
          </a:xfrm>
          <a:prstGeom prst="rect">
            <a:avLst/>
          </a:prstGeom>
          <a:noFill/>
        </p:spPr>
        <p:txBody>
          <a:bodyPr wrap="square" lIns="0" tIns="0" rIns="0" bIns="0" anchor="t">
            <a:spAutoFit/>
          </a:bodyPr>
          <a:lstStyle/>
          <a:p>
            <a:pPr algn="l"/>
            <a:r>
              <a:rPr sz="6600" b="1">
                <a:solidFill>
                  <a:srgbClr val="72C493"/>
                </a:solidFill>
                <a:latin typeface="Arial"/>
              </a:rPr>
              <a:t>2</a:t>
            </a: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projet</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55520"/>
            <a:ext cx="10241280" cy="6827519"/>
          </a:xfrm>
          <a:prstGeom prst="rect">
            <a:avLst/>
          </a:prstGeom>
        </p:spPr>
      </p:pic>
      <p:pic>
        <p:nvPicPr>
          <p:cNvPr id="7" name="Picture 6" descr="Securite_04_zone_bleue_situation.jpg"/>
          <p:cNvPicPr>
            <a:picLocks noChangeAspect="1"/>
          </p:cNvPicPr>
          <p:nvPr/>
        </p:nvPicPr>
        <p:blipFill>
          <a:blip r:embed="rId5"/>
          <a:stretch>
            <a:fillRect/>
          </a:stretch>
        </p:blipFill>
        <p:spPr>
          <a:xfrm>
            <a:off x="11567160" y="2240280"/>
            <a:ext cx="5760720" cy="3840480"/>
          </a:xfrm>
          <a:prstGeom prst="rect">
            <a:avLst/>
          </a:prstGeom>
        </p:spPr>
      </p:pic>
      <p:sp>
        <p:nvSpPr>
          <p:cNvPr id="8" name="TextBox 7"/>
          <p:cNvSpPr txBox="1"/>
          <p:nvPr/>
        </p:nvSpPr>
        <p:spPr>
          <a:xfrm>
            <a:off x="11567160" y="6172200"/>
            <a:ext cx="5760720" cy="731520"/>
          </a:xfrm>
          <a:prstGeom prst="rect">
            <a:avLst/>
          </a:prstGeom>
          <a:noFill/>
        </p:spPr>
        <p:txBody>
          <a:bodyPr wrap="square" lIns="0" tIns="0" rIns="0" bIns="0" anchor="t">
            <a:spAutoFit/>
          </a:bodyPr>
          <a:lstStyle/>
          <a:p>
            <a:pPr algn="l"/>
            <a:r>
              <a:rPr sz="2000" b="1">
                <a:solidFill>
                  <a:srgbClr val="FFFFFF"/>
                </a:solidFill>
                <a:latin typeface="Arial"/>
              </a:rPr>
              <a:t>Secteur du gymnase des Yvris, chemin de la Noisette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9" name="TextBox 8"/>
          <p:cNvSpPr txBox="1"/>
          <p:nvPr/>
        </p:nvSpPr>
        <p:spPr>
          <a:xfrm>
            <a:off x="1179575" y="5029200"/>
            <a:ext cx="2956559" cy="2215991"/>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r>
              <a:rPr lang="fr-FR" sz="2400" b="0" dirty="0">
                <a:solidFill>
                  <a:srgbClr val="FAF5EC"/>
                </a:solidFill>
                <a:latin typeface="Arial"/>
              </a:rPr>
              <a:t> prochaine du bureau</a:t>
            </a:r>
            <a:r>
              <a:rPr sz="2400" b="0" dirty="0">
                <a:solidFill>
                  <a:srgbClr val="FAF5EC"/>
                </a:solidFill>
                <a:latin typeface="Arial"/>
              </a:rPr>
              <a:t> (non </a:t>
            </a:r>
            <a:r>
              <a:rPr sz="2400" b="0" dirty="0" err="1">
                <a:solidFill>
                  <a:srgbClr val="FAF5EC"/>
                </a:solidFill>
                <a:latin typeface="Arial"/>
              </a:rPr>
              <a:t>publique</a:t>
            </a:r>
            <a:r>
              <a:rPr sz="2400" b="0" dirty="0">
                <a:solidFill>
                  <a:srgbClr val="FAF5EC"/>
                </a:solidFill>
                <a:latin typeface="Arial"/>
              </a:rPr>
              <a:t>)</a:t>
            </a: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projet RER E Est +</a:t>
            </a:r>
          </a:p>
        </p:txBody>
      </p:sp>
      <p:pic>
        <p:nvPicPr>
          <p:cNvPr id="5" name="Picture 4" descr="Mobilites_02_projet_RER_E_Est_plus.jpg"/>
          <p:cNvPicPr>
            <a:picLocks noChangeAspect="1"/>
          </p:cNvPicPr>
          <p:nvPr/>
        </p:nvPicPr>
        <p:blipFill>
          <a:blip r:embed="rId3"/>
          <a:stretch>
            <a:fillRect/>
          </a:stretch>
        </p:blipFill>
        <p:spPr>
          <a:xfrm>
            <a:off x="4160760" y="2148840"/>
            <a:ext cx="9948191" cy="7498079"/>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L'aménagement du pôle gare des Yvris</a:t>
            </a:r>
          </a:p>
        </p:txBody>
      </p:sp>
      <p:pic>
        <p:nvPicPr>
          <p:cNvPr id="5" name="Picture 4" descr="Mobilites_03_pole_gare_Yvris_plan.jpg"/>
          <p:cNvPicPr>
            <a:picLocks noChangeAspect="1"/>
          </p:cNvPicPr>
          <p:nvPr/>
        </p:nvPicPr>
        <p:blipFill>
          <a:blip r:embed="rId3"/>
          <a:stretch>
            <a:fillRect/>
          </a:stretch>
        </p:blipFill>
        <p:spPr>
          <a:xfrm>
            <a:off x="950976" y="2348919"/>
            <a:ext cx="16367759" cy="70979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
        <p:nvSpPr>
          <p:cNvPr id="25" name="Rectangle 2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80160" y="2606040"/>
            <a:ext cx="3657600" cy="411480"/>
          </a:xfrm>
          <a:prstGeom prst="rect">
            <a:avLst/>
          </a:prstGeom>
          <a:noFill/>
        </p:spPr>
        <p:txBody>
          <a:bodyPr wrap="square" anchor="t" lIns="0" rIns="0" tIns="0" bIns="0">
            <a:spAutoFit/>
          </a:bodyPr>
          <a:lstStyle/>
          <a:p>
            <a:pPr algn="l"/>
            <a:r>
              <a:rPr sz="2000" b="1" spc="150">
                <a:solidFill>
                  <a:srgbClr val="8A90B0"/>
                </a:solidFill>
                <a:latin typeface="Arial"/>
              </a:rPr>
              <a:t>ANCIEN PROJET</a:t>
            </a:r>
          </a:p>
        </p:txBody>
      </p:sp>
      <p:sp>
        <p:nvSpPr>
          <p:cNvPr id="27" name="TextBox 26"/>
          <p:cNvSpPr txBox="1"/>
          <p:nvPr/>
        </p:nvSpPr>
        <p:spPr>
          <a:xfrm>
            <a:off x="1280160" y="3017520"/>
            <a:ext cx="3657600" cy="457200"/>
          </a:xfrm>
          <a:prstGeom prst="rect">
            <a:avLst/>
          </a:prstGeom>
          <a:noFill/>
        </p:spPr>
        <p:txBody>
          <a:bodyPr wrap="square" anchor="t" lIns="0" rIns="0" tIns="0" bIns="0">
            <a:spAutoFit/>
          </a:bodyPr>
          <a:lstStyle/>
          <a:p>
            <a:pPr algn="l"/>
            <a:r>
              <a:rPr sz="1600" b="0">
                <a:solidFill>
                  <a:srgbClr val="8A90B0"/>
                </a:solidFill>
                <a:latin typeface="Arial"/>
              </a:rPr>
              <a:t>avant l'élection du Maire</a:t>
            </a:r>
          </a:p>
        </p:txBody>
      </p:sp>
      <p:sp>
        <p:nvSpPr>
          <p:cNvPr id="28" name="TextBox 27"/>
          <p:cNvSpPr txBox="1"/>
          <p:nvPr/>
        </p:nvSpPr>
        <p:spPr>
          <a:xfrm>
            <a:off x="1280160" y="3703320"/>
            <a:ext cx="3657600" cy="914400"/>
          </a:xfrm>
          <a:prstGeom prst="rect">
            <a:avLst/>
          </a:prstGeom>
          <a:noFill/>
        </p:spPr>
        <p:txBody>
          <a:bodyPr wrap="square" anchor="t" lIns="0" rIns="0" tIns="0" bIns="0">
            <a:spAutoFit/>
          </a:bodyPr>
          <a:lstStyle/>
          <a:p>
            <a:pPr algn="l"/>
            <a:r>
              <a:rPr sz="5400" b="1">
                <a:solidFill>
                  <a:srgbClr val="FAF5EC"/>
                </a:solidFill>
                <a:latin typeface="Arial"/>
              </a:rPr>
              <a:t>4 M€</a:t>
            </a:r>
          </a:p>
        </p:txBody>
      </p:sp>
      <p:sp>
        <p:nvSpPr>
          <p:cNvPr id="29" name="TextBox 28"/>
          <p:cNvSpPr txBox="1"/>
          <p:nvPr/>
        </p:nvSpPr>
        <p:spPr>
          <a:xfrm>
            <a:off x="1280160" y="4617720"/>
            <a:ext cx="3657600" cy="822960"/>
          </a:xfrm>
          <a:prstGeom prst="rect">
            <a:avLst/>
          </a:prstGeom>
          <a:noFill/>
        </p:spPr>
        <p:txBody>
          <a:bodyPr wrap="square" anchor="t" lIns="0" rIns="0" tIns="0" bIns="0">
            <a:spAutoFit/>
          </a:bodyPr>
          <a:lstStyle/>
          <a:p>
            <a:pPr algn="l"/>
            <a:r>
              <a:rPr sz="2000" b="1">
                <a:solidFill>
                  <a:srgbClr val="FAF5EC"/>
                </a:solidFill>
                <a:latin typeface="Arial"/>
              </a:rPr>
              <a:t>pour une tribune de 600 places</a:t>
            </a:r>
          </a:p>
        </p:txBody>
      </p:sp>
      <p:sp>
        <p:nvSpPr>
          <p:cNvPr id="30" name="Oval 29"/>
          <p:cNvSpPr/>
          <p:nvPr/>
        </p:nvSpPr>
        <p:spPr>
          <a:xfrm>
            <a:off x="1280160" y="5989320"/>
            <a:ext cx="512064" cy="51206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80160" y="5989320"/>
            <a:ext cx="512064" cy="512064"/>
          </a:xfrm>
          <a:prstGeom prst="rect">
            <a:avLst/>
          </a:prstGeom>
          <a:noFill/>
        </p:spPr>
        <p:txBody>
          <a:bodyPr wrap="square" anchor="ctr" lIns="0" rIns="0" tIns="0" bIns="0">
            <a:spAutoFit/>
          </a:bodyPr>
          <a:lstStyle/>
          <a:p>
            <a:pPr algn="ctr"/>
            <a:r>
              <a:rPr sz="1800" b="1">
                <a:solidFill>
                  <a:srgbClr val="0E1F5B"/>
                </a:solidFill>
                <a:latin typeface="Arial"/>
              </a:rPr>
              <a:t>✕</a:t>
            </a:r>
          </a:p>
        </p:txBody>
      </p:sp>
      <p:sp>
        <p:nvSpPr>
          <p:cNvPr id="32" name="TextBox 31"/>
          <p:cNvSpPr txBox="1"/>
          <p:nvPr/>
        </p:nvSpPr>
        <p:spPr>
          <a:xfrm>
            <a:off x="1965960" y="5897880"/>
            <a:ext cx="3017520" cy="1371600"/>
          </a:xfrm>
          <a:prstGeom prst="rect">
            <a:avLst/>
          </a:prstGeom>
          <a:noFill/>
        </p:spPr>
        <p:txBody>
          <a:bodyPr wrap="square" anchor="t" lIns="0" rIns="0" tIns="0" bIns="0">
            <a:spAutoFit/>
          </a:bodyPr>
          <a:lstStyle/>
          <a:p>
            <a:pPr algn="l"/>
            <a:r>
              <a:rPr sz="2600" b="1">
                <a:solidFill>
                  <a:srgbClr val="FAF5EC"/>
                </a:solidFill>
                <a:latin typeface="Arial"/>
              </a:rPr>
              <a:t>13 arbres abattus</a:t>
            </a:r>
          </a:p>
        </p:txBody>
      </p:sp>
      <p:sp>
        <p:nvSpPr>
          <p:cNvPr id="33" name="Rectangle 32"/>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9400" y="2606040"/>
            <a:ext cx="4572000" cy="411480"/>
          </a:xfrm>
          <a:prstGeom prst="rect">
            <a:avLst/>
          </a:prstGeom>
          <a:noFill/>
        </p:spPr>
        <p:txBody>
          <a:bodyPr wrap="square" anchor="t" lIns="0" rIns="0" tIns="0" bIns="0">
            <a:spAutoFit/>
          </a:bodyPr>
          <a:lstStyle/>
          <a:p>
            <a:pPr algn="l"/>
            <a:r>
              <a:rPr sz="2000" b="1" spc="150">
                <a:solidFill>
                  <a:srgbClr val="0E1F5B"/>
                </a:solidFill>
                <a:latin typeface="Arial"/>
              </a:rPr>
              <a:t>NOUVEAU PROJET</a:t>
            </a:r>
          </a:p>
        </p:txBody>
      </p:sp>
      <p:sp>
        <p:nvSpPr>
          <p:cNvPr id="35" name="TextBox 34"/>
          <p:cNvSpPr txBox="1"/>
          <p:nvPr/>
        </p:nvSpPr>
        <p:spPr>
          <a:xfrm>
            <a:off x="6629400" y="3017520"/>
            <a:ext cx="4572000" cy="457200"/>
          </a:xfrm>
          <a:prstGeom prst="rect">
            <a:avLst/>
          </a:prstGeom>
          <a:noFill/>
        </p:spPr>
        <p:txBody>
          <a:bodyPr wrap="square" anchor="t" lIns="0" rIns="0" tIns="0" bIns="0">
            <a:spAutoFit/>
          </a:bodyPr>
          <a:lstStyle/>
          <a:p>
            <a:pPr algn="l"/>
            <a:r>
              <a:rPr sz="1600" b="0">
                <a:solidFill>
                  <a:srgbClr val="0E1F5B"/>
                </a:solidFill>
                <a:latin typeface="Arial"/>
              </a:rPr>
              <a:t>porté par la nouvelle municipalité</a:t>
            </a:r>
          </a:p>
        </p:txBody>
      </p:sp>
      <p:sp>
        <p:nvSpPr>
          <p:cNvPr id="36" name="Oval 35"/>
          <p:cNvSpPr/>
          <p:nvPr/>
        </p:nvSpPr>
        <p:spPr>
          <a:xfrm>
            <a:off x="6629400" y="372160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3721607"/>
            <a:ext cx="512064" cy="512064"/>
          </a:xfrm>
          <a:prstGeom prst="rect">
            <a:avLst/>
          </a:prstGeom>
          <a:noFill/>
        </p:spPr>
        <p:txBody>
          <a:bodyPr wrap="square" anchor="ctr" lIns="0" rIns="0" tIns="0" bIns="0">
            <a:spAutoFit/>
          </a:bodyPr>
          <a:lstStyle/>
          <a:p>
            <a:pPr algn="ctr"/>
            <a:r>
              <a:rPr sz="1800" b="1">
                <a:solidFill>
                  <a:srgbClr val="72C493"/>
                </a:solidFill>
                <a:latin typeface="Arial"/>
              </a:rPr>
              <a:t>1</a:t>
            </a:r>
          </a:p>
        </p:txBody>
      </p:sp>
      <p:sp>
        <p:nvSpPr>
          <p:cNvPr id="38" name="TextBox 37"/>
          <p:cNvSpPr txBox="1"/>
          <p:nvPr/>
        </p:nvSpPr>
        <p:spPr>
          <a:xfrm>
            <a:off x="7315200" y="3703320"/>
            <a:ext cx="4023360" cy="685800"/>
          </a:xfrm>
          <a:prstGeom prst="rect">
            <a:avLst/>
          </a:prstGeom>
          <a:noFill/>
        </p:spPr>
        <p:txBody>
          <a:bodyPr wrap="square" anchor="t" lIns="0" rIns="0" tIns="0" bIns="0">
            <a:spAutoFit/>
          </a:bodyPr>
          <a:lstStyle/>
          <a:p>
            <a:pPr algn="l"/>
            <a:r>
              <a:rPr sz="2000" b="1">
                <a:solidFill>
                  <a:srgbClr val="0E1F5B"/>
                </a:solidFill>
                <a:latin typeface="Arial"/>
              </a:rPr>
              <a:t>Des toitures solarisées</a:t>
            </a:r>
          </a:p>
        </p:txBody>
      </p:sp>
      <p:sp>
        <p:nvSpPr>
          <p:cNvPr id="39" name="Oval 38"/>
          <p:cNvSpPr/>
          <p:nvPr/>
        </p:nvSpPr>
        <p:spPr>
          <a:xfrm>
            <a:off x="6629400" y="463600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4636007"/>
            <a:ext cx="512064" cy="512064"/>
          </a:xfrm>
          <a:prstGeom prst="rect">
            <a:avLst/>
          </a:prstGeom>
          <a:noFill/>
        </p:spPr>
        <p:txBody>
          <a:bodyPr wrap="square" anchor="ctr" lIns="0" rIns="0" tIns="0" bIns="0">
            <a:spAutoFit/>
          </a:bodyPr>
          <a:lstStyle/>
          <a:p>
            <a:pPr algn="ctr"/>
            <a:r>
              <a:rPr sz="1800" b="1">
                <a:solidFill>
                  <a:srgbClr val="72C493"/>
                </a:solidFill>
                <a:latin typeface="Arial"/>
              </a:rPr>
              <a:t>2</a:t>
            </a:r>
          </a:p>
        </p:txBody>
      </p:sp>
      <p:sp>
        <p:nvSpPr>
          <p:cNvPr id="41" name="TextBox 40"/>
          <p:cNvSpPr txBox="1"/>
          <p:nvPr/>
        </p:nvSpPr>
        <p:spPr>
          <a:xfrm>
            <a:off x="7315200" y="4617720"/>
            <a:ext cx="4023360" cy="685800"/>
          </a:xfrm>
          <a:prstGeom prst="rect">
            <a:avLst/>
          </a:prstGeom>
          <a:noFill/>
        </p:spPr>
        <p:txBody>
          <a:bodyPr wrap="square" anchor="t" lIns="0" rIns="0" tIns="0" bIns="0">
            <a:spAutoFit/>
          </a:bodyPr>
          <a:lstStyle/>
          <a:p>
            <a:pPr algn="l"/>
            <a:r>
              <a:rPr sz="2000" b="1">
                <a:solidFill>
                  <a:srgbClr val="0E1F5B"/>
                </a:solidFill>
                <a:latin typeface="Arial"/>
              </a:rPr>
              <a:t>Une façade en bois</a:t>
            </a:r>
          </a:p>
        </p:txBody>
      </p:sp>
      <p:sp>
        <p:nvSpPr>
          <p:cNvPr id="42" name="Oval 41"/>
          <p:cNvSpPr/>
          <p:nvPr/>
        </p:nvSpPr>
        <p:spPr>
          <a:xfrm>
            <a:off x="6629400" y="555040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29400" y="5550407"/>
            <a:ext cx="512064" cy="512064"/>
          </a:xfrm>
          <a:prstGeom prst="rect">
            <a:avLst/>
          </a:prstGeom>
          <a:noFill/>
        </p:spPr>
        <p:txBody>
          <a:bodyPr wrap="square" anchor="ctr" lIns="0" rIns="0" tIns="0" bIns="0">
            <a:spAutoFit/>
          </a:bodyPr>
          <a:lstStyle/>
          <a:p>
            <a:pPr algn="ctr"/>
            <a:r>
              <a:rPr sz="1800" b="1">
                <a:solidFill>
                  <a:srgbClr val="72C493"/>
                </a:solidFill>
                <a:latin typeface="Arial"/>
              </a:rPr>
              <a:t>3</a:t>
            </a:r>
          </a:p>
        </p:txBody>
      </p:sp>
      <p:sp>
        <p:nvSpPr>
          <p:cNvPr id="44" name="TextBox 43"/>
          <p:cNvSpPr txBox="1"/>
          <p:nvPr/>
        </p:nvSpPr>
        <p:spPr>
          <a:xfrm>
            <a:off x="7315200" y="5532120"/>
            <a:ext cx="4023360" cy="1965960"/>
          </a:xfrm>
          <a:prstGeom prst="rect">
            <a:avLst/>
          </a:prstGeom>
          <a:noFill/>
        </p:spPr>
        <p:txBody>
          <a:bodyPr wrap="square" anchor="t" lIns="0" rIns="0" tIns="0" bIns="0">
            <a:spAutoFit/>
          </a:bodyPr>
          <a:lstStyle/>
          <a:p>
            <a:pPr algn="l"/>
            <a:r>
              <a:rPr sz="2000" b="1">
                <a:solidFill>
                  <a:srgbClr val="0E1F5B"/>
                </a:solidFill>
                <a:latin typeface="Arial"/>
              </a:rPr>
              <a:t>Un plan de revégétalisation du stade : de nouvelles essences d'arbres aux abords de la zone pavillonnaire pour limiter les nuisances sonores</a:t>
            </a:r>
          </a:p>
        </p:txBody>
      </p:sp>
      <p:sp>
        <p:nvSpPr>
          <p:cNvPr id="45" name="Oval 44"/>
          <p:cNvSpPr/>
          <p:nvPr/>
        </p:nvSpPr>
        <p:spPr>
          <a:xfrm>
            <a:off x="6629400" y="7744967"/>
            <a:ext cx="512064" cy="512064"/>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29400" y="7744967"/>
            <a:ext cx="512064" cy="512064"/>
          </a:xfrm>
          <a:prstGeom prst="rect">
            <a:avLst/>
          </a:prstGeom>
          <a:noFill/>
        </p:spPr>
        <p:txBody>
          <a:bodyPr wrap="square" anchor="ctr" lIns="0" rIns="0" tIns="0" bIns="0">
            <a:spAutoFit/>
          </a:bodyPr>
          <a:lstStyle/>
          <a:p>
            <a:pPr algn="ctr"/>
            <a:r>
              <a:rPr sz="1800" b="1">
                <a:solidFill>
                  <a:srgbClr val="72C493"/>
                </a:solidFill>
                <a:latin typeface="Arial"/>
              </a:rPr>
              <a:t>4</a:t>
            </a:r>
          </a:p>
        </p:txBody>
      </p:sp>
      <p:sp>
        <p:nvSpPr>
          <p:cNvPr id="47" name="TextBox 46"/>
          <p:cNvSpPr txBox="1"/>
          <p:nvPr/>
        </p:nvSpPr>
        <p:spPr>
          <a:xfrm>
            <a:off x="7315200" y="7726679"/>
            <a:ext cx="4023360" cy="914400"/>
          </a:xfrm>
          <a:prstGeom prst="rect">
            <a:avLst/>
          </a:prstGeom>
          <a:noFill/>
        </p:spPr>
        <p:txBody>
          <a:bodyPr wrap="square" anchor="t" lIns="0" rIns="0" tIns="0" bIns="0">
            <a:spAutoFit/>
          </a:bodyPr>
          <a:lstStyle/>
          <a:p>
            <a:pPr algn="l"/>
            <a:r>
              <a:rPr sz="2000" b="1">
                <a:solidFill>
                  <a:srgbClr val="0E1F5B"/>
                </a:solidFill>
                <a:latin typeface="Arial"/>
              </a:rPr>
              <a:t>Une subvention de 1 M€ va être demandée</a:t>
            </a: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a:solidFill>
                  <a:srgbClr val="0E1F5B"/>
                </a:solidFill>
                <a:latin typeface="Arial"/>
              </a:rPr>
              <a:t>EN CONCERTATION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25296" y="2377440"/>
            <a:ext cx="15819119" cy="6949440"/>
          </a:xfrm>
          <a:prstGeom prst="rect">
            <a:avLst/>
          </a:prstGeom>
          <a:noFill/>
        </p:spPr>
        <p:txBody>
          <a:bodyPr wrap="square" lIns="0" tIns="0" rIns="0" bIns="0" anchor="ctr">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2583</Words>
  <Application>Microsoft Office PowerPoint</Application>
  <PresentationFormat>Personnalisé</PresentationFormat>
  <Paragraphs>309</Paragraphs>
  <Slides>22</Slides>
  <Notes>22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29</cp:revision>
  <cp:lastPrinted>2026-10-12T16:29:05Z</cp:lastPrinted>
  <dcterms:created xsi:type="dcterms:W3CDTF">2026-10-12T08:47:28Z</dcterms:created>
  <dcterms:modified xsi:type="dcterms:W3CDTF">2026-10-14T09:58:45Z</dcterms:modified>
</cp:coreProperties>
</file>