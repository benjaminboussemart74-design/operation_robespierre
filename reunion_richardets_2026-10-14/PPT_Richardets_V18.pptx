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6" r:id="rId33"/>
    <p:sldId id="324" r:id="rId8"/>
    <p:sldId id="316" r:id="rId9"/>
    <p:sldId id="305" r:id="rId10"/>
    <p:sldId id="327" r:id="rId32"/>
    <p:sldId id="329"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11.xml"/><Relationship Id="rId3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giratoire et de la piste cyclable (en rouge), qui contourne le rond-point et se poursuit le long de la voie (coupe A-A).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Deux parkings concernés. 1. Secteur du gymnase des Yvris, chemin de la Noisette, près de l'école élémentaire des Yvris et du collège Saint-Exupéry (point fourni : 48°49'35.57" N, 2°35'00.63" E). 2. Boulevard du Champy (point fourni : 48°50'14.85" N, 2°34'48.08"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Ancien projet (avant l'élection du Maire) : une tribune de 600 places pour un coût de 4 millions d'euros, avec l'abattage de 13 arbres. Nouveau projet : toitures solarisées, façade en bois, plan de revégétalisation du stade avec la plantation de nouvelles essences d'arbres aux abords de la zone pavillonnaire pour limiter les nuisances sonores ; une demande de subvention de 1 million d'euros va être déposée.</a:t>
            </a:r>
          </a:p>
          <a:p/>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 En haut à gauche, la route vers le centre-ville ; en haut à droite, la route vers l'entrée d'autoroute.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2.jp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3.jpg"/><Relationship Id="rId7" Type="http://schemas.openxmlformats.org/officeDocument/2006/relationships/image" Target="../media/image25.jpg"/><Relationship Id="rId8"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anchor="t" lIns="0" rIns="0" tIns="0" bIns="0">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148072"/>
            <a:ext cx="9052560" cy="640080"/>
          </a:xfrm>
          <a:prstGeom prst="rect">
            <a:avLst/>
          </a:prstGeom>
          <a:noFill/>
        </p:spPr>
        <p:txBody>
          <a:bodyPr wrap="square" anchor="t" lIns="0" rIns="0" tIns="0" bIns="0">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052560" cy="640080"/>
          </a:xfrm>
          <a:prstGeom prst="rect">
            <a:avLst/>
          </a:prstGeom>
          <a:noFill/>
        </p:spPr>
        <p:txBody>
          <a:bodyPr wrap="square" anchor="t" lIns="0" rIns="0" tIns="0" bIns="0">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6007607"/>
            <a:ext cx="9052560" cy="640080"/>
          </a:xfrm>
          <a:prstGeom prst="rect">
            <a:avLst/>
          </a:prstGeom>
          <a:noFill/>
        </p:spPr>
        <p:txBody>
          <a:bodyPr wrap="square" anchor="t" lIns="0" rIns="0" tIns="0" bIns="0">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8448" y="6437375"/>
            <a:ext cx="9052560" cy="640080"/>
          </a:xfrm>
          <a:prstGeom prst="rect">
            <a:avLst/>
          </a:prstGeom>
          <a:noFill/>
        </p:spPr>
        <p:txBody>
          <a:bodyPr wrap="square" anchor="t" lIns="0" rIns="0" tIns="0" bIns="0">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8448" y="6867143"/>
            <a:ext cx="9052560" cy="640080"/>
          </a:xfrm>
          <a:prstGeom prst="rect">
            <a:avLst/>
          </a:prstGeom>
          <a:noFill/>
        </p:spPr>
        <p:txBody>
          <a:bodyPr wrap="square" anchor="t" lIns="0" rIns="0" tIns="0" bIns="0">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7296911"/>
            <a:ext cx="9052560" cy="640080"/>
          </a:xfrm>
          <a:prstGeom prst="rect">
            <a:avLst/>
          </a:prstGeom>
          <a:noFill/>
        </p:spPr>
        <p:txBody>
          <a:bodyPr wrap="square" anchor="t" lIns="0" rIns="0" tIns="0" bIns="0">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anchor="t" lIns="0" rIns="0" tIns="0" bIns="0">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 y="8805671"/>
            <a:ext cx="9052560" cy="640080"/>
          </a:xfrm>
          <a:prstGeom prst="rect">
            <a:avLst/>
          </a:prstGeom>
          <a:noFill/>
        </p:spPr>
        <p:txBody>
          <a:bodyPr wrap="square" anchor="t" lIns="0" rIns="0" tIns="0" bIns="0">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9235439"/>
            <a:ext cx="9052560" cy="640080"/>
          </a:xfrm>
          <a:prstGeom prst="rect">
            <a:avLst/>
          </a:prstGeom>
          <a:noFill/>
        </p:spPr>
        <p:txBody>
          <a:bodyPr wrap="square" anchor="t" lIns="0" rIns="0" tIns="0" bIns="0">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3"/>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1326" y="8961120"/>
            <a:ext cx="5934527" cy="411480"/>
          </a:xfrm>
          <a:prstGeom prst="rect">
            <a:avLst/>
          </a:prstGeom>
          <a:noFill/>
        </p:spPr>
        <p:txBody>
          <a:bodyPr wrap="square" anchor="ctr" lIns="0" rIns="0" tIns="0" bIns="0">
            <a:spAutoFit/>
          </a:bodyPr>
          <a:lstStyle/>
          <a:p>
            <a:pPr algn="l"/>
            <a:r>
              <a:rPr sz="1400" b="1" spc="100">
                <a:solidFill>
                  <a:srgbClr val="0E1F5B"/>
                </a:solidFill>
                <a:latin typeface="Arial"/>
              </a:rPr>
              <a:t>PLAN DES 1ER ET 2E ÉTAGES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1_piste_cyclable_plan.png"/>
          <p:cNvPicPr>
            <a:picLocks noChangeAspect="1"/>
          </p:cNvPicPr>
          <p:nvPr/>
        </p:nvPicPr>
        <p:blipFill>
          <a:blip r:embed="rId3"/>
          <a:stretch>
            <a:fillRect/>
          </a:stretch>
        </p:blipFill>
        <p:spPr>
          <a:xfrm>
            <a:off x="1088136" y="2790495"/>
            <a:ext cx="16093440" cy="5437528"/>
          </a:xfrm>
          <a:prstGeom prst="rect">
            <a:avLst/>
          </a:prstGeom>
        </p:spPr>
      </p:pic>
      <p:sp>
        <p:nvSpPr>
          <p:cNvPr id="7" name="Up Arrow 6"/>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514600"/>
            <a:ext cx="2834640" cy="457200"/>
          </a:xfrm>
          <a:prstGeom prst="rect">
            <a:avLst/>
          </a:prstGeom>
          <a:noFill/>
        </p:spPr>
        <p:txBody>
          <a:bodyPr wrap="square" anchor="ctr" lIns="0" rIns="0" tIns="0" bIns="0">
            <a:spAutoFit/>
          </a:bodyPr>
          <a:lstStyle/>
          <a:p>
            <a:pPr algn="ctr"/>
            <a:r>
              <a:rPr sz="1800" b="1">
                <a:solidFill>
                  <a:srgbClr val="FFFFFF"/>
                </a:solidFill>
                <a:latin typeface="Arial"/>
              </a:rPr>
              <a:t>Vers le centre-ville</a:t>
            </a:r>
          </a:p>
        </p:txBody>
      </p:sp>
      <p:sp>
        <p:nvSpPr>
          <p:cNvPr id="10" name="Right Arrow 9"/>
          <p:cNvSpPr/>
          <p:nvPr/>
        </p:nvSpPr>
        <p:spPr>
          <a:xfrm>
            <a:off x="16322040" y="4114800"/>
            <a:ext cx="868680" cy="548640"/>
          </a:xfrm>
          <a:prstGeom prst="right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487400" y="3337560"/>
            <a:ext cx="370332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87400" y="3337560"/>
            <a:ext cx="3703320" cy="457200"/>
          </a:xfrm>
          <a:prstGeom prst="rect">
            <a:avLst/>
          </a:prstGeom>
          <a:noFill/>
        </p:spPr>
        <p:txBody>
          <a:bodyPr wrap="square" anchor="ctr" lIns="0" rIns="0" tIns="0" bIns="0">
            <a:spAutoFit/>
          </a:bodyPr>
          <a:lstStyle/>
          <a:p>
            <a:pPr algn="ctr"/>
            <a:r>
              <a:rPr sz="1800" b="1">
                <a:solidFill>
                  <a:srgbClr val="FFFFFF"/>
                </a:solidFill>
                <a:latin typeface="Arial"/>
              </a:rPr>
              <a:t>Vers l'entrée d'autoroute</a:t>
            </a:r>
          </a:p>
        </p:txBody>
      </p:sp>
      <p:sp>
        <p:nvSpPr>
          <p:cNvPr id="13" name="Rectangle 12"/>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65960" y="8961119"/>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plan d'aménagement du carrefour</a:t>
            </a:r>
          </a:p>
        </p:txBody>
      </p:sp>
      <p:sp>
        <p:nvSpPr>
          <p:cNvPr id="5" name="Rectangle 4"/>
          <p:cNvSpPr/>
          <p:nvPr/>
        </p:nvSpPr>
        <p:spPr>
          <a:xfrm>
            <a:off x="950976" y="2606040"/>
            <a:ext cx="16367759"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4_piste_cyclable_plan_carrefour.png"/>
          <p:cNvPicPr>
            <a:picLocks noChangeAspect="1"/>
          </p:cNvPicPr>
          <p:nvPr/>
        </p:nvPicPr>
        <p:blipFill>
          <a:blip r:embed="rId3"/>
          <a:stretch>
            <a:fillRect/>
          </a:stretch>
        </p:blipFill>
        <p:spPr>
          <a:xfrm>
            <a:off x="1088136" y="2744330"/>
            <a:ext cx="16093440" cy="4542306"/>
          </a:xfrm>
          <a:prstGeom prst="rect">
            <a:avLst/>
          </a:prstGeom>
        </p:spPr>
      </p:pic>
      <p:sp>
        <p:nvSpPr>
          <p:cNvPr id="7" name="Rectangle 6"/>
          <p:cNvSpPr/>
          <p:nvPr/>
        </p:nvSpPr>
        <p:spPr>
          <a:xfrm>
            <a:off x="950976" y="781812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7772400"/>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6"/>
          <a:stretch>
            <a:fillRect/>
          </a:stretch>
        </p:blipFill>
        <p:spPr>
          <a:xfrm>
            <a:off x="950976" y="2240280"/>
            <a:ext cx="7955279" cy="5966459"/>
          </a:xfrm>
          <a:prstGeom prst="rect">
            <a:avLst/>
          </a:prstGeom>
        </p:spPr>
      </p:pic>
      <p:pic>
        <p:nvPicPr>
          <p:cNvPr id="6" name="Picture 5" descr="image.jpg"/>
          <p:cNvPicPr>
            <a:picLocks noChangeAspect="1"/>
          </p:cNvPicPr>
          <p:nvPr/>
        </p:nvPicPr>
        <p:blipFill>
          <a:blip r:embed="rId5"/>
          <a:stretch>
            <a:fillRect/>
          </a:stretch>
        </p:blipFill>
        <p:spPr>
          <a:xfrm>
            <a:off x="6208775" y="2377440"/>
            <a:ext cx="2560320" cy="1706879"/>
          </a:xfrm>
          <a:prstGeom prst="rect">
            <a:avLst/>
          </a:prstGeom>
          <a:ln w="31750">
            <a:solidFill>
              <a:srgbClr val="FFFFFF"/>
            </a:solidFill>
          </a:ln>
        </p:spPr>
      </p:pic>
      <p:sp>
        <p:nvSpPr>
          <p:cNvPr id="7" name="Oval 6"/>
          <p:cNvSpPr/>
          <p:nvPr/>
        </p:nvSpPr>
        <p:spPr>
          <a:xfrm>
            <a:off x="950976" y="8503920"/>
            <a:ext cx="566928" cy="56692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1F5B"/>
                </a:solidFill>
                <a:latin typeface="Arial"/>
              </a:rPr>
              <a:t>1</a:t>
            </a:r>
          </a:p>
        </p:txBody>
      </p:sp>
      <p:sp>
        <p:nvSpPr>
          <p:cNvPr id="8" name="TextBox 7"/>
          <p:cNvSpPr txBox="1"/>
          <p:nvPr/>
        </p:nvSpPr>
        <p:spPr>
          <a:xfrm>
            <a:off x="1728216" y="8458200"/>
            <a:ext cx="7178040" cy="411480"/>
          </a:xfrm>
          <a:prstGeom prst="rect">
            <a:avLst/>
          </a:prstGeom>
          <a:noFill/>
        </p:spPr>
        <p:txBody>
          <a:bodyPr wrap="square" anchor="t" lIns="0" rIns="0" tIns="0" bIns="0">
            <a:spAutoFit/>
          </a:bodyPr>
          <a:lstStyle/>
          <a:p>
            <a:pPr algn="l"/>
            <a:r>
              <a:rPr sz="2400" b="1">
                <a:solidFill>
                  <a:srgbClr val="FFFFFF"/>
                </a:solidFill>
                <a:latin typeface="Arial"/>
              </a:rPr>
              <a:t>Secteur du gymnase des Yvris</a:t>
            </a:r>
          </a:p>
        </p:txBody>
      </p:sp>
      <p:sp>
        <p:nvSpPr>
          <p:cNvPr id="9" name="TextBox 8"/>
          <p:cNvSpPr txBox="1"/>
          <p:nvPr/>
        </p:nvSpPr>
        <p:spPr>
          <a:xfrm>
            <a:off x="1728216" y="8915400"/>
            <a:ext cx="7178040" cy="365760"/>
          </a:xfrm>
          <a:prstGeom prst="rect">
            <a:avLst/>
          </a:prstGeom>
          <a:noFill/>
        </p:spPr>
        <p:txBody>
          <a:bodyPr wrap="square" anchor="t" lIns="0" rIns="0" tIns="0" bIns="0">
            <a:spAutoFit/>
          </a:bodyPr>
          <a:lstStyle/>
          <a:p>
            <a:pPr algn="l"/>
            <a:r>
              <a:rPr sz="1800" b="0">
                <a:solidFill>
                  <a:srgbClr val="8A90B0"/>
                </a:solidFill>
                <a:latin typeface="Arial"/>
              </a:rPr>
              <a:t>Chemin de la Noisette</a:t>
            </a:r>
          </a:p>
        </p:txBody>
      </p:sp>
      <p:pic>
        <p:nvPicPr>
          <p:cNvPr id="10" name="Picture 9" descr="Securite_05_zone_bleue_parking_Champy.jpg"/>
          <p:cNvPicPr>
            <a:picLocks noChangeAspect="1"/>
          </p:cNvPicPr>
          <p:nvPr/>
        </p:nvPicPr>
        <p:blipFill>
          <a:blip r:embed="rId7"/>
          <a:stretch>
            <a:fillRect/>
          </a:stretch>
        </p:blipFill>
        <p:spPr>
          <a:xfrm>
            <a:off x="9381744" y="2240280"/>
            <a:ext cx="7955279" cy="5966459"/>
          </a:xfrm>
          <a:prstGeom prst="rect">
            <a:avLst/>
          </a:prstGeom>
        </p:spPr>
      </p:pic>
      <p:pic>
        <p:nvPicPr>
          <p:cNvPr id="11" name="Picture 10" descr="Securite_06_zone_bleue_situation_Champy.jpg"/>
          <p:cNvPicPr>
            <a:picLocks noChangeAspect="1"/>
          </p:cNvPicPr>
          <p:nvPr/>
        </p:nvPicPr>
        <p:blipFill>
          <a:blip r:embed="rId8"/>
          <a:stretch>
            <a:fillRect/>
          </a:stretch>
        </p:blipFill>
        <p:spPr>
          <a:xfrm>
            <a:off x="14639544" y="2377440"/>
            <a:ext cx="2560320" cy="1706879"/>
          </a:xfrm>
          <a:prstGeom prst="rect">
            <a:avLst/>
          </a:prstGeom>
          <a:ln w="31750">
            <a:solidFill>
              <a:srgbClr val="FFFFFF"/>
            </a:solidFill>
          </a:ln>
        </p:spPr>
      </p:pic>
      <p:sp>
        <p:nvSpPr>
          <p:cNvPr id="12" name="Oval 11"/>
          <p:cNvSpPr/>
          <p:nvPr/>
        </p:nvSpPr>
        <p:spPr>
          <a:xfrm>
            <a:off x="9381744" y="8503920"/>
            <a:ext cx="566928" cy="56692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1F5B"/>
                </a:solidFill>
                <a:latin typeface="Arial"/>
              </a:rPr>
              <a:t>2</a:t>
            </a:r>
          </a:p>
        </p:txBody>
      </p:sp>
      <p:sp>
        <p:nvSpPr>
          <p:cNvPr id="13" name="TextBox 12"/>
          <p:cNvSpPr txBox="1"/>
          <p:nvPr/>
        </p:nvSpPr>
        <p:spPr>
          <a:xfrm>
            <a:off x="10158984" y="8458200"/>
            <a:ext cx="7178040" cy="411480"/>
          </a:xfrm>
          <a:prstGeom prst="rect">
            <a:avLst/>
          </a:prstGeom>
          <a:noFill/>
        </p:spPr>
        <p:txBody>
          <a:bodyPr wrap="square" anchor="t" lIns="0" rIns="0" tIns="0" bIns="0">
            <a:spAutoFit/>
          </a:bodyPr>
          <a:lstStyle/>
          <a:p>
            <a:pPr algn="l"/>
            <a:r>
              <a:rPr sz="2400" b="1">
                <a:solidFill>
                  <a:srgbClr val="FFFFFF"/>
                </a:solidFill>
                <a:latin typeface="Arial"/>
              </a:rPr>
              <a:t>Boulevard du Champy</a:t>
            </a:r>
          </a:p>
        </p:txBody>
      </p:sp>
      <p:sp>
        <p:nvSpPr>
          <p:cNvPr id="14" name="TextBox 13"/>
          <p:cNvSpPr txBox="1"/>
          <p:nvPr/>
        </p:nvSpPr>
        <p:spPr>
          <a:xfrm>
            <a:off x="10158984" y="8915400"/>
            <a:ext cx="7178040" cy="365760"/>
          </a:xfrm>
          <a:prstGeom prst="rect">
            <a:avLst/>
          </a:prstGeom>
          <a:noFill/>
        </p:spPr>
        <p:txBody>
          <a:bodyPr wrap="square" anchor="t" lIns="0" rIns="0" tIns="0" bIns="0">
            <a:spAutoFit/>
          </a:bodyPr>
          <a:lstStyle/>
          <a:p>
            <a:pPr algn="l"/>
            <a:r>
              <a:rPr sz="1800" b="0">
                <a:solidFill>
                  <a:srgbClr val="8A90B0"/>
                </a:solidFill>
                <a:latin typeface="Arial"/>
              </a:rPr>
              <a:t>Quartier des Richardets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
        <p:nvSpPr>
          <p:cNvPr id="25" name="Rectangle 2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2606040"/>
            <a:ext cx="3657600" cy="411480"/>
          </a:xfrm>
          <a:prstGeom prst="rect">
            <a:avLst/>
          </a:prstGeom>
          <a:noFill/>
        </p:spPr>
        <p:txBody>
          <a:bodyPr wrap="square" anchor="t" lIns="0" rIns="0" tIns="0" bIns="0">
            <a:spAutoFit/>
          </a:bodyPr>
          <a:lstStyle/>
          <a:p>
            <a:pPr algn="l"/>
            <a:r>
              <a:rPr sz="2000" b="1" spc="150">
                <a:solidFill>
                  <a:srgbClr val="8A90B0"/>
                </a:solidFill>
                <a:latin typeface="Arial"/>
              </a:rPr>
              <a:t>ANCIEN PROJET</a:t>
            </a:r>
          </a:p>
        </p:txBody>
      </p:sp>
      <p:sp>
        <p:nvSpPr>
          <p:cNvPr id="27" name="TextBox 26"/>
          <p:cNvSpPr txBox="1"/>
          <p:nvPr/>
        </p:nvSpPr>
        <p:spPr>
          <a:xfrm>
            <a:off x="1280160" y="3017520"/>
            <a:ext cx="3657600" cy="457200"/>
          </a:xfrm>
          <a:prstGeom prst="rect">
            <a:avLst/>
          </a:prstGeom>
          <a:noFill/>
        </p:spPr>
        <p:txBody>
          <a:bodyPr wrap="square" anchor="t" lIns="0" rIns="0" tIns="0" bIns="0">
            <a:spAutoFit/>
          </a:bodyPr>
          <a:lstStyle/>
          <a:p>
            <a:pPr algn="l"/>
            <a:r>
              <a:rPr sz="1600" b="0">
                <a:solidFill>
                  <a:srgbClr val="8A90B0"/>
                </a:solidFill>
                <a:latin typeface="Arial"/>
              </a:rPr>
              <a:t>avant l'élection du Maire</a:t>
            </a:r>
          </a:p>
        </p:txBody>
      </p:sp>
      <p:sp>
        <p:nvSpPr>
          <p:cNvPr id="28" name="TextBox 27"/>
          <p:cNvSpPr txBox="1"/>
          <p:nvPr/>
        </p:nvSpPr>
        <p:spPr>
          <a:xfrm>
            <a:off x="1280160" y="3703320"/>
            <a:ext cx="3657600" cy="914400"/>
          </a:xfrm>
          <a:prstGeom prst="rect">
            <a:avLst/>
          </a:prstGeom>
          <a:noFill/>
        </p:spPr>
        <p:txBody>
          <a:bodyPr wrap="square" anchor="t" lIns="0" rIns="0" tIns="0" bIns="0">
            <a:spAutoFit/>
          </a:bodyPr>
          <a:lstStyle/>
          <a:p>
            <a:pPr algn="l"/>
            <a:r>
              <a:rPr sz="5400" b="1">
                <a:solidFill>
                  <a:srgbClr val="FAF5EC"/>
                </a:solidFill>
                <a:latin typeface="Arial"/>
              </a:rPr>
              <a:t>4 M€</a:t>
            </a:r>
          </a:p>
        </p:txBody>
      </p:sp>
      <p:sp>
        <p:nvSpPr>
          <p:cNvPr id="29" name="TextBox 28"/>
          <p:cNvSpPr txBox="1"/>
          <p:nvPr/>
        </p:nvSpPr>
        <p:spPr>
          <a:xfrm>
            <a:off x="1280160" y="4617720"/>
            <a:ext cx="3657600" cy="822960"/>
          </a:xfrm>
          <a:prstGeom prst="rect">
            <a:avLst/>
          </a:prstGeom>
          <a:noFill/>
        </p:spPr>
        <p:txBody>
          <a:bodyPr wrap="square" anchor="t" lIns="0" rIns="0" tIns="0" bIns="0">
            <a:spAutoFit/>
          </a:bodyPr>
          <a:lstStyle/>
          <a:p>
            <a:pPr algn="l"/>
            <a:r>
              <a:rPr sz="2000" b="1">
                <a:solidFill>
                  <a:srgbClr val="FAF5EC"/>
                </a:solidFill>
                <a:latin typeface="Arial"/>
              </a:rPr>
              <a:t>pour une tribune de 600 places</a:t>
            </a:r>
          </a:p>
        </p:txBody>
      </p:sp>
      <p:sp>
        <p:nvSpPr>
          <p:cNvPr id="30" name="Oval 29"/>
          <p:cNvSpPr/>
          <p:nvPr/>
        </p:nvSpPr>
        <p:spPr>
          <a:xfrm>
            <a:off x="1280160" y="5989320"/>
            <a:ext cx="512064" cy="51206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5989320"/>
            <a:ext cx="512064" cy="512064"/>
          </a:xfrm>
          <a:prstGeom prst="rect">
            <a:avLst/>
          </a:prstGeom>
          <a:noFill/>
        </p:spPr>
        <p:txBody>
          <a:bodyPr wrap="square" anchor="ctr" lIns="0" rIns="0" tIns="0" bIns="0">
            <a:spAutoFit/>
          </a:bodyPr>
          <a:lstStyle/>
          <a:p>
            <a:pPr algn="ctr"/>
            <a:r>
              <a:rPr sz="1800" b="1">
                <a:solidFill>
                  <a:srgbClr val="0E1F5B"/>
                </a:solidFill>
                <a:latin typeface="Arial"/>
              </a:rPr>
              <a:t>✕</a:t>
            </a:r>
          </a:p>
        </p:txBody>
      </p:sp>
      <p:sp>
        <p:nvSpPr>
          <p:cNvPr id="32" name="TextBox 31"/>
          <p:cNvSpPr txBox="1"/>
          <p:nvPr/>
        </p:nvSpPr>
        <p:spPr>
          <a:xfrm>
            <a:off x="1965960" y="5897880"/>
            <a:ext cx="3017520" cy="1371600"/>
          </a:xfrm>
          <a:prstGeom prst="rect">
            <a:avLst/>
          </a:prstGeom>
          <a:noFill/>
        </p:spPr>
        <p:txBody>
          <a:bodyPr wrap="square" anchor="t" lIns="0" rIns="0" tIns="0" bIns="0">
            <a:spAutoFit/>
          </a:bodyPr>
          <a:lstStyle/>
          <a:p>
            <a:pPr algn="l"/>
            <a:r>
              <a:rPr sz="2600" b="1">
                <a:solidFill>
                  <a:srgbClr val="FAF5EC"/>
                </a:solidFill>
                <a:latin typeface="Arial"/>
              </a:rPr>
              <a:t>13 arbres abattus</a:t>
            </a:r>
          </a:p>
        </p:txBody>
      </p:sp>
      <p:sp>
        <p:nvSpPr>
          <p:cNvPr id="33" name="Rectangle 32"/>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2606040"/>
            <a:ext cx="4572000" cy="411480"/>
          </a:xfrm>
          <a:prstGeom prst="rect">
            <a:avLst/>
          </a:prstGeom>
          <a:noFill/>
        </p:spPr>
        <p:txBody>
          <a:bodyPr wrap="square" anchor="t" lIns="0" rIns="0" tIns="0" bIns="0">
            <a:spAutoFit/>
          </a:bodyPr>
          <a:lstStyle/>
          <a:p>
            <a:pPr algn="l"/>
            <a:r>
              <a:rPr sz="2000" b="1" spc="150">
                <a:solidFill>
                  <a:srgbClr val="0E1F5B"/>
                </a:solidFill>
                <a:latin typeface="Arial"/>
              </a:rPr>
              <a:t>NOUVEAU PROJET</a:t>
            </a:r>
          </a:p>
        </p:txBody>
      </p:sp>
      <p:sp>
        <p:nvSpPr>
          <p:cNvPr id="35" name="TextBox 34"/>
          <p:cNvSpPr txBox="1"/>
          <p:nvPr/>
        </p:nvSpPr>
        <p:spPr>
          <a:xfrm>
            <a:off x="6629400" y="3017520"/>
            <a:ext cx="4572000" cy="457200"/>
          </a:xfrm>
          <a:prstGeom prst="rect">
            <a:avLst/>
          </a:prstGeom>
          <a:noFill/>
        </p:spPr>
        <p:txBody>
          <a:bodyPr wrap="square" anchor="t" lIns="0" rIns="0" tIns="0" bIns="0">
            <a:spAutoFit/>
          </a:bodyPr>
          <a:lstStyle/>
          <a:p>
            <a:pPr algn="l"/>
            <a:r>
              <a:rPr sz="1600" b="0">
                <a:solidFill>
                  <a:srgbClr val="0E1F5B"/>
                </a:solidFill>
                <a:latin typeface="Arial"/>
              </a:rPr>
              <a:t>porté par la nouvelle municipalité</a:t>
            </a:r>
          </a:p>
        </p:txBody>
      </p:sp>
      <p:sp>
        <p:nvSpPr>
          <p:cNvPr id="36" name="Oval 35"/>
          <p:cNvSpPr/>
          <p:nvPr/>
        </p:nvSpPr>
        <p:spPr>
          <a:xfrm>
            <a:off x="6629400" y="37216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3721607"/>
            <a:ext cx="512064" cy="512064"/>
          </a:xfrm>
          <a:prstGeom prst="rect">
            <a:avLst/>
          </a:prstGeom>
          <a:noFill/>
        </p:spPr>
        <p:txBody>
          <a:bodyPr wrap="square" anchor="ctr" lIns="0" rIns="0" tIns="0" bIns="0">
            <a:spAutoFit/>
          </a:bodyPr>
          <a:lstStyle/>
          <a:p>
            <a:pPr algn="ctr"/>
            <a:r>
              <a:rPr sz="1800" b="1">
                <a:solidFill>
                  <a:srgbClr val="72C493"/>
                </a:solidFill>
                <a:latin typeface="Arial"/>
              </a:rPr>
              <a:t>1</a:t>
            </a:r>
          </a:p>
        </p:txBody>
      </p:sp>
      <p:sp>
        <p:nvSpPr>
          <p:cNvPr id="38" name="TextBox 37"/>
          <p:cNvSpPr txBox="1"/>
          <p:nvPr/>
        </p:nvSpPr>
        <p:spPr>
          <a:xfrm>
            <a:off x="7315200" y="3703320"/>
            <a:ext cx="4023360" cy="685800"/>
          </a:xfrm>
          <a:prstGeom prst="rect">
            <a:avLst/>
          </a:prstGeom>
          <a:noFill/>
        </p:spPr>
        <p:txBody>
          <a:bodyPr wrap="square" anchor="t" lIns="0" rIns="0" tIns="0" bIns="0">
            <a:spAutoFit/>
          </a:bodyPr>
          <a:lstStyle/>
          <a:p>
            <a:pPr algn="l"/>
            <a:r>
              <a:rPr sz="2000" b="1">
                <a:solidFill>
                  <a:srgbClr val="0E1F5B"/>
                </a:solidFill>
                <a:latin typeface="Arial"/>
              </a:rPr>
              <a:t>Des toitures solarisées</a:t>
            </a:r>
          </a:p>
        </p:txBody>
      </p:sp>
      <p:sp>
        <p:nvSpPr>
          <p:cNvPr id="39" name="Oval 38"/>
          <p:cNvSpPr/>
          <p:nvPr/>
        </p:nvSpPr>
        <p:spPr>
          <a:xfrm>
            <a:off x="6629400" y="46360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4636007"/>
            <a:ext cx="512064" cy="512064"/>
          </a:xfrm>
          <a:prstGeom prst="rect">
            <a:avLst/>
          </a:prstGeom>
          <a:noFill/>
        </p:spPr>
        <p:txBody>
          <a:bodyPr wrap="square" anchor="ctr" lIns="0" rIns="0" tIns="0" bIns="0">
            <a:spAutoFit/>
          </a:bodyPr>
          <a:lstStyle/>
          <a:p>
            <a:pPr algn="ctr"/>
            <a:r>
              <a:rPr sz="1800" b="1">
                <a:solidFill>
                  <a:srgbClr val="72C493"/>
                </a:solidFill>
                <a:latin typeface="Arial"/>
              </a:rPr>
              <a:t>2</a:t>
            </a:r>
          </a:p>
        </p:txBody>
      </p:sp>
      <p:sp>
        <p:nvSpPr>
          <p:cNvPr id="41" name="TextBox 40"/>
          <p:cNvSpPr txBox="1"/>
          <p:nvPr/>
        </p:nvSpPr>
        <p:spPr>
          <a:xfrm>
            <a:off x="7315200" y="4617720"/>
            <a:ext cx="4023360" cy="685800"/>
          </a:xfrm>
          <a:prstGeom prst="rect">
            <a:avLst/>
          </a:prstGeom>
          <a:noFill/>
        </p:spPr>
        <p:txBody>
          <a:bodyPr wrap="square" anchor="t" lIns="0" rIns="0" tIns="0" bIns="0">
            <a:spAutoFit/>
          </a:bodyPr>
          <a:lstStyle/>
          <a:p>
            <a:pPr algn="l"/>
            <a:r>
              <a:rPr sz="2000" b="1">
                <a:solidFill>
                  <a:srgbClr val="0E1F5B"/>
                </a:solidFill>
                <a:latin typeface="Arial"/>
              </a:rPr>
              <a:t>Une façade en bois</a:t>
            </a:r>
          </a:p>
        </p:txBody>
      </p:sp>
      <p:sp>
        <p:nvSpPr>
          <p:cNvPr id="42" name="Oval 41"/>
          <p:cNvSpPr/>
          <p:nvPr/>
        </p:nvSpPr>
        <p:spPr>
          <a:xfrm>
            <a:off x="6629400" y="55504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5550407"/>
            <a:ext cx="512064" cy="512064"/>
          </a:xfrm>
          <a:prstGeom prst="rect">
            <a:avLst/>
          </a:prstGeom>
          <a:noFill/>
        </p:spPr>
        <p:txBody>
          <a:bodyPr wrap="square" anchor="ctr" lIns="0" rIns="0" tIns="0" bIns="0">
            <a:spAutoFit/>
          </a:bodyPr>
          <a:lstStyle/>
          <a:p>
            <a:pPr algn="ctr"/>
            <a:r>
              <a:rPr sz="1800" b="1">
                <a:solidFill>
                  <a:srgbClr val="72C493"/>
                </a:solidFill>
                <a:latin typeface="Arial"/>
              </a:rPr>
              <a:t>3</a:t>
            </a:r>
          </a:p>
        </p:txBody>
      </p:sp>
      <p:sp>
        <p:nvSpPr>
          <p:cNvPr id="44" name="TextBox 43"/>
          <p:cNvSpPr txBox="1"/>
          <p:nvPr/>
        </p:nvSpPr>
        <p:spPr>
          <a:xfrm>
            <a:off x="7315200" y="5532120"/>
            <a:ext cx="4023360" cy="1965960"/>
          </a:xfrm>
          <a:prstGeom prst="rect">
            <a:avLst/>
          </a:prstGeom>
          <a:noFill/>
        </p:spPr>
        <p:txBody>
          <a:bodyPr wrap="square" anchor="t" lIns="0" rIns="0" tIns="0" bIns="0">
            <a:spAutoFit/>
          </a:bodyPr>
          <a:lstStyle/>
          <a:p>
            <a:pPr algn="l"/>
            <a:r>
              <a:rPr sz="2000" b="1">
                <a:solidFill>
                  <a:srgbClr val="0E1F5B"/>
                </a:solidFill>
                <a:latin typeface="Arial"/>
              </a:rPr>
              <a:t>Un plan de revégétalisation du stade : de nouvelles essences d'arbres aux abords de la zone pavillonnaire pour limiter les nuisances sonores</a:t>
            </a:r>
          </a:p>
        </p:txBody>
      </p:sp>
      <p:sp>
        <p:nvSpPr>
          <p:cNvPr id="45" name="Oval 44"/>
          <p:cNvSpPr/>
          <p:nvPr/>
        </p:nvSpPr>
        <p:spPr>
          <a:xfrm>
            <a:off x="6629400" y="774496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9400" y="7744967"/>
            <a:ext cx="512064" cy="512064"/>
          </a:xfrm>
          <a:prstGeom prst="rect">
            <a:avLst/>
          </a:prstGeom>
          <a:noFill/>
        </p:spPr>
        <p:txBody>
          <a:bodyPr wrap="square" anchor="ctr" lIns="0" rIns="0" tIns="0" bIns="0">
            <a:spAutoFit/>
          </a:bodyPr>
          <a:lstStyle/>
          <a:p>
            <a:pPr algn="ctr"/>
            <a:r>
              <a:rPr sz="1800" b="1">
                <a:solidFill>
                  <a:srgbClr val="72C493"/>
                </a:solidFill>
                <a:latin typeface="Arial"/>
              </a:rPr>
              <a:t>4</a:t>
            </a:r>
          </a:p>
        </p:txBody>
      </p:sp>
      <p:sp>
        <p:nvSpPr>
          <p:cNvPr id="47" name="TextBox 46"/>
          <p:cNvSpPr txBox="1"/>
          <p:nvPr/>
        </p:nvSpPr>
        <p:spPr>
          <a:xfrm>
            <a:off x="7315200" y="7726679"/>
            <a:ext cx="4023360" cy="914400"/>
          </a:xfrm>
          <a:prstGeom prst="rect">
            <a:avLst/>
          </a:prstGeom>
          <a:noFill/>
        </p:spPr>
        <p:txBody>
          <a:bodyPr wrap="square" anchor="t" lIns="0" rIns="0" tIns="0" bIns="0">
            <a:spAutoFit/>
          </a:bodyPr>
          <a:lstStyle/>
          <a:p>
            <a:pPr algn="l"/>
            <a:r>
              <a:rPr sz="2000" b="1">
                <a:solidFill>
                  <a:srgbClr val="0E1F5B"/>
                </a:solidFill>
                <a:latin typeface="Arial"/>
              </a:rPr>
              <a:t>Une subvention de 1 M€ va être demandée</a:t>
            </a: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