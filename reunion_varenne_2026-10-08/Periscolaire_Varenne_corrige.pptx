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: état des lieux des mercredis au 2 octobre 2026 et note explicative (service Enfance-Loisirs). 2025 : mercredi 17 septembre 2025. 2026 : mercredis 7 et 14 octobre 2026, état au 1er octobre. Le service ne fournit pas de chiffre d’octobre 2025. Au 16 septembre 2026, à date comparable : 1 744 places (+8 %) et 158 animateurs. Pendant la période de réservation (2 au 9 septembre), les listes d’attente sont validées chaque jour ; ensuite deux fois par jour le jeudi et le vendredi. La Varenne, mercredi 7 octobre : 9 enfants en liste d’attente en maternelle, aucun en élémentaire.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: état des lieux des mercredis au 2 octobre 2026. Comparaison du mercredi 17 septembre 2025 et du mercredi 16 septembre 2026 : 243 → 235 enfants en liste d’attente, 14 → 99 ont obtenu une place (6 % → 42 %), 229 → 136 restés sans place. Le chiffre de 48 % correspond au mercredi 7 octobre 2026 (137 sur 283) et ne doit pas être comparé à septembre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synthèse recrutement et effectifs de la pause méridienne, septembre 2026 (version « annule et remplace »). Les colonnes « encadrement » ont été retirées : le tableau des taux du service a été calculé sur d’anciens effectifs (2 008 et 3 277 enfants) alors que les effectifs corrigés sont 2 201 et 3 525. Avec les effectifs corrigés : maternelle 1 pour 10,5 en 2025 et 1 pour 9 en 2026 ; élémentaire 1 pour 28 en 2025 et 1 pour 27 en 2026. Faire confirmer par le service Enfance-Loisirs avant de citer un taux. L’effectif d’animateurs en élémentaire (129,6) est exprimé en équivalents temps plein.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4297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LE PÉRISCOLAIRE · MERCREDIS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7772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de places en accueil de loisirs le mercredi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toute la ville, rentrée 2026 comparée à la rentrée 2025</a:t>
            </a:r>
            <a:endParaRPr lang="en-US" sz="1400" dirty="0"/>
          </a:p>
        </p:txBody>
      </p:sp>
      <p:pic>
        <p:nvPicPr>
          <p:cNvPr id="5" name="Image 0" descr="/tmp/claude-0/-home-user-Operation-robespierre/996c8343-2b29-5be8-89e5-6b613d278f5f/scratchpad/logo_rp_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137160"/>
            <a:ext cx="1216152" cy="1298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" y="2103120"/>
            <a:ext cx="5074920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0936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 OUVERTES LE MERCREDI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92240" y="2103120"/>
            <a:ext cx="5074920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ANIMATEURS RECRUTÉS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Sept. 2025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30936" y="3291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1 616</a:t>
            </a:r>
            <a:endParaRPr lang="en-US" sz="4600" dirty="0"/>
          </a:p>
        </p:txBody>
      </p:sp>
      <p:sp>
        <p:nvSpPr>
          <p:cNvPr id="12" name="Text 9"/>
          <p:cNvSpPr txBox="1"/>
          <p:nvPr/>
        </p:nvSpPr>
        <p:spPr>
          <a:xfrm>
            <a:off x="2596896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3328416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Oct. 2026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328416" y="2971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1 784</a:t>
            </a:r>
            <a:endParaRPr lang="en-US" sz="70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Sept. 2025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3291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</a:t>
            </a:r>
            <a:endParaRPr lang="en-US" sz="4600" dirty="0"/>
          </a:p>
        </p:txBody>
      </p:sp>
      <p:sp>
        <p:nvSpPr>
          <p:cNvPr id="17" name="Text 14"/>
          <p:cNvSpPr txBox="1"/>
          <p:nvPr/>
        </p:nvSpPr>
        <p:spPr>
          <a:xfrm>
            <a:off x="845820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91897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Oct. 2026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89720" y="2971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</a:t>
            </a:r>
            <a:endParaRPr lang="en-US" sz="7000" dirty="0"/>
          </a:p>
        </p:txBody>
      </p:sp>
      <p:sp>
        <p:nvSpPr>
          <p:cNvPr id="20" name="Shape 17"/>
          <p:cNvSpPr/>
          <p:nvPr/>
        </p:nvSpPr>
        <p:spPr>
          <a:xfrm>
            <a:off x="630936" y="4206240"/>
            <a:ext cx="2651760" cy="384048"/>
          </a:xfrm>
          <a:prstGeom prst="rect">
            <a:avLst/>
          </a:prstGeom>
          <a:solidFill>
            <a:srgbClr val="72C49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58952" y="4206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+168 places, soit +10 %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92240" y="4206240"/>
            <a:ext cx="1828800" cy="384048"/>
          </a:xfrm>
          <a:prstGeom prst="rect">
            <a:avLst/>
          </a:prstGeom>
          <a:solidFill>
            <a:srgbClr val="72C49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620256" y="4206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 animateurs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0936" y="5349240"/>
            <a:ext cx="3520440" cy="0"/>
          </a:xfrm>
          <a:prstGeom prst="line">
            <a:avLst/>
          </a:prstGeom>
          <a:noFill/>
          <a:ln w="12700">
            <a:solidFill>
              <a:srgbClr val="2A3A7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0936" y="5486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recrutement ouvre 8 places en maternelle et 12 en élémentaire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398264" y="5349240"/>
            <a:ext cx="3520440" cy="0"/>
          </a:xfrm>
          <a:prstGeom prst="line">
            <a:avLst/>
          </a:prstGeom>
          <a:noFill/>
          <a:ln w="12700">
            <a:solidFill>
              <a:srgbClr val="2A3A7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398264" y="5486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places libérées sont réattribuées chaque semaine à partir des listes d’attente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165592" y="5349240"/>
            <a:ext cx="3520440" cy="0"/>
          </a:xfrm>
          <a:prstGeom prst="line">
            <a:avLst/>
          </a:prstGeom>
          <a:noFill/>
          <a:ln w="12700">
            <a:solidFill>
              <a:srgbClr val="2A3A7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165592" y="5486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recrutements continuent, surtout pour les postes du mercredi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F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4297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LE PÉRISCOLAIRE · MERCREDIS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7772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rapport à l’an dernier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toute la ville, premier mercredi de réservation de la rentrée</a:t>
            </a:r>
            <a:endParaRPr lang="en-US" sz="1400" dirty="0"/>
          </a:p>
        </p:txBody>
      </p:sp>
      <p:pic>
        <p:nvPicPr>
          <p:cNvPr id="5" name="Image 0" descr="/tmp/claude-0/-home-user-Operation-robespierre/996c8343-2b29-5be8-89e5-6b613d278f5f/scratchpad/logo_rp_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137160"/>
            <a:ext cx="1216152" cy="12984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0936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Enfants en liste d’attente qui obtiennent une place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Sept. 2025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2651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6 %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Sept. 2026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42 %</a:t>
            </a:r>
            <a:endParaRPr lang="en-US" sz="7000" dirty="0"/>
          </a:p>
        </p:txBody>
      </p:sp>
      <p:sp>
        <p:nvSpPr>
          <p:cNvPr id="12" name="Shape 9"/>
          <p:cNvSpPr/>
          <p:nvPr/>
        </p:nvSpPr>
        <p:spPr>
          <a:xfrm>
            <a:off x="630936" y="3931920"/>
            <a:ext cx="3383280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LISTE D’ATTENTE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" y="4892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" y="5120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1819656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2459736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459736" y="4800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</a:t>
            </a:r>
            <a:endParaRPr lang="en-US" sz="5800" dirty="0"/>
          </a:p>
        </p:txBody>
      </p:sp>
      <p:sp>
        <p:nvSpPr>
          <p:cNvPr id="19" name="Shape 16"/>
          <p:cNvSpPr/>
          <p:nvPr/>
        </p:nvSpPr>
        <p:spPr>
          <a:xfrm>
            <a:off x="4407408" y="3931920"/>
            <a:ext cx="3383280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07408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 OBTENU UNE PLACE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407408" y="4892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407408" y="5120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5596128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6236208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36208" y="4800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5800" dirty="0"/>
          </a:p>
        </p:txBody>
      </p:sp>
      <p:sp>
        <p:nvSpPr>
          <p:cNvPr id="26" name="Shape 23"/>
          <p:cNvSpPr/>
          <p:nvPr/>
        </p:nvSpPr>
        <p:spPr>
          <a:xfrm>
            <a:off x="4407408" y="5943600"/>
            <a:ext cx="594360" cy="384048"/>
          </a:xfrm>
          <a:prstGeom prst="rect">
            <a:avLst/>
          </a:prstGeom>
          <a:solidFill>
            <a:srgbClr val="72C49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35424" y="59436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×7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183880" y="3931920"/>
            <a:ext cx="3383280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18388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RESTÉS SANS PLACE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183880" y="4892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183880" y="5120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229</a:t>
            </a:r>
            <a:endParaRPr lang="en-US" sz="4000" dirty="0"/>
          </a:p>
        </p:txBody>
      </p:sp>
      <p:sp>
        <p:nvSpPr>
          <p:cNvPr id="32" name="Text 29"/>
          <p:cNvSpPr txBox="1"/>
          <p:nvPr/>
        </p:nvSpPr>
        <p:spPr>
          <a:xfrm>
            <a:off x="937260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33" name="Text 30"/>
          <p:cNvSpPr txBox="1"/>
          <p:nvPr/>
        </p:nvSpPr>
        <p:spPr>
          <a:xfrm>
            <a:off x="10012680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0012680" y="4800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5800" dirty="0"/>
          </a:p>
        </p:txBody>
      </p:sp>
      <p:sp>
        <p:nvSpPr>
          <p:cNvPr id="35" name="Shape 32"/>
          <p:cNvSpPr/>
          <p:nvPr/>
        </p:nvSpPr>
        <p:spPr>
          <a:xfrm>
            <a:off x="8183880" y="5943600"/>
            <a:ext cx="1737360" cy="384048"/>
          </a:xfrm>
          <a:prstGeom prst="rect">
            <a:avLst/>
          </a:prstGeom>
          <a:solidFill>
            <a:srgbClr val="72C49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311896" y="5943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−93 enfants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4297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LE PÉRISCOLAIRE · PAUSE MÉRIDIENNE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7772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d’animateurs à la cantine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Rentrée 2026 comparée à la rentrée 2025, dans toute la ville</a:t>
            </a:r>
            <a:endParaRPr lang="en-US" sz="1400" dirty="0"/>
          </a:p>
        </p:txBody>
      </p:sp>
      <p:pic>
        <p:nvPicPr>
          <p:cNvPr id="5" name="Image 0" descr="/tmp/claude-0/-home-user-Operation-robespierre/996c8343-2b29-5be8-89e5-6b613d278f5f/scratchpad/logo_rp_clair_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137160"/>
            <a:ext cx="1216152" cy="1298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" y="2103120"/>
            <a:ext cx="3429000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0936" y="2240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ENFANTS ACCUEILLIS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30936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728216" y="2697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5 543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630936" y="3291840"/>
            <a:ext cx="3429000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545336" y="33375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5 727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630936" y="4251960"/>
            <a:ext cx="1463040" cy="384048"/>
          </a:xfrm>
          <a:prstGeom prst="rect">
            <a:avLst/>
          </a:prstGeom>
          <a:solidFill>
            <a:srgbClr val="72C49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58952" y="4251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+3,3 %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398264" y="2103120"/>
            <a:ext cx="3429000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98264" y="2240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ANIMATEURS EN MATERNELLE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398264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95544" y="2697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4398264" y="3291840"/>
            <a:ext cx="3429000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98264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12664" y="33375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</a:t>
            </a:r>
            <a:endParaRPr lang="en-US" sz="4000" dirty="0"/>
          </a:p>
        </p:txBody>
      </p:sp>
      <p:sp>
        <p:nvSpPr>
          <p:cNvPr id="22" name="Shape 19"/>
          <p:cNvSpPr/>
          <p:nvPr/>
        </p:nvSpPr>
        <p:spPr>
          <a:xfrm>
            <a:off x="4398264" y="4251960"/>
            <a:ext cx="2377440" cy="384048"/>
          </a:xfrm>
          <a:prstGeom prst="rect">
            <a:avLst/>
          </a:prstGeom>
          <a:solidFill>
            <a:srgbClr val="72C49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526280" y="4251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+49 animateurs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165592" y="2103120"/>
            <a:ext cx="3429000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65592" y="2240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ANIMATEURS EN ÉLÉMENTAIRE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165592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262872" y="2697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2600" dirty="0"/>
          </a:p>
        </p:txBody>
      </p:sp>
      <p:sp>
        <p:nvSpPr>
          <p:cNvPr id="28" name="Shape 25"/>
          <p:cNvSpPr/>
          <p:nvPr/>
        </p:nvSpPr>
        <p:spPr>
          <a:xfrm>
            <a:off x="8165592" y="3291840"/>
            <a:ext cx="3429000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165592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9079992" y="33375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129,6</a:t>
            </a:r>
            <a:endParaRPr lang="en-US" sz="4000" dirty="0"/>
          </a:p>
        </p:txBody>
      </p:sp>
      <p:sp>
        <p:nvSpPr>
          <p:cNvPr id="31" name="Shape 28"/>
          <p:cNvSpPr/>
          <p:nvPr/>
        </p:nvSpPr>
        <p:spPr>
          <a:xfrm>
            <a:off x="8165592" y="4251960"/>
            <a:ext cx="1188720" cy="384048"/>
          </a:xfrm>
          <a:prstGeom prst="rect">
            <a:avLst/>
          </a:prstGeom>
          <a:solidFill>
            <a:srgbClr val="72C49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93608" y="42519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+5 %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30936" y="5074920"/>
            <a:ext cx="5257800" cy="1463040"/>
          </a:xfrm>
          <a:prstGeom prst="rect">
            <a:avLst/>
          </a:prstGeom>
          <a:solidFill>
            <a:srgbClr val="0E1F5B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50976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MATERNELLE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50976" y="56692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96 % des cantines à 1 animateur pour 10 enfants ou mieux, contre 44 % en 2025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300216" y="5074920"/>
            <a:ext cx="5257800" cy="1463040"/>
          </a:xfrm>
          <a:prstGeom prst="rect">
            <a:avLst/>
          </a:prstGeom>
          <a:solidFill>
            <a:srgbClr val="0E1F5B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620256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620256" y="56692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cantines sur 26 à 1 pour 25, 19 d’ici mi‑octobre. Objectif : toutes d’ici la fin de l’année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Périscolaire – réunion publique de La Varenne</dc:title>
  <dc:subject>PptxGenJS Presentation</dc:subject>
  <dc:creator>PptxGenJS</dc:creator>
  <cp:lastModifiedBy>PptxGenJS</cp:lastModifiedBy>
  <cp:revision>1</cp:revision>
  <dcterms:created xsi:type="dcterms:W3CDTF">2026-10-12T14:14:28Z</dcterms:created>
  <dcterms:modified xsi:type="dcterms:W3CDTF">2026-10-12T14:14:28Z</dcterms:modified>
</cp:coreProperties>
</file>