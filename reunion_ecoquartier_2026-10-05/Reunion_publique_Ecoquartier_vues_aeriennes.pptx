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c49f354-e26f-5523-4cd2-fb62010be283}">
          <p14:sldIdLst>
            <p14:sldId id="256"/>
            <p14:sldId id="257"/>
          </p14:sldIdLst>
        </p14:section>
        <p14:section name="Cadre de vie" id="{6fd0e28d-07d3-a460-2e6e-e621246ed379}">
          <p14:sldIdLst>
            <p14:sldId id="258"/>
          </p14:sldIdLst>
        </p14:section>
        <p14:section name="Chauffage" id="{4a6a4849-2629-5a61-6042-1b247dd74ee4}">
          <p14:sldIdLst>
            <p14:sldId id="259"/>
            <p14:sldId id="260"/>
          </p14:sldIdLst>
        </p14:section>
        <p14:section name="Vie du quartier" id="{79bb5a10-c16e-251d-0b66-25a9bbe6a3a2}">
          <p14:sldIdLst>
            <p14:sldId id="261"/>
            <p14:sldId id="262"/>
            <p14:sldId id="263"/>
          </p14:sldIdLst>
        </p14:section>
        <p14:section name="Équipements" id="{d9e10b45-cb10-c985-aef1-7483e08071b1}">
          <p14:sldIdLst>
            <p14:sldId id="264"/>
            <p14:sldId id="265"/>
            <p14:sldId id="266"/>
          </p14:sldIdLst>
        </p14:section>
        <p14:section name="Mobilités" id="{9faa9a91-853a-57ab-810e-27d438cfec82}">
          <p14:sldIdLst>
            <p14:sldId id="267"/>
            <p14:sldId id="268"/>
            <p14:sldId id="269"/>
          </p14:sldIdLst>
        </p14:section>
        <p14:section name="Animations et services" id="{7b0e83a0-4d6a-2319-3656-69b97b6c0e90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FFFFF"/>
                </a:solidFill>
                <a:latin typeface="+mn-lt"/>
              </a:rPr>
              <a:t>Prix moyen de la chaleur (€ TTC par 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de la chaleur (€ TTC/MWh)</c:v>
                </c:pt>
              </c:strCache>
            </c:strRef>
          </c:tx>
          <c:spPr>
            <a:solidFill>
              <a:srgbClr val="8FB8B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B94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200.4</c:v>
                </c:pt>
                <c:pt idx="1">
                  <c:v>221.8</c:v>
                </c:pt>
                <c:pt idx="2">
                  <c:v>220.9</c:v>
                </c:pt>
                <c:pt idx="3">
                  <c:v>181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6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aérienne large : Neuilly-sur-Marne au nord, la Marne, le pont de Neuilly et l’écoquartier au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numéros des repères reprennent ceux du programme. Positions des commerces et de la crèche indicatives (à vérifier, repères déplaçables). La photographie IGN est antérieure à l’achèvement de certains chantiers (programme Kaufman &amp; Broad, lot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 Repère placé sur la prairie centrale ; ajouter un repère par agrès dès réception du plan d’implantation.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rapport MANERGY sur l’exercice 2025 de la DSP (20/08/2026). Producteur : SGRM (réseau de Neuilly-sur-Marne). Exploitant du réseau du quartier : IDEX Territoires, DSP signée le 23/11/2020, mise en service le 01/08/2022, fin le 31/07/2030. 7 sous-stations, 485 équivalents-logements au 31/12/2025. Le tracé de la flèche est schématique.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Prix après bouclier tarifaire pour 2022-2024 (rapport MANERGY, § 5.2.1). Point de vigilance : la facture moyenne par logement est passée de 1 073 € à 1 219 € TTC entre 2024 et 2025, malgré la baisse du prix, parce que l’hiver 2025 a été plus froid (+5 % de rigueur climatique) et que les logements ont consommé davantage. Logement moyen : 6,7 MWh par an, 4,7 kW souscrits. Part fixe R2 : 788 € (65 %) ; part consommation R1 : 432 € (35 %).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 Ajouter un repère à l’emplacement de Noisy Plage.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pôle Propreté urbaine (Cédric Gaudin), courriel du 2 octobre 2026. Repère indicatif sur les bords de Marne, à ajuster.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service Foncier-Commerce (Quentin Boulesteix, 1er octobre 2026). A : programme Kaufman &amp; Broad, supérette Cocci Market d’environ 265 m² (270 m² sur le plan du projet), ouverture fin octobre. B : programme Kaufman &amp; Broad, local destiné aux professions libérales, environ 135 à 140 m², à côté de la supérette, sur la promenade de la Pie Bavarde. C : lot A3 (Giboire), restaurant en VEFA, au bord du parc. D : lot F (Édouard Denis), environ 135 m², le précédent preneur s’est désisté ; rue du Rouge-Gorge, à l’angle de la rue du Rossignol. E : lot D (Batigère), local AMAP ou associatif rue de la Tourterelle, à l’angle de la venelle de la Mésange Bleue, qui accueillera les activités de la MPT La Varenne pendant ses travaux. Positions vérifiées le 5 octobre 2026 avec les noms de rues de l’IGN (BD TOPO), le plan du réseau de chaleur (rapport MANERGY) et les plans des promoteurs ; l’emplacement exact de chaque local à l’intérieur de son bâtiment reste approximatif. Ne pas communiquer les conditions financières du bail de la boulangerie ni le contenu de la présentation SOCAREN (usage interne).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service Petite Enfance (Elisabeth Chardon), 1er octobre 2026. Gestion en concession de service public, concessionnaire pas encore choisi. Bâtiment : programme Batigère (lot D), 70 logements sociaux, un commerce et la crèche. Position : angle nord-est du lot D (rue du Rouge-Gorge / rue du Rossignol), d’après le plan de programme de l’écoquartier (EAJE). Livraison du lot D prévue fin novembre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données ouvertes Île-de-France Mobilités (référentiel des lignes, tracés des lignes, arrêts par ligne), consultées le 5 octobre 2026. Les lignes 303, N34, 113, 127 et 203 sont exploitées par RATP Cap Boucles de Marne ; la ligne 220 par Keolis Grand Paris Vallée de la Marne. Distances à vol d’oiseau depuis le centre du quartier : René Navier environ 200 m, Route de Neuilly environ 460 m, Place de la Résistance environ 770 m. Les couleurs des lignes 303 et 220 sont les couleurs officielles d’Île-de-France Mobilités ; les lignes de Neuilly-sur-Marne sont regroupées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pôle Mobilités (Nadège Dias), 2 octobre 2026. Arrêts : René Navier (1 signalement), Route de Neuilly (4), gare de Bry-sur-Marne avec la ligne 220 (6), Mont d’Est avec la ligne 303 (4). Le quartier fait l’objet de peu de signalements. Une nouvelle réunion technique est prévue début octobre (date à définir). Monsieur le Maire a rencontré IDFM au printemps et un courrier a été adressé à IDFM et Keolis.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pôle Mobilités, présentation du 2 octobre 2026. Passerelle à l’est du pont de Neuilly ; études conjointes avec la Ville de Neuilly-sur-Marne. Le tracé jaune est schématique. Les diapositives du service (illustration de la passerelle, exemples de passerelles) peuvent être insérées après celle-ci.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 Ajouter un repère au lieu de 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service Enfance-Loisirs (Lauren Despres), état des lieux des mercredis du 2 octobre 2026 et synthèse de la pause méridienne de septembre 2026 (version corrigée). Places ouvertes le mercredi : 1 616 en septembre 2025 ; 1 744 le 16/09/2026 (+8 %) ; 1 760 le 23/09/2026 (+9 %) ; 1 784 pour les 7 et 14 octobre (état au 1er octobre, +168, +10 %). Ne pas confondre avec le +9 % des animateurs (158 contre 145). Ne pas reprendre le chiffre de « 100 places de plus » de la note explicative, contredit par son propre tableau (+128). Un animateur recruté ouvre 8 places en maternelle ou 12 en élémentaire. Listes d’attente à l’Oiseau Lyre : maternel 8, 5, 10 et 9 enfants (16/09, 23/09, 30/09, 07/10) ; élémentaire 1, 3, 0 et 11. Explication : demande plus forte en octobre, 19 des 21 postes restant à pourvoir sont des contrats de 12 h (mercredi seul), les plus difficiles à recruter. Cantine : effectifs enfants +3,3 % (5 727 contre 5 543) ; élémentaire : 14 cantines sur 26 à 1 pour 25 (8 en 2025), 19 d’ici mi-octobre.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en pointillés jaunes : contenu à compléter avant projection (aucune donnée dans le dossier du 5 octobre).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" descr="v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oile_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3A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publique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Écoquartier Île de la Marne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Lundi 5 octobre 2026 – 19 h 30 – École de l’Oiseau Lyre</a:t>
            </a:r>
            <a:endParaRPr lang="en-US" sz="2400" dirty="0"/>
          </a:p>
        </p:txBody>
      </p:sp>
      <p:sp>
        <p:nvSpPr>
          <p:cNvPr id="7" name="credit_3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4" descr="v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re_5"/>
          <p:cNvSpPr txBox="1"/>
          <p:nvPr/>
        </p:nvSpPr>
        <p:spPr>
          <a:xfrm>
            <a:off x="411480" y="36576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quartier vu du ciel</a:t>
            </a:r>
            <a:endParaRPr lang="en-US" sz="3400" dirty="0"/>
          </a:p>
        </p:txBody>
      </p:sp>
      <p:sp>
        <p:nvSpPr>
          <p:cNvPr id="4" name="repere_6"/>
          <p:cNvSpPr/>
          <p:nvPr/>
        </p:nvSpPr>
        <p:spPr>
          <a:xfrm>
            <a:off x="5395327" y="21887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5" name="repere_num_7"/>
          <p:cNvSpPr txBox="1"/>
          <p:nvPr/>
        </p:nvSpPr>
        <p:spPr>
          <a:xfrm>
            <a:off x="5395327" y="21887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etiquette_8"/>
          <p:cNvSpPr txBox="1"/>
          <p:nvPr/>
        </p:nvSpPr>
        <p:spPr>
          <a:xfrm>
            <a:off x="5980543" y="2225294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Parc</a:t>
            </a:r>
            <a:endParaRPr lang="en-US" sz="1500" dirty="0"/>
          </a:p>
        </p:txBody>
      </p:sp>
      <p:sp>
        <p:nvSpPr>
          <p:cNvPr id="7" name="repere_9"/>
          <p:cNvSpPr/>
          <p:nvPr/>
        </p:nvSpPr>
        <p:spPr>
          <a:xfrm>
            <a:off x="2842691" y="15981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repere_num_10"/>
          <p:cNvSpPr txBox="1"/>
          <p:nvPr/>
        </p:nvSpPr>
        <p:spPr>
          <a:xfrm>
            <a:off x="2842691" y="1598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etiquette_11"/>
          <p:cNvSpPr txBox="1"/>
          <p:nvPr/>
        </p:nvSpPr>
        <p:spPr>
          <a:xfrm>
            <a:off x="3427907" y="1634744"/>
            <a:ext cx="2953512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Arrivée de la chaleur</a:t>
            </a:r>
            <a:endParaRPr lang="en-US" sz="1500" dirty="0"/>
          </a:p>
        </p:txBody>
      </p:sp>
      <p:sp>
        <p:nvSpPr>
          <p:cNvPr id="10" name="repere_12"/>
          <p:cNvSpPr/>
          <p:nvPr/>
        </p:nvSpPr>
        <p:spPr>
          <a:xfrm>
            <a:off x="3807866" y="32999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1" name="repere_num_13"/>
          <p:cNvSpPr txBox="1"/>
          <p:nvPr/>
        </p:nvSpPr>
        <p:spPr>
          <a:xfrm>
            <a:off x="3807866" y="329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2" name="etiquette_14"/>
          <p:cNvSpPr txBox="1"/>
          <p:nvPr/>
        </p:nvSpPr>
        <p:spPr>
          <a:xfrm>
            <a:off x="2207666" y="3336544"/>
            <a:ext cx="1527048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Commerces</a:t>
            </a:r>
            <a:endParaRPr lang="en-US" sz="1500" dirty="0"/>
          </a:p>
        </p:txBody>
      </p:sp>
      <p:sp>
        <p:nvSpPr>
          <p:cNvPr id="13" name="repere_15"/>
          <p:cNvSpPr/>
          <p:nvPr/>
        </p:nvSpPr>
        <p:spPr>
          <a:xfrm>
            <a:off x="5877915" y="33253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repere_num_16"/>
          <p:cNvSpPr txBox="1"/>
          <p:nvPr/>
        </p:nvSpPr>
        <p:spPr>
          <a:xfrm>
            <a:off x="5877915" y="3325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etiquette_17"/>
          <p:cNvSpPr txBox="1"/>
          <p:nvPr/>
        </p:nvSpPr>
        <p:spPr>
          <a:xfrm>
            <a:off x="6463131" y="3361944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Crèche</a:t>
            </a:r>
            <a:endParaRPr lang="en-US" sz="1500" dirty="0"/>
          </a:p>
        </p:txBody>
      </p:sp>
      <p:sp>
        <p:nvSpPr>
          <p:cNvPr id="16" name="repere_18"/>
          <p:cNvSpPr/>
          <p:nvPr/>
        </p:nvSpPr>
        <p:spPr>
          <a:xfrm>
            <a:off x="8411501" y="35539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repere_num_19"/>
          <p:cNvSpPr txBox="1"/>
          <p:nvPr/>
        </p:nvSpPr>
        <p:spPr>
          <a:xfrm>
            <a:off x="8411501" y="355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18" name="etiquette_20"/>
          <p:cNvSpPr txBox="1"/>
          <p:nvPr/>
        </p:nvSpPr>
        <p:spPr>
          <a:xfrm>
            <a:off x="8996717" y="3590544"/>
            <a:ext cx="307238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École de l’Oiseau Lyre</a:t>
            </a:r>
            <a:endParaRPr lang="en-US" sz="1500" dirty="0"/>
          </a:p>
        </p:txBody>
      </p:sp>
      <p:sp>
        <p:nvSpPr>
          <p:cNvPr id="19" name="repere_21"/>
          <p:cNvSpPr/>
          <p:nvPr/>
        </p:nvSpPr>
        <p:spPr>
          <a:xfrm>
            <a:off x="3045885" y="11092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0" name="repere_num_22"/>
          <p:cNvSpPr txBox="1"/>
          <p:nvPr/>
        </p:nvSpPr>
        <p:spPr>
          <a:xfrm>
            <a:off x="3045885" y="11092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21" name="etiquette_23"/>
          <p:cNvSpPr txBox="1"/>
          <p:nvPr/>
        </p:nvSpPr>
        <p:spPr>
          <a:xfrm>
            <a:off x="3631101" y="1145794"/>
            <a:ext cx="247802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passerelle</a:t>
            </a:r>
            <a:endParaRPr lang="en-US" sz="1500" dirty="0"/>
          </a:p>
        </p:txBody>
      </p:sp>
      <p:sp>
        <p:nvSpPr>
          <p:cNvPr id="22" name="toponyme_24"/>
          <p:cNvSpPr txBox="1"/>
          <p:nvPr/>
        </p:nvSpPr>
        <p:spPr>
          <a:xfrm>
            <a:off x="8191295" y="1905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La Marne</a:t>
            </a:r>
            <a:endParaRPr lang="en-US" sz="1800" dirty="0"/>
          </a:p>
        </p:txBody>
      </p:sp>
      <p:sp>
        <p:nvSpPr>
          <p:cNvPr id="23" name="toponyme_25"/>
          <p:cNvSpPr txBox="1"/>
          <p:nvPr/>
        </p:nvSpPr>
        <p:spPr>
          <a:xfrm>
            <a:off x="6675120" y="457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NEUILLY-SUR-MARNE</a:t>
            </a:r>
            <a:endParaRPr lang="en-US" sz="1600" dirty="0"/>
          </a:p>
        </p:txBody>
      </p:sp>
      <p:sp>
        <p:nvSpPr>
          <p:cNvPr id="24" name="toponyme_26"/>
          <p:cNvSpPr txBox="1"/>
          <p:nvPr/>
        </p:nvSpPr>
        <p:spPr>
          <a:xfrm rot="3120000">
            <a:off x="3555911" y="4445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Route de Neuilly</a:t>
            </a:r>
            <a:endParaRPr lang="en-US" sz="1500" dirty="0"/>
          </a:p>
        </p:txBody>
      </p:sp>
      <p:sp>
        <p:nvSpPr>
          <p:cNvPr id="25" name="credit_27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28" descr="v_p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29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30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itre_31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 et agrès</a:t>
            </a:r>
            <a:endParaRPr lang="en-US" sz="2800" dirty="0"/>
          </a:p>
        </p:txBody>
      </p:sp>
      <p:sp>
        <p:nvSpPr>
          <p:cNvPr id="6" name="a_completer_32"/>
          <p:cNvSpPr txBox="1"/>
          <p:nvPr/>
        </p:nvSpPr>
        <p:spPr>
          <a:xfrm>
            <a:off x="731520" y="2423160"/>
            <a:ext cx="3657600" cy="201168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agrès installés, agrès en projet et calendrier (éléments attendus de la Direction de l’Environnement et de l’Espace public).</a:t>
            </a:r>
            <a:endParaRPr lang="en-US" sz="1600" dirty="0"/>
          </a:p>
        </p:txBody>
      </p:sp>
      <p:sp>
        <p:nvSpPr>
          <p:cNvPr id="7" name="repere_33"/>
          <p:cNvSpPr/>
          <p:nvPr/>
        </p:nvSpPr>
        <p:spPr>
          <a:xfrm>
            <a:off x="6982787" y="35539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repere_num_34"/>
          <p:cNvSpPr txBox="1"/>
          <p:nvPr/>
        </p:nvSpPr>
        <p:spPr>
          <a:xfrm>
            <a:off x="6982787" y="355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etiquette_35"/>
          <p:cNvSpPr txBox="1"/>
          <p:nvPr/>
        </p:nvSpPr>
        <p:spPr>
          <a:xfrm>
            <a:off x="7568003" y="3590544"/>
            <a:ext cx="2953512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Parc de l’écoquartier</a:t>
            </a:r>
            <a:endParaRPr lang="en-US" sz="1500" dirty="0"/>
          </a:p>
        </p:txBody>
      </p:sp>
      <p:sp>
        <p:nvSpPr>
          <p:cNvPr id="10" name="credit_36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37" descr="v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oile_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3A">
              <a:alpha val="15000"/>
            </a:srgbClr>
          </a:solidFill>
          <a:ln/>
        </p:spPr>
      </p:sp>
      <p:sp>
        <p:nvSpPr>
          <p:cNvPr id="4" name="panneau_39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numero_40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itre_41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D’où vient la chaleur ?</a:t>
            </a:r>
            <a:endParaRPr lang="en-US" sz="2800" dirty="0"/>
          </a:p>
        </p:txBody>
      </p:sp>
      <p:sp>
        <p:nvSpPr>
          <p:cNvPr id="7" name="faits_42"/>
          <p:cNvSpPr txBox="1"/>
          <p:nvPr/>
        </p:nvSpPr>
        <p:spPr>
          <a:xfrm>
            <a:off x="731520" y="242316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La chaleur est produite à Neuilly-sur-Marne, à plus de 50 % par la géothermie profonde.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Elle traverse la Marne et arrive au quartier par une chambre de vannes près du pont.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IDEX exploite le réseau du quartier pour la Ville jusqu’en juillet 2030.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En 2025 : 70 % d’énergies renouvelables, ce qui ouvre droit à la TVA réduite.</a:t>
            </a:r>
            <a:endParaRPr lang="en-US" sz="1700" dirty="0"/>
          </a:p>
        </p:txBody>
      </p:sp>
      <p:sp>
        <p:nvSpPr>
          <p:cNvPr id="8" name="fleche_chaleur_43"/>
          <p:cNvSpPr/>
          <p:nvPr/>
        </p:nvSpPr>
        <p:spPr>
          <a:xfrm>
            <a:off x="5714857" y="1143000"/>
            <a:ext cx="266693" cy="1905000"/>
          </a:xfrm>
          <a:prstGeom prst="line">
            <a:avLst/>
          </a:prstGeom>
          <a:noFill/>
          <a:ln w="76200">
            <a:solidFill>
              <a:srgbClr val="E8735A"/>
            </a:solidFill>
            <a:prstDash val="solid"/>
            <a:tailEnd type="triangle"/>
          </a:ln>
        </p:spPr>
      </p:sp>
      <p:sp>
        <p:nvSpPr>
          <p:cNvPr id="9" name="fleche_chaleur_44"/>
          <p:cNvSpPr/>
          <p:nvPr/>
        </p:nvSpPr>
        <p:spPr>
          <a:xfrm>
            <a:off x="5981550" y="3190875"/>
            <a:ext cx="685783" cy="619125"/>
          </a:xfrm>
          <a:prstGeom prst="line">
            <a:avLst/>
          </a:prstGeom>
          <a:noFill/>
          <a:ln w="76200">
            <a:solidFill>
              <a:srgbClr val="E8735A"/>
            </a:solidFill>
            <a:prstDash val="solid"/>
            <a:tailEnd type="triangle"/>
          </a:ln>
        </p:spPr>
      </p:sp>
      <p:sp>
        <p:nvSpPr>
          <p:cNvPr id="10" name="etiquette_45"/>
          <p:cNvSpPr txBox="1"/>
          <p:nvPr/>
        </p:nvSpPr>
        <p:spPr>
          <a:xfrm>
            <a:off x="6095848" y="904875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8735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Réseau de chaleur de Neuilly-sur-Marne (géothermie)</a:t>
            </a:r>
            <a:endParaRPr lang="en-US" sz="1500" dirty="0"/>
          </a:p>
        </p:txBody>
      </p:sp>
      <p:sp>
        <p:nvSpPr>
          <p:cNvPr id="11" name="repere_46"/>
          <p:cNvSpPr/>
          <p:nvPr/>
        </p:nvSpPr>
        <p:spPr>
          <a:xfrm>
            <a:off x="5706469" y="28872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2" name="repere_num_47"/>
          <p:cNvSpPr txBox="1"/>
          <p:nvPr/>
        </p:nvSpPr>
        <p:spPr>
          <a:xfrm>
            <a:off x="5706469" y="28872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etiquette_48"/>
          <p:cNvSpPr txBox="1"/>
          <p:nvPr/>
        </p:nvSpPr>
        <p:spPr>
          <a:xfrm>
            <a:off x="6291685" y="2923794"/>
            <a:ext cx="247802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Chambre de vannes</a:t>
            </a:r>
            <a:endParaRPr lang="en-US" sz="1500" dirty="0"/>
          </a:p>
        </p:txBody>
      </p:sp>
      <p:sp>
        <p:nvSpPr>
          <p:cNvPr id="14" name="etiquette_49"/>
          <p:cNvSpPr txBox="1"/>
          <p:nvPr/>
        </p:nvSpPr>
        <p:spPr>
          <a:xfrm>
            <a:off x="6810205" y="3857625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3A"/>
                </a:solidFill>
              </a:rPr>
              <a:t>Écoquartier</a:t>
            </a:r>
            <a:endParaRPr lang="en-US" sz="1500" dirty="0"/>
          </a:p>
        </p:txBody>
      </p:sp>
      <p:sp>
        <p:nvSpPr>
          <p:cNvPr id="15" name="credit_50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facture de chauffage</a:t>
            </a:r>
            <a:endParaRPr lang="en-US" sz="3400" dirty="0"/>
          </a:p>
        </p:txBody>
      </p:sp>
      <p:graphicFrame>
        <p:nvGraphicFramePr>
          <p:cNvPr id="4" name="graphique_prix" descr=""/>
          <p:cNvGraphicFramePr/>
          <p:nvPr/>
        </p:nvGraphicFramePr>
        <p:xfrm>
          <a:off x="548640" y="13716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</a:rPr>
              <a:t>– 18 % entre 2024 et 2025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417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 que paie un logement moyen en 2025 : environ 1 219 € TTC</a:t>
            </a:r>
            <a:endParaRPr lang="en-US" sz="1800" dirty="0"/>
          </a:p>
        </p:txBody>
      </p:sp>
      <p:sp>
        <p:nvSpPr>
          <p:cNvPr id="7" name="barre_fixe_51"/>
          <p:cNvSpPr/>
          <p:nvPr/>
        </p:nvSpPr>
        <p:spPr>
          <a:xfrm>
            <a:off x="6766560" y="2286000"/>
            <a:ext cx="3209544" cy="822960"/>
          </a:xfrm>
          <a:prstGeom prst="rect">
            <a:avLst/>
          </a:prstGeom>
          <a:solidFill>
            <a:srgbClr val="E8735A"/>
          </a:solidFill>
          <a:ln/>
        </p:spPr>
      </p:sp>
      <p:sp>
        <p:nvSpPr>
          <p:cNvPr id="8" name="barre_conso_52"/>
          <p:cNvSpPr/>
          <p:nvPr/>
        </p:nvSpPr>
        <p:spPr>
          <a:xfrm>
            <a:off x="9976104" y="2286000"/>
            <a:ext cx="1728216" cy="822960"/>
          </a:xfrm>
          <a:prstGeom prst="rect">
            <a:avLst/>
          </a:prstGeom>
          <a:solidFill>
            <a:srgbClr val="2E9C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2860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65 %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976104" y="2286000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35 %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20040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Abonnement, selon la puissance souscrite par l’immeuble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976104" y="320040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Consommation</a:t>
            </a:r>
            <a:endParaRPr lang="en-US" sz="1400" dirty="0"/>
          </a:p>
        </p:txBody>
      </p:sp>
      <p:sp>
        <p:nvSpPr>
          <p:cNvPr id="13" name="encadre_action_53"/>
          <p:cNvSpPr/>
          <p:nvPr/>
        </p:nvSpPr>
        <p:spPr>
          <a:xfrm>
            <a:off x="6766560" y="4160520"/>
            <a:ext cx="4937760" cy="1965960"/>
          </a:xfrm>
          <a:prstGeom prst="roundRect">
            <a:avLst>
              <a:gd name="adj" fmla="val 4651"/>
            </a:avLst>
          </a:prstGeom>
          <a:solidFill>
            <a:srgbClr val="1F4E5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95160" y="42976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4B942"/>
                </a:solidFill>
              </a:rPr>
              <a:t>L’action de la Ville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La Ville a accompagné les copropriétés pour faire baisser la puissance souscrite de certains immeubles : l’abonnement diminue, avec effet rétroactif depuis novembre 2025.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54" descr="v_p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55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56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itre_57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 Noisy Plage</a:t>
            </a:r>
            <a:endParaRPr lang="en-US" sz="2800" dirty="0"/>
          </a:p>
        </p:txBody>
      </p:sp>
      <p:sp>
        <p:nvSpPr>
          <p:cNvPr id="6" name="a_completer_58"/>
          <p:cNvSpPr txBox="1"/>
          <p:nvPr/>
        </p:nvSpPr>
        <p:spPr>
          <a:xfrm>
            <a:off x="731520" y="2423160"/>
            <a:ext cx="3657600" cy="182880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dates, fréquentation, activités proposées et emplacement sur les bords de Marne.</a:t>
            </a:r>
            <a:endParaRPr lang="en-US" sz="1600" dirty="0"/>
          </a:p>
        </p:txBody>
      </p:sp>
      <p:sp>
        <p:nvSpPr>
          <p:cNvPr id="7" name="credit_59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60" descr="v_c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61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62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itre_63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800" dirty="0"/>
          </a:p>
        </p:txBody>
      </p:sp>
      <p:sp>
        <p:nvSpPr>
          <p:cNvPr id="6" name="a_completer_64"/>
          <p:cNvSpPr txBox="1"/>
          <p:nvPr/>
        </p:nvSpPr>
        <p:spPr>
          <a:xfrm>
            <a:off x="731520" y="2423160"/>
            <a:ext cx="3657600" cy="182880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chiffres et actions de la police municipale dans le quartier.</a:t>
            </a:r>
            <a:endParaRPr lang="en-US" sz="1600" dirty="0"/>
          </a:p>
        </p:txBody>
      </p:sp>
      <p:sp>
        <p:nvSpPr>
          <p:cNvPr id="7" name="credit_65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66" descr="v_p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67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68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itre_69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Propreté</a:t>
            </a:r>
            <a:endParaRPr lang="en-US" sz="2800" dirty="0"/>
          </a:p>
        </p:txBody>
      </p:sp>
      <p:sp>
        <p:nvSpPr>
          <p:cNvPr id="6" name="faits_70"/>
          <p:cNvSpPr txBox="1"/>
          <p:nvPr/>
        </p:nvSpPr>
        <p:spPr>
          <a:xfrm>
            <a:off x="731520" y="242316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Peu de signalements de propreté dans l’écoquartier.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Les corbeilles du parc et celles du bord de Marne étaient vidées par deux équipes différentes : la collecte du secteur est en cours de réorganisation.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Depuis l’été dernier, un agent à vélo nettoie plus souvent l’Île aux Oiseaux.</a:t>
            </a:r>
            <a:endParaRPr lang="en-US" sz="1700" dirty="0"/>
          </a:p>
        </p:txBody>
      </p:sp>
      <p:sp>
        <p:nvSpPr>
          <p:cNvPr id="7" name="repere_71"/>
          <p:cNvSpPr/>
          <p:nvPr/>
        </p:nvSpPr>
        <p:spPr>
          <a:xfrm>
            <a:off x="5077835" y="21252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repere_num_72"/>
          <p:cNvSpPr txBox="1"/>
          <p:nvPr/>
        </p:nvSpPr>
        <p:spPr>
          <a:xfrm>
            <a:off x="5077835" y="21252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etiquette_73"/>
          <p:cNvSpPr txBox="1"/>
          <p:nvPr/>
        </p:nvSpPr>
        <p:spPr>
          <a:xfrm>
            <a:off x="5663051" y="2161794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Bords de Marne</a:t>
            </a:r>
            <a:endParaRPr lang="en-US" sz="1500" dirty="0"/>
          </a:p>
        </p:txBody>
      </p:sp>
      <p:sp>
        <p:nvSpPr>
          <p:cNvPr id="10" name="credit_74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75" descr="v_c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re_76"/>
          <p:cNvSpPr txBox="1"/>
          <p:nvPr/>
        </p:nvSpPr>
        <p:spPr>
          <a:xfrm>
            <a:off x="411480" y="5715000"/>
            <a:ext cx="6949440" cy="731520"/>
          </a:xfrm>
          <a:prstGeom prst="roundRect">
            <a:avLst>
              <a:gd name="adj" fmla="val 12500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commerces qui arrivent</a:t>
            </a:r>
            <a:endParaRPr lang="en-US" sz="3200" dirty="0"/>
          </a:p>
        </p:txBody>
      </p:sp>
      <p:sp>
        <p:nvSpPr>
          <p:cNvPr id="4" name="repere_77"/>
          <p:cNvSpPr/>
          <p:nvPr/>
        </p:nvSpPr>
        <p:spPr>
          <a:xfrm>
            <a:off x="3649120" y="2944368"/>
            <a:ext cx="512064" cy="512064"/>
          </a:xfrm>
          <a:prstGeom prst="ellipse">
            <a:avLst/>
          </a:prstGeom>
          <a:solidFill>
            <a:srgbClr val="2E9C86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5" name="repere_num_78"/>
          <p:cNvSpPr txBox="1"/>
          <p:nvPr/>
        </p:nvSpPr>
        <p:spPr>
          <a:xfrm>
            <a:off x="364912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etiquette_79"/>
          <p:cNvSpPr txBox="1"/>
          <p:nvPr/>
        </p:nvSpPr>
        <p:spPr>
          <a:xfrm>
            <a:off x="503584" y="2980944"/>
            <a:ext cx="307238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Supérette Cocci Market</a:t>
            </a:r>
            <a:endParaRPr lang="en-US" sz="1500" dirty="0"/>
          </a:p>
        </p:txBody>
      </p:sp>
      <p:sp>
        <p:nvSpPr>
          <p:cNvPr id="7" name="repere_80"/>
          <p:cNvSpPr/>
          <p:nvPr/>
        </p:nvSpPr>
        <p:spPr>
          <a:xfrm>
            <a:off x="4220606" y="2839593"/>
            <a:ext cx="512064" cy="512064"/>
          </a:xfrm>
          <a:prstGeom prst="ellipse">
            <a:avLst/>
          </a:prstGeom>
          <a:solidFill>
            <a:srgbClr val="5B9BD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repere_num_81"/>
          <p:cNvSpPr txBox="1"/>
          <p:nvPr/>
        </p:nvSpPr>
        <p:spPr>
          <a:xfrm>
            <a:off x="4220606" y="283959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etiquette_82"/>
          <p:cNvSpPr txBox="1"/>
          <p:nvPr/>
        </p:nvSpPr>
        <p:spPr>
          <a:xfrm>
            <a:off x="3118754" y="3406521"/>
            <a:ext cx="2715768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Local professionnel</a:t>
            </a:r>
            <a:endParaRPr lang="en-US" sz="1500" dirty="0"/>
          </a:p>
        </p:txBody>
      </p:sp>
      <p:sp>
        <p:nvSpPr>
          <p:cNvPr id="10" name="repere_83"/>
          <p:cNvSpPr/>
          <p:nvPr/>
        </p:nvSpPr>
        <p:spPr>
          <a:xfrm>
            <a:off x="5554073" y="7917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1" name="repere_num_84"/>
          <p:cNvSpPr txBox="1"/>
          <p:nvPr/>
        </p:nvSpPr>
        <p:spPr>
          <a:xfrm>
            <a:off x="5554073" y="7917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etiquette_85"/>
          <p:cNvSpPr txBox="1"/>
          <p:nvPr/>
        </p:nvSpPr>
        <p:spPr>
          <a:xfrm>
            <a:off x="6139289" y="828294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Restaurant</a:t>
            </a:r>
            <a:endParaRPr lang="en-US" sz="1500" dirty="0"/>
          </a:p>
        </p:txBody>
      </p:sp>
      <p:sp>
        <p:nvSpPr>
          <p:cNvPr id="13" name="repere_86"/>
          <p:cNvSpPr/>
          <p:nvPr/>
        </p:nvSpPr>
        <p:spPr>
          <a:xfrm>
            <a:off x="7192332" y="279196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repere_num_87"/>
          <p:cNvSpPr txBox="1"/>
          <p:nvPr/>
        </p:nvSpPr>
        <p:spPr>
          <a:xfrm>
            <a:off x="7192332" y="2791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etiquette_88"/>
          <p:cNvSpPr txBox="1"/>
          <p:nvPr/>
        </p:nvSpPr>
        <p:spPr>
          <a:xfrm>
            <a:off x="7777548" y="2828544"/>
            <a:ext cx="1764792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Boulangerie</a:t>
            </a:r>
            <a:endParaRPr lang="en-US" sz="1500" dirty="0"/>
          </a:p>
        </p:txBody>
      </p:sp>
      <p:sp>
        <p:nvSpPr>
          <p:cNvPr id="16" name="repere_89"/>
          <p:cNvSpPr/>
          <p:nvPr/>
        </p:nvSpPr>
        <p:spPr>
          <a:xfrm>
            <a:off x="6658945" y="4106418"/>
            <a:ext cx="512064" cy="512064"/>
          </a:xfrm>
          <a:prstGeom prst="ellipse">
            <a:avLst/>
          </a:prstGeom>
          <a:solidFill>
            <a:srgbClr val="5B9BD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repere_num_90"/>
          <p:cNvSpPr txBox="1"/>
          <p:nvPr/>
        </p:nvSpPr>
        <p:spPr>
          <a:xfrm>
            <a:off x="6658945" y="41064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18" name="etiquette_91"/>
          <p:cNvSpPr txBox="1"/>
          <p:nvPr/>
        </p:nvSpPr>
        <p:spPr>
          <a:xfrm>
            <a:off x="7244161" y="4142994"/>
            <a:ext cx="2359152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Local associatif</a:t>
            </a:r>
            <a:endParaRPr lang="en-US" sz="1500" dirty="0"/>
          </a:p>
        </p:txBody>
      </p:sp>
      <p:sp>
        <p:nvSpPr>
          <p:cNvPr id="19" name="legende_cadre_92"/>
          <p:cNvSpPr/>
          <p:nvPr/>
        </p:nvSpPr>
        <p:spPr>
          <a:xfrm>
            <a:off x="8503920" y="36576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12313A">
              <a:alpha val="92000"/>
            </a:srgbClr>
          </a:solidFill>
          <a:ln/>
        </p:spPr>
      </p:sp>
      <p:sp>
        <p:nvSpPr>
          <p:cNvPr id="20" name="legende_puce_93"/>
          <p:cNvSpPr/>
          <p:nvPr/>
        </p:nvSpPr>
        <p:spPr>
          <a:xfrm>
            <a:off x="8686800" y="502920"/>
            <a:ext cx="219456" cy="219456"/>
          </a:xfrm>
          <a:prstGeom prst="ellipse">
            <a:avLst/>
          </a:prstGeom>
          <a:solidFill>
            <a:srgbClr val="2E9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06840" y="448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Ouverture imminente</a:t>
            </a:r>
            <a:endParaRPr lang="en-US" sz="1400" dirty="0"/>
          </a:p>
        </p:txBody>
      </p:sp>
      <p:sp>
        <p:nvSpPr>
          <p:cNvPr id="22" name="legende_puce_94"/>
          <p:cNvSpPr/>
          <p:nvPr/>
        </p:nvSpPr>
        <p:spPr>
          <a:xfrm>
            <a:off x="8686800" y="832104"/>
            <a:ext cx="219456" cy="21945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06840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Preneur recherché</a:t>
            </a:r>
            <a:endParaRPr lang="en-US" sz="1400" dirty="0"/>
          </a:p>
        </p:txBody>
      </p:sp>
      <p:sp>
        <p:nvSpPr>
          <p:cNvPr id="24" name="legende_puce_95"/>
          <p:cNvSpPr/>
          <p:nvPr/>
        </p:nvSpPr>
        <p:spPr>
          <a:xfrm>
            <a:off x="8686800" y="1161288"/>
            <a:ext cx="219456" cy="219456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06840" y="11064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Autre local à venir</a:t>
            </a:r>
            <a:endParaRPr lang="en-US" sz="1400" dirty="0"/>
          </a:p>
        </p:txBody>
      </p:sp>
      <p:sp>
        <p:nvSpPr>
          <p:cNvPr id="26" name="credit_96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97" descr="v_c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98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99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itre_100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crèche de 40 places</a:t>
            </a:r>
            <a:endParaRPr lang="en-US" sz="2800" dirty="0"/>
          </a:p>
        </p:txBody>
      </p:sp>
      <p:sp>
        <p:nvSpPr>
          <p:cNvPr id="6" name="chiffre_101"/>
          <p:cNvSpPr txBox="1"/>
          <p:nvPr/>
        </p:nvSpPr>
        <p:spPr>
          <a:xfrm>
            <a:off x="73152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 2027</a:t>
            </a:r>
            <a:endParaRPr lang="en-US" sz="4600" dirty="0"/>
          </a:p>
        </p:txBody>
      </p:sp>
      <p:sp>
        <p:nvSpPr>
          <p:cNvPr id="7" name="legende_102"/>
          <p:cNvSpPr txBox="1"/>
          <p:nvPr/>
        </p:nvSpPr>
        <p:spPr>
          <a:xfrm>
            <a:off x="731520" y="3136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ouverture prévue</a:t>
            </a:r>
            <a:endParaRPr lang="en-US" sz="1500" dirty="0"/>
          </a:p>
        </p:txBody>
      </p:sp>
      <p:sp>
        <p:nvSpPr>
          <p:cNvPr id="8" name="faits_103"/>
          <p:cNvSpPr txBox="1"/>
          <p:nvPr/>
        </p:nvSpPr>
        <p:spPr>
          <a:xfrm>
            <a:off x="731520" y="39319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2 unités de 20 places : bébés-moyens et moyens-grands.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609 m² et un jardin de 131 m².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Inscription sur le portail familles, comme pour toutes les crèches de la ville.</a:t>
            </a:r>
            <a:endParaRPr lang="en-US" sz="1700" dirty="0"/>
          </a:p>
        </p:txBody>
      </p:sp>
      <p:sp>
        <p:nvSpPr>
          <p:cNvPr id="9" name="repere_104"/>
          <p:cNvSpPr/>
          <p:nvPr/>
        </p:nvSpPr>
        <p:spPr>
          <a:xfrm>
            <a:off x="7316154" y="30015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0" name="repere_num_105"/>
          <p:cNvSpPr txBox="1"/>
          <p:nvPr/>
        </p:nvSpPr>
        <p:spPr>
          <a:xfrm>
            <a:off x="7316154" y="30015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1" name="etiquette_106"/>
          <p:cNvSpPr txBox="1"/>
          <p:nvPr/>
        </p:nvSpPr>
        <p:spPr>
          <a:xfrm>
            <a:off x="7901370" y="3038094"/>
            <a:ext cx="2002536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crèche</a:t>
            </a:r>
            <a:endParaRPr lang="en-US" sz="1500" dirty="0"/>
          </a:p>
        </p:txBody>
      </p:sp>
      <p:sp>
        <p:nvSpPr>
          <p:cNvPr id="12" name="credit_107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08" descr="v_scho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109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110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itre_111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de l’Oiseau Lyre : le choix des enfants</a:t>
            </a:r>
            <a:endParaRPr lang="en-US" sz="2800" dirty="0"/>
          </a:p>
        </p:txBody>
      </p:sp>
      <p:sp>
        <p:nvSpPr>
          <p:cNvPr id="6" name="a_completer_112"/>
          <p:cNvSpPr txBox="1"/>
          <p:nvPr/>
        </p:nvSpPr>
        <p:spPr>
          <a:xfrm>
            <a:off x="731520" y="2788920"/>
            <a:ext cx="3657600" cy="146304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objet du choix, modalités et résultat.</a:t>
            </a:r>
            <a:endParaRPr lang="en-US" sz="1600" dirty="0"/>
          </a:p>
        </p:txBody>
      </p:sp>
      <p:sp>
        <p:nvSpPr>
          <p:cNvPr id="7" name="repere_113"/>
          <p:cNvSpPr/>
          <p:nvPr/>
        </p:nvSpPr>
        <p:spPr>
          <a:xfrm>
            <a:off x="5935063" y="38397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repere_num_114"/>
          <p:cNvSpPr txBox="1"/>
          <p:nvPr/>
        </p:nvSpPr>
        <p:spPr>
          <a:xfrm>
            <a:off x="5935063" y="38397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9" name="etiquette_115"/>
          <p:cNvSpPr txBox="1"/>
          <p:nvPr/>
        </p:nvSpPr>
        <p:spPr>
          <a:xfrm>
            <a:off x="6520279" y="3876294"/>
            <a:ext cx="307238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École de l’Oiseau Lyre</a:t>
            </a:r>
            <a:endParaRPr lang="en-US" sz="1500" dirty="0"/>
          </a:p>
        </p:txBody>
      </p:sp>
      <p:sp>
        <p:nvSpPr>
          <p:cNvPr id="10" name="credit_116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rte_bus_117" descr="v_bus_li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370" y="0"/>
            <a:ext cx="82296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11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914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lignes de bus du quartier</a:t>
            </a:r>
            <a:endParaRPr lang="en-US" sz="2600" dirty="0"/>
          </a:p>
        </p:txBody>
      </p:sp>
      <p:sp>
        <p:nvSpPr>
          <p:cNvPr id="5" name="pastille_ligne_118"/>
          <p:cNvSpPr txBox="1"/>
          <p:nvPr/>
        </p:nvSpPr>
        <p:spPr>
          <a:xfrm>
            <a:off x="411480" y="196596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6E6E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1600" dirty="0"/>
          </a:p>
        </p:txBody>
      </p:sp>
      <p:sp>
        <p:nvSpPr>
          <p:cNvPr id="6" name="ligne_desc_119"/>
          <p:cNvSpPr txBox="1"/>
          <p:nvPr/>
        </p:nvSpPr>
        <p:spPr>
          <a:xfrm>
            <a:off x="411480" y="24231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Gare de Bondy ↔ Mont d’Est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Arrêt René Navier, dans le quartier</a:t>
            </a:r>
            <a:endParaRPr lang="en-US" sz="1400" dirty="0"/>
          </a:p>
        </p:txBody>
      </p:sp>
      <p:sp>
        <p:nvSpPr>
          <p:cNvPr id="7" name="pastille_ligne_120"/>
          <p:cNvSpPr txBox="1"/>
          <p:nvPr/>
        </p:nvSpPr>
        <p:spPr>
          <a:xfrm>
            <a:off x="411480" y="315468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A000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600" dirty="0"/>
          </a:p>
        </p:txBody>
      </p:sp>
      <p:sp>
        <p:nvSpPr>
          <p:cNvPr id="8" name="ligne_desc_121"/>
          <p:cNvSpPr txBox="1"/>
          <p:nvPr/>
        </p:nvSpPr>
        <p:spPr>
          <a:xfrm>
            <a:off x="411480" y="36118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Bry-sur-Marne RER ↔ Torcy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Arrêt Route de Neuilly (500 m)</a:t>
            </a:r>
            <a:endParaRPr lang="en-US" sz="1400" dirty="0"/>
          </a:p>
        </p:txBody>
      </p:sp>
      <p:sp>
        <p:nvSpPr>
          <p:cNvPr id="9" name="pastille_ligne_122"/>
          <p:cNvSpPr txBox="1"/>
          <p:nvPr/>
        </p:nvSpPr>
        <p:spPr>
          <a:xfrm>
            <a:off x="411480" y="434340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D2D2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N34</a:t>
            </a:r>
            <a:endParaRPr lang="en-US" sz="1600" dirty="0"/>
          </a:p>
        </p:txBody>
      </p:sp>
      <p:sp>
        <p:nvSpPr>
          <p:cNvPr id="10" name="ligne_desc_123"/>
          <p:cNvSpPr txBox="1"/>
          <p:nvPr/>
        </p:nvSpPr>
        <p:spPr>
          <a:xfrm>
            <a:off x="411480" y="4800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Noctilien, le bus de nuit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Mêmes arrêts que le 303</a:t>
            </a:r>
            <a:endParaRPr lang="en-US" sz="1400" dirty="0"/>
          </a:p>
        </p:txBody>
      </p:sp>
      <p:sp>
        <p:nvSpPr>
          <p:cNvPr id="11" name="pastille_ligne_124"/>
          <p:cNvSpPr txBox="1"/>
          <p:nvPr/>
        </p:nvSpPr>
        <p:spPr>
          <a:xfrm>
            <a:off x="411480" y="553212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9AA5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600" dirty="0"/>
          </a:p>
        </p:txBody>
      </p:sp>
      <p:sp>
        <p:nvSpPr>
          <p:cNvPr id="12" name="pastille_ligne_125"/>
          <p:cNvSpPr txBox="1"/>
          <p:nvPr/>
        </p:nvSpPr>
        <p:spPr>
          <a:xfrm>
            <a:off x="1161288" y="553212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9AA5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600" dirty="0"/>
          </a:p>
        </p:txBody>
      </p:sp>
      <p:sp>
        <p:nvSpPr>
          <p:cNvPr id="13" name="pastille_ligne_126"/>
          <p:cNvSpPr txBox="1"/>
          <p:nvPr/>
        </p:nvSpPr>
        <p:spPr>
          <a:xfrm>
            <a:off x="1911096" y="5532120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9AA5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1600" dirty="0"/>
          </a:p>
        </p:txBody>
      </p:sp>
      <p:sp>
        <p:nvSpPr>
          <p:cNvPr id="14" name="ligne_desc_127"/>
          <p:cNvSpPr txBox="1"/>
          <p:nvPr/>
        </p:nvSpPr>
        <p:spPr>
          <a:xfrm>
            <a:off x="411480" y="5989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Lignes de Neuilly-sur-Marne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Place de la Résistance, après le pont (environ 800 m)</a:t>
            </a:r>
            <a:endParaRPr lang="en-US" sz="1400" dirty="0"/>
          </a:p>
        </p:txBody>
      </p:sp>
      <p:sp>
        <p:nvSpPr>
          <p:cNvPr id="15" name="etiquette_128"/>
          <p:cNvSpPr txBox="1"/>
          <p:nvPr/>
        </p:nvSpPr>
        <p:spPr>
          <a:xfrm>
            <a:off x="8183880" y="310896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3A"/>
                </a:solidFill>
              </a:rPr>
              <a:t>Écoquartier</a:t>
            </a:r>
            <a:endParaRPr lang="en-US" sz="1500" dirty="0"/>
          </a:p>
        </p:txBody>
      </p:sp>
      <p:sp>
        <p:nvSpPr>
          <p:cNvPr id="16" name="arret_129"/>
          <p:cNvSpPr/>
          <p:nvPr/>
        </p:nvSpPr>
        <p:spPr>
          <a:xfrm>
            <a:off x="7286854" y="3852367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313A"/>
            </a:solidFill>
            <a:prstDash val="solid"/>
          </a:ln>
        </p:spPr>
      </p:sp>
      <p:sp>
        <p:nvSpPr>
          <p:cNvPr id="17" name="etiquette_arret_130"/>
          <p:cNvSpPr txBox="1"/>
          <p:nvPr/>
        </p:nvSpPr>
        <p:spPr>
          <a:xfrm>
            <a:off x="7670902" y="3678631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René Navier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303 · N34</a:t>
            </a:r>
            <a:endParaRPr lang="en-US" sz="1400" dirty="0"/>
          </a:p>
        </p:txBody>
      </p:sp>
      <p:sp>
        <p:nvSpPr>
          <p:cNvPr id="18" name="arret_131"/>
          <p:cNvSpPr/>
          <p:nvPr/>
        </p:nvSpPr>
        <p:spPr>
          <a:xfrm>
            <a:off x="8651138" y="5298948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313A"/>
            </a:solidFill>
            <a:prstDash val="solid"/>
          </a:ln>
        </p:spPr>
      </p:sp>
      <p:sp>
        <p:nvSpPr>
          <p:cNvPr id="19" name="etiquette_arret_132"/>
          <p:cNvSpPr txBox="1"/>
          <p:nvPr/>
        </p:nvSpPr>
        <p:spPr>
          <a:xfrm>
            <a:off x="7572146" y="5728716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Route de Neuilly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220 · 303 · N34</a:t>
            </a:r>
            <a:endParaRPr lang="en-US" sz="1400" dirty="0"/>
          </a:p>
        </p:txBody>
      </p:sp>
      <p:sp>
        <p:nvSpPr>
          <p:cNvPr id="20" name="arret_133"/>
          <p:cNvSpPr/>
          <p:nvPr/>
        </p:nvSpPr>
        <p:spPr>
          <a:xfrm>
            <a:off x="6017666" y="766267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313A"/>
            </a:solidFill>
            <a:prstDash val="solid"/>
          </a:ln>
        </p:spPr>
      </p:sp>
      <p:sp>
        <p:nvSpPr>
          <p:cNvPr id="21" name="etiquette_arret_134"/>
          <p:cNvSpPr txBox="1"/>
          <p:nvPr/>
        </p:nvSpPr>
        <p:spPr>
          <a:xfrm>
            <a:off x="6401714" y="592531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Place de la Résistance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113 · 127 · 203 · 303 · N34</a:t>
            </a:r>
            <a:endParaRPr lang="en-US" sz="1400" dirty="0"/>
          </a:p>
        </p:txBody>
      </p:sp>
      <p:sp>
        <p:nvSpPr>
          <p:cNvPr id="22" name="arret_135"/>
          <p:cNvSpPr/>
          <p:nvPr/>
        </p:nvSpPr>
        <p:spPr>
          <a:xfrm>
            <a:off x="11086186" y="448513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313A"/>
            </a:solidFill>
            <a:prstDash val="solid"/>
          </a:ln>
        </p:spPr>
      </p:sp>
      <p:sp>
        <p:nvSpPr>
          <p:cNvPr id="23" name="nom_arret_136"/>
          <p:cNvSpPr txBox="1"/>
          <p:nvPr/>
        </p:nvSpPr>
        <p:spPr>
          <a:xfrm>
            <a:off x="10089490" y="47045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Église</a:t>
            </a:r>
            <a:endParaRPr lang="en-US" sz="1200" dirty="0"/>
          </a:p>
        </p:txBody>
      </p:sp>
      <p:sp>
        <p:nvSpPr>
          <p:cNvPr id="24" name="arret_137"/>
          <p:cNvSpPr/>
          <p:nvPr/>
        </p:nvSpPr>
        <p:spPr>
          <a:xfrm>
            <a:off x="6389827" y="573877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313A"/>
            </a:solidFill>
            <a:prstDash val="solid"/>
          </a:ln>
        </p:spPr>
      </p:sp>
      <p:sp>
        <p:nvSpPr>
          <p:cNvPr id="25" name="nom_arret_138"/>
          <p:cNvSpPr txBox="1"/>
          <p:nvPr/>
        </p:nvSpPr>
        <p:spPr>
          <a:xfrm>
            <a:off x="5393131" y="595823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Verdun</a:t>
            </a:r>
            <a:endParaRPr lang="en-US" sz="1200" dirty="0"/>
          </a:p>
        </p:txBody>
      </p:sp>
      <p:sp>
        <p:nvSpPr>
          <p:cNvPr id="26" name="arret_139"/>
          <p:cNvSpPr/>
          <p:nvPr/>
        </p:nvSpPr>
        <p:spPr>
          <a:xfrm>
            <a:off x="9594799" y="4967935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313A"/>
            </a:solidFill>
            <a:prstDash val="solid"/>
          </a:ln>
        </p:spPr>
      </p:sp>
      <p:sp>
        <p:nvSpPr>
          <p:cNvPr id="27" name="nom_arret_140"/>
          <p:cNvSpPr txBox="1"/>
          <p:nvPr/>
        </p:nvSpPr>
        <p:spPr>
          <a:xfrm>
            <a:off x="8598103" y="465703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Chemin de la Baronnerie</a:t>
            </a:r>
            <a:endParaRPr lang="en-US" sz="1200" dirty="0"/>
          </a:p>
        </p:txBody>
      </p:sp>
      <p:sp>
        <p:nvSpPr>
          <p:cNvPr id="28" name="arret_141"/>
          <p:cNvSpPr/>
          <p:nvPr/>
        </p:nvSpPr>
        <p:spPr>
          <a:xfrm>
            <a:off x="4804258" y="1447495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313A"/>
            </a:solidFill>
            <a:prstDash val="solid"/>
          </a:ln>
        </p:spPr>
      </p:sp>
      <p:sp>
        <p:nvSpPr>
          <p:cNvPr id="29" name="nom_arret_142"/>
          <p:cNvSpPr txBox="1"/>
          <p:nvPr/>
        </p:nvSpPr>
        <p:spPr>
          <a:xfrm>
            <a:off x="3807562" y="166695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Foch – De Gaulle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La Marne</a:t>
            </a:r>
            <a:endParaRPr lang="en-US" sz="1500" dirty="0"/>
          </a:p>
        </p:txBody>
      </p:sp>
      <p:sp>
        <p:nvSpPr>
          <p:cNvPr id="31" name="credit_143"/>
          <p:cNvSpPr txBox="1"/>
          <p:nvPr/>
        </p:nvSpPr>
        <p:spPr>
          <a:xfrm>
            <a:off x="65224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Fond : IGN – Géoplateforme ; tracés et arrêts : Île-de-France Mobilités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44" descr="v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oile_1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3A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: la consultation des habitants</a:t>
            </a:r>
            <a:endParaRPr lang="en-US" sz="3400" dirty="0"/>
          </a:p>
        </p:txBody>
      </p:sp>
      <p:sp>
        <p:nvSpPr>
          <p:cNvPr id="5" name="chiffre_146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472</a:t>
            </a:r>
            <a:endParaRPr lang="en-US" sz="4600" dirty="0"/>
          </a:p>
        </p:txBody>
      </p:sp>
      <p:sp>
        <p:nvSpPr>
          <p:cNvPr id="6" name="legende_147"/>
          <p:cNvSpPr txBox="1"/>
          <p:nvPr/>
        </p:nvSpPr>
        <p:spPr>
          <a:xfrm>
            <a:off x="548640" y="22677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signalements reçus entre le 5 août et le 30 septembre</a:t>
            </a:r>
            <a:endParaRPr lang="en-US" sz="1500" dirty="0"/>
          </a:p>
        </p:txBody>
      </p:sp>
      <p:sp>
        <p:nvSpPr>
          <p:cNvPr id="7" name="chiffre_148"/>
          <p:cNvSpPr txBox="1"/>
          <p:nvPr/>
        </p:nvSpPr>
        <p:spPr>
          <a:xfrm>
            <a:off x="429768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8" name="legende_149"/>
          <p:cNvSpPr txBox="1"/>
          <p:nvPr/>
        </p:nvSpPr>
        <p:spPr>
          <a:xfrm>
            <a:off x="4297680" y="22677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pour la ligne 303, qui dessert le quartier</a:t>
            </a:r>
            <a:endParaRPr lang="en-US" sz="1500" dirty="0"/>
          </a:p>
        </p:txBody>
      </p:sp>
      <p:sp>
        <p:nvSpPr>
          <p:cNvPr id="9" name="chiffre_150"/>
          <p:cNvSpPr txBox="1"/>
          <p:nvPr/>
        </p:nvSpPr>
        <p:spPr>
          <a:xfrm>
            <a:off x="786384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4600" dirty="0"/>
          </a:p>
        </p:txBody>
      </p:sp>
      <p:sp>
        <p:nvSpPr>
          <p:cNvPr id="10" name="legende_151"/>
          <p:cNvSpPr txBox="1"/>
          <p:nvPr/>
        </p:nvSpPr>
        <p:spPr>
          <a:xfrm>
            <a:off x="7863840" y="22677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pour la ligne 220 (arrêt Route de Neuilly, à environ 500 m)</a:t>
            </a:r>
            <a:endParaRPr lang="en-US" sz="1500" dirty="0"/>
          </a:p>
        </p:txBody>
      </p:sp>
      <p:sp>
        <p:nvSpPr>
          <p:cNvPr id="11" name="frise_152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2" name="frise_point_153"/>
          <p:cNvSpPr/>
          <p:nvPr/>
        </p:nvSpPr>
        <p:spPr>
          <a:xfrm>
            <a:off x="685800" y="4023360"/>
            <a:ext cx="274320" cy="27432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9 sept.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Réunion avec Keolis et IDFM</a:t>
            </a:r>
            <a:endParaRPr lang="en-US" sz="1500" dirty="0"/>
          </a:p>
        </p:txBody>
      </p:sp>
      <p:sp>
        <p:nvSpPr>
          <p:cNvPr id="15" name="frise_point_154"/>
          <p:cNvSpPr/>
          <p:nvPr/>
        </p:nvSpPr>
        <p:spPr>
          <a:xfrm>
            <a:off x="2971800" y="4023360"/>
            <a:ext cx="274320" cy="27432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3464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10 sept.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300 premiers signalements transmis</a:t>
            </a:r>
            <a:endParaRPr lang="en-US" sz="1500" dirty="0"/>
          </a:p>
        </p:txBody>
      </p:sp>
      <p:sp>
        <p:nvSpPr>
          <p:cNvPr id="18" name="frise_point_155"/>
          <p:cNvSpPr/>
          <p:nvPr/>
        </p:nvSpPr>
        <p:spPr>
          <a:xfrm>
            <a:off x="5257800" y="4023360"/>
            <a:ext cx="274320" cy="27432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2064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11 sept.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Fin des pannes de bus au dépôt</a:t>
            </a:r>
            <a:endParaRPr lang="en-US" sz="1500" dirty="0"/>
          </a:p>
        </p:txBody>
      </p:sp>
      <p:sp>
        <p:nvSpPr>
          <p:cNvPr id="21" name="frise_point_156"/>
          <p:cNvSpPr/>
          <p:nvPr/>
        </p:nvSpPr>
        <p:spPr>
          <a:xfrm>
            <a:off x="7543800" y="4023360"/>
            <a:ext cx="274320" cy="27432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0664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17 sept.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Deuxième réunion technique</a:t>
            </a:r>
            <a:endParaRPr lang="en-US" sz="1500" dirty="0"/>
          </a:p>
        </p:txBody>
      </p:sp>
      <p:sp>
        <p:nvSpPr>
          <p:cNvPr id="24" name="frise_point_157"/>
          <p:cNvSpPr/>
          <p:nvPr/>
        </p:nvSpPr>
        <p:spPr>
          <a:xfrm>
            <a:off x="9829800" y="4023360"/>
            <a:ext cx="274320" cy="274320"/>
          </a:xfrm>
          <a:prstGeom prst="ellipse">
            <a:avLst/>
          </a:prstGeom>
          <a:solidFill>
            <a:srgbClr val="E873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</a:rPr>
              <a:t>17 nov.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Rencontre entre M. le Maire et Keolis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Keolis et IDFM constatent une amélioration de la régularité, mais des difficultés persistent.</a:t>
            </a:r>
            <a:endParaRPr lang="en-US" sz="1600" dirty="0"/>
          </a:p>
        </p:txBody>
      </p:sp>
      <p:sp>
        <p:nvSpPr>
          <p:cNvPr id="28" name="credit_158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59" descr="v_bri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race_passerelle_160"/>
          <p:cNvSpPr/>
          <p:nvPr/>
        </p:nvSpPr>
        <p:spPr>
          <a:xfrm>
            <a:off x="4924302" y="1504950"/>
            <a:ext cx="504812" cy="1314450"/>
          </a:xfrm>
          <a:prstGeom prst="line">
            <a:avLst/>
          </a:prstGeom>
          <a:noFill/>
          <a:ln w="114300">
            <a:solidFill>
              <a:srgbClr val="F4B942"/>
            </a:solidFill>
            <a:prstDash val="solid"/>
          </a:ln>
        </p:spPr>
      </p:sp>
      <p:sp>
        <p:nvSpPr>
          <p:cNvPr id="4" name="trace_cyclable_161"/>
          <p:cNvSpPr/>
          <p:nvPr/>
        </p:nvSpPr>
        <p:spPr>
          <a:xfrm>
            <a:off x="5448164" y="2905125"/>
            <a:ext cx="742931" cy="2428875"/>
          </a:xfrm>
          <a:prstGeom prst="line">
            <a:avLst/>
          </a:prstGeom>
          <a:noFill/>
          <a:ln w="63500">
            <a:solidFill>
              <a:srgbClr val="2E9C86"/>
            </a:solidFill>
            <a:prstDash val="dash"/>
          </a:ln>
        </p:spPr>
      </p:sp>
      <p:sp>
        <p:nvSpPr>
          <p:cNvPr id="5" name="trace_cyclable_162"/>
          <p:cNvSpPr/>
          <p:nvPr/>
        </p:nvSpPr>
        <p:spPr>
          <a:xfrm>
            <a:off x="6191095" y="5334000"/>
            <a:ext cx="1095348" cy="1524000"/>
          </a:xfrm>
          <a:prstGeom prst="line">
            <a:avLst/>
          </a:prstGeom>
          <a:noFill/>
          <a:ln w="63500">
            <a:solidFill>
              <a:srgbClr val="2E9C86"/>
            </a:solidFill>
            <a:prstDash val="dash"/>
          </a:ln>
        </p:spPr>
      </p:sp>
      <p:sp>
        <p:nvSpPr>
          <p:cNvPr id="6" name="repere_163"/>
          <p:cNvSpPr/>
          <p:nvPr/>
        </p:nvSpPr>
        <p:spPr>
          <a:xfrm>
            <a:off x="4925438" y="1887093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repere_num_164"/>
          <p:cNvSpPr txBox="1"/>
          <p:nvPr/>
        </p:nvSpPr>
        <p:spPr>
          <a:xfrm>
            <a:off x="4925438" y="188709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8" name="etiquette_165"/>
          <p:cNvSpPr txBox="1"/>
          <p:nvPr/>
        </p:nvSpPr>
        <p:spPr>
          <a:xfrm>
            <a:off x="5510654" y="1923669"/>
            <a:ext cx="4142232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passerelle piétons-vélos</a:t>
            </a:r>
            <a:endParaRPr lang="en-US" sz="1500" dirty="0"/>
          </a:p>
        </p:txBody>
      </p:sp>
      <p:sp>
        <p:nvSpPr>
          <p:cNvPr id="9" name="etiquette_166"/>
          <p:cNvSpPr txBox="1"/>
          <p:nvPr/>
        </p:nvSpPr>
        <p:spPr>
          <a:xfrm>
            <a:off x="6103463" y="3762375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2E9C8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Continuité cyclable par la route de Neuilly (étude de faisabilité)</a:t>
            </a:r>
            <a:endParaRPr lang="en-US" sz="1400" dirty="0"/>
          </a:p>
        </p:txBody>
      </p:sp>
      <p:sp>
        <p:nvSpPr>
          <p:cNvPr id="10" name="etiquette_167"/>
          <p:cNvSpPr txBox="1"/>
          <p:nvPr/>
        </p:nvSpPr>
        <p:spPr>
          <a:xfrm>
            <a:off x="2885957" y="104775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13A"/>
                </a:solidFill>
              </a:rPr>
              <a:t>Pont de Neuilly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95848" y="274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NEUILLY-SUR-MARNE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NOISY-LE-GRAND</a:t>
            </a:r>
            <a:endParaRPr lang="en-US" sz="1500" dirty="0"/>
          </a:p>
        </p:txBody>
      </p:sp>
      <p:sp>
        <p:nvSpPr>
          <p:cNvPr id="13" name="titre_168"/>
          <p:cNvSpPr txBox="1"/>
          <p:nvPr/>
        </p:nvSpPr>
        <p:spPr>
          <a:xfrm>
            <a:off x="411480" y="457200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passerelle vers Neuilly-sur-Marne</a:t>
            </a:r>
            <a:endParaRPr lang="en-US" sz="2400" dirty="0"/>
          </a:p>
        </p:txBody>
      </p:sp>
      <p:sp>
        <p:nvSpPr>
          <p:cNvPr id="14" name="frise_cadre_169"/>
          <p:cNvSpPr/>
          <p:nvPr/>
        </p:nvSpPr>
        <p:spPr>
          <a:xfrm>
            <a:off x="411480" y="5349240"/>
            <a:ext cx="11384280" cy="1051560"/>
          </a:xfrm>
          <a:prstGeom prst="roundRect">
            <a:avLst>
              <a:gd name="adj" fmla="val 8696"/>
            </a:avLst>
          </a:prstGeom>
          <a:solidFill>
            <a:srgbClr val="12313A">
              <a:alpha val="9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 sept. 2026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852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Choix du scénario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2026 – mi-2027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5852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Études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Mi-2027 – fin 2028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5852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Travaux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942"/>
                </a:solidFill>
              </a:rPr>
              <a:t>Fin 2028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5852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Mise en service</a:t>
            </a:r>
            <a:endParaRPr lang="en-US" sz="1500" dirty="0"/>
          </a:p>
        </p:txBody>
      </p:sp>
      <p:sp>
        <p:nvSpPr>
          <p:cNvPr id="23" name="credit_170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71" descr="v_bri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172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173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itre_174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Feux d’artifice</a:t>
            </a:r>
            <a:endParaRPr lang="en-US" sz="2800" dirty="0"/>
          </a:p>
        </p:txBody>
      </p:sp>
      <p:sp>
        <p:nvSpPr>
          <p:cNvPr id="6" name="a_completer_175"/>
          <p:cNvSpPr txBox="1"/>
          <p:nvPr/>
        </p:nvSpPr>
        <p:spPr>
          <a:xfrm>
            <a:off x="731520" y="2423160"/>
            <a:ext cx="3657600" cy="164592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date, lieu de tir et périmètre de sécurité.</a:t>
            </a:r>
            <a:endParaRPr lang="en-US" sz="1600" dirty="0"/>
          </a:p>
        </p:txBody>
      </p:sp>
      <p:sp>
        <p:nvSpPr>
          <p:cNvPr id="7" name="credit_176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77" descr="v_scho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178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179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itre_180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Périscolaire</a:t>
            </a:r>
            <a:endParaRPr lang="en-US" sz="2800" dirty="0"/>
          </a:p>
        </p:txBody>
      </p:sp>
      <p:sp>
        <p:nvSpPr>
          <p:cNvPr id="6" name="chiffre_181"/>
          <p:cNvSpPr txBox="1"/>
          <p:nvPr/>
        </p:nvSpPr>
        <p:spPr>
          <a:xfrm>
            <a:off x="73152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+168 places</a:t>
            </a:r>
            <a:endParaRPr lang="en-US" sz="4600" dirty="0"/>
          </a:p>
        </p:txBody>
      </p:sp>
      <p:sp>
        <p:nvSpPr>
          <p:cNvPr id="7" name="legende_182"/>
          <p:cNvSpPr txBox="1"/>
          <p:nvPr/>
        </p:nvSpPr>
        <p:spPr>
          <a:xfrm>
            <a:off x="731520" y="3136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ouvertes le mercredi par rapport à 2025, soit 1 784 places (+10 %)</a:t>
            </a:r>
            <a:endParaRPr lang="en-US" sz="1500" dirty="0"/>
          </a:p>
        </p:txBody>
      </p:sp>
      <p:sp>
        <p:nvSpPr>
          <p:cNvPr id="8" name="faits_183"/>
          <p:cNvSpPr txBox="1"/>
          <p:nvPr/>
        </p:nvSpPr>
        <p:spPr>
          <a:xfrm>
            <a:off x="731520" y="40233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Cantine en maternelle : 49 animateurs de plus (+25 %).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22 cantines maternelles sur 23 à 1 animateur pour 8 enfants, contre 4 en 2025.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Les recrutements continuent, surtout pour les postes du mercredi.</a:t>
            </a:r>
            <a:endParaRPr lang="en-US" sz="1700" dirty="0"/>
          </a:p>
        </p:txBody>
      </p:sp>
      <p:sp>
        <p:nvSpPr>
          <p:cNvPr id="9" name="repere_184"/>
          <p:cNvSpPr/>
          <p:nvPr/>
        </p:nvSpPr>
        <p:spPr>
          <a:xfrm>
            <a:off x="5935063" y="3839718"/>
            <a:ext cx="512064" cy="512064"/>
          </a:xfrm>
          <a:prstGeom prst="ellipse">
            <a:avLst/>
          </a:prstGeom>
          <a:solidFill>
            <a:srgbClr val="F4B942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0" name="repere_num_185"/>
          <p:cNvSpPr txBox="1"/>
          <p:nvPr/>
        </p:nvSpPr>
        <p:spPr>
          <a:xfrm>
            <a:off x="5935063" y="38397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11" name="etiquette_186"/>
          <p:cNvSpPr txBox="1"/>
          <p:nvPr/>
        </p:nvSpPr>
        <p:spPr>
          <a:xfrm>
            <a:off x="6520279" y="3876294"/>
            <a:ext cx="3072384" cy="438912"/>
          </a:xfrm>
          <a:prstGeom prst="roundRect">
            <a:avLst>
              <a:gd name="adj" fmla="val 16667"/>
            </a:avLst>
          </a:prstGeom>
          <a:solidFill>
            <a:srgbClr val="12313A">
              <a:alpha val="92000"/>
            </a:srgbClr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École de l’Oiseau Lyre</a:t>
            </a:r>
            <a:endParaRPr lang="en-US" sz="1500" dirty="0"/>
          </a:p>
        </p:txBody>
      </p:sp>
      <p:sp>
        <p:nvSpPr>
          <p:cNvPr id="12" name="credit_187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88" descr="v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neau_189"/>
          <p:cNvSpPr/>
          <p:nvPr/>
        </p:nvSpPr>
        <p:spPr>
          <a:xfrm>
            <a:off x="411480" y="411480"/>
            <a:ext cx="4297680" cy="6035040"/>
          </a:xfrm>
          <a:prstGeom prst="roundRect">
            <a:avLst>
              <a:gd name="adj" fmla="val 2553"/>
            </a:avLst>
          </a:prstGeom>
          <a:solidFill>
            <a:srgbClr val="12313A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numero_190"/>
          <p:cNvSpPr txBox="1"/>
          <p:nvPr/>
        </p:nvSpPr>
        <p:spPr>
          <a:xfrm>
            <a:off x="731520" y="685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itre_191"/>
          <p:cNvSpPr txBox="1"/>
          <p:nvPr/>
        </p:nvSpPr>
        <p:spPr>
          <a:xfrm>
            <a:off x="7315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Démocratie locale : les conseils de quartier</a:t>
            </a:r>
            <a:endParaRPr lang="en-US" sz="2800" dirty="0"/>
          </a:p>
        </p:txBody>
      </p:sp>
      <p:sp>
        <p:nvSpPr>
          <p:cNvPr id="6" name="a_completer_192"/>
          <p:cNvSpPr txBox="1"/>
          <p:nvPr/>
        </p:nvSpPr>
        <p:spPr>
          <a:xfrm>
            <a:off x="731520" y="2788920"/>
            <a:ext cx="3657600" cy="1828800"/>
          </a:xfrm>
          <a:prstGeom prst="rect">
            <a:avLst/>
          </a:prstGeom>
          <a:noFill/>
          <a:ln w="19050">
            <a:solidFill>
              <a:srgbClr val="F4B942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B942"/>
                </a:solidFill>
              </a:rPr>
              <a:t>À compléter : calendrier, modalités de candidature et périmètre du conseil de quartier.</a:t>
            </a:r>
            <a:endParaRPr lang="en-US" sz="1600" dirty="0"/>
          </a:p>
        </p:txBody>
      </p:sp>
      <p:sp>
        <p:nvSpPr>
          <p:cNvPr id="7" name="credit_193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194" descr="v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oile_19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3A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B942"/>
                </a:solidFill>
              </a:rPr>
              <a:t>Place à vos questions</a:t>
            </a:r>
            <a:endParaRPr lang="en-US" sz="2800" dirty="0"/>
          </a:p>
        </p:txBody>
      </p:sp>
      <p:sp>
        <p:nvSpPr>
          <p:cNvPr id="6" name="credit_196"/>
          <p:cNvSpPr txBox="1"/>
          <p:nvPr/>
        </p:nvSpPr>
        <p:spPr>
          <a:xfrm>
            <a:off x="8259775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Photographie aérienne : IGN – Géoplateforme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quartier">
  <a:themeElements>
    <a:clrScheme name="Ecoquartier">
      <a:dk1>
        <a:srgbClr val="12313A"/>
      </a:dk1>
      <a:lt1>
        <a:srgbClr val="FFFFFF"/>
      </a:lt1>
      <a:dk2>
        <a:srgbClr val="1F4E57"/>
      </a:dk2>
      <a:lt2>
        <a:srgbClr val="EEF3F2"/>
      </a:lt2>
      <a:accent1>
        <a:srgbClr val="F4B942"/>
      </a:accent1>
      <a:accent2>
        <a:srgbClr val="2E9C86"/>
      </a:accent2>
      <a:accent3>
        <a:srgbClr val="E8735A"/>
      </a:accent3>
      <a:accent4>
        <a:srgbClr val="5B9BD5"/>
      </a:accent4>
      <a:accent5>
        <a:srgbClr val="8FB8B0"/>
      </a:accent5>
      <a:accent6>
        <a:srgbClr val="B9C7C5"/>
      </a:accent6>
      <a:hlink>
        <a:srgbClr val="2E9C86"/>
      </a:hlink>
      <a:folHlink>
        <a:srgbClr val="1F4E57"/>
      </a:folHlink>
    </a:clrScheme>
    <a:fontScheme name="Ecoquarti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publique Écoquartier Île de la Marne – 5 octobre 2026</dc:title>
  <dc:subject>PptxGenJS Presentation</dc:subject>
  <dc:creator>PptxGenJS</dc:creator>
  <cp:lastModifiedBy>PptxGenJS</cp:lastModifiedBy>
  <cp:revision>1</cp:revision>
  <dcterms:created xsi:type="dcterms:W3CDTF">2026-10-05T16:01:42Z</dcterms:created>
  <dcterms:modified xsi:type="dcterms:W3CDTF">2026-10-05T16:01:42Z</dcterms:modified>
</cp:coreProperties>
</file>