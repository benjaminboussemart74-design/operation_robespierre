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52f9ceb-c501-6f73-86ea-7d24e442ca03}">
          <p14:sldIdLst>
            <p14:sldId id="256"/>
            <p14:sldId id="257"/>
          </p14:sldIdLst>
        </p14:section>
        <p14:section name="Cadre de vie" id="{944d4aaa-5c42-8797-f419-a039ef043766}">
          <p14:sldIdLst>
            <p14:sldId id="258"/>
          </p14:sldIdLst>
        </p14:section>
        <p14:section name="Chauffage" id="{46354c6a-918d-45c1-abf6-cd9a526c5da6}">
          <p14:sldIdLst>
            <p14:sldId id="259"/>
            <p14:sldId id="260"/>
          </p14:sldIdLst>
        </p14:section>
        <p14:section name="Vie du quartier" id="{b0af28af-5edc-0423-1800-a07444a923ea}">
          <p14:sldIdLst>
            <p14:sldId id="261"/>
            <p14:sldId id="262"/>
            <p14:sldId id="263"/>
          </p14:sldIdLst>
        </p14:section>
        <p14:section name="Équipements" id="{f32fe640-00b6-25e9-dead-1baacc9c4d03}">
          <p14:sldIdLst>
            <p14:sldId id="264"/>
            <p14:sldId id="265"/>
            <p14:sldId id="266"/>
          </p14:sldIdLst>
        </p14:section>
        <p14:section name="Mobilités" id="{72ad3122-4bf0-677b-43bb-d7a6cf7bd137}">
          <p14:sldIdLst>
            <p14:sldId id="267"/>
            <p14:sldId id="268"/>
          </p14:sldIdLst>
        </p14:section>
        <p14:section name="Animations et services" id="{af74c527-f8ec-3312-805e-7bec40d8724f}">
          <p14:sldIdLst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+mn-lt"/>
              </a:rPr>
              <a:t>Prix moyen de la chaleur (€ TTC par 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de la chaleur (€ TTC/MWh)</c:v>
                </c:pt>
              </c:strCache>
            </c:strRef>
          </c:tx>
          <c:spPr>
            <a:solidFill>
              <a:srgbClr val="8FB8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9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200.4</c:v>
                </c:pt>
                <c:pt idx="1">
                  <c:v>221.8</c:v>
                </c:pt>
                <c:pt idx="2">
                  <c:v>220.9</c:v>
                </c:pt>
                <c:pt idx="3">
                  <c:v>181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large : Neuilly-sur-Marne au nord, la Marne, le pont de Neuilly et l’écoquartier au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des repères reprennent ceux du programme. Positions des commerces et de la crèche indicatives (à vérifier, repères déplaçables). La photographie IGN est antérieure à l’achèvement de certains chantiers (programme Kaufman &amp; Broad, lot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Repère placé sur la prairie centrale ; ajouter un repère par agrès dès réception du plan d’implantation.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rapport MANERGY sur l’exercice 2025 de la DSP (20/08/2026). Producteur : SGRM (réseau de Neuilly-sur-Marne). Exploitant du réseau du quartier : IDEX Territoires, DSP signée le 23/11/2020, mise en service le 01/08/2022, fin le 31/07/2030. 7 sous-stations, 485 équivalents-logements au 31/12/2025. Le tracé de la flèche est schématique.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après bouclier tarifaire pour 2022-2024 (rapport MANERGY, § 5.2.1). Point de vigilance : la facture moyenne par logement est passée de 1 073 € à 1 219 € TTC entre 2024 et 2025, malgré la baisse du prix, parce que l’hiver 2025 a été plus froid (+5 % de rigueur climatique) et que les logements ont consommé davantage. Logement moyen : 6,7 MWh par an, 4,7 kW souscrits. Part fixe R2 : 788 € (65 %) ; part consommation R1 : 432 € (35 %).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à l’emplacement de Noisy Plage.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Propreté urbaine (Cédric Gaudin), courriel du 2 octobre 2026. Repère indicatif sur les bords de Marne, à ajuster.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Foncier-Commerce (Quentin Boulesteix, 1er octobre 2026). A : programme Kaufman &amp; Broad, supérette Cocci Market d’environ 265 m², ouverture dans le mois. B : programme Kaufman &amp; Broad, local professionnel d’environ 135 m², destination inconnue. C : lot A3 (Giboire), restaurant en VEFA. D : lot F (Édouard Denis), rue René Navier, environ 135 m², le précédent preneur s’est désisté. E : programme Batigère (lot D), local AMAP ou associatif qui accueillera les activités de la MPT La Varenne pendant ses travaux. ATTENTION : positions indicatives, à vérifier et à déplacer si besoin. Ne pas communiquer les conditions financières du bail de la boulangerie ni le contenu de la présentation SOCAREN (usage interne).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Petite Enfance (Elisabeth Chardon), 1er octobre 2026. Gestion en concession de service public, concessionnaire pas encore choisi. Bâtiment : programme Batigère (lot D), 70 logements sociaux, un commerce et la crèche. Position du repère indicative, à vérifier.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 (Nadège Dias), 2 octobre 2026. Arrêts : René Navier (1 signalement), Route de Neuilly (4), gare de Bry-sur-Marne avec la ligne 220 (6), Mont d’Est avec la ligne 303 (4). Le quartier fait l’objet de peu de signalements. Une nouvelle réunion technique est prévue début octobre (date à définir). Monsieur le Maire a rencontré IDFM au printemps et un courrier a été adressé à IDFM et Keolis.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Mobilités, présentation du 2 octobre 2026. Passerelle à l’est du pont de Neuilly ; études conjointes avec la Ville de Neuilly-sur-Marne. Le tracé jaune est schématique. Les diapositives du service (illustration de la passerelle, exemples de passerelles) peuvent être insérées après celle-ci.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au lieu de 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Réunion publique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Écoquartier Île de la Marne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Lundi 5 octobre 2026 – 19 h 30 – École de l’Oiseau Lyre</a:t>
            </a:r>
            <a:endParaRPr lang="en-US" sz="2400" dirty="0"/>
          </a:p>
        </p:txBody>
      </p:sp>
      <p:sp>
        <p:nvSpPr>
          <p:cNvPr id="7" name="credit_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5"/>
          <p:cNvSpPr txBox="1"/>
          <p:nvPr/>
        </p:nvSpPr>
        <p:spPr>
          <a:xfrm>
            <a:off x="411480" y="36576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quartier vu du ciel</a:t>
            </a:r>
            <a:endParaRPr lang="en-US" sz="3400" dirty="0"/>
          </a:p>
        </p:txBody>
      </p:sp>
      <p:sp>
        <p:nvSpPr>
          <p:cNvPr id="4" name="repere_6"/>
          <p:cNvSpPr/>
          <p:nvPr/>
        </p:nvSpPr>
        <p:spPr>
          <a:xfrm>
            <a:off x="5395327" y="2188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"/>
          <p:cNvSpPr txBox="1"/>
          <p:nvPr/>
        </p:nvSpPr>
        <p:spPr>
          <a:xfrm>
            <a:off x="5395327" y="2188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etiquette_8"/>
          <p:cNvSpPr txBox="1"/>
          <p:nvPr/>
        </p:nvSpPr>
        <p:spPr>
          <a:xfrm>
            <a:off x="5980543" y="222529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</a:t>
            </a:r>
            <a:endParaRPr lang="en-US" sz="1500" dirty="0"/>
          </a:p>
        </p:txBody>
      </p:sp>
      <p:sp>
        <p:nvSpPr>
          <p:cNvPr id="7" name="repere_9"/>
          <p:cNvSpPr/>
          <p:nvPr/>
        </p:nvSpPr>
        <p:spPr>
          <a:xfrm>
            <a:off x="2842691" y="15981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0"/>
          <p:cNvSpPr txBox="1"/>
          <p:nvPr/>
        </p:nvSpPr>
        <p:spPr>
          <a:xfrm>
            <a:off x="2842691" y="1598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etiquette_11"/>
          <p:cNvSpPr txBox="1"/>
          <p:nvPr/>
        </p:nvSpPr>
        <p:spPr>
          <a:xfrm>
            <a:off x="3427907" y="16347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Arrivée de la chaleur</a:t>
            </a:r>
            <a:endParaRPr lang="en-US" sz="1500" dirty="0"/>
          </a:p>
        </p:txBody>
      </p:sp>
      <p:sp>
        <p:nvSpPr>
          <p:cNvPr id="10" name="repere_12"/>
          <p:cNvSpPr/>
          <p:nvPr/>
        </p:nvSpPr>
        <p:spPr>
          <a:xfrm>
            <a:off x="3985662" y="339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13"/>
          <p:cNvSpPr txBox="1"/>
          <p:nvPr/>
        </p:nvSpPr>
        <p:spPr>
          <a:xfrm>
            <a:off x="3985662" y="339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2" name="etiquette_14"/>
          <p:cNvSpPr txBox="1"/>
          <p:nvPr/>
        </p:nvSpPr>
        <p:spPr>
          <a:xfrm>
            <a:off x="2385462" y="3431794"/>
            <a:ext cx="152704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Commerces</a:t>
            </a:r>
            <a:endParaRPr lang="en-US" sz="1500" dirty="0"/>
          </a:p>
        </p:txBody>
      </p:sp>
      <p:sp>
        <p:nvSpPr>
          <p:cNvPr id="13" name="repere_15"/>
          <p:cNvSpPr/>
          <p:nvPr/>
        </p:nvSpPr>
        <p:spPr>
          <a:xfrm>
            <a:off x="5649320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16"/>
          <p:cNvSpPr txBox="1"/>
          <p:nvPr/>
        </p:nvSpPr>
        <p:spPr>
          <a:xfrm>
            <a:off x="5649320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5" name="etiquette_17"/>
          <p:cNvSpPr txBox="1"/>
          <p:nvPr/>
        </p:nvSpPr>
        <p:spPr>
          <a:xfrm>
            <a:off x="6234536" y="359054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Crèche</a:t>
            </a:r>
            <a:endParaRPr lang="en-US" sz="1500" dirty="0"/>
          </a:p>
        </p:txBody>
      </p:sp>
      <p:sp>
        <p:nvSpPr>
          <p:cNvPr id="16" name="repere_18"/>
          <p:cNvSpPr/>
          <p:nvPr/>
        </p:nvSpPr>
        <p:spPr>
          <a:xfrm>
            <a:off x="8411501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19"/>
          <p:cNvSpPr txBox="1"/>
          <p:nvPr/>
        </p:nvSpPr>
        <p:spPr>
          <a:xfrm>
            <a:off x="8411501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18" name="etiquette_20"/>
          <p:cNvSpPr txBox="1"/>
          <p:nvPr/>
        </p:nvSpPr>
        <p:spPr>
          <a:xfrm>
            <a:off x="8996717" y="35905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9" name="repere_21"/>
          <p:cNvSpPr/>
          <p:nvPr/>
        </p:nvSpPr>
        <p:spPr>
          <a:xfrm>
            <a:off x="3045885" y="1109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20" name="repere_num_22"/>
          <p:cNvSpPr txBox="1"/>
          <p:nvPr/>
        </p:nvSpPr>
        <p:spPr>
          <a:xfrm>
            <a:off x="3045885" y="1109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1" name="etiquette_23"/>
          <p:cNvSpPr txBox="1"/>
          <p:nvPr/>
        </p:nvSpPr>
        <p:spPr>
          <a:xfrm>
            <a:off x="3631101" y="1145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</a:t>
            </a:r>
            <a:endParaRPr lang="en-US" sz="1500" dirty="0"/>
          </a:p>
        </p:txBody>
      </p:sp>
      <p:sp>
        <p:nvSpPr>
          <p:cNvPr id="22" name="toponyme_24"/>
          <p:cNvSpPr txBox="1"/>
          <p:nvPr/>
        </p:nvSpPr>
        <p:spPr>
          <a:xfrm>
            <a:off x="8191295" y="1905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La Marne</a:t>
            </a:r>
            <a:endParaRPr lang="en-US" sz="1800" dirty="0"/>
          </a:p>
        </p:txBody>
      </p:sp>
      <p:sp>
        <p:nvSpPr>
          <p:cNvPr id="23" name="toponyme_25"/>
          <p:cNvSpPr txBox="1"/>
          <p:nvPr/>
        </p:nvSpPr>
        <p:spPr>
          <a:xfrm>
            <a:off x="6675120" y="457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</a:rPr>
              <a:t>NEUILLY-SUR-MARNE</a:t>
            </a:r>
            <a:endParaRPr lang="en-US" sz="1600" dirty="0"/>
          </a:p>
        </p:txBody>
      </p:sp>
      <p:sp>
        <p:nvSpPr>
          <p:cNvPr id="24" name="toponyme_26"/>
          <p:cNvSpPr txBox="1"/>
          <p:nvPr/>
        </p:nvSpPr>
        <p:spPr>
          <a:xfrm rot="3120000">
            <a:off x="3555911" y="4445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Route de Neuilly</a:t>
            </a:r>
            <a:endParaRPr lang="en-US" sz="1500" dirty="0"/>
          </a:p>
        </p:txBody>
      </p:sp>
      <p:sp>
        <p:nvSpPr>
          <p:cNvPr id="25" name="credit_2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8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2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3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itre_3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 et agrès</a:t>
            </a:r>
            <a:endParaRPr lang="en-US" sz="2800" dirty="0"/>
          </a:p>
        </p:txBody>
      </p:sp>
      <p:sp>
        <p:nvSpPr>
          <p:cNvPr id="6" name="a_completer_32"/>
          <p:cNvSpPr txBox="1"/>
          <p:nvPr/>
        </p:nvSpPr>
        <p:spPr>
          <a:xfrm>
            <a:off x="731520" y="2423160"/>
            <a:ext cx="3657600" cy="201168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agrès installés, agrès en projet et calendrier (éléments attendus de la Direction de l’Environnement et de l’Espace public).</a:t>
            </a:r>
            <a:endParaRPr lang="en-US" sz="1600" dirty="0"/>
          </a:p>
        </p:txBody>
      </p:sp>
      <p:sp>
        <p:nvSpPr>
          <p:cNvPr id="7" name="repere_33"/>
          <p:cNvSpPr/>
          <p:nvPr/>
        </p:nvSpPr>
        <p:spPr>
          <a:xfrm>
            <a:off x="6982787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34"/>
          <p:cNvSpPr txBox="1"/>
          <p:nvPr/>
        </p:nvSpPr>
        <p:spPr>
          <a:xfrm>
            <a:off x="6982787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etiquette_35"/>
          <p:cNvSpPr txBox="1"/>
          <p:nvPr/>
        </p:nvSpPr>
        <p:spPr>
          <a:xfrm>
            <a:off x="7568003" y="35905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 de l’écoquartier</a:t>
            </a:r>
            <a:endParaRPr lang="en-US" sz="1500" dirty="0"/>
          </a:p>
        </p:txBody>
      </p:sp>
      <p:sp>
        <p:nvSpPr>
          <p:cNvPr id="10" name="credit_3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3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15000"/>
            </a:srgbClr>
          </a:solidFill>
          <a:ln/>
        </p:spPr>
      </p:sp>
      <p:sp>
        <p:nvSpPr>
          <p:cNvPr id="4" name="panneau_3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numero_4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itre_4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D’où vient la chaleur ?</a:t>
            </a:r>
            <a:endParaRPr lang="en-US" sz="2800" dirty="0"/>
          </a:p>
        </p:txBody>
      </p:sp>
      <p:sp>
        <p:nvSpPr>
          <p:cNvPr id="7" name="faits_42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La chaleur est produite à Neuilly-sur-Marne, à plus de 50 % par la géothermie profonde.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Elle traverse la Marne et arrive au quartier par une chambre de vannes près du pont.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IDEX exploite le réseau du quartier pour la Ville jusqu’en juillet 2030.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En 2025 : 70 % d’énergies renouvelables, ce qui ouvre droit à la TVA réduite.</a:t>
            </a:r>
            <a:endParaRPr lang="en-US" sz="1700" dirty="0"/>
          </a:p>
        </p:txBody>
      </p:sp>
      <p:sp>
        <p:nvSpPr>
          <p:cNvPr id="8" name="fleche_chaleur_43"/>
          <p:cNvSpPr/>
          <p:nvPr/>
        </p:nvSpPr>
        <p:spPr>
          <a:xfrm>
            <a:off x="5714857" y="1143000"/>
            <a:ext cx="266693" cy="1905000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9" name="fleche_chaleur_44"/>
          <p:cNvSpPr/>
          <p:nvPr/>
        </p:nvSpPr>
        <p:spPr>
          <a:xfrm>
            <a:off x="5981550" y="3190875"/>
            <a:ext cx="685783" cy="619125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10" name="etiquette_45"/>
          <p:cNvSpPr txBox="1"/>
          <p:nvPr/>
        </p:nvSpPr>
        <p:spPr>
          <a:xfrm>
            <a:off x="6095848" y="904875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E8735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Réseau de chaleur de Neuilly-sur-Marne (géothermie)</a:t>
            </a:r>
            <a:endParaRPr lang="en-US" sz="1500" dirty="0"/>
          </a:p>
        </p:txBody>
      </p:sp>
      <p:sp>
        <p:nvSpPr>
          <p:cNvPr id="11" name="repere_46"/>
          <p:cNvSpPr/>
          <p:nvPr/>
        </p:nvSpPr>
        <p:spPr>
          <a:xfrm>
            <a:off x="5706469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2" name="repere_num_47"/>
          <p:cNvSpPr txBox="1"/>
          <p:nvPr/>
        </p:nvSpPr>
        <p:spPr>
          <a:xfrm>
            <a:off x="5706469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etiquette_48"/>
          <p:cNvSpPr txBox="1"/>
          <p:nvPr/>
        </p:nvSpPr>
        <p:spPr>
          <a:xfrm>
            <a:off x="6291685" y="2923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Chambre de vannes</a:t>
            </a:r>
            <a:endParaRPr lang="en-US" sz="1500" dirty="0"/>
          </a:p>
        </p:txBody>
      </p:sp>
      <p:sp>
        <p:nvSpPr>
          <p:cNvPr id="14" name="etiquette_49"/>
          <p:cNvSpPr txBox="1"/>
          <p:nvPr/>
        </p:nvSpPr>
        <p:spPr>
          <a:xfrm>
            <a:off x="6810205" y="3857625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5" name="credit_5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facture de chauffage</a:t>
            </a:r>
            <a:endParaRPr lang="en-US" sz="3400" dirty="0"/>
          </a:p>
        </p:txBody>
      </p:sp>
      <p:graphicFrame>
        <p:nvGraphicFramePr>
          <p:cNvPr id="4" name="graphique_prix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– 18 % entre 2024 et 2025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417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que paie un logement moyen en 2025 : environ 1 219 € TTC</a:t>
            </a:r>
            <a:endParaRPr lang="en-US" sz="1800" dirty="0"/>
          </a:p>
        </p:txBody>
      </p:sp>
      <p:sp>
        <p:nvSpPr>
          <p:cNvPr id="7" name="barre_fixe_51"/>
          <p:cNvSpPr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solidFill>
            <a:srgbClr val="E8735A"/>
          </a:solidFill>
          <a:ln/>
        </p:spPr>
      </p:sp>
      <p:sp>
        <p:nvSpPr>
          <p:cNvPr id="8" name="barre_conso_52"/>
          <p:cNvSpPr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solidFill>
            <a:srgbClr val="2E9C8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65 %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35 %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0040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Abonnement, selon la puissance souscrite par l’immeuble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976104" y="3200400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Consommation</a:t>
            </a:r>
            <a:endParaRPr lang="en-US" sz="1400" dirty="0"/>
          </a:p>
        </p:txBody>
      </p:sp>
      <p:sp>
        <p:nvSpPr>
          <p:cNvPr id="13" name="encadre_action_53"/>
          <p:cNvSpPr/>
          <p:nvPr/>
        </p:nvSpPr>
        <p:spPr>
          <a:xfrm>
            <a:off x="6766560" y="4160520"/>
            <a:ext cx="4937760" cy="1965960"/>
          </a:xfrm>
          <a:prstGeom prst="roundRect">
            <a:avLst>
              <a:gd name="adj" fmla="val 4651"/>
            </a:avLst>
          </a:prstGeom>
          <a:solidFill>
            <a:srgbClr val="1F4E5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95160" y="42976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4B942"/>
                </a:solidFill>
              </a:rPr>
              <a:t>L’action de la Ville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La Ville a accompagné les copropriétés pour faire baisser la puissance souscrite de certains immeubles : l’abonnement diminue, avec effet rétroactif depuis novembre 2025.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54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5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5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itre_5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de Noisy Plage</a:t>
            </a:r>
            <a:endParaRPr lang="en-US" sz="2800" dirty="0"/>
          </a:p>
        </p:txBody>
      </p:sp>
      <p:sp>
        <p:nvSpPr>
          <p:cNvPr id="6" name="a_completer_58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dates, fréquentation, activités proposées et emplacement sur les bords de Marne.</a:t>
            </a:r>
            <a:endParaRPr lang="en-US" sz="1600" dirty="0"/>
          </a:p>
        </p:txBody>
      </p:sp>
      <p:sp>
        <p:nvSpPr>
          <p:cNvPr id="7" name="credit_5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0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itre_6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6" name="a_completer_6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chiffres et actions de la police municipale dans le quartier.</a:t>
            </a:r>
            <a:endParaRPr lang="en-US" sz="1600" dirty="0"/>
          </a:p>
        </p:txBody>
      </p:sp>
      <p:sp>
        <p:nvSpPr>
          <p:cNvPr id="7" name="credit_6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6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itre_6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Propreté</a:t>
            </a:r>
            <a:endParaRPr lang="en-US" sz="2800" dirty="0"/>
          </a:p>
        </p:txBody>
      </p:sp>
      <p:sp>
        <p:nvSpPr>
          <p:cNvPr id="6" name="faits_70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Peu de signalements de propreté dans l’écoquartier.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corbeilles du parc et celles du bord de Marne étaient vidées par deux équipes différentes : la collecte du secteur est en cours de réorganisation.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Depuis l’été dernier, un agent à vélo nettoie plus souvent l’Île aux Oiseaux.</a:t>
            </a:r>
            <a:endParaRPr lang="en-US" sz="1700" dirty="0"/>
          </a:p>
        </p:txBody>
      </p:sp>
      <p:sp>
        <p:nvSpPr>
          <p:cNvPr id="7" name="repere_71"/>
          <p:cNvSpPr/>
          <p:nvPr/>
        </p:nvSpPr>
        <p:spPr>
          <a:xfrm>
            <a:off x="5077835" y="212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72"/>
          <p:cNvSpPr txBox="1"/>
          <p:nvPr/>
        </p:nvSpPr>
        <p:spPr>
          <a:xfrm>
            <a:off x="5077835" y="212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9" name="etiquette_73"/>
          <p:cNvSpPr txBox="1"/>
          <p:nvPr/>
        </p:nvSpPr>
        <p:spPr>
          <a:xfrm>
            <a:off x="5663051" y="2161794"/>
            <a:ext cx="212140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Bords de Marne</a:t>
            </a:r>
            <a:endParaRPr lang="en-US" sz="1500" dirty="0"/>
          </a:p>
        </p:txBody>
      </p:sp>
      <p:sp>
        <p:nvSpPr>
          <p:cNvPr id="10" name="credit_7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75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76"/>
          <p:cNvSpPr txBox="1"/>
          <p:nvPr/>
        </p:nvSpPr>
        <p:spPr>
          <a:xfrm>
            <a:off x="411480" y="5715000"/>
            <a:ext cx="694944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commerces qui arrivent</a:t>
            </a:r>
            <a:endParaRPr lang="en-US" sz="3200" dirty="0"/>
          </a:p>
        </p:txBody>
      </p:sp>
      <p:sp>
        <p:nvSpPr>
          <p:cNvPr id="4" name="repere_77"/>
          <p:cNvSpPr/>
          <p:nvPr/>
        </p:nvSpPr>
        <p:spPr>
          <a:xfrm>
            <a:off x="4030111" y="3315843"/>
            <a:ext cx="512064" cy="512064"/>
          </a:xfrm>
          <a:prstGeom prst="ellipse">
            <a:avLst/>
          </a:prstGeom>
          <a:solidFill>
            <a:srgbClr val="2E9C86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8"/>
          <p:cNvSpPr txBox="1"/>
          <p:nvPr/>
        </p:nvSpPr>
        <p:spPr>
          <a:xfrm>
            <a:off x="4030111" y="331584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etiquette_79"/>
          <p:cNvSpPr txBox="1"/>
          <p:nvPr/>
        </p:nvSpPr>
        <p:spPr>
          <a:xfrm>
            <a:off x="884575" y="3352419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Supérette Cocci Market</a:t>
            </a:r>
            <a:endParaRPr lang="en-US" sz="1500" dirty="0"/>
          </a:p>
        </p:txBody>
      </p:sp>
      <p:sp>
        <p:nvSpPr>
          <p:cNvPr id="7" name="repere_80"/>
          <p:cNvSpPr/>
          <p:nvPr/>
        </p:nvSpPr>
        <p:spPr>
          <a:xfrm>
            <a:off x="4220606" y="393496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81"/>
          <p:cNvSpPr txBox="1"/>
          <p:nvPr/>
        </p:nvSpPr>
        <p:spPr>
          <a:xfrm>
            <a:off x="4220606" y="3934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etiquette_82"/>
          <p:cNvSpPr txBox="1"/>
          <p:nvPr/>
        </p:nvSpPr>
        <p:spPr>
          <a:xfrm>
            <a:off x="1431686" y="3971544"/>
            <a:ext cx="271576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professionnel</a:t>
            </a:r>
            <a:endParaRPr lang="en-US" sz="1500" dirty="0"/>
          </a:p>
        </p:txBody>
      </p:sp>
      <p:sp>
        <p:nvSpPr>
          <p:cNvPr id="10" name="repere_83"/>
          <p:cNvSpPr/>
          <p:nvPr/>
        </p:nvSpPr>
        <p:spPr>
          <a:xfrm>
            <a:off x="5554073" y="791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84"/>
          <p:cNvSpPr txBox="1"/>
          <p:nvPr/>
        </p:nvSpPr>
        <p:spPr>
          <a:xfrm>
            <a:off x="5554073" y="791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etiquette_85"/>
          <p:cNvSpPr txBox="1"/>
          <p:nvPr/>
        </p:nvSpPr>
        <p:spPr>
          <a:xfrm>
            <a:off x="6139289" y="82829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Restaurant</a:t>
            </a:r>
            <a:endParaRPr lang="en-US" sz="1500" dirty="0"/>
          </a:p>
        </p:txBody>
      </p:sp>
      <p:sp>
        <p:nvSpPr>
          <p:cNvPr id="13" name="repere_86"/>
          <p:cNvSpPr/>
          <p:nvPr/>
        </p:nvSpPr>
        <p:spPr>
          <a:xfrm>
            <a:off x="8030511" y="4935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87"/>
          <p:cNvSpPr txBox="1"/>
          <p:nvPr/>
        </p:nvSpPr>
        <p:spPr>
          <a:xfrm>
            <a:off x="8030511" y="4935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etiquette_88"/>
          <p:cNvSpPr txBox="1"/>
          <p:nvPr/>
        </p:nvSpPr>
        <p:spPr>
          <a:xfrm>
            <a:off x="8615727" y="4971669"/>
            <a:ext cx="176479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Boulangerie</a:t>
            </a:r>
            <a:endParaRPr lang="en-US" sz="1500" dirty="0"/>
          </a:p>
        </p:txBody>
      </p:sp>
      <p:sp>
        <p:nvSpPr>
          <p:cNvPr id="16" name="repere_89"/>
          <p:cNvSpPr/>
          <p:nvPr/>
        </p:nvSpPr>
        <p:spPr>
          <a:xfrm>
            <a:off x="6839916" y="336346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90"/>
          <p:cNvSpPr txBox="1"/>
          <p:nvPr/>
        </p:nvSpPr>
        <p:spPr>
          <a:xfrm>
            <a:off x="6839916" y="33634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8" name="etiquette_91"/>
          <p:cNvSpPr txBox="1"/>
          <p:nvPr/>
        </p:nvSpPr>
        <p:spPr>
          <a:xfrm>
            <a:off x="7425132" y="3400044"/>
            <a:ext cx="235915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associatif</a:t>
            </a:r>
            <a:endParaRPr lang="en-US" sz="1500" dirty="0"/>
          </a:p>
        </p:txBody>
      </p:sp>
      <p:sp>
        <p:nvSpPr>
          <p:cNvPr id="19" name="legende_cadre_92"/>
          <p:cNvSpPr/>
          <p:nvPr/>
        </p:nvSpPr>
        <p:spPr>
          <a:xfrm>
            <a:off x="8503920" y="36576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20" name="legende_puce_93"/>
          <p:cNvSpPr/>
          <p:nvPr/>
        </p:nvSpPr>
        <p:spPr>
          <a:xfrm>
            <a:off x="8686800" y="502920"/>
            <a:ext cx="219456" cy="219456"/>
          </a:xfrm>
          <a:prstGeom prst="ellipse">
            <a:avLst/>
          </a:prstGeom>
          <a:solidFill>
            <a:srgbClr val="2E9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06840" y="448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Ouverture imminente</a:t>
            </a:r>
            <a:endParaRPr lang="en-US" sz="1400" dirty="0"/>
          </a:p>
        </p:txBody>
      </p:sp>
      <p:sp>
        <p:nvSpPr>
          <p:cNvPr id="22" name="legende_puce_94"/>
          <p:cNvSpPr/>
          <p:nvPr/>
        </p:nvSpPr>
        <p:spPr>
          <a:xfrm>
            <a:off x="8686800" y="832104"/>
            <a:ext cx="219456" cy="2194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06840" y="777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Preneur recherché</a:t>
            </a:r>
            <a:endParaRPr lang="en-US" sz="1400" dirty="0"/>
          </a:p>
        </p:txBody>
      </p:sp>
      <p:sp>
        <p:nvSpPr>
          <p:cNvPr id="24" name="legende_puce_95"/>
          <p:cNvSpPr/>
          <p:nvPr/>
        </p:nvSpPr>
        <p:spPr>
          <a:xfrm>
            <a:off x="8686800" y="1161288"/>
            <a:ext cx="219456" cy="219456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1106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Autre local à venir</a:t>
            </a:r>
            <a:endParaRPr lang="en-US" sz="1400" dirty="0"/>
          </a:p>
        </p:txBody>
      </p:sp>
      <p:sp>
        <p:nvSpPr>
          <p:cNvPr id="26" name="credit_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97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9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9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5" name="titre_10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crèche de 40 places</a:t>
            </a:r>
            <a:endParaRPr lang="en-US" sz="2800" dirty="0"/>
          </a:p>
        </p:txBody>
      </p:sp>
      <p:sp>
        <p:nvSpPr>
          <p:cNvPr id="6" name="chiffre_10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Sept. 2027</a:t>
            </a:r>
            <a:endParaRPr lang="en-US" sz="4600" dirty="0"/>
          </a:p>
        </p:txBody>
      </p:sp>
      <p:sp>
        <p:nvSpPr>
          <p:cNvPr id="7" name="legende_10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ouverture prévue</a:t>
            </a:r>
            <a:endParaRPr lang="en-US" sz="1500" dirty="0"/>
          </a:p>
        </p:txBody>
      </p:sp>
      <p:sp>
        <p:nvSpPr>
          <p:cNvPr id="8" name="faits_103"/>
          <p:cNvSpPr txBox="1"/>
          <p:nvPr/>
        </p:nvSpPr>
        <p:spPr>
          <a:xfrm>
            <a:off x="731520" y="393192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 unités de 20 places : bébés-moyens et moyens-grands.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609 m² et un jardin de 131 m².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Inscription sur le portail familles, comme pour toutes les crèches de la ville.</a:t>
            </a:r>
            <a:endParaRPr lang="en-US" sz="1700" dirty="0"/>
          </a:p>
        </p:txBody>
      </p:sp>
      <p:sp>
        <p:nvSpPr>
          <p:cNvPr id="9" name="repere_104"/>
          <p:cNvSpPr/>
          <p:nvPr/>
        </p:nvSpPr>
        <p:spPr>
          <a:xfrm>
            <a:off x="6839916" y="350634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05"/>
          <p:cNvSpPr txBox="1"/>
          <p:nvPr/>
        </p:nvSpPr>
        <p:spPr>
          <a:xfrm>
            <a:off x="6839916" y="350634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1" name="etiquette_106"/>
          <p:cNvSpPr txBox="1"/>
          <p:nvPr/>
        </p:nvSpPr>
        <p:spPr>
          <a:xfrm>
            <a:off x="7425132" y="3542919"/>
            <a:ext cx="2002536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crèche</a:t>
            </a:r>
            <a:endParaRPr lang="en-US" sz="1500" dirty="0"/>
          </a:p>
        </p:txBody>
      </p:sp>
      <p:sp>
        <p:nvSpPr>
          <p:cNvPr id="12" name="credit_10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08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0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1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5" name="titre_11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de l’Oiseau Lyre : le choix des enfants</a:t>
            </a:r>
            <a:endParaRPr lang="en-US" sz="2800" dirty="0"/>
          </a:p>
        </p:txBody>
      </p:sp>
      <p:sp>
        <p:nvSpPr>
          <p:cNvPr id="6" name="a_completer_112"/>
          <p:cNvSpPr txBox="1"/>
          <p:nvPr/>
        </p:nvSpPr>
        <p:spPr>
          <a:xfrm>
            <a:off x="731520" y="2788920"/>
            <a:ext cx="3657600" cy="146304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objet du choix, modalités et résultat.</a:t>
            </a:r>
            <a:endParaRPr lang="en-US" sz="1600" dirty="0"/>
          </a:p>
        </p:txBody>
      </p:sp>
      <p:sp>
        <p:nvSpPr>
          <p:cNvPr id="7" name="repere_113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14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9" name="etiquette_115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1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1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: la consultation des habitants</a:t>
            </a:r>
            <a:endParaRPr lang="en-US" sz="3400" dirty="0"/>
          </a:p>
        </p:txBody>
      </p:sp>
      <p:sp>
        <p:nvSpPr>
          <p:cNvPr id="5" name="chiffre_119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</a:t>
            </a:r>
            <a:endParaRPr lang="en-US" sz="4600" dirty="0"/>
          </a:p>
        </p:txBody>
      </p:sp>
      <p:sp>
        <p:nvSpPr>
          <p:cNvPr id="6" name="legende_120"/>
          <p:cNvSpPr txBox="1"/>
          <p:nvPr/>
        </p:nvSpPr>
        <p:spPr>
          <a:xfrm>
            <a:off x="54864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signalements reçus entre le 5 août et le 30 septembre</a:t>
            </a:r>
            <a:endParaRPr lang="en-US" sz="1500" dirty="0"/>
          </a:p>
        </p:txBody>
      </p:sp>
      <p:sp>
        <p:nvSpPr>
          <p:cNvPr id="7" name="chiffre_121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8" name="legende_122"/>
          <p:cNvSpPr txBox="1"/>
          <p:nvPr/>
        </p:nvSpPr>
        <p:spPr>
          <a:xfrm>
            <a:off x="4297680" y="22677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303, qui dessert le quartier</a:t>
            </a:r>
            <a:endParaRPr lang="en-US" sz="1500" dirty="0"/>
          </a:p>
        </p:txBody>
      </p:sp>
      <p:sp>
        <p:nvSpPr>
          <p:cNvPr id="9" name="chiffre_123"/>
          <p:cNvSpPr txBox="1"/>
          <p:nvPr/>
        </p:nvSpPr>
        <p:spPr>
          <a:xfrm>
            <a:off x="786384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4600" dirty="0"/>
          </a:p>
        </p:txBody>
      </p:sp>
      <p:sp>
        <p:nvSpPr>
          <p:cNvPr id="10" name="legende_124"/>
          <p:cNvSpPr txBox="1"/>
          <p:nvPr/>
        </p:nvSpPr>
        <p:spPr>
          <a:xfrm>
            <a:off x="7863840" y="2267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220 (arrêt Route de Neuilly, à environ 500 m)</a:t>
            </a:r>
            <a:endParaRPr lang="en-US" sz="1500" dirty="0"/>
          </a:p>
        </p:txBody>
      </p:sp>
      <p:sp>
        <p:nvSpPr>
          <p:cNvPr id="11" name="frise_125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12" name="frise_point_126"/>
          <p:cNvSpPr/>
          <p:nvPr/>
        </p:nvSpPr>
        <p:spPr>
          <a:xfrm>
            <a:off x="685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9 sept.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Réunion avec Keolis et IDFM</a:t>
            </a:r>
            <a:endParaRPr lang="en-US" sz="1500" dirty="0"/>
          </a:p>
        </p:txBody>
      </p:sp>
      <p:sp>
        <p:nvSpPr>
          <p:cNvPr id="15" name="frise_point_127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34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10 sept.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300 premiers signalements transmis</a:t>
            </a:r>
            <a:endParaRPr lang="en-US" sz="1500" dirty="0"/>
          </a:p>
        </p:txBody>
      </p:sp>
      <p:sp>
        <p:nvSpPr>
          <p:cNvPr id="18" name="frise_point_128"/>
          <p:cNvSpPr/>
          <p:nvPr/>
        </p:nvSpPr>
        <p:spPr>
          <a:xfrm>
            <a:off x="5257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11 sept.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Fin des pannes de bus au dépôt</a:t>
            </a:r>
            <a:endParaRPr lang="en-US" sz="1500" dirty="0"/>
          </a:p>
        </p:txBody>
      </p:sp>
      <p:sp>
        <p:nvSpPr>
          <p:cNvPr id="21" name="frise_point_129"/>
          <p:cNvSpPr/>
          <p:nvPr/>
        </p:nvSpPr>
        <p:spPr>
          <a:xfrm>
            <a:off x="7543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06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17 sept.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Deuxième réunion technique</a:t>
            </a:r>
            <a:endParaRPr lang="en-US" sz="1500" dirty="0"/>
          </a:p>
        </p:txBody>
      </p:sp>
      <p:sp>
        <p:nvSpPr>
          <p:cNvPr id="24" name="frise_point_130"/>
          <p:cNvSpPr/>
          <p:nvPr/>
        </p:nvSpPr>
        <p:spPr>
          <a:xfrm>
            <a:off x="9829800" y="4023360"/>
            <a:ext cx="274320" cy="274320"/>
          </a:xfrm>
          <a:prstGeom prst="ellipse">
            <a:avLst/>
          </a:prstGeom>
          <a:solidFill>
            <a:srgbClr val="E873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35A"/>
                </a:solidFill>
              </a:rPr>
              <a:t>17 nov.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Rencontre entre M. le Maire et Keolis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Keolis et IDFM constatent une amélioration de la régularité, mais des difficultés persistent.</a:t>
            </a:r>
            <a:endParaRPr lang="en-US" sz="1600" dirty="0"/>
          </a:p>
        </p:txBody>
      </p:sp>
      <p:sp>
        <p:nvSpPr>
          <p:cNvPr id="28" name="credit_131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32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race_passerelle_133"/>
          <p:cNvSpPr/>
          <p:nvPr/>
        </p:nvSpPr>
        <p:spPr>
          <a:xfrm>
            <a:off x="4924302" y="1504950"/>
            <a:ext cx="504812" cy="1314450"/>
          </a:xfrm>
          <a:prstGeom prst="line">
            <a:avLst/>
          </a:prstGeom>
          <a:noFill/>
          <a:ln w="114300">
            <a:solidFill>
              <a:srgbClr val="F4B942"/>
            </a:solidFill>
            <a:prstDash val="solid"/>
          </a:ln>
        </p:spPr>
      </p:sp>
      <p:sp>
        <p:nvSpPr>
          <p:cNvPr id="4" name="trace_cyclable_134"/>
          <p:cNvSpPr/>
          <p:nvPr/>
        </p:nvSpPr>
        <p:spPr>
          <a:xfrm>
            <a:off x="5448164" y="2905125"/>
            <a:ext cx="742931" cy="2428875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5" name="trace_cyclable_135"/>
          <p:cNvSpPr/>
          <p:nvPr/>
        </p:nvSpPr>
        <p:spPr>
          <a:xfrm>
            <a:off x="6191095" y="5334000"/>
            <a:ext cx="1095348" cy="1524000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6" name="repere_136"/>
          <p:cNvSpPr/>
          <p:nvPr/>
        </p:nvSpPr>
        <p:spPr>
          <a:xfrm>
            <a:off x="4925438" y="1887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7" name="repere_num_137"/>
          <p:cNvSpPr txBox="1"/>
          <p:nvPr/>
        </p:nvSpPr>
        <p:spPr>
          <a:xfrm>
            <a:off x="4925438" y="1887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8" name="etiquette_138"/>
          <p:cNvSpPr txBox="1"/>
          <p:nvPr/>
        </p:nvSpPr>
        <p:spPr>
          <a:xfrm>
            <a:off x="5510654" y="1923669"/>
            <a:ext cx="414223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 piétons-vélos</a:t>
            </a:r>
            <a:endParaRPr lang="en-US" sz="1500" dirty="0"/>
          </a:p>
        </p:txBody>
      </p:sp>
      <p:sp>
        <p:nvSpPr>
          <p:cNvPr id="9" name="etiquette_139"/>
          <p:cNvSpPr txBox="1"/>
          <p:nvPr/>
        </p:nvSpPr>
        <p:spPr>
          <a:xfrm>
            <a:off x="6103463" y="3762375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2E9C8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Continuité cyclable par la route de Neuilly (étude de faisabilité)</a:t>
            </a:r>
            <a:endParaRPr lang="en-US" sz="1400" dirty="0"/>
          </a:p>
        </p:txBody>
      </p:sp>
      <p:sp>
        <p:nvSpPr>
          <p:cNvPr id="10" name="etiquette_140"/>
          <p:cNvSpPr txBox="1"/>
          <p:nvPr/>
        </p:nvSpPr>
        <p:spPr>
          <a:xfrm>
            <a:off x="2885957" y="104775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13A"/>
                </a:solidFill>
              </a:rPr>
              <a:t>Pont de Neuilly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95848" y="274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NEUILLY-SUR-MARNE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NOISY-LE-GRAND</a:t>
            </a:r>
            <a:endParaRPr lang="en-US" sz="1500" dirty="0"/>
          </a:p>
        </p:txBody>
      </p:sp>
      <p:sp>
        <p:nvSpPr>
          <p:cNvPr id="13" name="titre_141"/>
          <p:cNvSpPr txBox="1"/>
          <p:nvPr/>
        </p:nvSpPr>
        <p:spPr>
          <a:xfrm>
            <a:off x="411480" y="4572000"/>
            <a:ext cx="6766560" cy="640080"/>
          </a:xfrm>
          <a:prstGeom prst="roundRect">
            <a:avLst>
              <a:gd name="adj" fmla="val 14286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52400" rIns="15240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passerelle vers Neuilly-sur-Marne</a:t>
            </a:r>
            <a:endParaRPr lang="en-US" sz="2400" dirty="0"/>
          </a:p>
        </p:txBody>
      </p:sp>
      <p:sp>
        <p:nvSpPr>
          <p:cNvPr id="14" name="frise_cadre_142"/>
          <p:cNvSpPr/>
          <p:nvPr/>
        </p:nvSpPr>
        <p:spPr>
          <a:xfrm>
            <a:off x="411480" y="5349240"/>
            <a:ext cx="11384280" cy="1051560"/>
          </a:xfrm>
          <a:prstGeom prst="roundRect">
            <a:avLst>
              <a:gd name="adj" fmla="val 8696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8 sept. 2026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Choix du scénario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2026 – mi-2027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Études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Mi-2027 – fin 2028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Travaux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</a:rPr>
              <a:t>Fin 2028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Mise en service</a:t>
            </a:r>
            <a:endParaRPr lang="en-US" sz="1500" dirty="0"/>
          </a:p>
        </p:txBody>
      </p:sp>
      <p:sp>
        <p:nvSpPr>
          <p:cNvPr id="23" name="credit_14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44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4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4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5" name="titre_14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Feux d’artifice</a:t>
            </a:r>
            <a:endParaRPr lang="en-US" sz="2800" dirty="0"/>
          </a:p>
        </p:txBody>
      </p:sp>
      <p:sp>
        <p:nvSpPr>
          <p:cNvPr id="6" name="a_completer_148"/>
          <p:cNvSpPr txBox="1"/>
          <p:nvPr/>
        </p:nvSpPr>
        <p:spPr>
          <a:xfrm>
            <a:off x="731520" y="2423160"/>
            <a:ext cx="3657600" cy="164592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date, lieu de tir et périmètre de sécurité.</a:t>
            </a:r>
            <a:endParaRPr lang="en-US" sz="1600" dirty="0"/>
          </a:p>
        </p:txBody>
      </p:sp>
      <p:sp>
        <p:nvSpPr>
          <p:cNvPr id="7" name="credit_14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0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5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5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5" name="titre_15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Périscolaire</a:t>
            </a:r>
            <a:endParaRPr lang="en-US" sz="2800" dirty="0"/>
          </a:p>
        </p:txBody>
      </p:sp>
      <p:sp>
        <p:nvSpPr>
          <p:cNvPr id="6" name="a_completer_15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accueil du matin et du soir, mercredis, effectifs et nouveautés de la rentrée.</a:t>
            </a:r>
            <a:endParaRPr lang="en-US" sz="1600" dirty="0"/>
          </a:p>
        </p:txBody>
      </p:sp>
      <p:sp>
        <p:nvSpPr>
          <p:cNvPr id="7" name="repere_155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56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etiquette_157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58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9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60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61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5" name="titre_162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Démocratie locale : les conseils de quartier</a:t>
            </a:r>
            <a:endParaRPr lang="en-US" sz="2800" dirty="0"/>
          </a:p>
        </p:txBody>
      </p:sp>
      <p:sp>
        <p:nvSpPr>
          <p:cNvPr id="6" name="a_completer_163"/>
          <p:cNvSpPr txBox="1"/>
          <p:nvPr/>
        </p:nvSpPr>
        <p:spPr>
          <a:xfrm>
            <a:off x="731520" y="278892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calendrier, modalités de candidature et périmètre du conseil de quartier.</a:t>
            </a:r>
            <a:endParaRPr lang="en-US" sz="1600" dirty="0"/>
          </a:p>
        </p:txBody>
      </p:sp>
      <p:sp>
        <p:nvSpPr>
          <p:cNvPr id="7" name="credit_16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65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6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de votre attention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B942"/>
                </a:solidFill>
              </a:rPr>
              <a:t>Place à vos questions</a:t>
            </a:r>
            <a:endParaRPr lang="en-US" sz="2800" dirty="0"/>
          </a:p>
        </p:txBody>
      </p:sp>
      <p:sp>
        <p:nvSpPr>
          <p:cNvPr id="6" name="credit_16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quartier">
  <a:themeElements>
    <a:clrScheme name="Ecoquartier">
      <a:dk1>
        <a:srgbClr val="12313A"/>
      </a:dk1>
      <a:lt1>
        <a:srgbClr val="FFFFFF"/>
      </a:lt1>
      <a:dk2>
        <a:srgbClr val="1F4E57"/>
      </a:dk2>
      <a:lt2>
        <a:srgbClr val="EEF3F2"/>
      </a:lt2>
      <a:accent1>
        <a:srgbClr val="F4B942"/>
      </a:accent1>
      <a:accent2>
        <a:srgbClr val="2E9C86"/>
      </a:accent2>
      <a:accent3>
        <a:srgbClr val="E8735A"/>
      </a:accent3>
      <a:accent4>
        <a:srgbClr val="5B9BD5"/>
      </a:accent4>
      <a:accent5>
        <a:srgbClr val="8FB8B0"/>
      </a:accent5>
      <a:accent6>
        <a:srgbClr val="B9C7C5"/>
      </a:accent6>
      <a:hlink>
        <a:srgbClr val="2E9C86"/>
      </a:hlink>
      <a:folHlink>
        <a:srgbClr val="1F4E57"/>
      </a:folHlink>
    </a:clrScheme>
    <a:fontScheme name="Ecoquarti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Réunion publique Écoquartier Île de la Marne – 5 octobre 2026</dc:title>
  <dc:subject>PptxGenJS Presentation</dc:subject>
  <dc:creator>PptxGenJS</dc:creator>
  <cp:lastModifiedBy>PptxGenJS</cp:lastModifiedBy>
  <cp:revision>1</cp:revision>
  <dcterms:created xsi:type="dcterms:W3CDTF">2026-10-05T08:22:11Z</dcterms:created>
  <dcterms:modified xsi:type="dcterms:W3CDTF">2026-10-05T08:22:11Z</dcterms:modified>
</cp:coreProperties>
</file>