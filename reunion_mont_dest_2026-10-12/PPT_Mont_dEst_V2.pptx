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85" r:id="rId5"/>
    <p:sldId id="296" r:id="rId6"/>
    <p:sldId id="297" r:id="rId7"/>
    <p:sldId id="298" r:id="rId8"/>
    <p:sldId id="294" r:id="rId9"/>
    <p:sldId id="259" r:id="rId10"/>
    <p:sldId id="275" r:id="rId11"/>
    <p:sldId id="260" r:id="rId12"/>
    <p:sldId id="262" r:id="rId13"/>
    <p:sldId id="264" r:id="rId14"/>
    <p:sldId id="265" r:id="rId15"/>
    <p:sldId id="266" r:id="rId16"/>
    <p:sldId id="267" r:id="rId17"/>
    <p:sldId id="270" r:id="rId18"/>
    <p:sldId id="277" r:id="rId19"/>
    <p:sldId id="299" r:id="rId20"/>
    <p:sldId id="278" r:id="rId21"/>
    <p:sldId id="272" r:id="rId22"/>
    <p:sldId id="274" r:id="rId23"/>
    <p:sldId id="276" r:id="rId24"/>
    <p:sldId id="293" r:id="rId25"/>
    <p:sldId id="290" r:id="rId26"/>
    <p:sldId id="291" r:id="rId27"/>
    <p:sldId id="292" r:id="rId28"/>
    <p:sldId id="295" r:id="rId29"/>
    <p:sldId id="288" r:id="rId30"/>
    <p:sldId id="289" r:id="rId31"/>
  </p:sldIdLst>
  <p:sldSz cx="18288000" cy="10287000"/>
  <p:notesSz cx="6797675" cy="9926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SSEMART Benjamin" initials="BB" lastIdx="2" clrIdx="0">
    <p:extLst>
      <p:ext uri="{19B8F6BF-5375-455C-9EA6-DF929625EA0E}">
        <p15:presenceInfo xmlns:p15="http://schemas.microsoft.com/office/powerpoint/2012/main" userId="S-1-5-21-3408961251-3854804950-4192859478-33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5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714"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10-12T15:18:23.589" idx="1">
    <p:pos x="10" y="10"/>
    <p:text>Maire</p:text>
    <p:extLst>
      <p:ext uri="{C676402C-5697-4E1C-873F-D02D1690AC5C}">
        <p15:threadingInfo xmlns:p15="http://schemas.microsoft.com/office/powerpoint/2012/main" timeZoneBias="-1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59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affichée pendant l'accueil : inviter les habitants à flasher le QR code ou à remplir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Accueil des habitants. Intervenants : Vincent Monnier, Maire de Noisy-le-Grand, et Joëlle Hélénon, adjointe au Maire, élue référente du quartier Ouest.</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Présenter les huit parties de la soirée.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Vincent Monnier : un Maire à l'écoute des Noiséens, une Adjointe au Maire en proximité, l'installation prochaine du conseil de quartier. Joëlle Hélénon : permanences de quartier, animation du conseil de quartier, politique de la Ville, gestion urbaine de proximité et sociale. Mentionner brièvement le conseil des Sages et le conseil des Jeunes. Échanges avec l'assemblée.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état des lieux des mercredis au 2 octobre 2026 et note explicative (service Enfance-Loisirs). 2025 : mercredi 17 septembre 2025. 2026 : mercredis 7 et 14 octobre 2026, état au 1er octobre. Le service ne fournit pas de chiffre d’octobre 2025. Au 16 septembre 2026, à date comparable : 1 744 places (+8 %) et 158 animateurs. Pendant la période de réservation (2 au 9 septembre), les listes d’attente sont validées chaque jour ; ensuite deux fois par jour le jeudi et le vendredi. La Varenne, mercredi 7 octobre : 9 enfants en liste d’attente en maternelle, aucun en élémentaire.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état des lieux des mercredis au 2 octobre 2026. Comparaison du mercredi 17 septembre 2025 et du mercredi 16 septembre 2026 : 243 → 235 enfants en liste d’attente, 14 → 99 ont obtenu une place (6 % → 42 %), 229 → 136 restés sans place. Le chiffre de 48 % correspond au mercredi 7 octobre 2026 (137 sur 283) et ne doit pas être comparé à septembre 2025.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 synthèse recrutement et effectifs de la pause méridienne, septembre 2026 (version « annule et remplace »). Les colonnes « encadrement » ont été retirées : le tableau des taux du service a été calculé sur d’anciens effectifs (2 008 et 3 277 enfants) alors que les effectifs corrigés sont 2 201 et 3 525. Avec les effectifs corrigés : maternelle 1 pour 10,5 en 2025 et 1 pour 9 en 2026 ; élémentaire 1 pour 28 en 2025 et 1 pour 27 en 2026. Faire confirmer par le service Enfance-Loisirs avant de citer un taux. L’effectif d’animateurs en élémentaire (129,6) est exprimé en équivalents temps plein.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Groupe scolaire Les Noyers : travaux réalisés (eaux pluviales de la cour élémentaire, film occultant de la salle polyvalente, cuisine du centre de loisirs maternelle), en cours (fissures de la façade de la maternelle) et programmés (Toussaint 2026, budget 2027). Groupe scolaire du Clos de l'Arche : réparation du portail d'accès du personnel de l'élémentaire.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Le plan de transformation du Mont d'Est : 2,4 M€ d'études depuis 2023, intérêt métropolitain reconnu le 12 décembre 2025, environ 90 M€ de travaux d'espaces publics en 3 tranches.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L'immeuble de la DIAC a été racheté par Bouygues, qui souhaite y réaliser des logements étudiants et familiaux, un campus sport-santé et des commerces.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Première tranche : relier l'esplanade de la Commune de Paris à Abraxas. Le plan comporte ses propres légendes.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Transition : point d'étape sur les travaux par Laurent Forêt, directeur de la SOCAREN. La présentation de la SOCAREN suit cette diapositive.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Démolition sélective des dalles ; dalles conservées transformées en commerces ; au-dessus, des espaces publics densément plantés.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25 % d'espaces végétalisés contre 6 % aujourd'hui, 100 arbres plantés, plus de 6 500 m² d'espaces verts dont un tiers en pleine terre, bassins en béton transformés en lacs paysagers.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5 000 m² de commerces et de services dans une aire piétonne ; 8 baux déjà signés, 73 % des surfaces commercialisées. Socle Nord : ouverture au 3e trimestre 2027 ; Socle Sud : ouverture au 4e trimestre 2028. Ne citer aucune enseigne.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Poser la question du nom de la future esplanade et recueillir les avis de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Le SK : 3 000 m² sur trois niveaux et 480 m² d'espace extérieur. Bâtiment livré en 2028. Ne citer aucun exploitant.</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Contenu à compléter.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 direction de l’Environnement et de l’Espace public, service Voirie (courriel du 12 octobre 2026). Étanchéité d’origine : complexe d’asphalte et de polystyrène extrudé. ATTENTION : le courriel indique que la Ville fait l’objet d’une procédure pénale au sujet des infiltrations dans les commerces. Cette information n’est pas projetée ; ne pas l’évoquer en réunion publique sans l’avis du service juridique.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Ferme urbaine sur le toit des Arcades. Restaurant ouvert depuis le 22 septembre 2026 ; vente de fruits et légumes le mercredi de 16 h à 18 h.</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Zone commerciale créée par arrêté du préfet de la région Île-de-France du 20 février 2026, à la demande de la Ville. Ouverture 7 jours sur 7 depuis le 30 août 2026.</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470 Courtine : 900 m² rachetés par la Ville, ouverts en février 2026, occupés à plus de 80 %. Le Château : ouvert en septembre 2026, pour 3 ans.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Une démarche collective : habitants, commerçants, bailleurs sociaux, syndics de copropriété et services municipaux.</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Vidéoprotection et brigade de proximité : chiffres et précisions à compléter. Carte : en vert les caméras installées, en jaune les caméras en projet.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Trois plans d'eau reliés entre eux, qui recueillent les eaux d'un bassin versant de 56 hectares : lac des Mares-Dimanche 20 500 m², lac du SK 9 150 m², lac du SARI 1 950 m².</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Lac des Mares-Dimanche : 20 500 m², 24 000 m³ d'eau, 30 % du volume brassé chaque jour. Oxygénateurs, aérateurs et pompes de circulation. Abords nettoyés chaque matin par les agents de la Ville depuis l'été.</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Enquête menée par la Ville auprès des locataires des bailleurs sociaux : 915 réponses. Résultats présentés aux bailleurs lors de la Conférence des bailleurs, le 7 octobre 2026, en salle du Conseil.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Courrier du Maire du 20 septembre 2026 à Mme Annelise Avril, directrice générale de Keolis, sur les dysfonctionnements des lignes de la DSP 9 : retards, suppressions, fréquences non respectées, information voyageurs défaillante. Demande à IDFM d'appliquer les sanctions contractuelles prévues. Demande d'une réunion en mairie avec Keolis et IDFM et d'un plan d'actions immédiat.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Temps d'échange avec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laissée à l'écran à la sortie : rappeler le QR code et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comments" Target="../comments/commen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9.jpe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0.jpe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1.jpe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DU MONT D'EST</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t="5711" b="5711"/>
          <a:stretch/>
        </p:blipFill>
        <p:spPr>
          <a:xfrm>
            <a:off x="0" y="0"/>
            <a:ext cx="18288001" cy="10287000"/>
          </a:xfrm>
          <a:prstGeom prst="rect">
            <a:avLst/>
          </a:prstGeom>
        </p:spPr>
      </p:pic>
      <p:sp>
        <p:nvSpPr>
          <p:cNvPr id="3" name="Shape 0"/>
          <p:cNvSpPr/>
          <p:nvPr/>
        </p:nvSpPr>
        <p:spPr>
          <a:xfrm>
            <a:off x="0" y="0"/>
            <a:ext cx="18288001" cy="10287000"/>
          </a:xfrm>
          <a:prstGeom prst="rect">
            <a:avLst/>
          </a:prstGeom>
          <a:gradFill rotWithShape="1">
            <a:gsLst>
              <a:gs pos="0">
                <a:srgbClr val="0E1F5B">
                  <a:alpha val="92000"/>
                </a:srgbClr>
              </a:gs>
              <a:gs pos="55000">
                <a:srgbClr val="0E1F5B">
                  <a:alpha val="78000"/>
                </a:srgbClr>
              </a:gs>
              <a:gs pos="100000">
                <a:srgbClr val="0E1F5B">
                  <a:alpha val="55000"/>
                </a:srgbClr>
              </a:gs>
            </a:gsLst>
            <a:lin ang="2700000" scaled="0"/>
          </a:gra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144501" y="3012837"/>
            <a:ext cx="4191000" cy="4261327"/>
          </a:xfrm>
          <a:prstGeom prst="rect">
            <a:avLst/>
          </a:prstGeom>
        </p:spPr>
      </p:pic>
      <p:sp>
        <p:nvSpPr>
          <p:cNvPr id="7" name="Text 3"/>
          <p:cNvSpPr/>
          <p:nvPr/>
        </p:nvSpPr>
        <p:spPr>
          <a:xfrm>
            <a:off x="952500" y="3144838"/>
            <a:ext cx="18021301" cy="414020"/>
          </a:xfrm>
          <a:prstGeom prst="rect">
            <a:avLst/>
          </a:prstGeom>
          <a:noFill/>
          <a:ln/>
        </p:spPr>
        <p:txBody>
          <a:bodyPr wrap="square" lIns="25400" tIns="25400" rIns="25400" bIns="25400" rtlCol="0" anchor="t">
            <a:normAutofit lnSpcReduction="10000"/>
          </a:bodyPr>
          <a:lstStyle/>
          <a:p>
            <a:pPr marL="0" indent="0" algn="l">
              <a:buNone/>
            </a:pPr>
            <a:r>
              <a:rPr lang="en-US" sz="2550" b="1" kern="0" spc="225" dirty="0">
                <a:solidFill>
                  <a:srgbClr val="72C493"/>
                </a:solidFill>
                <a:latin typeface="Arial" pitchFamily="34" charset="0"/>
                <a:ea typeface="Arial" pitchFamily="34" charset="-122"/>
                <a:cs typeface="Arial" pitchFamily="34" charset="-120"/>
              </a:rPr>
              <a:t>RÉUNION PUBLIQUE —</a:t>
            </a:r>
            <a:endParaRPr lang="en-US" sz="2550" dirty="0"/>
          </a:p>
        </p:txBody>
      </p:sp>
      <p:sp>
        <p:nvSpPr>
          <p:cNvPr id="8" name="Text 4"/>
          <p:cNvSpPr/>
          <p:nvPr/>
        </p:nvSpPr>
        <p:spPr>
          <a:xfrm>
            <a:off x="952500" y="3787458"/>
            <a:ext cx="16874491" cy="2000885"/>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QUARTIER DU MONT </a:t>
            </a:r>
          </a:p>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D'EST</a:t>
            </a:r>
            <a:endParaRPr lang="en-US" sz="8400" dirty="0"/>
          </a:p>
        </p:txBody>
      </p:sp>
      <p:sp>
        <p:nvSpPr>
          <p:cNvPr id="9" name="Text 5"/>
          <p:cNvSpPr/>
          <p:nvPr/>
        </p:nvSpPr>
        <p:spPr>
          <a:xfrm>
            <a:off x="952500" y="6283643"/>
            <a:ext cx="1802130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AF5EC"/>
                </a:solidFill>
                <a:latin typeface="Arial" pitchFamily="34" charset="0"/>
                <a:ea typeface="Arial" pitchFamily="34" charset="-122"/>
                <a:cs typeface="Arial" pitchFamily="34" charset="-120"/>
              </a:rPr>
              <a:t>Lundi 12 octobre 2026 — 19 h — Maison des Associations</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857250"/>
            <a:ext cx="18021301" cy="363220"/>
          </a:xfrm>
          <a:prstGeom prst="rect">
            <a:avLst/>
          </a:prstGeom>
          <a:noFill/>
          <a:ln/>
        </p:spPr>
        <p:txBody>
          <a:bodyPr wrap="square" lIns="25400" tIns="25400" rIns="25400" bIns="25400" rtlCol="0" anchor="t">
            <a:normAutofit lnSpcReduction="10000"/>
          </a:bodyPr>
          <a:lstStyle/>
          <a:p>
            <a:pPr marL="0" indent="0" algn="l">
              <a:buNone/>
            </a:pPr>
            <a:r>
              <a:rPr lang="en-US" sz="2250" b="1" kern="0" spc="225" dirty="0">
                <a:solidFill>
                  <a:srgbClr val="72C493"/>
                </a:solidFill>
                <a:latin typeface="Arial" pitchFamily="34" charset="0"/>
                <a:ea typeface="Arial" pitchFamily="34" charset="-122"/>
                <a:cs typeface="Arial" pitchFamily="34" charset="-120"/>
              </a:rPr>
              <a:t>SOMMAIRE</a:t>
            </a:r>
            <a:endParaRPr lang="en-US" sz="2250" dirty="0"/>
          </a:p>
        </p:txBody>
      </p:sp>
      <p:sp>
        <p:nvSpPr>
          <p:cNvPr id="4" name="Numero 1"/>
          <p:cNvSpPr txBox="1"/>
          <p:nvPr/>
        </p:nvSpPr>
        <p:spPr>
          <a:xfrm>
            <a:off x="952500" y="262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5" name="Partie 1"/>
          <p:cNvSpPr txBox="1"/>
          <p:nvPr/>
        </p:nvSpPr>
        <p:spPr>
          <a:xfrm>
            <a:off x="1866900" y="260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Proximité et démocratie locale</a:t>
            </a:r>
          </a:p>
        </p:txBody>
      </p:sp>
      <p:sp>
        <p:nvSpPr>
          <p:cNvPr id="6" name="Separateur 1"/>
          <p:cNvSpPr/>
          <p:nvPr/>
        </p:nvSpPr>
        <p:spPr>
          <a:xfrm>
            <a:off x="952500" y="3230000"/>
            <a:ext cx="14287501" cy="10160"/>
          </a:xfrm>
          <a:prstGeom prst="rect">
            <a:avLst/>
          </a:prstGeom>
          <a:solidFill>
            <a:srgbClr val="0E1F5B">
              <a:alpha val="12000"/>
            </a:srgbClr>
          </a:solidFill>
          <a:ln/>
        </p:spPr>
      </p:sp>
      <p:sp>
        <p:nvSpPr>
          <p:cNvPr id="7" name="Numero 2"/>
          <p:cNvSpPr txBox="1"/>
          <p:nvPr/>
        </p:nvSpPr>
        <p:spPr>
          <a:xfrm>
            <a:off x="952500" y="341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8" name="Partie 2"/>
          <p:cNvSpPr txBox="1"/>
          <p:nvPr/>
        </p:nvSpPr>
        <p:spPr>
          <a:xfrm>
            <a:off x="1866900" y="339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Les écoles et le périscolaire</a:t>
            </a:r>
          </a:p>
        </p:txBody>
      </p:sp>
      <p:sp>
        <p:nvSpPr>
          <p:cNvPr id="9" name="Separateur 2"/>
          <p:cNvSpPr/>
          <p:nvPr/>
        </p:nvSpPr>
        <p:spPr>
          <a:xfrm>
            <a:off x="952500" y="4020000"/>
            <a:ext cx="14287501" cy="10160"/>
          </a:xfrm>
          <a:prstGeom prst="rect">
            <a:avLst/>
          </a:prstGeom>
          <a:solidFill>
            <a:srgbClr val="0E1F5B">
              <a:alpha val="12000"/>
            </a:srgbClr>
          </a:solidFill>
          <a:ln/>
        </p:spPr>
      </p:sp>
      <p:sp>
        <p:nvSpPr>
          <p:cNvPr id="10" name="Numero 3"/>
          <p:cNvSpPr txBox="1"/>
          <p:nvPr/>
        </p:nvSpPr>
        <p:spPr>
          <a:xfrm>
            <a:off x="952500" y="420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1" name="Partie 3"/>
          <p:cNvSpPr txBox="1"/>
          <p:nvPr/>
        </p:nvSpPr>
        <p:spPr>
          <a:xfrm>
            <a:off x="1866900" y="418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Mont d'Est : aménagement urbain et développement économique</a:t>
            </a:r>
          </a:p>
        </p:txBody>
      </p:sp>
      <p:sp>
        <p:nvSpPr>
          <p:cNvPr id="12" name="Separateur 3"/>
          <p:cNvSpPr/>
          <p:nvPr/>
        </p:nvSpPr>
        <p:spPr>
          <a:xfrm>
            <a:off x="952500" y="4810000"/>
            <a:ext cx="14287501" cy="10160"/>
          </a:xfrm>
          <a:prstGeom prst="rect">
            <a:avLst/>
          </a:prstGeom>
          <a:solidFill>
            <a:srgbClr val="0E1F5B">
              <a:alpha val="12000"/>
            </a:srgbClr>
          </a:solidFill>
          <a:ln/>
        </p:spPr>
      </p:sp>
      <p:sp>
        <p:nvSpPr>
          <p:cNvPr id="13" name="Numero 4"/>
          <p:cNvSpPr txBox="1"/>
          <p:nvPr/>
        </p:nvSpPr>
        <p:spPr>
          <a:xfrm>
            <a:off x="952500" y="499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4" name="Partie 4"/>
          <p:cNvSpPr txBox="1"/>
          <p:nvPr/>
        </p:nvSpPr>
        <p:spPr>
          <a:xfrm>
            <a:off x="1866900" y="497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Propreté dans le quartier du Mont d'Est</a:t>
            </a:r>
          </a:p>
        </p:txBody>
      </p:sp>
      <p:sp>
        <p:nvSpPr>
          <p:cNvPr id="15" name="Separateur 4"/>
          <p:cNvSpPr/>
          <p:nvPr/>
        </p:nvSpPr>
        <p:spPr>
          <a:xfrm>
            <a:off x="952500" y="5600000"/>
            <a:ext cx="14287501" cy="10160"/>
          </a:xfrm>
          <a:prstGeom prst="rect">
            <a:avLst/>
          </a:prstGeom>
          <a:solidFill>
            <a:srgbClr val="0E1F5B">
              <a:alpha val="12000"/>
            </a:srgbClr>
          </a:solidFill>
          <a:ln/>
        </p:spPr>
      </p:sp>
      <p:sp>
        <p:nvSpPr>
          <p:cNvPr id="16" name="Numero 5"/>
          <p:cNvSpPr txBox="1"/>
          <p:nvPr/>
        </p:nvSpPr>
        <p:spPr>
          <a:xfrm>
            <a:off x="952500" y="578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05</a:t>
            </a:r>
          </a:p>
        </p:txBody>
      </p:sp>
      <p:sp>
        <p:nvSpPr>
          <p:cNvPr id="17" name="Partie 5"/>
          <p:cNvSpPr txBox="1"/>
          <p:nvPr/>
        </p:nvSpPr>
        <p:spPr>
          <a:xfrm>
            <a:off x="1866900" y="576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Mont d'Est : sécurité et tranquillité résidentielle</a:t>
            </a:r>
          </a:p>
        </p:txBody>
      </p:sp>
      <p:sp>
        <p:nvSpPr>
          <p:cNvPr id="18" name="Separateur 5"/>
          <p:cNvSpPr/>
          <p:nvPr/>
        </p:nvSpPr>
        <p:spPr>
          <a:xfrm>
            <a:off x="952500" y="6390000"/>
            <a:ext cx="14287501" cy="10160"/>
          </a:xfrm>
          <a:prstGeom prst="rect">
            <a:avLst/>
          </a:prstGeom>
          <a:solidFill>
            <a:srgbClr val="0E1F5B">
              <a:alpha val="12000"/>
            </a:srgbClr>
          </a:solidFill>
          <a:ln/>
        </p:spPr>
      </p:sp>
      <p:sp>
        <p:nvSpPr>
          <p:cNvPr id="19" name="Numero 6"/>
          <p:cNvSpPr txBox="1"/>
          <p:nvPr/>
        </p:nvSpPr>
        <p:spPr>
          <a:xfrm>
            <a:off x="952500" y="657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06</a:t>
            </a:r>
          </a:p>
        </p:txBody>
      </p:sp>
      <p:sp>
        <p:nvSpPr>
          <p:cNvPr id="20" name="Partie 6"/>
          <p:cNvSpPr txBox="1"/>
          <p:nvPr/>
        </p:nvSpPr>
        <p:spPr>
          <a:xfrm>
            <a:off x="1866900" y="655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Mont d'Est : transition écologique</a:t>
            </a:r>
          </a:p>
        </p:txBody>
      </p:sp>
      <p:sp>
        <p:nvSpPr>
          <p:cNvPr id="21" name="Separateur 6"/>
          <p:cNvSpPr/>
          <p:nvPr/>
        </p:nvSpPr>
        <p:spPr>
          <a:xfrm>
            <a:off x="952500" y="7180000"/>
            <a:ext cx="14287501" cy="10160"/>
          </a:xfrm>
          <a:prstGeom prst="rect">
            <a:avLst/>
          </a:prstGeom>
          <a:solidFill>
            <a:srgbClr val="0E1F5B">
              <a:alpha val="12000"/>
            </a:srgbClr>
          </a:solidFill>
          <a:ln/>
        </p:spPr>
      </p:sp>
      <p:sp>
        <p:nvSpPr>
          <p:cNvPr id="22" name="Numero 7"/>
          <p:cNvSpPr txBox="1"/>
          <p:nvPr/>
        </p:nvSpPr>
        <p:spPr>
          <a:xfrm>
            <a:off x="952500" y="736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07</a:t>
            </a:r>
          </a:p>
        </p:txBody>
      </p:sp>
      <p:sp>
        <p:nvSpPr>
          <p:cNvPr id="23" name="Partie 7"/>
          <p:cNvSpPr txBox="1"/>
          <p:nvPr/>
        </p:nvSpPr>
        <p:spPr>
          <a:xfrm>
            <a:off x="1866900" y="734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Le logement social</a:t>
            </a:r>
          </a:p>
        </p:txBody>
      </p:sp>
      <p:sp>
        <p:nvSpPr>
          <p:cNvPr id="24" name="Separateur 7"/>
          <p:cNvSpPr/>
          <p:nvPr/>
        </p:nvSpPr>
        <p:spPr>
          <a:xfrm>
            <a:off x="952500" y="7970000"/>
            <a:ext cx="14287501" cy="10160"/>
          </a:xfrm>
          <a:prstGeom prst="rect">
            <a:avLst/>
          </a:prstGeom>
          <a:solidFill>
            <a:srgbClr val="0E1F5B">
              <a:alpha val="12000"/>
            </a:srgbClr>
          </a:solidFill>
          <a:ln/>
        </p:spPr>
      </p:sp>
      <p:sp>
        <p:nvSpPr>
          <p:cNvPr id="25" name="Numero 8"/>
          <p:cNvSpPr txBox="1"/>
          <p:nvPr/>
        </p:nvSpPr>
        <p:spPr>
          <a:xfrm>
            <a:off x="952500" y="815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08</a:t>
            </a:r>
          </a:p>
        </p:txBody>
      </p:sp>
      <p:sp>
        <p:nvSpPr>
          <p:cNvPr id="26" name="Partie 8"/>
          <p:cNvSpPr txBox="1"/>
          <p:nvPr/>
        </p:nvSpPr>
        <p:spPr>
          <a:xfrm>
            <a:off x="1866900" y="813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Les transports : les bus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0">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Shape 0"/>
          <p:cNvSpPr/>
          <p:nvPr/>
        </p:nvSpPr>
        <p:spPr>
          <a:xfrm>
            <a:off x="0" y="0"/>
            <a:ext cx="76200" cy="10287000"/>
          </a:xfrm>
          <a:prstGeom prst="rect">
            <a:avLst/>
          </a:prstGeom>
          <a:solidFill>
            <a:srgbClr val="72C493"/>
          </a:solidFill>
          <a:ln/>
        </p:spPr>
      </p:sp>
      <p:sp>
        <p:nvSpPr>
          <p:cNvPr id="4" name="Text 1"/>
          <p:cNvSpPr/>
          <p:nvPr/>
        </p:nvSpPr>
        <p:spPr>
          <a:xfrm>
            <a:off x="933450" y="857250"/>
            <a:ext cx="1814703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01 — PROXIMITÉ ET DÉMOCRATIE LOCALE</a:t>
            </a:r>
            <a:endParaRPr lang="en-US" sz="2100" dirty="0"/>
          </a:p>
        </p:txBody>
      </p:sp>
      <p:sp>
        <p:nvSpPr>
          <p:cNvPr id="5" name="Text 2"/>
          <p:cNvSpPr/>
          <p:nvPr/>
        </p:nvSpPr>
        <p:spPr>
          <a:xfrm>
            <a:off x="933450" y="1343660"/>
            <a:ext cx="18147031" cy="634683"/>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6266"/>
              </a:lnSpc>
              <a:buNone/>
            </a:pPr>
            <a:r>
              <a:rPr lang="en-US" sz="4350" b="1" kern="0" spc="-150" dirty="0">
                <a:solidFill>
                  <a:srgbClr val="FAF5EC"/>
                </a:solidFill>
                <a:latin typeface="Arial" pitchFamily="34" charset="0"/>
                <a:ea typeface="Arial" pitchFamily="34" charset="-122"/>
                <a:cs typeface="Arial" pitchFamily="34" charset="-120"/>
              </a:rPr>
              <a:t>Une écoute plus proche des habitants</a:t>
            </a:r>
            <a:endParaRPr lang="en-US" sz="4350" dirty="0"/>
          </a:p>
        </p:txBody>
      </p:sp>
      <p:sp>
        <p:nvSpPr>
          <p:cNvPr id="6" name="Shape 3"/>
          <p:cNvSpPr/>
          <p:nvPr/>
        </p:nvSpPr>
        <p:spPr>
          <a:xfrm>
            <a:off x="985912" y="2473643"/>
            <a:ext cx="8239126" cy="7051358"/>
          </a:xfrm>
          <a:prstGeom prst="rect">
            <a:avLst/>
          </a:prstGeom>
          <a:solidFill>
            <a:srgbClr val="132568"/>
          </a:solidFill>
          <a:ln/>
        </p:spPr>
      </p:sp>
      <p:sp>
        <p:nvSpPr>
          <p:cNvPr id="7" name="Text 4"/>
          <p:cNvSpPr/>
          <p:nvPr/>
        </p:nvSpPr>
        <p:spPr>
          <a:xfrm>
            <a:off x="3565205" y="2790627"/>
            <a:ext cx="8141018" cy="514199"/>
          </a:xfrm>
          <a:prstGeom prst="rect">
            <a:avLst/>
          </a:prstGeom>
          <a:noFill/>
          <a:ln/>
        </p:spPr>
        <p:txBody>
          <a:bodyPr wrap="square" lIns="25400" tIns="25400" rIns="25400" bIns="25400" rtlCol="0" anchor="t">
            <a:normAutofit/>
          </a:bodyPr>
          <a:lstStyle/>
          <a:p>
            <a:pPr marL="0" indent="0" algn="l">
              <a:buNone/>
            </a:pPr>
            <a:r>
              <a:rPr lang="en-US" sz="3000" b="1" dirty="0">
                <a:solidFill>
                  <a:srgbClr val="72C493"/>
                </a:solidFill>
                <a:latin typeface="Arial" pitchFamily="34" charset="0"/>
                <a:ea typeface="Arial" pitchFamily="34" charset="-122"/>
                <a:cs typeface="Arial" pitchFamily="34" charset="-120"/>
              </a:rPr>
              <a:t>Vincent Monnier</a:t>
            </a:r>
            <a:endParaRPr lang="en-US" sz="3000" dirty="0"/>
          </a:p>
        </p:txBody>
      </p:sp>
      <p:sp>
        <p:nvSpPr>
          <p:cNvPr id="9" name="Shape 6"/>
          <p:cNvSpPr/>
          <p:nvPr/>
        </p:nvSpPr>
        <p:spPr>
          <a:xfrm>
            <a:off x="9191626" y="2473643"/>
            <a:ext cx="8239126" cy="7051358"/>
          </a:xfrm>
          <a:prstGeom prst="rect">
            <a:avLst/>
          </a:prstGeom>
          <a:solidFill>
            <a:srgbClr val="72C493"/>
          </a:solidFill>
          <a:ln/>
        </p:spPr>
      </p:sp>
      <p:sp>
        <p:nvSpPr>
          <p:cNvPr id="10" name="Text 7"/>
          <p:cNvSpPr/>
          <p:nvPr/>
        </p:nvSpPr>
        <p:spPr>
          <a:xfrm>
            <a:off x="12221578" y="2817848"/>
            <a:ext cx="8141018" cy="945483"/>
          </a:xfrm>
          <a:prstGeom prst="rect">
            <a:avLst/>
          </a:prstGeom>
          <a:noFill/>
          <a:ln/>
        </p:spPr>
        <p:txBody>
          <a:bodyPr wrap="square" lIns="25400" tIns="25400" rIns="25400" bIns="25400" rtlCol="0" anchor="t">
            <a:normAutofit/>
          </a:bodyPr>
          <a:lstStyle/>
          <a:p>
            <a:pPr marL="0" indent="0" algn="l">
              <a:buNone/>
            </a:pPr>
            <a:r>
              <a:rPr lang="en-US" sz="3000" b="1" dirty="0">
                <a:solidFill>
                  <a:srgbClr val="0E1F5B"/>
                </a:solidFill>
                <a:latin typeface="Arial" pitchFamily="34" charset="0"/>
                <a:ea typeface="Arial" pitchFamily="34" charset="-122"/>
                <a:cs typeface="Arial" pitchFamily="34" charset="-120"/>
              </a:rPr>
              <a:t>Joëlle Hélénon</a:t>
            </a:r>
            <a:endParaRPr lang="en-US" sz="3000" dirty="0"/>
          </a:p>
        </p:txBody>
      </p:sp>
      <p:sp>
        <p:nvSpPr>
          <p:cNvPr id="15" name="Rectangle 1">
            <a:extLst>
              <a:ext uri="{FF2B5EF4-FFF2-40B4-BE49-F238E27FC236}">
                <a16:creationId xmlns:a16="http://schemas.microsoft.com/office/drawing/2014/main" id="{699B1ACE-557E-4BBB-BD54-2661496821BB}"/>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pic>
        <p:nvPicPr>
          <p:cNvPr id="23" name="Image 22">
            <a:extLst>
              <a:ext uri="{FF2B5EF4-FFF2-40B4-BE49-F238E27FC236}">
                <a16:creationId xmlns:a16="http://schemas.microsoft.com/office/drawing/2014/main" id="{9A870837-C5F5-493D-B944-3EDF17C3B3C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087535" y="1633080"/>
            <a:ext cx="5470052" cy="8192357"/>
          </a:xfrm>
          <a:prstGeom prst="rect">
            <a:avLst/>
          </a:prstGeom>
        </p:spPr>
      </p:pic>
      <p:pic>
        <p:nvPicPr>
          <p:cNvPr id="25" name="Image 24">
            <a:extLst>
              <a:ext uri="{FF2B5EF4-FFF2-40B4-BE49-F238E27FC236}">
                <a16:creationId xmlns:a16="http://schemas.microsoft.com/office/drawing/2014/main" id="{1A6683C5-016B-40F4-9B0E-7A6F03066E2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540429" y="1210310"/>
            <a:ext cx="5461572" cy="819235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sp>
        <p:nvSpPr>
          <p:cNvPr id="2" name="Text 0"/>
          <p:cNvSpPr txBox="1"/>
          <p:nvPr/>
        </p:nvSpPr>
        <p:spPr>
          <a:xfrm>
            <a:off x="946404" y="644652"/>
            <a:ext cx="12344400" cy="480060"/>
          </a:xfrm>
          <a:prstGeom prst="rect">
            <a:avLst/>
          </a:prstGeom>
          <a:noFill/>
          <a:ln/>
        </p:spPr>
        <p:txBody>
          <a:bodyPr wrap="square" lIns="0" tIns="0" rIns="0" bIns="0" rtlCol="0" anchor="ctr"/>
          <a:lstStyle/>
          <a:p>
            <a:r>
              <a:rPr lang="en-US" sz="1950" b="1" kern="0" spc="300" dirty="0">
                <a:solidFill>
                  <a:srgbClr val="72C493"/>
                </a:solidFill>
                <a:latin typeface="Arial" pitchFamily="34" charset="0"/>
                <a:ea typeface="Arial" pitchFamily="34" charset="-122"/>
                <a:cs typeface="Arial" pitchFamily="34" charset="-120"/>
              </a:rPr>
              <a:t>02 — LE PÉRISCOLAIRE · MERCREDIS</a:t>
            </a:r>
            <a:endParaRPr lang="en-US" sz="1950" dirty="0"/>
          </a:p>
        </p:txBody>
      </p:sp>
      <p:sp>
        <p:nvSpPr>
          <p:cNvPr id="3" name="Text 1"/>
          <p:cNvSpPr txBox="1"/>
          <p:nvPr/>
        </p:nvSpPr>
        <p:spPr>
          <a:xfrm>
            <a:off x="946404" y="1165860"/>
            <a:ext cx="13716000" cy="891540"/>
          </a:xfrm>
          <a:prstGeom prst="rect">
            <a:avLst/>
          </a:prstGeom>
          <a:noFill/>
          <a:ln/>
        </p:spPr>
        <p:txBody>
          <a:bodyPr wrap="square" lIns="0" tIns="0" rIns="0" bIns="0" rtlCol="0" anchor="ctr"/>
          <a:lstStyle/>
          <a:p>
            <a:r>
              <a:rPr lang="en-US" sz="4050" b="1" dirty="0">
                <a:solidFill>
                  <a:srgbClr val="FFFFFF"/>
                </a:solidFill>
                <a:latin typeface="Arial" pitchFamily="34" charset="0"/>
                <a:ea typeface="Arial" pitchFamily="34" charset="-122"/>
                <a:cs typeface="Arial" pitchFamily="34" charset="-120"/>
              </a:rPr>
              <a:t>Plus de places en accueil de loisirs le mercredi</a:t>
            </a:r>
            <a:endParaRPr lang="en-US" sz="4050" dirty="0"/>
          </a:p>
        </p:txBody>
      </p:sp>
      <p:sp>
        <p:nvSpPr>
          <p:cNvPr id="4" name="Text 2"/>
          <p:cNvSpPr txBox="1"/>
          <p:nvPr/>
        </p:nvSpPr>
        <p:spPr>
          <a:xfrm>
            <a:off x="946404" y="2125980"/>
            <a:ext cx="13716000" cy="548640"/>
          </a:xfrm>
          <a:prstGeom prst="rect">
            <a:avLst/>
          </a:prstGeom>
          <a:noFill/>
          <a:ln/>
        </p:spPr>
        <p:txBody>
          <a:bodyPr wrap="square" lIns="0" tIns="0" rIns="0" bIns="0" rtlCol="0" anchor="ctr"/>
          <a:lstStyle/>
          <a:p>
            <a:r>
              <a:rPr lang="en-US" sz="2100" dirty="0">
                <a:solidFill>
                  <a:srgbClr val="FFFFFF"/>
                </a:solidFill>
                <a:latin typeface="Arial" pitchFamily="34" charset="0"/>
                <a:ea typeface="Arial" pitchFamily="34" charset="-122"/>
                <a:cs typeface="Arial" pitchFamily="34" charset="-120"/>
              </a:rPr>
              <a:t>Dans toute la ville, rentrée 2026 comparée à la rentrée 2025</a:t>
            </a:r>
            <a:endParaRPr lang="en-US" sz="2100" dirty="0"/>
          </a:p>
        </p:txBody>
      </p:sp>
      <p:pic>
        <p:nvPicPr>
          <p:cNvPr id="5" name="Image 0" descr="/tmp/claude-0/-home-user-Operation-robespierre/996c8343-2b29-5be8-89e5-6b613d278f5f/scratchpad/logo_rp_x3.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10560" y="205740"/>
            <a:ext cx="1824228" cy="1947672"/>
          </a:xfrm>
          <a:prstGeom prst="rect">
            <a:avLst/>
          </a:prstGeom>
        </p:spPr>
      </p:pic>
      <p:sp>
        <p:nvSpPr>
          <p:cNvPr id="6" name="Shape 3"/>
          <p:cNvSpPr/>
          <p:nvPr/>
        </p:nvSpPr>
        <p:spPr>
          <a:xfrm>
            <a:off x="946404" y="3154680"/>
            <a:ext cx="7612380" cy="0"/>
          </a:xfrm>
          <a:prstGeom prst="line">
            <a:avLst/>
          </a:prstGeom>
          <a:noFill/>
          <a:ln w="31750">
            <a:solidFill>
              <a:srgbClr val="72C493"/>
            </a:solidFill>
            <a:prstDash val="solid"/>
          </a:ln>
        </p:spPr>
      </p:sp>
      <p:sp>
        <p:nvSpPr>
          <p:cNvPr id="7" name="Text 4"/>
          <p:cNvSpPr txBox="1"/>
          <p:nvPr/>
        </p:nvSpPr>
        <p:spPr>
          <a:xfrm>
            <a:off x="946404" y="3429000"/>
            <a:ext cx="754380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PLACES OUVERTES LE MERCREDI</a:t>
            </a:r>
            <a:endParaRPr lang="en-US" sz="2100" dirty="0"/>
          </a:p>
        </p:txBody>
      </p:sp>
      <p:sp>
        <p:nvSpPr>
          <p:cNvPr id="8" name="Shape 5"/>
          <p:cNvSpPr/>
          <p:nvPr/>
        </p:nvSpPr>
        <p:spPr>
          <a:xfrm>
            <a:off x="9738360" y="3154680"/>
            <a:ext cx="7612380" cy="0"/>
          </a:xfrm>
          <a:prstGeom prst="line">
            <a:avLst/>
          </a:prstGeom>
          <a:noFill/>
          <a:ln w="31750">
            <a:solidFill>
              <a:srgbClr val="72C493"/>
            </a:solidFill>
            <a:prstDash val="solid"/>
          </a:ln>
        </p:spPr>
      </p:sp>
      <p:sp>
        <p:nvSpPr>
          <p:cNvPr id="9" name="Text 6"/>
          <p:cNvSpPr txBox="1"/>
          <p:nvPr/>
        </p:nvSpPr>
        <p:spPr>
          <a:xfrm>
            <a:off x="9738360" y="3429000"/>
            <a:ext cx="754380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ANIMATEURS RECRUTÉS</a:t>
            </a:r>
            <a:endParaRPr lang="en-US" sz="2100" dirty="0"/>
          </a:p>
        </p:txBody>
      </p:sp>
      <p:sp>
        <p:nvSpPr>
          <p:cNvPr id="10" name="Text 7"/>
          <p:cNvSpPr txBox="1"/>
          <p:nvPr/>
        </p:nvSpPr>
        <p:spPr>
          <a:xfrm>
            <a:off x="946404" y="4594860"/>
            <a:ext cx="1645920" cy="411480"/>
          </a:xfrm>
          <a:prstGeom prst="rect">
            <a:avLst/>
          </a:prstGeom>
          <a:noFill/>
          <a:ln/>
        </p:spPr>
        <p:txBody>
          <a:bodyPr wrap="square" lIns="0" tIns="0" rIns="0" bIns="0" rtlCol="0" anchor="ctr"/>
          <a:lstStyle/>
          <a:p>
            <a:r>
              <a:rPr lang="en-US" sz="2100" b="1" dirty="0">
                <a:solidFill>
                  <a:srgbClr val="8A90B0"/>
                </a:solidFill>
                <a:latin typeface="Arial" pitchFamily="34" charset="0"/>
                <a:ea typeface="Arial" pitchFamily="34" charset="-122"/>
                <a:cs typeface="Arial" pitchFamily="34" charset="-120"/>
              </a:rPr>
              <a:t>Sept. 2025</a:t>
            </a:r>
            <a:endParaRPr lang="en-US" sz="2100" dirty="0"/>
          </a:p>
        </p:txBody>
      </p:sp>
      <p:sp>
        <p:nvSpPr>
          <p:cNvPr id="11" name="Text 8"/>
          <p:cNvSpPr txBox="1"/>
          <p:nvPr/>
        </p:nvSpPr>
        <p:spPr>
          <a:xfrm>
            <a:off x="946404" y="4937760"/>
            <a:ext cx="3154680" cy="1028700"/>
          </a:xfrm>
          <a:prstGeom prst="rect">
            <a:avLst/>
          </a:prstGeom>
          <a:noFill/>
          <a:ln/>
        </p:spPr>
        <p:txBody>
          <a:bodyPr wrap="square" lIns="0" tIns="0" rIns="0" bIns="0" rtlCol="0" anchor="ctr"/>
          <a:lstStyle/>
          <a:p>
            <a:r>
              <a:rPr lang="en-US" sz="6900" b="1" dirty="0">
                <a:solidFill>
                  <a:srgbClr val="8A90B0"/>
                </a:solidFill>
                <a:latin typeface="Arial" pitchFamily="34" charset="0"/>
                <a:ea typeface="Arial" pitchFamily="34" charset="-122"/>
                <a:cs typeface="Arial" pitchFamily="34" charset="-120"/>
              </a:rPr>
              <a:t>1 616</a:t>
            </a:r>
            <a:endParaRPr lang="en-US" sz="6900" dirty="0"/>
          </a:p>
        </p:txBody>
      </p:sp>
      <p:sp>
        <p:nvSpPr>
          <p:cNvPr id="12" name="Text 9"/>
          <p:cNvSpPr txBox="1"/>
          <p:nvPr/>
        </p:nvSpPr>
        <p:spPr>
          <a:xfrm>
            <a:off x="3895344" y="5006340"/>
            <a:ext cx="822960" cy="822960"/>
          </a:xfrm>
          <a:prstGeom prst="rect">
            <a:avLst/>
          </a:prstGeom>
          <a:noFill/>
          <a:ln/>
        </p:spPr>
        <p:txBody>
          <a:bodyPr wrap="square" lIns="0" tIns="0" rIns="0" bIns="0" rtlCol="0" anchor="ctr"/>
          <a:lstStyle/>
          <a:p>
            <a:r>
              <a:rPr lang="en-US" sz="4200" dirty="0">
                <a:solidFill>
                  <a:srgbClr val="72C493"/>
                </a:solidFill>
                <a:latin typeface="Arial" pitchFamily="34" charset="0"/>
                <a:ea typeface="Arial" pitchFamily="34" charset="-122"/>
                <a:cs typeface="Arial" pitchFamily="34" charset="-120"/>
              </a:rPr>
              <a:t>→</a:t>
            </a:r>
            <a:endParaRPr lang="en-US" sz="4200" dirty="0"/>
          </a:p>
        </p:txBody>
      </p:sp>
      <p:sp>
        <p:nvSpPr>
          <p:cNvPr id="13" name="Text 10"/>
          <p:cNvSpPr txBox="1"/>
          <p:nvPr/>
        </p:nvSpPr>
        <p:spPr>
          <a:xfrm>
            <a:off x="4992624" y="4114800"/>
            <a:ext cx="2194560" cy="411480"/>
          </a:xfrm>
          <a:prstGeom prst="rect">
            <a:avLst/>
          </a:prstGeom>
          <a:noFill/>
          <a:ln/>
        </p:spPr>
        <p:txBody>
          <a:bodyPr wrap="square" lIns="0" tIns="0" rIns="0" bIns="0" rtlCol="0" anchor="ctr"/>
          <a:lstStyle/>
          <a:p>
            <a:r>
              <a:rPr lang="en-US" sz="2100" b="1" dirty="0">
                <a:solidFill>
                  <a:srgbClr val="72C493"/>
                </a:solidFill>
                <a:latin typeface="Arial" pitchFamily="34" charset="0"/>
                <a:ea typeface="Arial" pitchFamily="34" charset="-122"/>
                <a:cs typeface="Arial" pitchFamily="34" charset="-120"/>
              </a:rPr>
              <a:t>Oct. 2026</a:t>
            </a:r>
            <a:endParaRPr lang="en-US" sz="2100" dirty="0"/>
          </a:p>
        </p:txBody>
      </p:sp>
      <p:sp>
        <p:nvSpPr>
          <p:cNvPr id="14" name="Text 11"/>
          <p:cNvSpPr txBox="1"/>
          <p:nvPr/>
        </p:nvSpPr>
        <p:spPr>
          <a:xfrm>
            <a:off x="4992624" y="4457700"/>
            <a:ext cx="4663440" cy="1508760"/>
          </a:xfrm>
          <a:prstGeom prst="rect">
            <a:avLst/>
          </a:prstGeom>
          <a:noFill/>
          <a:ln/>
        </p:spPr>
        <p:txBody>
          <a:bodyPr wrap="square" lIns="0" tIns="0" rIns="0" bIns="0" rtlCol="0" anchor="ctr"/>
          <a:lstStyle/>
          <a:p>
            <a:r>
              <a:rPr lang="en-US" sz="10500" b="1" dirty="0">
                <a:solidFill>
                  <a:srgbClr val="FFFFFF"/>
                </a:solidFill>
                <a:latin typeface="Arial" pitchFamily="34" charset="0"/>
                <a:ea typeface="Arial" pitchFamily="34" charset="-122"/>
                <a:cs typeface="Arial" pitchFamily="34" charset="-120"/>
              </a:rPr>
              <a:t>1 784</a:t>
            </a:r>
            <a:endParaRPr lang="en-US" sz="10500" dirty="0"/>
          </a:p>
        </p:txBody>
      </p:sp>
      <p:sp>
        <p:nvSpPr>
          <p:cNvPr id="15" name="Text 12"/>
          <p:cNvSpPr txBox="1"/>
          <p:nvPr/>
        </p:nvSpPr>
        <p:spPr>
          <a:xfrm>
            <a:off x="9738360" y="4594860"/>
            <a:ext cx="1645920" cy="411480"/>
          </a:xfrm>
          <a:prstGeom prst="rect">
            <a:avLst/>
          </a:prstGeom>
          <a:noFill/>
          <a:ln/>
        </p:spPr>
        <p:txBody>
          <a:bodyPr wrap="square" lIns="0" tIns="0" rIns="0" bIns="0" rtlCol="0" anchor="ctr"/>
          <a:lstStyle/>
          <a:p>
            <a:r>
              <a:rPr lang="en-US" sz="2100" b="1" dirty="0">
                <a:solidFill>
                  <a:srgbClr val="8A90B0"/>
                </a:solidFill>
                <a:latin typeface="Arial" pitchFamily="34" charset="0"/>
                <a:ea typeface="Arial" pitchFamily="34" charset="-122"/>
                <a:cs typeface="Arial" pitchFamily="34" charset="-120"/>
              </a:rPr>
              <a:t>Sept. 2025</a:t>
            </a:r>
            <a:endParaRPr lang="en-US" sz="2100" dirty="0"/>
          </a:p>
        </p:txBody>
      </p:sp>
      <p:sp>
        <p:nvSpPr>
          <p:cNvPr id="16" name="Text 13"/>
          <p:cNvSpPr txBox="1"/>
          <p:nvPr/>
        </p:nvSpPr>
        <p:spPr>
          <a:xfrm>
            <a:off x="9738360" y="4937760"/>
            <a:ext cx="3154680" cy="1028700"/>
          </a:xfrm>
          <a:prstGeom prst="rect">
            <a:avLst/>
          </a:prstGeom>
          <a:noFill/>
          <a:ln/>
        </p:spPr>
        <p:txBody>
          <a:bodyPr wrap="square" lIns="0" tIns="0" rIns="0" bIns="0" rtlCol="0" anchor="ctr"/>
          <a:lstStyle/>
          <a:p>
            <a:r>
              <a:rPr lang="en-US" sz="6900" b="1" dirty="0">
                <a:solidFill>
                  <a:srgbClr val="8A90B0"/>
                </a:solidFill>
                <a:latin typeface="Arial" pitchFamily="34" charset="0"/>
                <a:ea typeface="Arial" pitchFamily="34" charset="-122"/>
                <a:cs typeface="Arial" pitchFamily="34" charset="-120"/>
              </a:rPr>
              <a:t>145</a:t>
            </a:r>
            <a:endParaRPr lang="en-US" sz="6900" dirty="0"/>
          </a:p>
        </p:txBody>
      </p:sp>
      <p:sp>
        <p:nvSpPr>
          <p:cNvPr id="17" name="Text 14"/>
          <p:cNvSpPr txBox="1"/>
          <p:nvPr/>
        </p:nvSpPr>
        <p:spPr>
          <a:xfrm>
            <a:off x="12687300" y="5006340"/>
            <a:ext cx="822960" cy="822960"/>
          </a:xfrm>
          <a:prstGeom prst="rect">
            <a:avLst/>
          </a:prstGeom>
          <a:noFill/>
          <a:ln/>
        </p:spPr>
        <p:txBody>
          <a:bodyPr wrap="square" lIns="0" tIns="0" rIns="0" bIns="0" rtlCol="0" anchor="ctr"/>
          <a:lstStyle/>
          <a:p>
            <a:r>
              <a:rPr lang="en-US" sz="4200" dirty="0">
                <a:solidFill>
                  <a:srgbClr val="72C493"/>
                </a:solidFill>
                <a:latin typeface="Arial" pitchFamily="34" charset="0"/>
                <a:ea typeface="Arial" pitchFamily="34" charset="-122"/>
                <a:cs typeface="Arial" pitchFamily="34" charset="-120"/>
              </a:rPr>
              <a:t>→</a:t>
            </a:r>
            <a:endParaRPr lang="en-US" sz="4200" dirty="0"/>
          </a:p>
        </p:txBody>
      </p:sp>
      <p:sp>
        <p:nvSpPr>
          <p:cNvPr id="18" name="Text 15"/>
          <p:cNvSpPr txBox="1"/>
          <p:nvPr/>
        </p:nvSpPr>
        <p:spPr>
          <a:xfrm>
            <a:off x="13784580" y="4114800"/>
            <a:ext cx="2194560" cy="411480"/>
          </a:xfrm>
          <a:prstGeom prst="rect">
            <a:avLst/>
          </a:prstGeom>
          <a:noFill/>
          <a:ln/>
        </p:spPr>
        <p:txBody>
          <a:bodyPr wrap="square" lIns="0" tIns="0" rIns="0" bIns="0" rtlCol="0" anchor="ctr"/>
          <a:lstStyle/>
          <a:p>
            <a:r>
              <a:rPr lang="en-US" sz="2100" b="1" dirty="0">
                <a:solidFill>
                  <a:srgbClr val="72C493"/>
                </a:solidFill>
                <a:latin typeface="Arial" pitchFamily="34" charset="0"/>
                <a:ea typeface="Arial" pitchFamily="34" charset="-122"/>
                <a:cs typeface="Arial" pitchFamily="34" charset="-120"/>
              </a:rPr>
              <a:t>Oct. 2026</a:t>
            </a:r>
            <a:endParaRPr lang="en-US" sz="2100" dirty="0"/>
          </a:p>
        </p:txBody>
      </p:sp>
      <p:sp>
        <p:nvSpPr>
          <p:cNvPr id="19" name="Text 16"/>
          <p:cNvSpPr txBox="1"/>
          <p:nvPr/>
        </p:nvSpPr>
        <p:spPr>
          <a:xfrm>
            <a:off x="13784580" y="4457700"/>
            <a:ext cx="4663440" cy="1508760"/>
          </a:xfrm>
          <a:prstGeom prst="rect">
            <a:avLst/>
          </a:prstGeom>
          <a:noFill/>
          <a:ln/>
        </p:spPr>
        <p:txBody>
          <a:bodyPr wrap="square" lIns="0" tIns="0" rIns="0" bIns="0" rtlCol="0" anchor="ctr"/>
          <a:lstStyle/>
          <a:p>
            <a:r>
              <a:rPr lang="en-US" sz="10500" b="1" dirty="0">
                <a:solidFill>
                  <a:srgbClr val="FFFFFF"/>
                </a:solidFill>
                <a:latin typeface="Arial" pitchFamily="34" charset="0"/>
                <a:ea typeface="Arial" pitchFamily="34" charset="-122"/>
                <a:cs typeface="Arial" pitchFamily="34" charset="-120"/>
              </a:rPr>
              <a:t>162</a:t>
            </a:r>
            <a:endParaRPr lang="en-US" sz="10500" dirty="0"/>
          </a:p>
        </p:txBody>
      </p:sp>
      <p:sp>
        <p:nvSpPr>
          <p:cNvPr id="20" name="Shape 17"/>
          <p:cNvSpPr/>
          <p:nvPr/>
        </p:nvSpPr>
        <p:spPr>
          <a:xfrm>
            <a:off x="946404" y="6309360"/>
            <a:ext cx="3977640" cy="576072"/>
          </a:xfrm>
          <a:prstGeom prst="rect">
            <a:avLst/>
          </a:prstGeom>
          <a:solidFill>
            <a:srgbClr val="72C493"/>
          </a:solidFill>
          <a:ln/>
        </p:spPr>
      </p:sp>
      <p:sp>
        <p:nvSpPr>
          <p:cNvPr id="21" name="Text 18"/>
          <p:cNvSpPr txBox="1"/>
          <p:nvPr/>
        </p:nvSpPr>
        <p:spPr>
          <a:xfrm>
            <a:off x="1138428" y="6309360"/>
            <a:ext cx="370332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+168 places, soit +10 %</a:t>
            </a:r>
            <a:endParaRPr lang="en-US" sz="2100" dirty="0"/>
          </a:p>
        </p:txBody>
      </p:sp>
      <p:sp>
        <p:nvSpPr>
          <p:cNvPr id="22" name="Shape 19"/>
          <p:cNvSpPr/>
          <p:nvPr/>
        </p:nvSpPr>
        <p:spPr>
          <a:xfrm>
            <a:off x="9738360" y="6309360"/>
            <a:ext cx="2743200" cy="576072"/>
          </a:xfrm>
          <a:prstGeom prst="rect">
            <a:avLst/>
          </a:prstGeom>
          <a:solidFill>
            <a:srgbClr val="72C493"/>
          </a:solidFill>
          <a:ln/>
        </p:spPr>
      </p:sp>
      <p:sp>
        <p:nvSpPr>
          <p:cNvPr id="23" name="Text 20"/>
          <p:cNvSpPr txBox="1"/>
          <p:nvPr/>
        </p:nvSpPr>
        <p:spPr>
          <a:xfrm>
            <a:off x="9930384" y="6309360"/>
            <a:ext cx="246888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+17 animateurs</a:t>
            </a:r>
            <a:endParaRPr lang="en-US" sz="2100" dirty="0"/>
          </a:p>
        </p:txBody>
      </p:sp>
      <p:sp>
        <p:nvSpPr>
          <p:cNvPr id="24" name="Shape 21"/>
          <p:cNvSpPr/>
          <p:nvPr/>
        </p:nvSpPr>
        <p:spPr>
          <a:xfrm>
            <a:off x="946404" y="8023860"/>
            <a:ext cx="5280660" cy="0"/>
          </a:xfrm>
          <a:prstGeom prst="line">
            <a:avLst/>
          </a:prstGeom>
          <a:noFill/>
          <a:ln w="12700">
            <a:solidFill>
              <a:srgbClr val="2A3A72"/>
            </a:solidFill>
            <a:prstDash val="solid"/>
          </a:ln>
        </p:spPr>
      </p:sp>
      <p:sp>
        <p:nvSpPr>
          <p:cNvPr id="25" name="Text 22"/>
          <p:cNvSpPr txBox="1"/>
          <p:nvPr/>
        </p:nvSpPr>
        <p:spPr>
          <a:xfrm>
            <a:off x="946404" y="8229600"/>
            <a:ext cx="5280660" cy="1097280"/>
          </a:xfrm>
          <a:prstGeom prst="rect">
            <a:avLst/>
          </a:prstGeom>
          <a:noFill/>
          <a:ln/>
        </p:spPr>
        <p:txBody>
          <a:bodyPr wrap="square" lIns="0" tIns="0" rIns="0" bIns="0" rtlCol="0" anchor="t"/>
          <a:lstStyle/>
          <a:p>
            <a:r>
              <a:rPr lang="en-US" sz="2100" b="1" dirty="0">
                <a:solidFill>
                  <a:srgbClr val="FFFFFF"/>
                </a:solidFill>
                <a:latin typeface="Arial" pitchFamily="34" charset="0"/>
                <a:ea typeface="Arial" pitchFamily="34" charset="-122"/>
                <a:cs typeface="Arial" pitchFamily="34" charset="-120"/>
              </a:rPr>
              <a:t>Chaque recrutement ouvre 8 places en maternelle et 12 en élémentaire</a:t>
            </a:r>
            <a:endParaRPr lang="en-US" sz="2100" dirty="0"/>
          </a:p>
        </p:txBody>
      </p:sp>
      <p:sp>
        <p:nvSpPr>
          <p:cNvPr id="26" name="Shape 23"/>
          <p:cNvSpPr/>
          <p:nvPr/>
        </p:nvSpPr>
        <p:spPr>
          <a:xfrm>
            <a:off x="6597396" y="8023860"/>
            <a:ext cx="5280660" cy="0"/>
          </a:xfrm>
          <a:prstGeom prst="line">
            <a:avLst/>
          </a:prstGeom>
          <a:noFill/>
          <a:ln w="12700">
            <a:solidFill>
              <a:srgbClr val="2A3A72"/>
            </a:solidFill>
            <a:prstDash val="solid"/>
          </a:ln>
        </p:spPr>
      </p:sp>
      <p:sp>
        <p:nvSpPr>
          <p:cNvPr id="27" name="Text 24"/>
          <p:cNvSpPr txBox="1"/>
          <p:nvPr/>
        </p:nvSpPr>
        <p:spPr>
          <a:xfrm>
            <a:off x="6597396" y="8229600"/>
            <a:ext cx="5280660" cy="1097280"/>
          </a:xfrm>
          <a:prstGeom prst="rect">
            <a:avLst/>
          </a:prstGeom>
          <a:noFill/>
          <a:ln/>
        </p:spPr>
        <p:txBody>
          <a:bodyPr wrap="square" lIns="0" tIns="0" rIns="0" bIns="0" rtlCol="0" anchor="t"/>
          <a:lstStyle/>
          <a:p>
            <a:r>
              <a:rPr lang="en-US" sz="2100" b="1" dirty="0">
                <a:solidFill>
                  <a:srgbClr val="FFFFFF"/>
                </a:solidFill>
                <a:latin typeface="Arial" pitchFamily="34" charset="0"/>
                <a:ea typeface="Arial" pitchFamily="34" charset="-122"/>
                <a:cs typeface="Arial" pitchFamily="34" charset="-120"/>
              </a:rPr>
              <a:t>Les places libérées sont réattribuées chaque semaine à partir des listes d’attente</a:t>
            </a:r>
            <a:endParaRPr lang="en-US" sz="2100" dirty="0"/>
          </a:p>
        </p:txBody>
      </p:sp>
      <p:sp>
        <p:nvSpPr>
          <p:cNvPr id="28" name="Shape 25"/>
          <p:cNvSpPr/>
          <p:nvPr/>
        </p:nvSpPr>
        <p:spPr>
          <a:xfrm>
            <a:off x="12248388" y="8023860"/>
            <a:ext cx="5280660" cy="0"/>
          </a:xfrm>
          <a:prstGeom prst="line">
            <a:avLst/>
          </a:prstGeom>
          <a:noFill/>
          <a:ln w="12700">
            <a:solidFill>
              <a:srgbClr val="2A3A72"/>
            </a:solidFill>
            <a:prstDash val="solid"/>
          </a:ln>
        </p:spPr>
      </p:sp>
      <p:sp>
        <p:nvSpPr>
          <p:cNvPr id="29" name="Text 26"/>
          <p:cNvSpPr txBox="1"/>
          <p:nvPr/>
        </p:nvSpPr>
        <p:spPr>
          <a:xfrm>
            <a:off x="12248388" y="8229600"/>
            <a:ext cx="5280660" cy="1097280"/>
          </a:xfrm>
          <a:prstGeom prst="rect">
            <a:avLst/>
          </a:prstGeom>
          <a:noFill/>
          <a:ln/>
        </p:spPr>
        <p:txBody>
          <a:bodyPr wrap="square" lIns="0" tIns="0" rIns="0" bIns="0" rtlCol="0" anchor="t"/>
          <a:lstStyle/>
          <a:p>
            <a:r>
              <a:rPr lang="en-US" sz="2100" b="1" dirty="0">
                <a:solidFill>
                  <a:srgbClr val="72C493"/>
                </a:solidFill>
                <a:latin typeface="Arial" pitchFamily="34" charset="0"/>
                <a:ea typeface="Arial" pitchFamily="34" charset="-122"/>
                <a:cs typeface="Arial" pitchFamily="34" charset="-120"/>
              </a:rPr>
              <a:t>Les recrutements continuent, surtout pour les postes du mercredi</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sp>
        <p:nvSpPr>
          <p:cNvPr id="2" name="Text 0"/>
          <p:cNvSpPr txBox="1"/>
          <p:nvPr/>
        </p:nvSpPr>
        <p:spPr>
          <a:xfrm>
            <a:off x="946404" y="644652"/>
            <a:ext cx="12344400" cy="480060"/>
          </a:xfrm>
          <a:prstGeom prst="rect">
            <a:avLst/>
          </a:prstGeom>
          <a:noFill/>
          <a:ln/>
        </p:spPr>
        <p:txBody>
          <a:bodyPr wrap="square" lIns="0" tIns="0" rIns="0" bIns="0" rtlCol="0" anchor="ctr"/>
          <a:lstStyle/>
          <a:p>
            <a:r>
              <a:rPr lang="en-US" sz="1950" b="1" kern="0" spc="300" dirty="0">
                <a:solidFill>
                  <a:srgbClr val="72C493"/>
                </a:solidFill>
                <a:latin typeface="Arial" pitchFamily="34" charset="0"/>
                <a:ea typeface="Arial" pitchFamily="34" charset="-122"/>
                <a:cs typeface="Arial" pitchFamily="34" charset="-120"/>
              </a:rPr>
              <a:t>02 — LE PÉRISCOLAIRE · MERCREDIS</a:t>
            </a:r>
            <a:endParaRPr lang="en-US" sz="1950" dirty="0"/>
          </a:p>
        </p:txBody>
      </p:sp>
      <p:sp>
        <p:nvSpPr>
          <p:cNvPr id="3" name="Text 1"/>
          <p:cNvSpPr txBox="1"/>
          <p:nvPr/>
        </p:nvSpPr>
        <p:spPr>
          <a:xfrm>
            <a:off x="946404" y="1165860"/>
            <a:ext cx="13716000" cy="891540"/>
          </a:xfrm>
          <a:prstGeom prst="rect">
            <a:avLst/>
          </a:prstGeom>
          <a:noFill/>
          <a:ln/>
        </p:spPr>
        <p:txBody>
          <a:bodyPr wrap="square" lIns="0" tIns="0" rIns="0" bIns="0" rtlCol="0" anchor="ctr"/>
          <a:lstStyle/>
          <a:p>
            <a:r>
              <a:rPr lang="en-US" sz="4050" b="1" dirty="0">
                <a:solidFill>
                  <a:srgbClr val="FFFFFF"/>
                </a:solidFill>
                <a:latin typeface="Arial" pitchFamily="34" charset="0"/>
                <a:ea typeface="Arial" pitchFamily="34" charset="-122"/>
                <a:cs typeface="Arial" pitchFamily="34" charset="-120"/>
              </a:rPr>
              <a:t>Par rapport à l’an dernier</a:t>
            </a:r>
            <a:endParaRPr lang="en-US" sz="4050" dirty="0"/>
          </a:p>
        </p:txBody>
      </p:sp>
      <p:sp>
        <p:nvSpPr>
          <p:cNvPr id="4" name="Text 2"/>
          <p:cNvSpPr txBox="1"/>
          <p:nvPr/>
        </p:nvSpPr>
        <p:spPr>
          <a:xfrm>
            <a:off x="946404" y="2125980"/>
            <a:ext cx="13716000" cy="548640"/>
          </a:xfrm>
          <a:prstGeom prst="rect">
            <a:avLst/>
          </a:prstGeom>
          <a:noFill/>
          <a:ln/>
        </p:spPr>
        <p:txBody>
          <a:bodyPr wrap="square" lIns="0" tIns="0" rIns="0" bIns="0" rtlCol="0" anchor="ctr"/>
          <a:lstStyle/>
          <a:p>
            <a:r>
              <a:rPr lang="en-US" sz="2100" dirty="0">
                <a:solidFill>
                  <a:srgbClr val="FFFFFF"/>
                </a:solidFill>
                <a:latin typeface="Arial" pitchFamily="34" charset="0"/>
                <a:ea typeface="Arial" pitchFamily="34" charset="-122"/>
                <a:cs typeface="Arial" pitchFamily="34" charset="-120"/>
              </a:rPr>
              <a:t>Dans toute la ville, premier mercredi de réservation de la rentrée</a:t>
            </a:r>
            <a:endParaRPr lang="en-US" sz="2100" dirty="0"/>
          </a:p>
        </p:txBody>
      </p:sp>
      <p:pic>
        <p:nvPicPr>
          <p:cNvPr id="5" name="Image 0" descr="/tmp/claude-0/-home-user-Operation-robespierre/996c8343-2b29-5be8-89e5-6b613d278f5f/scratchpad/logo_rp_x3.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10560" y="205740"/>
            <a:ext cx="1824228" cy="1947672"/>
          </a:xfrm>
          <a:prstGeom prst="rect">
            <a:avLst/>
          </a:prstGeom>
        </p:spPr>
      </p:pic>
      <p:sp>
        <p:nvSpPr>
          <p:cNvPr id="6" name="Text 3"/>
          <p:cNvSpPr txBox="1"/>
          <p:nvPr/>
        </p:nvSpPr>
        <p:spPr>
          <a:xfrm>
            <a:off x="946404" y="3771900"/>
            <a:ext cx="5486400" cy="1234440"/>
          </a:xfrm>
          <a:prstGeom prst="rect">
            <a:avLst/>
          </a:prstGeom>
          <a:noFill/>
          <a:ln/>
        </p:spPr>
        <p:txBody>
          <a:bodyPr wrap="square" lIns="0" tIns="0" rIns="0" bIns="0" rtlCol="0" anchor="ctr"/>
          <a:lstStyle/>
          <a:p>
            <a:r>
              <a:rPr lang="en-US" sz="2700" b="1" dirty="0">
                <a:solidFill>
                  <a:srgbClr val="FFFFFF"/>
                </a:solidFill>
                <a:latin typeface="Arial" pitchFamily="34" charset="0"/>
                <a:ea typeface="Arial" pitchFamily="34" charset="-122"/>
                <a:cs typeface="Arial" pitchFamily="34" charset="-120"/>
              </a:rPr>
              <a:t>Enfants en liste d’attente qui obtiennent une place</a:t>
            </a:r>
            <a:endParaRPr lang="en-US" sz="2700" dirty="0"/>
          </a:p>
        </p:txBody>
      </p:sp>
      <p:sp>
        <p:nvSpPr>
          <p:cNvPr id="7" name="Text 4"/>
          <p:cNvSpPr txBox="1"/>
          <p:nvPr/>
        </p:nvSpPr>
        <p:spPr>
          <a:xfrm>
            <a:off x="6858000" y="3634740"/>
            <a:ext cx="1645920" cy="411480"/>
          </a:xfrm>
          <a:prstGeom prst="rect">
            <a:avLst/>
          </a:prstGeom>
          <a:noFill/>
          <a:ln/>
        </p:spPr>
        <p:txBody>
          <a:bodyPr wrap="square" lIns="0" tIns="0" rIns="0" bIns="0" rtlCol="0" anchor="ctr"/>
          <a:lstStyle/>
          <a:p>
            <a:r>
              <a:rPr lang="en-US" sz="2100" b="1" dirty="0">
                <a:solidFill>
                  <a:srgbClr val="8A90B0"/>
                </a:solidFill>
                <a:latin typeface="Arial" pitchFamily="34" charset="0"/>
                <a:ea typeface="Arial" pitchFamily="34" charset="-122"/>
                <a:cs typeface="Arial" pitchFamily="34" charset="-120"/>
              </a:rPr>
              <a:t>Sept. 2025</a:t>
            </a:r>
            <a:endParaRPr lang="en-US" sz="2100" dirty="0"/>
          </a:p>
        </p:txBody>
      </p:sp>
      <p:sp>
        <p:nvSpPr>
          <p:cNvPr id="8" name="Text 5"/>
          <p:cNvSpPr txBox="1"/>
          <p:nvPr/>
        </p:nvSpPr>
        <p:spPr>
          <a:xfrm>
            <a:off x="6858000" y="3977640"/>
            <a:ext cx="3154680" cy="1028700"/>
          </a:xfrm>
          <a:prstGeom prst="rect">
            <a:avLst/>
          </a:prstGeom>
          <a:noFill/>
          <a:ln/>
        </p:spPr>
        <p:txBody>
          <a:bodyPr wrap="square" lIns="0" tIns="0" rIns="0" bIns="0" rtlCol="0" anchor="ctr"/>
          <a:lstStyle/>
          <a:p>
            <a:r>
              <a:rPr lang="en-US" sz="6900" b="1" dirty="0">
                <a:solidFill>
                  <a:srgbClr val="8A90B0"/>
                </a:solidFill>
                <a:latin typeface="Arial" pitchFamily="34" charset="0"/>
                <a:ea typeface="Arial" pitchFamily="34" charset="-122"/>
                <a:cs typeface="Arial" pitchFamily="34" charset="-120"/>
              </a:rPr>
              <a:t>6 %</a:t>
            </a:r>
            <a:endParaRPr lang="en-US" sz="6900" dirty="0"/>
          </a:p>
        </p:txBody>
      </p:sp>
      <p:sp>
        <p:nvSpPr>
          <p:cNvPr id="9" name="Text 6"/>
          <p:cNvSpPr txBox="1"/>
          <p:nvPr/>
        </p:nvSpPr>
        <p:spPr>
          <a:xfrm>
            <a:off x="9806940" y="4046220"/>
            <a:ext cx="822960" cy="822960"/>
          </a:xfrm>
          <a:prstGeom prst="rect">
            <a:avLst/>
          </a:prstGeom>
          <a:noFill/>
          <a:ln/>
        </p:spPr>
        <p:txBody>
          <a:bodyPr wrap="square" lIns="0" tIns="0" rIns="0" bIns="0" rtlCol="0" anchor="ctr"/>
          <a:lstStyle/>
          <a:p>
            <a:r>
              <a:rPr lang="en-US" sz="4200" dirty="0">
                <a:solidFill>
                  <a:srgbClr val="72C493"/>
                </a:solidFill>
                <a:latin typeface="Arial" pitchFamily="34" charset="0"/>
                <a:ea typeface="Arial" pitchFamily="34" charset="-122"/>
                <a:cs typeface="Arial" pitchFamily="34" charset="-120"/>
              </a:rPr>
              <a:t>→</a:t>
            </a:r>
            <a:endParaRPr lang="en-US" sz="4200" dirty="0"/>
          </a:p>
        </p:txBody>
      </p:sp>
      <p:sp>
        <p:nvSpPr>
          <p:cNvPr id="10" name="Text 7"/>
          <p:cNvSpPr txBox="1"/>
          <p:nvPr/>
        </p:nvSpPr>
        <p:spPr>
          <a:xfrm>
            <a:off x="10904220" y="3154680"/>
            <a:ext cx="2194560" cy="411480"/>
          </a:xfrm>
          <a:prstGeom prst="rect">
            <a:avLst/>
          </a:prstGeom>
          <a:noFill/>
          <a:ln/>
        </p:spPr>
        <p:txBody>
          <a:bodyPr wrap="square" lIns="0" tIns="0" rIns="0" bIns="0" rtlCol="0" anchor="ctr"/>
          <a:lstStyle/>
          <a:p>
            <a:r>
              <a:rPr lang="en-US" sz="2100" b="1" dirty="0">
                <a:solidFill>
                  <a:srgbClr val="72C493"/>
                </a:solidFill>
                <a:latin typeface="Arial" pitchFamily="34" charset="0"/>
                <a:ea typeface="Arial" pitchFamily="34" charset="-122"/>
                <a:cs typeface="Arial" pitchFamily="34" charset="-120"/>
              </a:rPr>
              <a:t>Sept. 2026</a:t>
            </a:r>
            <a:endParaRPr lang="en-US" sz="2100" dirty="0"/>
          </a:p>
        </p:txBody>
      </p:sp>
      <p:sp>
        <p:nvSpPr>
          <p:cNvPr id="11" name="Text 8"/>
          <p:cNvSpPr txBox="1"/>
          <p:nvPr/>
        </p:nvSpPr>
        <p:spPr>
          <a:xfrm>
            <a:off x="10904220" y="3497580"/>
            <a:ext cx="4663440" cy="1508760"/>
          </a:xfrm>
          <a:prstGeom prst="rect">
            <a:avLst/>
          </a:prstGeom>
          <a:noFill/>
          <a:ln/>
        </p:spPr>
        <p:txBody>
          <a:bodyPr wrap="square" lIns="0" tIns="0" rIns="0" bIns="0" rtlCol="0" anchor="ctr"/>
          <a:lstStyle/>
          <a:p>
            <a:r>
              <a:rPr lang="en-US" sz="10500" b="1" dirty="0">
                <a:solidFill>
                  <a:srgbClr val="72C493"/>
                </a:solidFill>
                <a:latin typeface="Arial" pitchFamily="34" charset="0"/>
                <a:ea typeface="Arial" pitchFamily="34" charset="-122"/>
                <a:cs typeface="Arial" pitchFamily="34" charset="-120"/>
              </a:rPr>
              <a:t>42 %</a:t>
            </a:r>
            <a:endParaRPr lang="en-US" sz="10500" dirty="0"/>
          </a:p>
        </p:txBody>
      </p:sp>
      <p:sp>
        <p:nvSpPr>
          <p:cNvPr id="12" name="Shape 9"/>
          <p:cNvSpPr/>
          <p:nvPr/>
        </p:nvSpPr>
        <p:spPr>
          <a:xfrm>
            <a:off x="946404" y="5897880"/>
            <a:ext cx="5074920" cy="0"/>
          </a:xfrm>
          <a:prstGeom prst="line">
            <a:avLst/>
          </a:prstGeom>
          <a:noFill/>
          <a:ln w="31750">
            <a:solidFill>
              <a:srgbClr val="72C493"/>
            </a:solidFill>
            <a:prstDash val="solid"/>
          </a:ln>
        </p:spPr>
      </p:sp>
      <p:sp>
        <p:nvSpPr>
          <p:cNvPr id="13" name="Text 10"/>
          <p:cNvSpPr txBox="1"/>
          <p:nvPr/>
        </p:nvSpPr>
        <p:spPr>
          <a:xfrm>
            <a:off x="946404" y="6172200"/>
            <a:ext cx="507492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EN LISTE D’ATTENTE</a:t>
            </a:r>
            <a:endParaRPr lang="en-US" sz="2100" dirty="0"/>
          </a:p>
        </p:txBody>
      </p:sp>
      <p:sp>
        <p:nvSpPr>
          <p:cNvPr id="14" name="Text 11"/>
          <p:cNvSpPr txBox="1"/>
          <p:nvPr/>
        </p:nvSpPr>
        <p:spPr>
          <a:xfrm>
            <a:off x="946404" y="7338060"/>
            <a:ext cx="1645920" cy="411480"/>
          </a:xfrm>
          <a:prstGeom prst="rect">
            <a:avLst/>
          </a:prstGeom>
          <a:noFill/>
          <a:ln/>
        </p:spPr>
        <p:txBody>
          <a:bodyPr wrap="square" lIns="0" tIns="0" rIns="0" bIns="0" rtlCol="0" anchor="ctr"/>
          <a:lstStyle/>
          <a:p>
            <a:r>
              <a:rPr lang="en-US" sz="2100" b="1" dirty="0">
                <a:solidFill>
                  <a:srgbClr val="8A90B0"/>
                </a:solidFill>
                <a:latin typeface="Arial" pitchFamily="34" charset="0"/>
                <a:ea typeface="Arial" pitchFamily="34" charset="-122"/>
                <a:cs typeface="Arial" pitchFamily="34" charset="-120"/>
              </a:rPr>
              <a:t>2025</a:t>
            </a:r>
            <a:endParaRPr lang="en-US" sz="2100" dirty="0"/>
          </a:p>
        </p:txBody>
      </p:sp>
      <p:sp>
        <p:nvSpPr>
          <p:cNvPr id="15" name="Text 12"/>
          <p:cNvSpPr txBox="1"/>
          <p:nvPr/>
        </p:nvSpPr>
        <p:spPr>
          <a:xfrm>
            <a:off x="946404" y="7680960"/>
            <a:ext cx="3154680" cy="1028700"/>
          </a:xfrm>
          <a:prstGeom prst="rect">
            <a:avLst/>
          </a:prstGeom>
          <a:noFill/>
          <a:ln/>
        </p:spPr>
        <p:txBody>
          <a:bodyPr wrap="square" lIns="0" tIns="0" rIns="0" bIns="0" rtlCol="0" anchor="ctr"/>
          <a:lstStyle/>
          <a:p>
            <a:r>
              <a:rPr lang="en-US" sz="6000" b="1" dirty="0">
                <a:solidFill>
                  <a:srgbClr val="8A90B0"/>
                </a:solidFill>
                <a:latin typeface="Arial" pitchFamily="34" charset="0"/>
                <a:ea typeface="Arial" pitchFamily="34" charset="-122"/>
                <a:cs typeface="Arial" pitchFamily="34" charset="-120"/>
              </a:rPr>
              <a:t>243</a:t>
            </a:r>
            <a:endParaRPr lang="en-US" sz="6000" dirty="0"/>
          </a:p>
        </p:txBody>
      </p:sp>
      <p:sp>
        <p:nvSpPr>
          <p:cNvPr id="16" name="Text 13"/>
          <p:cNvSpPr txBox="1"/>
          <p:nvPr/>
        </p:nvSpPr>
        <p:spPr>
          <a:xfrm>
            <a:off x="2729484" y="7749540"/>
            <a:ext cx="822960" cy="822960"/>
          </a:xfrm>
          <a:prstGeom prst="rect">
            <a:avLst/>
          </a:prstGeom>
          <a:noFill/>
          <a:ln/>
        </p:spPr>
        <p:txBody>
          <a:bodyPr wrap="square" lIns="0" tIns="0" rIns="0" bIns="0" rtlCol="0" anchor="ctr"/>
          <a:lstStyle/>
          <a:p>
            <a:r>
              <a:rPr lang="en-US" sz="4200" dirty="0">
                <a:solidFill>
                  <a:srgbClr val="72C493"/>
                </a:solidFill>
                <a:latin typeface="Arial" pitchFamily="34" charset="0"/>
                <a:ea typeface="Arial" pitchFamily="34" charset="-122"/>
                <a:cs typeface="Arial" pitchFamily="34" charset="-120"/>
              </a:rPr>
              <a:t>→</a:t>
            </a:r>
            <a:endParaRPr lang="en-US" sz="4200" dirty="0"/>
          </a:p>
        </p:txBody>
      </p:sp>
      <p:sp>
        <p:nvSpPr>
          <p:cNvPr id="17" name="Text 14"/>
          <p:cNvSpPr txBox="1"/>
          <p:nvPr/>
        </p:nvSpPr>
        <p:spPr>
          <a:xfrm>
            <a:off x="3689604" y="6858000"/>
            <a:ext cx="2194560" cy="411480"/>
          </a:xfrm>
          <a:prstGeom prst="rect">
            <a:avLst/>
          </a:prstGeom>
          <a:noFill/>
          <a:ln/>
        </p:spPr>
        <p:txBody>
          <a:bodyPr wrap="square" lIns="0" tIns="0" rIns="0" bIns="0" rtlCol="0" anchor="ctr"/>
          <a:lstStyle/>
          <a:p>
            <a:r>
              <a:rPr lang="en-US" sz="2100" b="1" dirty="0">
                <a:solidFill>
                  <a:srgbClr val="72C493"/>
                </a:solidFill>
                <a:latin typeface="Arial" pitchFamily="34" charset="0"/>
                <a:ea typeface="Arial" pitchFamily="34" charset="-122"/>
                <a:cs typeface="Arial" pitchFamily="34" charset="-120"/>
              </a:rPr>
              <a:t>2026</a:t>
            </a:r>
            <a:endParaRPr lang="en-US" sz="2100" dirty="0"/>
          </a:p>
        </p:txBody>
      </p:sp>
      <p:sp>
        <p:nvSpPr>
          <p:cNvPr id="18" name="Text 15"/>
          <p:cNvSpPr txBox="1"/>
          <p:nvPr/>
        </p:nvSpPr>
        <p:spPr>
          <a:xfrm>
            <a:off x="3689604" y="7200900"/>
            <a:ext cx="4663440" cy="1508760"/>
          </a:xfrm>
          <a:prstGeom prst="rect">
            <a:avLst/>
          </a:prstGeom>
          <a:noFill/>
          <a:ln/>
        </p:spPr>
        <p:txBody>
          <a:bodyPr wrap="square" lIns="0" tIns="0" rIns="0" bIns="0" rtlCol="0" anchor="ctr"/>
          <a:lstStyle/>
          <a:p>
            <a:r>
              <a:rPr lang="en-US" sz="8700" b="1" dirty="0">
                <a:solidFill>
                  <a:srgbClr val="FFFFFF"/>
                </a:solidFill>
                <a:latin typeface="Arial" pitchFamily="34" charset="0"/>
                <a:ea typeface="Arial" pitchFamily="34" charset="-122"/>
                <a:cs typeface="Arial" pitchFamily="34" charset="-120"/>
              </a:rPr>
              <a:t>235</a:t>
            </a:r>
            <a:endParaRPr lang="en-US" sz="8700" dirty="0"/>
          </a:p>
        </p:txBody>
      </p:sp>
      <p:sp>
        <p:nvSpPr>
          <p:cNvPr id="19" name="Shape 16"/>
          <p:cNvSpPr/>
          <p:nvPr/>
        </p:nvSpPr>
        <p:spPr>
          <a:xfrm>
            <a:off x="6611112" y="5897880"/>
            <a:ext cx="5074920" cy="0"/>
          </a:xfrm>
          <a:prstGeom prst="line">
            <a:avLst/>
          </a:prstGeom>
          <a:noFill/>
          <a:ln w="31750">
            <a:solidFill>
              <a:srgbClr val="72C493"/>
            </a:solidFill>
            <a:prstDash val="solid"/>
          </a:ln>
        </p:spPr>
      </p:sp>
      <p:sp>
        <p:nvSpPr>
          <p:cNvPr id="20" name="Text 17"/>
          <p:cNvSpPr txBox="1"/>
          <p:nvPr/>
        </p:nvSpPr>
        <p:spPr>
          <a:xfrm>
            <a:off x="6611112" y="6172200"/>
            <a:ext cx="507492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ONT OBTENU UNE PLACE</a:t>
            </a:r>
            <a:endParaRPr lang="en-US" sz="2100" dirty="0"/>
          </a:p>
        </p:txBody>
      </p:sp>
      <p:sp>
        <p:nvSpPr>
          <p:cNvPr id="21" name="Text 18"/>
          <p:cNvSpPr txBox="1"/>
          <p:nvPr/>
        </p:nvSpPr>
        <p:spPr>
          <a:xfrm>
            <a:off x="6611112" y="7338060"/>
            <a:ext cx="1645920" cy="411480"/>
          </a:xfrm>
          <a:prstGeom prst="rect">
            <a:avLst/>
          </a:prstGeom>
          <a:noFill/>
          <a:ln/>
        </p:spPr>
        <p:txBody>
          <a:bodyPr wrap="square" lIns="0" tIns="0" rIns="0" bIns="0" rtlCol="0" anchor="ctr"/>
          <a:lstStyle/>
          <a:p>
            <a:r>
              <a:rPr lang="en-US" sz="2100" b="1" dirty="0">
                <a:solidFill>
                  <a:srgbClr val="8A90B0"/>
                </a:solidFill>
                <a:latin typeface="Arial" pitchFamily="34" charset="0"/>
                <a:ea typeface="Arial" pitchFamily="34" charset="-122"/>
                <a:cs typeface="Arial" pitchFamily="34" charset="-120"/>
              </a:rPr>
              <a:t>2025</a:t>
            </a:r>
            <a:endParaRPr lang="en-US" sz="2100" dirty="0"/>
          </a:p>
        </p:txBody>
      </p:sp>
      <p:sp>
        <p:nvSpPr>
          <p:cNvPr id="22" name="Text 19"/>
          <p:cNvSpPr txBox="1"/>
          <p:nvPr/>
        </p:nvSpPr>
        <p:spPr>
          <a:xfrm>
            <a:off x="6611112" y="7680960"/>
            <a:ext cx="3154680" cy="1028700"/>
          </a:xfrm>
          <a:prstGeom prst="rect">
            <a:avLst/>
          </a:prstGeom>
          <a:noFill/>
          <a:ln/>
        </p:spPr>
        <p:txBody>
          <a:bodyPr wrap="square" lIns="0" tIns="0" rIns="0" bIns="0" rtlCol="0" anchor="ctr"/>
          <a:lstStyle/>
          <a:p>
            <a:r>
              <a:rPr lang="en-US" sz="6000" b="1" dirty="0">
                <a:solidFill>
                  <a:srgbClr val="8A90B0"/>
                </a:solidFill>
                <a:latin typeface="Arial" pitchFamily="34" charset="0"/>
                <a:ea typeface="Arial" pitchFamily="34" charset="-122"/>
                <a:cs typeface="Arial" pitchFamily="34" charset="-120"/>
              </a:rPr>
              <a:t>14</a:t>
            </a:r>
            <a:endParaRPr lang="en-US" sz="6000" dirty="0"/>
          </a:p>
        </p:txBody>
      </p:sp>
      <p:sp>
        <p:nvSpPr>
          <p:cNvPr id="23" name="Text 20"/>
          <p:cNvSpPr txBox="1"/>
          <p:nvPr/>
        </p:nvSpPr>
        <p:spPr>
          <a:xfrm>
            <a:off x="8394192" y="7749540"/>
            <a:ext cx="822960" cy="822960"/>
          </a:xfrm>
          <a:prstGeom prst="rect">
            <a:avLst/>
          </a:prstGeom>
          <a:noFill/>
          <a:ln/>
        </p:spPr>
        <p:txBody>
          <a:bodyPr wrap="square" lIns="0" tIns="0" rIns="0" bIns="0" rtlCol="0" anchor="ctr"/>
          <a:lstStyle/>
          <a:p>
            <a:r>
              <a:rPr lang="en-US" sz="4200" dirty="0">
                <a:solidFill>
                  <a:srgbClr val="72C493"/>
                </a:solidFill>
                <a:latin typeface="Arial" pitchFamily="34" charset="0"/>
                <a:ea typeface="Arial" pitchFamily="34" charset="-122"/>
                <a:cs typeface="Arial" pitchFamily="34" charset="-120"/>
              </a:rPr>
              <a:t>→</a:t>
            </a:r>
            <a:endParaRPr lang="en-US" sz="4200" dirty="0"/>
          </a:p>
        </p:txBody>
      </p:sp>
      <p:sp>
        <p:nvSpPr>
          <p:cNvPr id="24" name="Text 21"/>
          <p:cNvSpPr txBox="1"/>
          <p:nvPr/>
        </p:nvSpPr>
        <p:spPr>
          <a:xfrm>
            <a:off x="9354312" y="6858000"/>
            <a:ext cx="2194560" cy="411480"/>
          </a:xfrm>
          <a:prstGeom prst="rect">
            <a:avLst/>
          </a:prstGeom>
          <a:noFill/>
          <a:ln/>
        </p:spPr>
        <p:txBody>
          <a:bodyPr wrap="square" lIns="0" tIns="0" rIns="0" bIns="0" rtlCol="0" anchor="ctr"/>
          <a:lstStyle/>
          <a:p>
            <a:r>
              <a:rPr lang="en-US" sz="2100" b="1" dirty="0">
                <a:solidFill>
                  <a:srgbClr val="72C493"/>
                </a:solidFill>
                <a:latin typeface="Arial" pitchFamily="34" charset="0"/>
                <a:ea typeface="Arial" pitchFamily="34" charset="-122"/>
                <a:cs typeface="Arial" pitchFamily="34" charset="-120"/>
              </a:rPr>
              <a:t>2026</a:t>
            </a:r>
            <a:endParaRPr lang="en-US" sz="2100" dirty="0"/>
          </a:p>
        </p:txBody>
      </p:sp>
      <p:sp>
        <p:nvSpPr>
          <p:cNvPr id="25" name="Text 22"/>
          <p:cNvSpPr txBox="1"/>
          <p:nvPr/>
        </p:nvSpPr>
        <p:spPr>
          <a:xfrm>
            <a:off x="9354312" y="7200900"/>
            <a:ext cx="4663440" cy="1508760"/>
          </a:xfrm>
          <a:prstGeom prst="rect">
            <a:avLst/>
          </a:prstGeom>
          <a:noFill/>
          <a:ln/>
        </p:spPr>
        <p:txBody>
          <a:bodyPr wrap="square" lIns="0" tIns="0" rIns="0" bIns="0" rtlCol="0" anchor="ctr"/>
          <a:lstStyle/>
          <a:p>
            <a:r>
              <a:rPr lang="en-US" sz="8700" b="1" dirty="0">
                <a:solidFill>
                  <a:srgbClr val="72C493"/>
                </a:solidFill>
                <a:latin typeface="Arial" pitchFamily="34" charset="0"/>
                <a:ea typeface="Arial" pitchFamily="34" charset="-122"/>
                <a:cs typeface="Arial" pitchFamily="34" charset="-120"/>
              </a:rPr>
              <a:t>99</a:t>
            </a:r>
            <a:endParaRPr lang="en-US" sz="8700" dirty="0"/>
          </a:p>
        </p:txBody>
      </p:sp>
      <p:sp>
        <p:nvSpPr>
          <p:cNvPr id="26" name="Shape 23"/>
          <p:cNvSpPr/>
          <p:nvPr/>
        </p:nvSpPr>
        <p:spPr>
          <a:xfrm>
            <a:off x="6611112" y="8915400"/>
            <a:ext cx="891540" cy="576072"/>
          </a:xfrm>
          <a:prstGeom prst="rect">
            <a:avLst/>
          </a:prstGeom>
          <a:solidFill>
            <a:srgbClr val="72C493"/>
          </a:solidFill>
          <a:ln/>
        </p:spPr>
      </p:sp>
      <p:sp>
        <p:nvSpPr>
          <p:cNvPr id="27" name="Text 24"/>
          <p:cNvSpPr txBox="1"/>
          <p:nvPr/>
        </p:nvSpPr>
        <p:spPr>
          <a:xfrm>
            <a:off x="6803136" y="8915400"/>
            <a:ext cx="61722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×7</a:t>
            </a:r>
            <a:endParaRPr lang="en-US" sz="2100" dirty="0"/>
          </a:p>
        </p:txBody>
      </p:sp>
      <p:sp>
        <p:nvSpPr>
          <p:cNvPr id="28" name="Shape 25"/>
          <p:cNvSpPr/>
          <p:nvPr/>
        </p:nvSpPr>
        <p:spPr>
          <a:xfrm>
            <a:off x="12275820" y="5897880"/>
            <a:ext cx="5074920" cy="0"/>
          </a:xfrm>
          <a:prstGeom prst="line">
            <a:avLst/>
          </a:prstGeom>
          <a:noFill/>
          <a:ln w="31750">
            <a:solidFill>
              <a:srgbClr val="72C493"/>
            </a:solidFill>
            <a:prstDash val="solid"/>
          </a:ln>
        </p:spPr>
      </p:sp>
      <p:sp>
        <p:nvSpPr>
          <p:cNvPr id="29" name="Text 26"/>
          <p:cNvSpPr txBox="1"/>
          <p:nvPr/>
        </p:nvSpPr>
        <p:spPr>
          <a:xfrm>
            <a:off x="12275820" y="6172200"/>
            <a:ext cx="507492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RESTÉS SANS PLACE</a:t>
            </a:r>
            <a:endParaRPr lang="en-US" sz="2100" dirty="0"/>
          </a:p>
        </p:txBody>
      </p:sp>
      <p:sp>
        <p:nvSpPr>
          <p:cNvPr id="30" name="Text 27"/>
          <p:cNvSpPr txBox="1"/>
          <p:nvPr/>
        </p:nvSpPr>
        <p:spPr>
          <a:xfrm>
            <a:off x="12275820" y="7338060"/>
            <a:ext cx="1645920" cy="411480"/>
          </a:xfrm>
          <a:prstGeom prst="rect">
            <a:avLst/>
          </a:prstGeom>
          <a:noFill/>
          <a:ln/>
        </p:spPr>
        <p:txBody>
          <a:bodyPr wrap="square" lIns="0" tIns="0" rIns="0" bIns="0" rtlCol="0" anchor="ctr"/>
          <a:lstStyle/>
          <a:p>
            <a:r>
              <a:rPr lang="en-US" sz="2100" b="1" dirty="0">
                <a:solidFill>
                  <a:srgbClr val="8A90B0"/>
                </a:solidFill>
                <a:latin typeface="Arial" pitchFamily="34" charset="0"/>
                <a:ea typeface="Arial" pitchFamily="34" charset="-122"/>
                <a:cs typeface="Arial" pitchFamily="34" charset="-120"/>
              </a:rPr>
              <a:t>2025</a:t>
            </a:r>
            <a:endParaRPr lang="en-US" sz="2100" dirty="0"/>
          </a:p>
        </p:txBody>
      </p:sp>
      <p:sp>
        <p:nvSpPr>
          <p:cNvPr id="31" name="Text 28"/>
          <p:cNvSpPr txBox="1"/>
          <p:nvPr/>
        </p:nvSpPr>
        <p:spPr>
          <a:xfrm>
            <a:off x="12275820" y="7680960"/>
            <a:ext cx="3154680" cy="1028700"/>
          </a:xfrm>
          <a:prstGeom prst="rect">
            <a:avLst/>
          </a:prstGeom>
          <a:noFill/>
          <a:ln/>
        </p:spPr>
        <p:txBody>
          <a:bodyPr wrap="square" lIns="0" tIns="0" rIns="0" bIns="0" rtlCol="0" anchor="ctr"/>
          <a:lstStyle/>
          <a:p>
            <a:r>
              <a:rPr lang="en-US" sz="6000" b="1" dirty="0">
                <a:solidFill>
                  <a:srgbClr val="8A90B0"/>
                </a:solidFill>
                <a:latin typeface="Arial" pitchFamily="34" charset="0"/>
                <a:ea typeface="Arial" pitchFamily="34" charset="-122"/>
                <a:cs typeface="Arial" pitchFamily="34" charset="-120"/>
              </a:rPr>
              <a:t>229</a:t>
            </a:r>
            <a:endParaRPr lang="en-US" sz="6000" dirty="0"/>
          </a:p>
        </p:txBody>
      </p:sp>
      <p:sp>
        <p:nvSpPr>
          <p:cNvPr id="32" name="Text 29"/>
          <p:cNvSpPr txBox="1"/>
          <p:nvPr/>
        </p:nvSpPr>
        <p:spPr>
          <a:xfrm>
            <a:off x="14058900" y="7749540"/>
            <a:ext cx="822960" cy="822960"/>
          </a:xfrm>
          <a:prstGeom prst="rect">
            <a:avLst/>
          </a:prstGeom>
          <a:noFill/>
          <a:ln/>
        </p:spPr>
        <p:txBody>
          <a:bodyPr wrap="square" lIns="0" tIns="0" rIns="0" bIns="0" rtlCol="0" anchor="ctr"/>
          <a:lstStyle/>
          <a:p>
            <a:r>
              <a:rPr lang="en-US" sz="4200" dirty="0">
                <a:solidFill>
                  <a:srgbClr val="72C493"/>
                </a:solidFill>
                <a:latin typeface="Arial" pitchFamily="34" charset="0"/>
                <a:ea typeface="Arial" pitchFamily="34" charset="-122"/>
                <a:cs typeface="Arial" pitchFamily="34" charset="-120"/>
              </a:rPr>
              <a:t>→</a:t>
            </a:r>
            <a:endParaRPr lang="en-US" sz="4200" dirty="0"/>
          </a:p>
        </p:txBody>
      </p:sp>
      <p:sp>
        <p:nvSpPr>
          <p:cNvPr id="33" name="Text 30"/>
          <p:cNvSpPr txBox="1"/>
          <p:nvPr/>
        </p:nvSpPr>
        <p:spPr>
          <a:xfrm>
            <a:off x="15019020" y="6858000"/>
            <a:ext cx="2194560" cy="411480"/>
          </a:xfrm>
          <a:prstGeom prst="rect">
            <a:avLst/>
          </a:prstGeom>
          <a:noFill/>
          <a:ln/>
        </p:spPr>
        <p:txBody>
          <a:bodyPr wrap="square" lIns="0" tIns="0" rIns="0" bIns="0" rtlCol="0" anchor="ctr"/>
          <a:lstStyle/>
          <a:p>
            <a:r>
              <a:rPr lang="en-US" sz="2100" b="1" dirty="0">
                <a:solidFill>
                  <a:srgbClr val="72C493"/>
                </a:solidFill>
                <a:latin typeface="Arial" pitchFamily="34" charset="0"/>
                <a:ea typeface="Arial" pitchFamily="34" charset="-122"/>
                <a:cs typeface="Arial" pitchFamily="34" charset="-120"/>
              </a:rPr>
              <a:t>2026</a:t>
            </a:r>
            <a:endParaRPr lang="en-US" sz="2100" dirty="0"/>
          </a:p>
        </p:txBody>
      </p:sp>
      <p:sp>
        <p:nvSpPr>
          <p:cNvPr id="34" name="Text 31"/>
          <p:cNvSpPr txBox="1"/>
          <p:nvPr/>
        </p:nvSpPr>
        <p:spPr>
          <a:xfrm>
            <a:off x="15019020" y="7200900"/>
            <a:ext cx="4663440" cy="1508760"/>
          </a:xfrm>
          <a:prstGeom prst="rect">
            <a:avLst/>
          </a:prstGeom>
          <a:noFill/>
          <a:ln/>
        </p:spPr>
        <p:txBody>
          <a:bodyPr wrap="square" lIns="0" tIns="0" rIns="0" bIns="0" rtlCol="0" anchor="ctr"/>
          <a:lstStyle/>
          <a:p>
            <a:r>
              <a:rPr lang="en-US" sz="8700" b="1" dirty="0">
                <a:solidFill>
                  <a:srgbClr val="72C493"/>
                </a:solidFill>
                <a:latin typeface="Arial" pitchFamily="34" charset="0"/>
                <a:ea typeface="Arial" pitchFamily="34" charset="-122"/>
                <a:cs typeface="Arial" pitchFamily="34" charset="-120"/>
              </a:rPr>
              <a:t>136</a:t>
            </a:r>
            <a:endParaRPr lang="en-US" sz="8700" dirty="0"/>
          </a:p>
        </p:txBody>
      </p:sp>
      <p:sp>
        <p:nvSpPr>
          <p:cNvPr id="35" name="Shape 32"/>
          <p:cNvSpPr/>
          <p:nvPr/>
        </p:nvSpPr>
        <p:spPr>
          <a:xfrm>
            <a:off x="12275820" y="8915400"/>
            <a:ext cx="2606040" cy="576072"/>
          </a:xfrm>
          <a:prstGeom prst="rect">
            <a:avLst/>
          </a:prstGeom>
          <a:solidFill>
            <a:srgbClr val="72C493"/>
          </a:solidFill>
          <a:ln/>
        </p:spPr>
      </p:sp>
      <p:sp>
        <p:nvSpPr>
          <p:cNvPr id="36" name="Text 33"/>
          <p:cNvSpPr txBox="1"/>
          <p:nvPr/>
        </p:nvSpPr>
        <p:spPr>
          <a:xfrm>
            <a:off x="12467844" y="8915400"/>
            <a:ext cx="233172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−93 enfants</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946404" y="644652"/>
            <a:ext cx="12344400" cy="480060"/>
          </a:xfrm>
          <a:prstGeom prst="rect">
            <a:avLst/>
          </a:prstGeom>
          <a:noFill/>
          <a:ln/>
        </p:spPr>
        <p:txBody>
          <a:bodyPr wrap="square" lIns="0" tIns="0" rIns="0" bIns="0" rtlCol="0" anchor="ctr"/>
          <a:lstStyle/>
          <a:p>
            <a:r>
              <a:rPr lang="en-US" sz="1950" b="1" kern="0" spc="300" dirty="0">
                <a:solidFill>
                  <a:srgbClr val="72C493"/>
                </a:solidFill>
                <a:latin typeface="Arial" pitchFamily="34" charset="0"/>
                <a:ea typeface="Arial" pitchFamily="34" charset="-122"/>
                <a:cs typeface="Arial" pitchFamily="34" charset="-120"/>
              </a:rPr>
              <a:t>02 — LE PÉRISCOLAIRE · PAUSE MÉRIDIENNE</a:t>
            </a:r>
            <a:endParaRPr lang="en-US" sz="1950" dirty="0"/>
          </a:p>
        </p:txBody>
      </p:sp>
      <p:sp>
        <p:nvSpPr>
          <p:cNvPr id="3" name="Text 1"/>
          <p:cNvSpPr txBox="1"/>
          <p:nvPr/>
        </p:nvSpPr>
        <p:spPr>
          <a:xfrm>
            <a:off x="946404" y="1165860"/>
            <a:ext cx="13716000" cy="891540"/>
          </a:xfrm>
          <a:prstGeom prst="rect">
            <a:avLst/>
          </a:prstGeom>
          <a:noFill/>
          <a:ln/>
        </p:spPr>
        <p:txBody>
          <a:bodyPr wrap="square" lIns="0" tIns="0" rIns="0" bIns="0" rtlCol="0" anchor="ctr"/>
          <a:lstStyle/>
          <a:p>
            <a:r>
              <a:rPr lang="en-US" sz="4050" b="1" dirty="0">
                <a:solidFill>
                  <a:srgbClr val="0E1F5B"/>
                </a:solidFill>
                <a:latin typeface="Arial" pitchFamily="34" charset="0"/>
                <a:ea typeface="Arial" pitchFamily="34" charset="-122"/>
                <a:cs typeface="Arial" pitchFamily="34" charset="-120"/>
              </a:rPr>
              <a:t>Plus d’animateurs à la cantine</a:t>
            </a:r>
            <a:endParaRPr lang="en-US" sz="4050" dirty="0"/>
          </a:p>
        </p:txBody>
      </p:sp>
      <p:sp>
        <p:nvSpPr>
          <p:cNvPr id="4" name="Text 2"/>
          <p:cNvSpPr txBox="1"/>
          <p:nvPr/>
        </p:nvSpPr>
        <p:spPr>
          <a:xfrm>
            <a:off x="946404" y="2125980"/>
            <a:ext cx="13716000" cy="548640"/>
          </a:xfrm>
          <a:prstGeom prst="rect">
            <a:avLst/>
          </a:prstGeom>
          <a:noFill/>
          <a:ln/>
        </p:spPr>
        <p:txBody>
          <a:bodyPr wrap="square" lIns="0" tIns="0" rIns="0" bIns="0" rtlCol="0" anchor="ctr"/>
          <a:lstStyle/>
          <a:p>
            <a:r>
              <a:rPr lang="en-US" sz="2100" dirty="0">
                <a:solidFill>
                  <a:srgbClr val="0E1F5B"/>
                </a:solidFill>
                <a:latin typeface="Arial" pitchFamily="34" charset="0"/>
                <a:ea typeface="Arial" pitchFamily="34" charset="-122"/>
                <a:cs typeface="Arial" pitchFamily="34" charset="-120"/>
              </a:rPr>
              <a:t>Rentrée 2026 comparée à la rentrée 2025, dans toute la ville</a:t>
            </a:r>
            <a:endParaRPr lang="en-US" sz="2100" dirty="0"/>
          </a:p>
        </p:txBody>
      </p:sp>
      <p:pic>
        <p:nvPicPr>
          <p:cNvPr id="5" name="Image 0" descr="/tmp/claude-0/-home-user-Operation-robespierre/996c8343-2b29-5be8-89e5-6b613d278f5f/scratchpad/logo_rp_clair_x3.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10560" y="205740"/>
            <a:ext cx="1824228" cy="1947672"/>
          </a:xfrm>
          <a:prstGeom prst="rect">
            <a:avLst/>
          </a:prstGeom>
        </p:spPr>
      </p:pic>
      <p:sp>
        <p:nvSpPr>
          <p:cNvPr id="6" name="Shape 3"/>
          <p:cNvSpPr/>
          <p:nvPr/>
        </p:nvSpPr>
        <p:spPr>
          <a:xfrm>
            <a:off x="946404" y="3154680"/>
            <a:ext cx="5143500" cy="0"/>
          </a:xfrm>
          <a:prstGeom prst="line">
            <a:avLst/>
          </a:prstGeom>
          <a:noFill/>
          <a:ln w="31750">
            <a:solidFill>
              <a:srgbClr val="72C493"/>
            </a:solidFill>
            <a:prstDash val="solid"/>
          </a:ln>
        </p:spPr>
      </p:sp>
      <p:sp>
        <p:nvSpPr>
          <p:cNvPr id="7" name="Text 4"/>
          <p:cNvSpPr txBox="1"/>
          <p:nvPr/>
        </p:nvSpPr>
        <p:spPr>
          <a:xfrm>
            <a:off x="946404" y="3360420"/>
            <a:ext cx="5143500" cy="54864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ENFANTS ACCUEILLIS</a:t>
            </a:r>
            <a:endParaRPr lang="en-US" sz="2100" dirty="0"/>
          </a:p>
        </p:txBody>
      </p:sp>
      <p:sp>
        <p:nvSpPr>
          <p:cNvPr id="8" name="Text 5"/>
          <p:cNvSpPr txBox="1"/>
          <p:nvPr/>
        </p:nvSpPr>
        <p:spPr>
          <a:xfrm>
            <a:off x="946404" y="4183380"/>
            <a:ext cx="1371600" cy="548640"/>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2025</a:t>
            </a:r>
            <a:endParaRPr lang="en-US" sz="2100" dirty="0"/>
          </a:p>
        </p:txBody>
      </p:sp>
      <p:sp>
        <p:nvSpPr>
          <p:cNvPr id="9" name="Text 6"/>
          <p:cNvSpPr txBox="1"/>
          <p:nvPr/>
        </p:nvSpPr>
        <p:spPr>
          <a:xfrm>
            <a:off x="2592324" y="4046220"/>
            <a:ext cx="3497580" cy="754380"/>
          </a:xfrm>
          <a:prstGeom prst="rect">
            <a:avLst/>
          </a:prstGeom>
          <a:noFill/>
          <a:ln/>
        </p:spPr>
        <p:txBody>
          <a:bodyPr wrap="square" lIns="0" tIns="0" rIns="0" bIns="0" rtlCol="0" anchor="ctr"/>
          <a:lstStyle/>
          <a:p>
            <a:pPr algn="r"/>
            <a:r>
              <a:rPr lang="en-US" sz="3900" b="1" dirty="0">
                <a:solidFill>
                  <a:srgbClr val="8A90B0"/>
                </a:solidFill>
                <a:latin typeface="Arial" pitchFamily="34" charset="0"/>
                <a:ea typeface="Arial" pitchFamily="34" charset="-122"/>
                <a:cs typeface="Arial" pitchFamily="34" charset="-120"/>
              </a:rPr>
              <a:t>5 543</a:t>
            </a:r>
            <a:endParaRPr lang="en-US" sz="3900" dirty="0"/>
          </a:p>
        </p:txBody>
      </p:sp>
      <p:sp>
        <p:nvSpPr>
          <p:cNvPr id="10" name="Shape 7"/>
          <p:cNvSpPr/>
          <p:nvPr/>
        </p:nvSpPr>
        <p:spPr>
          <a:xfrm>
            <a:off x="946404" y="4937760"/>
            <a:ext cx="5143500" cy="0"/>
          </a:xfrm>
          <a:prstGeom prst="line">
            <a:avLst/>
          </a:prstGeom>
          <a:noFill/>
          <a:ln w="12700">
            <a:solidFill>
              <a:srgbClr val="E2DED6"/>
            </a:solidFill>
            <a:prstDash val="solid"/>
          </a:ln>
        </p:spPr>
      </p:sp>
      <p:sp>
        <p:nvSpPr>
          <p:cNvPr id="11" name="Text 8"/>
          <p:cNvSpPr txBox="1"/>
          <p:nvPr/>
        </p:nvSpPr>
        <p:spPr>
          <a:xfrm>
            <a:off x="946404" y="5280660"/>
            <a:ext cx="1371600" cy="548640"/>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2026</a:t>
            </a:r>
            <a:endParaRPr lang="en-US" sz="2100" dirty="0"/>
          </a:p>
        </p:txBody>
      </p:sp>
      <p:sp>
        <p:nvSpPr>
          <p:cNvPr id="12" name="Text 9"/>
          <p:cNvSpPr txBox="1"/>
          <p:nvPr/>
        </p:nvSpPr>
        <p:spPr>
          <a:xfrm>
            <a:off x="2318004" y="5006340"/>
            <a:ext cx="3771900" cy="1097280"/>
          </a:xfrm>
          <a:prstGeom prst="rect">
            <a:avLst/>
          </a:prstGeom>
          <a:noFill/>
          <a:ln/>
        </p:spPr>
        <p:txBody>
          <a:bodyPr wrap="square" lIns="0" tIns="0" rIns="0" bIns="0" rtlCol="0" anchor="ctr"/>
          <a:lstStyle/>
          <a:p>
            <a:pPr algn="r"/>
            <a:r>
              <a:rPr lang="en-US" sz="6000" b="1" dirty="0">
                <a:solidFill>
                  <a:srgbClr val="0E1F5B"/>
                </a:solidFill>
                <a:latin typeface="Arial" pitchFamily="34" charset="0"/>
                <a:ea typeface="Arial" pitchFamily="34" charset="-122"/>
                <a:cs typeface="Arial" pitchFamily="34" charset="-120"/>
              </a:rPr>
              <a:t>5 727</a:t>
            </a:r>
            <a:endParaRPr lang="en-US" sz="6000" dirty="0"/>
          </a:p>
        </p:txBody>
      </p:sp>
      <p:sp>
        <p:nvSpPr>
          <p:cNvPr id="13" name="Shape 10"/>
          <p:cNvSpPr/>
          <p:nvPr/>
        </p:nvSpPr>
        <p:spPr>
          <a:xfrm>
            <a:off x="946404" y="6377940"/>
            <a:ext cx="2194560" cy="576072"/>
          </a:xfrm>
          <a:prstGeom prst="rect">
            <a:avLst/>
          </a:prstGeom>
          <a:solidFill>
            <a:srgbClr val="72C493"/>
          </a:solidFill>
          <a:ln/>
        </p:spPr>
      </p:sp>
      <p:sp>
        <p:nvSpPr>
          <p:cNvPr id="14" name="Text 11"/>
          <p:cNvSpPr txBox="1"/>
          <p:nvPr/>
        </p:nvSpPr>
        <p:spPr>
          <a:xfrm>
            <a:off x="1138428" y="6377940"/>
            <a:ext cx="192024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+3,3 %</a:t>
            </a:r>
            <a:endParaRPr lang="en-US" sz="2100" dirty="0"/>
          </a:p>
        </p:txBody>
      </p:sp>
      <p:sp>
        <p:nvSpPr>
          <p:cNvPr id="15" name="Shape 12"/>
          <p:cNvSpPr/>
          <p:nvPr/>
        </p:nvSpPr>
        <p:spPr>
          <a:xfrm>
            <a:off x="6597396" y="3154680"/>
            <a:ext cx="5143500" cy="0"/>
          </a:xfrm>
          <a:prstGeom prst="line">
            <a:avLst/>
          </a:prstGeom>
          <a:noFill/>
          <a:ln w="31750">
            <a:solidFill>
              <a:srgbClr val="72C493"/>
            </a:solidFill>
            <a:prstDash val="solid"/>
          </a:ln>
        </p:spPr>
      </p:sp>
      <p:sp>
        <p:nvSpPr>
          <p:cNvPr id="16" name="Text 13"/>
          <p:cNvSpPr txBox="1"/>
          <p:nvPr/>
        </p:nvSpPr>
        <p:spPr>
          <a:xfrm>
            <a:off x="6597396" y="3360420"/>
            <a:ext cx="5143500" cy="54864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ANIMATEURS EN MATERNELLE</a:t>
            </a:r>
            <a:endParaRPr lang="en-US" sz="2100" dirty="0"/>
          </a:p>
        </p:txBody>
      </p:sp>
      <p:sp>
        <p:nvSpPr>
          <p:cNvPr id="17" name="Text 14"/>
          <p:cNvSpPr txBox="1"/>
          <p:nvPr/>
        </p:nvSpPr>
        <p:spPr>
          <a:xfrm>
            <a:off x="6597396" y="4183380"/>
            <a:ext cx="1371600" cy="548640"/>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2025</a:t>
            </a:r>
            <a:endParaRPr lang="en-US" sz="2100" dirty="0"/>
          </a:p>
        </p:txBody>
      </p:sp>
      <p:sp>
        <p:nvSpPr>
          <p:cNvPr id="18" name="Text 15"/>
          <p:cNvSpPr txBox="1"/>
          <p:nvPr/>
        </p:nvSpPr>
        <p:spPr>
          <a:xfrm>
            <a:off x="8243316" y="4046220"/>
            <a:ext cx="3497580" cy="754380"/>
          </a:xfrm>
          <a:prstGeom prst="rect">
            <a:avLst/>
          </a:prstGeom>
          <a:noFill/>
          <a:ln/>
        </p:spPr>
        <p:txBody>
          <a:bodyPr wrap="square" lIns="0" tIns="0" rIns="0" bIns="0" rtlCol="0" anchor="ctr"/>
          <a:lstStyle/>
          <a:p>
            <a:pPr algn="r"/>
            <a:r>
              <a:rPr lang="en-US" sz="3900" b="1" dirty="0">
                <a:solidFill>
                  <a:srgbClr val="8A90B0"/>
                </a:solidFill>
                <a:latin typeface="Arial" pitchFamily="34" charset="0"/>
                <a:ea typeface="Arial" pitchFamily="34" charset="-122"/>
                <a:cs typeface="Arial" pitchFamily="34" charset="-120"/>
              </a:rPr>
              <a:t>199</a:t>
            </a:r>
            <a:endParaRPr lang="en-US" sz="3900" dirty="0"/>
          </a:p>
        </p:txBody>
      </p:sp>
      <p:sp>
        <p:nvSpPr>
          <p:cNvPr id="19" name="Shape 16"/>
          <p:cNvSpPr/>
          <p:nvPr/>
        </p:nvSpPr>
        <p:spPr>
          <a:xfrm>
            <a:off x="6597396" y="4937760"/>
            <a:ext cx="5143500" cy="0"/>
          </a:xfrm>
          <a:prstGeom prst="line">
            <a:avLst/>
          </a:prstGeom>
          <a:noFill/>
          <a:ln w="12700">
            <a:solidFill>
              <a:srgbClr val="E2DED6"/>
            </a:solidFill>
            <a:prstDash val="solid"/>
          </a:ln>
        </p:spPr>
      </p:sp>
      <p:sp>
        <p:nvSpPr>
          <p:cNvPr id="20" name="Text 17"/>
          <p:cNvSpPr txBox="1"/>
          <p:nvPr/>
        </p:nvSpPr>
        <p:spPr>
          <a:xfrm>
            <a:off x="6597396" y="5280660"/>
            <a:ext cx="1371600" cy="548640"/>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2026</a:t>
            </a:r>
            <a:endParaRPr lang="en-US" sz="2100" dirty="0"/>
          </a:p>
        </p:txBody>
      </p:sp>
      <p:sp>
        <p:nvSpPr>
          <p:cNvPr id="21" name="Text 18"/>
          <p:cNvSpPr txBox="1"/>
          <p:nvPr/>
        </p:nvSpPr>
        <p:spPr>
          <a:xfrm>
            <a:off x="7968996" y="5006340"/>
            <a:ext cx="3771900" cy="1097280"/>
          </a:xfrm>
          <a:prstGeom prst="rect">
            <a:avLst/>
          </a:prstGeom>
          <a:noFill/>
          <a:ln/>
        </p:spPr>
        <p:txBody>
          <a:bodyPr wrap="square" lIns="0" tIns="0" rIns="0" bIns="0" rtlCol="0" anchor="ctr"/>
          <a:lstStyle/>
          <a:p>
            <a:pPr algn="r"/>
            <a:r>
              <a:rPr lang="en-US" sz="6000" b="1" dirty="0">
                <a:solidFill>
                  <a:srgbClr val="0E1F5B"/>
                </a:solidFill>
                <a:latin typeface="Arial" pitchFamily="34" charset="0"/>
                <a:ea typeface="Arial" pitchFamily="34" charset="-122"/>
                <a:cs typeface="Arial" pitchFamily="34" charset="-120"/>
              </a:rPr>
              <a:t>248</a:t>
            </a:r>
            <a:endParaRPr lang="en-US" sz="6000" dirty="0"/>
          </a:p>
        </p:txBody>
      </p:sp>
      <p:sp>
        <p:nvSpPr>
          <p:cNvPr id="22" name="Shape 19"/>
          <p:cNvSpPr/>
          <p:nvPr/>
        </p:nvSpPr>
        <p:spPr>
          <a:xfrm>
            <a:off x="6597396" y="6377940"/>
            <a:ext cx="3566160" cy="576072"/>
          </a:xfrm>
          <a:prstGeom prst="rect">
            <a:avLst/>
          </a:prstGeom>
          <a:solidFill>
            <a:srgbClr val="72C493"/>
          </a:solidFill>
          <a:ln/>
        </p:spPr>
      </p:sp>
      <p:sp>
        <p:nvSpPr>
          <p:cNvPr id="23" name="Text 20"/>
          <p:cNvSpPr txBox="1"/>
          <p:nvPr/>
        </p:nvSpPr>
        <p:spPr>
          <a:xfrm>
            <a:off x="6789420" y="6377940"/>
            <a:ext cx="329184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+49 animateurs</a:t>
            </a:r>
            <a:endParaRPr lang="en-US" sz="2100" dirty="0"/>
          </a:p>
        </p:txBody>
      </p:sp>
      <p:sp>
        <p:nvSpPr>
          <p:cNvPr id="24" name="Shape 21"/>
          <p:cNvSpPr/>
          <p:nvPr/>
        </p:nvSpPr>
        <p:spPr>
          <a:xfrm>
            <a:off x="12248388" y="3154680"/>
            <a:ext cx="5143500" cy="0"/>
          </a:xfrm>
          <a:prstGeom prst="line">
            <a:avLst/>
          </a:prstGeom>
          <a:noFill/>
          <a:ln w="31750">
            <a:solidFill>
              <a:srgbClr val="72C493"/>
            </a:solidFill>
            <a:prstDash val="solid"/>
          </a:ln>
        </p:spPr>
      </p:sp>
      <p:sp>
        <p:nvSpPr>
          <p:cNvPr id="25" name="Text 22"/>
          <p:cNvSpPr txBox="1"/>
          <p:nvPr/>
        </p:nvSpPr>
        <p:spPr>
          <a:xfrm>
            <a:off x="12248388" y="3360420"/>
            <a:ext cx="5143500" cy="54864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ANIMATEURS EN ÉLÉMENTAIRE</a:t>
            </a:r>
            <a:endParaRPr lang="en-US" sz="2100" dirty="0"/>
          </a:p>
        </p:txBody>
      </p:sp>
      <p:sp>
        <p:nvSpPr>
          <p:cNvPr id="26" name="Text 23"/>
          <p:cNvSpPr txBox="1"/>
          <p:nvPr/>
        </p:nvSpPr>
        <p:spPr>
          <a:xfrm>
            <a:off x="12248388" y="4183380"/>
            <a:ext cx="1371600" cy="548640"/>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2025</a:t>
            </a:r>
            <a:endParaRPr lang="en-US" sz="2100" dirty="0"/>
          </a:p>
        </p:txBody>
      </p:sp>
      <p:sp>
        <p:nvSpPr>
          <p:cNvPr id="27" name="Text 24"/>
          <p:cNvSpPr txBox="1"/>
          <p:nvPr/>
        </p:nvSpPr>
        <p:spPr>
          <a:xfrm>
            <a:off x="13894308" y="4046220"/>
            <a:ext cx="3497580" cy="754380"/>
          </a:xfrm>
          <a:prstGeom prst="rect">
            <a:avLst/>
          </a:prstGeom>
          <a:noFill/>
          <a:ln/>
        </p:spPr>
        <p:txBody>
          <a:bodyPr wrap="square" lIns="0" tIns="0" rIns="0" bIns="0" rtlCol="0" anchor="ctr"/>
          <a:lstStyle/>
          <a:p>
            <a:pPr algn="r"/>
            <a:r>
              <a:rPr lang="en-US" sz="3900" b="1" dirty="0">
                <a:solidFill>
                  <a:srgbClr val="8A90B0"/>
                </a:solidFill>
                <a:latin typeface="Arial" pitchFamily="34" charset="0"/>
                <a:ea typeface="Arial" pitchFamily="34" charset="-122"/>
                <a:cs typeface="Arial" pitchFamily="34" charset="-120"/>
              </a:rPr>
              <a:t>123</a:t>
            </a:r>
            <a:endParaRPr lang="en-US" sz="3900" dirty="0"/>
          </a:p>
        </p:txBody>
      </p:sp>
      <p:sp>
        <p:nvSpPr>
          <p:cNvPr id="28" name="Shape 25"/>
          <p:cNvSpPr/>
          <p:nvPr/>
        </p:nvSpPr>
        <p:spPr>
          <a:xfrm>
            <a:off x="12248388" y="4937760"/>
            <a:ext cx="5143500" cy="0"/>
          </a:xfrm>
          <a:prstGeom prst="line">
            <a:avLst/>
          </a:prstGeom>
          <a:noFill/>
          <a:ln w="12700">
            <a:solidFill>
              <a:srgbClr val="E2DED6"/>
            </a:solidFill>
            <a:prstDash val="solid"/>
          </a:ln>
        </p:spPr>
      </p:sp>
      <p:sp>
        <p:nvSpPr>
          <p:cNvPr id="29" name="Text 26"/>
          <p:cNvSpPr txBox="1"/>
          <p:nvPr/>
        </p:nvSpPr>
        <p:spPr>
          <a:xfrm>
            <a:off x="12248388" y="5280660"/>
            <a:ext cx="1371600" cy="548640"/>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2026</a:t>
            </a:r>
            <a:endParaRPr lang="en-US" sz="2100" dirty="0"/>
          </a:p>
        </p:txBody>
      </p:sp>
      <p:sp>
        <p:nvSpPr>
          <p:cNvPr id="30" name="Text 27"/>
          <p:cNvSpPr txBox="1"/>
          <p:nvPr/>
        </p:nvSpPr>
        <p:spPr>
          <a:xfrm>
            <a:off x="13619988" y="5006340"/>
            <a:ext cx="3771900" cy="1097280"/>
          </a:xfrm>
          <a:prstGeom prst="rect">
            <a:avLst/>
          </a:prstGeom>
          <a:noFill/>
          <a:ln/>
        </p:spPr>
        <p:txBody>
          <a:bodyPr wrap="square" lIns="0" tIns="0" rIns="0" bIns="0" rtlCol="0" anchor="ctr"/>
          <a:lstStyle/>
          <a:p>
            <a:pPr algn="r"/>
            <a:r>
              <a:rPr lang="en-US" sz="6000" b="1" dirty="0">
                <a:solidFill>
                  <a:srgbClr val="0E1F5B"/>
                </a:solidFill>
                <a:latin typeface="Arial" pitchFamily="34" charset="0"/>
                <a:ea typeface="Arial" pitchFamily="34" charset="-122"/>
                <a:cs typeface="Arial" pitchFamily="34" charset="-120"/>
              </a:rPr>
              <a:t>130</a:t>
            </a:r>
            <a:endParaRPr lang="en-US" sz="6000" dirty="0"/>
          </a:p>
        </p:txBody>
      </p:sp>
      <p:sp>
        <p:nvSpPr>
          <p:cNvPr id="31" name="Shape 28"/>
          <p:cNvSpPr/>
          <p:nvPr/>
        </p:nvSpPr>
        <p:spPr>
          <a:xfrm>
            <a:off x="12248388" y="6377940"/>
            <a:ext cx="1783080" cy="576072"/>
          </a:xfrm>
          <a:prstGeom prst="rect">
            <a:avLst/>
          </a:prstGeom>
          <a:solidFill>
            <a:srgbClr val="72C493"/>
          </a:solidFill>
          <a:ln/>
        </p:spPr>
      </p:sp>
      <p:sp>
        <p:nvSpPr>
          <p:cNvPr id="32" name="Text 29"/>
          <p:cNvSpPr txBox="1"/>
          <p:nvPr/>
        </p:nvSpPr>
        <p:spPr>
          <a:xfrm>
            <a:off x="12440412" y="6377940"/>
            <a:ext cx="150876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+5 %</a:t>
            </a:r>
            <a:endParaRPr lang="en-US" sz="2100" dirty="0"/>
          </a:p>
        </p:txBody>
      </p:sp>
      <p:sp>
        <p:nvSpPr>
          <p:cNvPr id="33" name="Shape 30"/>
          <p:cNvSpPr/>
          <p:nvPr/>
        </p:nvSpPr>
        <p:spPr>
          <a:xfrm>
            <a:off x="946404" y="7612380"/>
            <a:ext cx="7886700" cy="2194560"/>
          </a:xfrm>
          <a:prstGeom prst="rect">
            <a:avLst/>
          </a:prstGeom>
          <a:solidFill>
            <a:srgbClr val="0E1F5B"/>
          </a:solidFill>
          <a:ln/>
        </p:spPr>
      </p:sp>
      <p:sp>
        <p:nvSpPr>
          <p:cNvPr id="34" name="Text 31"/>
          <p:cNvSpPr txBox="1"/>
          <p:nvPr/>
        </p:nvSpPr>
        <p:spPr>
          <a:xfrm>
            <a:off x="1426464" y="7955280"/>
            <a:ext cx="685800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MATERNELLE</a:t>
            </a:r>
            <a:endParaRPr lang="en-US" sz="2100" dirty="0"/>
          </a:p>
        </p:txBody>
      </p:sp>
      <p:sp>
        <p:nvSpPr>
          <p:cNvPr id="35" name="Text 32"/>
          <p:cNvSpPr txBox="1"/>
          <p:nvPr/>
        </p:nvSpPr>
        <p:spPr>
          <a:xfrm>
            <a:off x="1426464" y="8503920"/>
            <a:ext cx="6995160" cy="1165860"/>
          </a:xfrm>
          <a:prstGeom prst="rect">
            <a:avLst/>
          </a:prstGeom>
          <a:noFill/>
          <a:ln/>
        </p:spPr>
        <p:txBody>
          <a:bodyPr wrap="square" lIns="0" tIns="0" rIns="0" bIns="0" rtlCol="0" anchor="t"/>
          <a:lstStyle/>
          <a:p>
            <a:r>
              <a:rPr lang="en-US" sz="2400" b="1" dirty="0">
                <a:solidFill>
                  <a:srgbClr val="FFFFFF"/>
                </a:solidFill>
                <a:latin typeface="Arial" pitchFamily="34" charset="0"/>
                <a:ea typeface="Arial" pitchFamily="34" charset="-122"/>
                <a:cs typeface="Arial" pitchFamily="34" charset="-120"/>
              </a:rPr>
              <a:t>96 % des cantines à 1 animateur pour 10 enfants ou mieux, contre 44 % en 2025</a:t>
            </a:r>
            <a:endParaRPr lang="en-US" sz="2400" dirty="0"/>
          </a:p>
        </p:txBody>
      </p:sp>
      <p:sp>
        <p:nvSpPr>
          <p:cNvPr id="36" name="Shape 33"/>
          <p:cNvSpPr/>
          <p:nvPr/>
        </p:nvSpPr>
        <p:spPr>
          <a:xfrm>
            <a:off x="9450324" y="7612380"/>
            <a:ext cx="7886700" cy="2194560"/>
          </a:xfrm>
          <a:prstGeom prst="rect">
            <a:avLst/>
          </a:prstGeom>
          <a:solidFill>
            <a:srgbClr val="0E1F5B"/>
          </a:solidFill>
          <a:ln/>
        </p:spPr>
      </p:sp>
      <p:sp>
        <p:nvSpPr>
          <p:cNvPr id="37" name="Text 34"/>
          <p:cNvSpPr txBox="1"/>
          <p:nvPr/>
        </p:nvSpPr>
        <p:spPr>
          <a:xfrm>
            <a:off x="9930384" y="7955280"/>
            <a:ext cx="685800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ÉLÉMENTAIRE</a:t>
            </a:r>
            <a:endParaRPr lang="en-US" sz="2100" dirty="0"/>
          </a:p>
        </p:txBody>
      </p:sp>
      <p:sp>
        <p:nvSpPr>
          <p:cNvPr id="38" name="Text 35"/>
          <p:cNvSpPr txBox="1"/>
          <p:nvPr/>
        </p:nvSpPr>
        <p:spPr>
          <a:xfrm>
            <a:off x="9930384" y="8503920"/>
            <a:ext cx="6995160" cy="1165860"/>
          </a:xfrm>
          <a:prstGeom prst="rect">
            <a:avLst/>
          </a:prstGeom>
          <a:noFill/>
          <a:ln/>
        </p:spPr>
        <p:txBody>
          <a:bodyPr wrap="square" lIns="0" tIns="0" rIns="0" bIns="0" rtlCol="0" anchor="t"/>
          <a:lstStyle/>
          <a:p>
            <a:r>
              <a:rPr lang="en-US" sz="2400" b="1" dirty="0">
                <a:solidFill>
                  <a:srgbClr val="FFFFFF"/>
                </a:solidFill>
                <a:latin typeface="Arial" pitchFamily="34" charset="0"/>
                <a:ea typeface="Arial" pitchFamily="34" charset="-122"/>
                <a:cs typeface="Arial" pitchFamily="34" charset="-120"/>
              </a:rPr>
              <a:t>14 cantines sur 26 à 1 pour 25, 19 d’ici mi‑octobre. Objectif : toutes d’ici la fin de l’année</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0" y="0"/>
            <a:ext cx="6477001" cy="10287000"/>
          </a:xfrm>
          <a:prstGeom prst="rect">
            <a:avLst/>
          </a:prstGeom>
        </p:spPr>
      </p:pic>
      <p:sp>
        <p:nvSpPr>
          <p:cNvPr id="3" name="Shape 0"/>
          <p:cNvSpPr/>
          <p:nvPr/>
        </p:nvSpPr>
        <p:spPr>
          <a:xfrm>
            <a:off x="6477001" y="0"/>
            <a:ext cx="76200" cy="10287000"/>
          </a:xfrm>
          <a:prstGeom prst="rect">
            <a:avLst/>
          </a:prstGeom>
          <a:solidFill>
            <a:srgbClr val="72C493"/>
          </a:solidFill>
          <a:ln/>
        </p:spPr>
      </p:sp>
      <p:pic>
        <p:nvPicPr>
          <p:cNvPr id="4"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5" name="Text 1"/>
          <p:cNvSpPr/>
          <p:nvPr/>
        </p:nvSpPr>
        <p:spPr>
          <a:xfrm>
            <a:off x="7239001" y="1568133"/>
            <a:ext cx="9220200"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02 — LES ÉCOLES · TRAVAUX</a:t>
            </a:r>
            <a:endParaRPr lang="en-US" sz="2100" dirty="0"/>
          </a:p>
        </p:txBody>
      </p:sp>
      <p:sp>
        <p:nvSpPr>
          <p:cNvPr id="6" name="Text 2"/>
          <p:cNvSpPr/>
          <p:nvPr/>
        </p:nvSpPr>
        <p:spPr>
          <a:xfrm>
            <a:off x="7239001" y="2168843"/>
            <a:ext cx="10595610" cy="806133"/>
          </a:xfrm>
          <a:prstGeom prst="rect">
            <a:avLst/>
          </a:prstGeom>
          <a:noFill/>
          <a:ln/>
          <a:effectLst>
            <a:outerShdw blurRad="101600" dist="26941" dir="2700000" algn="bl" rotWithShape="0">
              <a:srgbClr val="72C493">
                <a:alpha val="100000"/>
              </a:srgbClr>
            </a:outerShdw>
          </a:effectLst>
        </p:spPr>
        <p:txBody>
          <a:bodyPr wrap="square" lIns="25400" tIns="25400" rIns="25400" bIns="25400" rtlCol="0" anchor="t">
            <a:normAutofit/>
          </a:bodyPr>
          <a:lstStyle/>
          <a:p>
            <a:pPr marL="0" indent="0" algn="l">
              <a:lnSpc>
                <a:spcPct val="80426"/>
              </a:lnSpc>
              <a:buNone/>
            </a:pPr>
            <a:r>
              <a:rPr lang="en-US" sz="2700" b="1" kern="0" spc="-75" dirty="0">
                <a:solidFill>
                  <a:srgbClr val="0E1F5B"/>
                </a:solidFill>
                <a:latin typeface="Arial" pitchFamily="34" charset="0"/>
                <a:ea typeface="Arial" pitchFamily="34" charset="-122"/>
                <a:cs typeface="Arial" pitchFamily="34" charset="-120"/>
              </a:rPr>
              <a:t>Groupe scolaire Les Noyers : des travaux réalisés et à venir</a:t>
            </a:r>
            <a:endParaRPr lang="en-US" sz="2700" dirty="0"/>
          </a:p>
        </p:txBody>
      </p:sp>
      <p:sp>
        <p:nvSpPr>
          <p:cNvPr id="7" name="Shape 3"/>
          <p:cNvSpPr/>
          <p:nvPr/>
        </p:nvSpPr>
        <p:spPr>
          <a:xfrm>
            <a:off x="7239001" y="4525645"/>
            <a:ext cx="10287000" cy="10160"/>
          </a:xfrm>
          <a:prstGeom prst="rect">
            <a:avLst/>
          </a:prstGeom>
          <a:solidFill>
            <a:srgbClr val="0E1F5B">
              <a:alpha val="15000"/>
            </a:srgbClr>
          </a:solidFill>
          <a:ln/>
        </p:spPr>
      </p:sp>
      <p:sp>
        <p:nvSpPr>
          <p:cNvPr id="8" name="Shape 4"/>
          <p:cNvSpPr/>
          <p:nvPr/>
        </p:nvSpPr>
        <p:spPr>
          <a:xfrm>
            <a:off x="7239001" y="3089275"/>
            <a:ext cx="1676559" cy="420370"/>
          </a:xfrm>
          <a:prstGeom prst="rect">
            <a:avLst/>
          </a:prstGeom>
          <a:solidFill>
            <a:srgbClr val="0E1F5B"/>
          </a:solidFill>
          <a:ln/>
        </p:spPr>
      </p:sp>
      <p:sp>
        <p:nvSpPr>
          <p:cNvPr id="9" name="Text 5"/>
          <p:cNvSpPr/>
          <p:nvPr/>
        </p:nvSpPr>
        <p:spPr>
          <a:xfrm>
            <a:off x="7372351" y="3136900"/>
            <a:ext cx="1486059" cy="363220"/>
          </a:xfrm>
          <a:prstGeom prst="rect">
            <a:avLst/>
          </a:prstGeom>
          <a:noFill/>
          <a:ln/>
        </p:spPr>
        <p:txBody>
          <a:bodyPr wrap="none" lIns="25400" tIns="25400" rIns="25400" bIns="25400" rtlCol="0" anchor="t">
            <a:normAutofit/>
          </a:bodyPr>
          <a:lstStyle/>
          <a:p>
            <a:pPr marL="0" indent="0" algn="l">
              <a:buNone/>
            </a:pPr>
            <a:r>
              <a:rPr lang="en-US" sz="1800" b="1" kern="0" spc="150" dirty="0">
                <a:solidFill>
                  <a:srgbClr val="FAF5EC"/>
                </a:solidFill>
                <a:latin typeface="Arial" pitchFamily="34" charset="0"/>
                <a:ea typeface="Arial" pitchFamily="34" charset="-122"/>
                <a:cs typeface="Arial" pitchFamily="34" charset="-120"/>
              </a:rPr>
              <a:t>RÉALISÉS</a:t>
            </a:r>
            <a:endParaRPr lang="en-US" sz="1800" dirty="0"/>
          </a:p>
        </p:txBody>
      </p:sp>
      <p:sp>
        <p:nvSpPr>
          <p:cNvPr id="10" name="Text 6"/>
          <p:cNvSpPr/>
          <p:nvPr/>
        </p:nvSpPr>
        <p:spPr>
          <a:xfrm>
            <a:off x="9715501" y="3089275"/>
            <a:ext cx="304800" cy="335280"/>
          </a:xfrm>
          <a:prstGeom prst="rect">
            <a:avLst/>
          </a:prstGeom>
          <a:noFill/>
          <a:ln/>
        </p:spPr>
        <p:txBody>
          <a:bodyPr wrap="square" lIns="25400" tIns="25400" rIns="25400" bIns="25400" rtlCol="0" anchor="t">
            <a:normAutofit/>
          </a:bodyPr>
          <a:lstStyle/>
          <a:p>
            <a:pPr marL="0" indent="0" algn="l">
              <a:lnSpc>
                <a:spcPct val="91406"/>
              </a:lnSpc>
              <a:buNone/>
            </a:pPr>
            <a:r>
              <a:rPr lang="en-US" sz="1800" b="1" dirty="0">
                <a:solidFill>
                  <a:srgbClr val="72C493"/>
                </a:solidFill>
                <a:latin typeface="Arial" pitchFamily="34" charset="0"/>
                <a:ea typeface="Arial" pitchFamily="34" charset="-122"/>
                <a:cs typeface="Arial" pitchFamily="34" charset="-120"/>
              </a:rPr>
              <a:t>—</a:t>
            </a:r>
            <a:endParaRPr lang="en-US" sz="1800" dirty="0"/>
          </a:p>
        </p:txBody>
      </p:sp>
      <p:sp>
        <p:nvSpPr>
          <p:cNvPr id="11" name="Text 7"/>
          <p:cNvSpPr/>
          <p:nvPr/>
        </p:nvSpPr>
        <p:spPr>
          <a:xfrm>
            <a:off x="10058400" y="3089275"/>
            <a:ext cx="8002017" cy="335280"/>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00" dirty="0">
                <a:solidFill>
                  <a:srgbClr val="0E1F5B"/>
                </a:solidFill>
                <a:latin typeface="Arial" pitchFamily="34" charset="0"/>
                <a:ea typeface="Arial" pitchFamily="34" charset="-122"/>
                <a:cs typeface="Arial" pitchFamily="34" charset="-120"/>
              </a:rPr>
              <a:t>Nettoyage du réseau d'eaux pluviales de la cour élémentaire (juin 2026)</a:t>
            </a:r>
            <a:endParaRPr lang="en-US" sz="1800" dirty="0"/>
          </a:p>
        </p:txBody>
      </p:sp>
      <p:sp>
        <p:nvSpPr>
          <p:cNvPr id="12" name="Text 8"/>
          <p:cNvSpPr/>
          <p:nvPr/>
        </p:nvSpPr>
        <p:spPr>
          <a:xfrm>
            <a:off x="9715501" y="3443605"/>
            <a:ext cx="304800" cy="335280"/>
          </a:xfrm>
          <a:prstGeom prst="rect">
            <a:avLst/>
          </a:prstGeom>
          <a:noFill/>
          <a:ln/>
        </p:spPr>
        <p:txBody>
          <a:bodyPr wrap="square" lIns="25400" tIns="25400" rIns="25400" bIns="25400" rtlCol="0" anchor="t">
            <a:normAutofit/>
          </a:bodyPr>
          <a:lstStyle/>
          <a:p>
            <a:pPr marL="0" indent="0" algn="l">
              <a:lnSpc>
                <a:spcPct val="91406"/>
              </a:lnSpc>
              <a:buNone/>
            </a:pPr>
            <a:r>
              <a:rPr lang="en-US" sz="1800" b="1" dirty="0">
                <a:solidFill>
                  <a:srgbClr val="72C493"/>
                </a:solidFill>
                <a:latin typeface="Arial" pitchFamily="34" charset="0"/>
                <a:ea typeface="Arial" pitchFamily="34" charset="-122"/>
                <a:cs typeface="Arial" pitchFamily="34" charset="-120"/>
              </a:rPr>
              <a:t>—</a:t>
            </a:r>
            <a:endParaRPr lang="en-US" sz="1800" dirty="0"/>
          </a:p>
        </p:txBody>
      </p:sp>
      <p:sp>
        <p:nvSpPr>
          <p:cNvPr id="13" name="Text 9"/>
          <p:cNvSpPr/>
          <p:nvPr/>
        </p:nvSpPr>
        <p:spPr>
          <a:xfrm>
            <a:off x="10058400" y="3443605"/>
            <a:ext cx="6715728" cy="335280"/>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00" dirty="0">
                <a:solidFill>
                  <a:srgbClr val="0E1F5B"/>
                </a:solidFill>
                <a:latin typeface="Arial" pitchFamily="34" charset="0"/>
                <a:ea typeface="Arial" pitchFamily="34" charset="-122"/>
                <a:cs typeface="Arial" pitchFamily="34" charset="-120"/>
              </a:rPr>
              <a:t>Pose d'un film occultant dans la salle polyvalente (juin 2026)</a:t>
            </a:r>
            <a:endParaRPr lang="en-US" sz="1800" dirty="0"/>
          </a:p>
        </p:txBody>
      </p:sp>
      <p:sp>
        <p:nvSpPr>
          <p:cNvPr id="14" name="Text 10"/>
          <p:cNvSpPr/>
          <p:nvPr/>
        </p:nvSpPr>
        <p:spPr>
          <a:xfrm>
            <a:off x="9715501" y="3797935"/>
            <a:ext cx="304800" cy="632460"/>
          </a:xfrm>
          <a:prstGeom prst="rect">
            <a:avLst/>
          </a:prstGeom>
          <a:noFill/>
          <a:ln/>
        </p:spPr>
        <p:txBody>
          <a:bodyPr wrap="square" lIns="25400" tIns="25400" rIns="25400" bIns="25400" rtlCol="0" anchor="t">
            <a:normAutofit/>
          </a:bodyPr>
          <a:lstStyle/>
          <a:p>
            <a:pPr marL="0" indent="0" algn="l">
              <a:lnSpc>
                <a:spcPct val="91406"/>
              </a:lnSpc>
              <a:buNone/>
            </a:pPr>
            <a:r>
              <a:rPr lang="en-US" sz="1800" b="1" dirty="0">
                <a:solidFill>
                  <a:srgbClr val="72C493"/>
                </a:solidFill>
                <a:latin typeface="Arial" pitchFamily="34" charset="0"/>
                <a:ea typeface="Arial" pitchFamily="34" charset="-122"/>
                <a:cs typeface="Arial" pitchFamily="34" charset="-120"/>
              </a:rPr>
              <a:t>—</a:t>
            </a:r>
            <a:endParaRPr lang="en-US" sz="1800" dirty="0"/>
          </a:p>
        </p:txBody>
      </p:sp>
      <p:sp>
        <p:nvSpPr>
          <p:cNvPr id="15" name="Text 11"/>
          <p:cNvSpPr/>
          <p:nvPr/>
        </p:nvSpPr>
        <p:spPr>
          <a:xfrm>
            <a:off x="10058400" y="3797935"/>
            <a:ext cx="7691629" cy="632460"/>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00" dirty="0">
                <a:solidFill>
                  <a:srgbClr val="0E1F5B"/>
                </a:solidFill>
                <a:latin typeface="Arial" pitchFamily="34" charset="0"/>
                <a:ea typeface="Arial" pitchFamily="34" charset="-122"/>
                <a:cs typeface="Arial" pitchFamily="34" charset="-120"/>
              </a:rPr>
              <a:t>Réparation de la porte et du mobilier de cuisine au centre de loisirs maternelle</a:t>
            </a:r>
            <a:endParaRPr lang="en-US" sz="1800" dirty="0"/>
          </a:p>
        </p:txBody>
      </p:sp>
      <p:sp>
        <p:nvSpPr>
          <p:cNvPr id="16" name="Shape 12"/>
          <p:cNvSpPr/>
          <p:nvPr/>
        </p:nvSpPr>
        <p:spPr>
          <a:xfrm>
            <a:off x="7239001" y="5222875"/>
            <a:ext cx="10287000" cy="10160"/>
          </a:xfrm>
          <a:prstGeom prst="rect">
            <a:avLst/>
          </a:prstGeom>
          <a:solidFill>
            <a:srgbClr val="0E1F5B">
              <a:alpha val="15000"/>
            </a:srgbClr>
          </a:solidFill>
          <a:ln/>
        </p:spPr>
      </p:sp>
      <p:sp>
        <p:nvSpPr>
          <p:cNvPr id="17" name="Shape 13"/>
          <p:cNvSpPr/>
          <p:nvPr/>
        </p:nvSpPr>
        <p:spPr>
          <a:xfrm>
            <a:off x="7239001" y="4669155"/>
            <a:ext cx="1752441" cy="420370"/>
          </a:xfrm>
          <a:prstGeom prst="rect">
            <a:avLst/>
          </a:prstGeom>
          <a:solidFill>
            <a:srgbClr val="72C493"/>
          </a:solidFill>
          <a:ln/>
        </p:spPr>
      </p:sp>
      <p:sp>
        <p:nvSpPr>
          <p:cNvPr id="18" name="Text 14"/>
          <p:cNvSpPr/>
          <p:nvPr/>
        </p:nvSpPr>
        <p:spPr>
          <a:xfrm>
            <a:off x="7372351" y="4716780"/>
            <a:ext cx="1561941" cy="363220"/>
          </a:xfrm>
          <a:prstGeom prst="rect">
            <a:avLst/>
          </a:prstGeom>
          <a:noFill/>
          <a:ln/>
        </p:spPr>
        <p:txBody>
          <a:bodyPr wrap="none" lIns="25400" tIns="25400" rIns="25400" bIns="25400" rtlCol="0" anchor="t">
            <a:normAutofit/>
          </a:bodyPr>
          <a:lstStyle/>
          <a:p>
            <a:pPr marL="0" indent="0" algn="l">
              <a:buNone/>
            </a:pPr>
            <a:r>
              <a:rPr lang="en-US" sz="1800" b="1" kern="0" spc="150" dirty="0">
                <a:solidFill>
                  <a:srgbClr val="0E1F5B"/>
                </a:solidFill>
                <a:latin typeface="Arial" pitchFamily="34" charset="0"/>
                <a:ea typeface="Arial" pitchFamily="34" charset="-122"/>
                <a:cs typeface="Arial" pitchFamily="34" charset="-120"/>
              </a:rPr>
              <a:t>EN COURS</a:t>
            </a:r>
            <a:endParaRPr lang="en-US" sz="1800" dirty="0"/>
          </a:p>
        </p:txBody>
      </p:sp>
      <p:sp>
        <p:nvSpPr>
          <p:cNvPr id="19" name="Text 15"/>
          <p:cNvSpPr/>
          <p:nvPr/>
        </p:nvSpPr>
        <p:spPr>
          <a:xfrm>
            <a:off x="9715501" y="4669155"/>
            <a:ext cx="304800" cy="335280"/>
          </a:xfrm>
          <a:prstGeom prst="rect">
            <a:avLst/>
          </a:prstGeom>
          <a:noFill/>
          <a:ln/>
        </p:spPr>
        <p:txBody>
          <a:bodyPr wrap="square" lIns="25400" tIns="25400" rIns="25400" bIns="25400" rtlCol="0" anchor="t">
            <a:normAutofit/>
          </a:bodyPr>
          <a:lstStyle/>
          <a:p>
            <a:pPr marL="0" indent="0" algn="l">
              <a:lnSpc>
                <a:spcPct val="91406"/>
              </a:lnSpc>
              <a:buNone/>
            </a:pPr>
            <a:r>
              <a:rPr lang="en-US" sz="1800" b="1" dirty="0">
                <a:solidFill>
                  <a:srgbClr val="72C493"/>
                </a:solidFill>
                <a:latin typeface="Arial" pitchFamily="34" charset="0"/>
                <a:ea typeface="Arial" pitchFamily="34" charset="-122"/>
                <a:cs typeface="Arial" pitchFamily="34" charset="-120"/>
              </a:rPr>
              <a:t>—</a:t>
            </a:r>
            <a:endParaRPr lang="en-US" sz="1800" dirty="0"/>
          </a:p>
        </p:txBody>
      </p:sp>
      <p:sp>
        <p:nvSpPr>
          <p:cNvPr id="20" name="Text 16"/>
          <p:cNvSpPr/>
          <p:nvPr/>
        </p:nvSpPr>
        <p:spPr>
          <a:xfrm>
            <a:off x="10058400" y="4669155"/>
            <a:ext cx="5577174" cy="335280"/>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00" dirty="0">
                <a:solidFill>
                  <a:srgbClr val="0E1F5B"/>
                </a:solidFill>
                <a:latin typeface="Arial" pitchFamily="34" charset="0"/>
                <a:ea typeface="Arial" pitchFamily="34" charset="-122"/>
                <a:cs typeface="Arial" pitchFamily="34" charset="-120"/>
              </a:rPr>
              <a:t>Reprise des fissures de la façade de la maternelle</a:t>
            </a:r>
            <a:endParaRPr lang="en-US" sz="1800" dirty="0"/>
          </a:p>
        </p:txBody>
      </p:sp>
      <p:sp>
        <p:nvSpPr>
          <p:cNvPr id="21" name="Shape 17"/>
          <p:cNvSpPr/>
          <p:nvPr/>
        </p:nvSpPr>
        <p:spPr>
          <a:xfrm>
            <a:off x="7239001" y="5366385"/>
            <a:ext cx="2276634" cy="402590"/>
          </a:xfrm>
          <a:prstGeom prst="rect">
            <a:avLst/>
          </a:prstGeom>
          <a:ln w="10160">
            <a:solidFill>
              <a:srgbClr val="0E1F5B"/>
            </a:solidFill>
            <a:prstDash val="solid"/>
          </a:ln>
        </p:spPr>
      </p:sp>
      <p:sp>
        <p:nvSpPr>
          <p:cNvPr id="22" name="Text 18"/>
          <p:cNvSpPr/>
          <p:nvPr/>
        </p:nvSpPr>
        <p:spPr>
          <a:xfrm>
            <a:off x="7363461" y="5405120"/>
            <a:ext cx="2103914" cy="363220"/>
          </a:xfrm>
          <a:prstGeom prst="rect">
            <a:avLst/>
          </a:prstGeom>
          <a:noFill/>
          <a:ln/>
        </p:spPr>
        <p:txBody>
          <a:bodyPr wrap="none" lIns="25400" tIns="25400" rIns="25400" bIns="25400" rtlCol="0" anchor="t">
            <a:normAutofit/>
          </a:bodyPr>
          <a:lstStyle/>
          <a:p>
            <a:pPr marL="0" indent="0" algn="l">
              <a:buNone/>
            </a:pPr>
            <a:r>
              <a:rPr lang="en-US" sz="1800" b="1" kern="0" spc="150" dirty="0">
                <a:solidFill>
                  <a:srgbClr val="0E1F5B"/>
                </a:solidFill>
                <a:latin typeface="Arial" pitchFamily="34" charset="0"/>
                <a:ea typeface="Arial" pitchFamily="34" charset="-122"/>
                <a:cs typeface="Arial" pitchFamily="34" charset="-120"/>
              </a:rPr>
              <a:t>PROGRAMMÉS</a:t>
            </a:r>
            <a:endParaRPr lang="en-US" sz="1800" dirty="0"/>
          </a:p>
        </p:txBody>
      </p:sp>
      <p:sp>
        <p:nvSpPr>
          <p:cNvPr id="23" name="Text 19"/>
          <p:cNvSpPr/>
          <p:nvPr/>
        </p:nvSpPr>
        <p:spPr>
          <a:xfrm>
            <a:off x="9715501" y="5366385"/>
            <a:ext cx="304800" cy="642620"/>
          </a:xfrm>
          <a:prstGeom prst="rect">
            <a:avLst/>
          </a:prstGeom>
          <a:noFill/>
          <a:ln/>
        </p:spPr>
        <p:txBody>
          <a:bodyPr wrap="square" lIns="25400" tIns="25400" rIns="25400" bIns="25400" rtlCol="0" anchor="t">
            <a:normAutofit/>
          </a:bodyPr>
          <a:lstStyle/>
          <a:p>
            <a:pPr marL="0" indent="0" algn="l">
              <a:lnSpc>
                <a:spcPct val="91406"/>
              </a:lnSpc>
              <a:buNone/>
            </a:pPr>
            <a:r>
              <a:rPr lang="en-US" sz="1800" b="1" dirty="0">
                <a:solidFill>
                  <a:srgbClr val="72C493"/>
                </a:solidFill>
                <a:latin typeface="Arial" pitchFamily="34" charset="0"/>
                <a:ea typeface="Arial" pitchFamily="34" charset="-122"/>
                <a:cs typeface="Arial" pitchFamily="34" charset="-120"/>
              </a:rPr>
              <a:t>—</a:t>
            </a:r>
            <a:endParaRPr lang="en-US" sz="1800" dirty="0"/>
          </a:p>
        </p:txBody>
      </p:sp>
      <p:sp>
        <p:nvSpPr>
          <p:cNvPr id="24" name="Text 20"/>
          <p:cNvSpPr/>
          <p:nvPr/>
        </p:nvSpPr>
        <p:spPr>
          <a:xfrm>
            <a:off x="10058400" y="5366385"/>
            <a:ext cx="7691629" cy="642620"/>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00" b="1" dirty="0">
                <a:solidFill>
                  <a:srgbClr val="0E1F5B"/>
                </a:solidFill>
                <a:latin typeface="Arial" pitchFamily="34" charset="0"/>
                <a:ea typeface="Arial" pitchFamily="34" charset="-122"/>
                <a:cs typeface="Arial" pitchFamily="34" charset="-120"/>
              </a:rPr>
              <a:t>Vacances de la Toussaint 2026 : </a:t>
            </a:r>
            <a:r>
              <a:rPr lang="en-US" sz="1800" dirty="0">
                <a:solidFill>
                  <a:srgbClr val="0E1F5B"/>
                </a:solidFill>
                <a:latin typeface="Arial" pitchFamily="34" charset="0"/>
                <a:ea typeface="Arial" pitchFamily="34" charset="-122"/>
                <a:cs typeface="Arial" pitchFamily="34" charset="-120"/>
              </a:rPr>
              <a:t>peintures des circulations élémentaires et de la salle polyvalente</a:t>
            </a:r>
            <a:endParaRPr lang="en-US" sz="1800" dirty="0"/>
          </a:p>
        </p:txBody>
      </p:sp>
      <p:sp>
        <p:nvSpPr>
          <p:cNvPr id="25" name="Text 21"/>
          <p:cNvSpPr/>
          <p:nvPr/>
        </p:nvSpPr>
        <p:spPr>
          <a:xfrm>
            <a:off x="9715501" y="6028055"/>
            <a:ext cx="304800" cy="642620"/>
          </a:xfrm>
          <a:prstGeom prst="rect">
            <a:avLst/>
          </a:prstGeom>
          <a:noFill/>
          <a:ln/>
        </p:spPr>
        <p:txBody>
          <a:bodyPr wrap="square" lIns="25400" tIns="25400" rIns="25400" bIns="25400" rtlCol="0" anchor="t">
            <a:normAutofit/>
          </a:bodyPr>
          <a:lstStyle/>
          <a:p>
            <a:pPr marL="0" indent="0" algn="l">
              <a:lnSpc>
                <a:spcPct val="91406"/>
              </a:lnSpc>
              <a:buNone/>
            </a:pPr>
            <a:r>
              <a:rPr lang="en-US" sz="1800" b="1" dirty="0">
                <a:solidFill>
                  <a:srgbClr val="72C493"/>
                </a:solidFill>
                <a:latin typeface="Arial" pitchFamily="34" charset="0"/>
                <a:ea typeface="Arial" pitchFamily="34" charset="-122"/>
                <a:cs typeface="Arial" pitchFamily="34" charset="-120"/>
              </a:rPr>
              <a:t>—</a:t>
            </a:r>
            <a:endParaRPr lang="en-US" sz="1800" dirty="0"/>
          </a:p>
        </p:txBody>
      </p:sp>
      <p:sp>
        <p:nvSpPr>
          <p:cNvPr id="26" name="Text 22"/>
          <p:cNvSpPr/>
          <p:nvPr/>
        </p:nvSpPr>
        <p:spPr>
          <a:xfrm>
            <a:off x="10058400" y="6028055"/>
            <a:ext cx="7691629" cy="642620"/>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00" b="1" dirty="0">
                <a:solidFill>
                  <a:srgbClr val="0E1F5B"/>
                </a:solidFill>
                <a:latin typeface="Arial" pitchFamily="34" charset="0"/>
                <a:ea typeface="Arial" pitchFamily="34" charset="-122"/>
                <a:cs typeface="Arial" pitchFamily="34" charset="-120"/>
              </a:rPr>
              <a:t>Budget 2027 : </a:t>
            </a:r>
            <a:r>
              <a:rPr lang="en-US" sz="1800" dirty="0">
                <a:solidFill>
                  <a:srgbClr val="0E1F5B"/>
                </a:solidFill>
                <a:latin typeface="Arial" pitchFamily="34" charset="0"/>
                <a:ea typeface="Arial" pitchFamily="34" charset="-122"/>
                <a:cs typeface="Arial" pitchFamily="34" charset="-120"/>
              </a:rPr>
              <a:t>remplacement des menuiseries de la maternelle et reprise du faux plafond du réfectoire</a:t>
            </a:r>
            <a:endParaRPr lang="en-US" sz="1800" dirty="0"/>
          </a:p>
        </p:txBody>
      </p:sp>
      <p:sp>
        <p:nvSpPr>
          <p:cNvPr id="27" name="Shape 23"/>
          <p:cNvSpPr/>
          <p:nvPr/>
        </p:nvSpPr>
        <p:spPr>
          <a:xfrm>
            <a:off x="7239001" y="6918325"/>
            <a:ext cx="2286000" cy="38100"/>
          </a:xfrm>
          <a:prstGeom prst="rect">
            <a:avLst/>
          </a:prstGeom>
          <a:solidFill>
            <a:srgbClr val="72C493"/>
          </a:solidFill>
          <a:ln/>
        </p:spPr>
      </p:sp>
      <p:sp>
        <p:nvSpPr>
          <p:cNvPr id="28" name="Text 24"/>
          <p:cNvSpPr/>
          <p:nvPr/>
        </p:nvSpPr>
        <p:spPr>
          <a:xfrm>
            <a:off x="7239001" y="7242175"/>
            <a:ext cx="10595610" cy="806133"/>
          </a:xfrm>
          <a:prstGeom prst="rect">
            <a:avLst/>
          </a:prstGeom>
          <a:noFill/>
          <a:ln/>
          <a:effectLst>
            <a:outerShdw blurRad="101600" dist="26941" dir="2700000" algn="bl" rotWithShape="0">
              <a:srgbClr val="72C493">
                <a:alpha val="100000"/>
              </a:srgbClr>
            </a:outerShdw>
          </a:effectLst>
        </p:spPr>
        <p:txBody>
          <a:bodyPr wrap="square" lIns="25400" tIns="25400" rIns="25400" bIns="25400" rtlCol="0" anchor="t">
            <a:normAutofit/>
          </a:bodyPr>
          <a:lstStyle/>
          <a:p>
            <a:pPr marL="0" indent="0" algn="l">
              <a:lnSpc>
                <a:spcPct val="80426"/>
              </a:lnSpc>
              <a:buNone/>
            </a:pPr>
            <a:r>
              <a:rPr lang="en-US" sz="2700" b="1" kern="0" spc="-75" dirty="0">
                <a:solidFill>
                  <a:srgbClr val="0E1F5B"/>
                </a:solidFill>
                <a:latin typeface="Arial" pitchFamily="34" charset="0"/>
                <a:ea typeface="Arial" pitchFamily="34" charset="-122"/>
                <a:cs typeface="Arial" pitchFamily="34" charset="-120"/>
              </a:rPr>
              <a:t>Groupe scolaire du Clos de l'Arche : des interventions au service du quotidien</a:t>
            </a:r>
            <a:endParaRPr lang="en-US" sz="2700" dirty="0"/>
          </a:p>
        </p:txBody>
      </p:sp>
      <p:sp>
        <p:nvSpPr>
          <p:cNvPr id="29" name="Shape 25"/>
          <p:cNvSpPr/>
          <p:nvPr/>
        </p:nvSpPr>
        <p:spPr>
          <a:xfrm>
            <a:off x="7239001" y="8162608"/>
            <a:ext cx="1492409" cy="420370"/>
          </a:xfrm>
          <a:prstGeom prst="rect">
            <a:avLst/>
          </a:prstGeom>
          <a:solidFill>
            <a:srgbClr val="0E1F5B"/>
          </a:solidFill>
          <a:ln/>
        </p:spPr>
      </p:sp>
      <p:sp>
        <p:nvSpPr>
          <p:cNvPr id="30" name="Text 26"/>
          <p:cNvSpPr/>
          <p:nvPr/>
        </p:nvSpPr>
        <p:spPr>
          <a:xfrm>
            <a:off x="7372351" y="8210233"/>
            <a:ext cx="1301909" cy="363220"/>
          </a:xfrm>
          <a:prstGeom prst="rect">
            <a:avLst/>
          </a:prstGeom>
          <a:noFill/>
          <a:ln/>
        </p:spPr>
        <p:txBody>
          <a:bodyPr wrap="none" lIns="25400" tIns="25400" rIns="25400" bIns="25400" rtlCol="0" anchor="t">
            <a:normAutofit/>
          </a:bodyPr>
          <a:lstStyle/>
          <a:p>
            <a:pPr marL="0" indent="0" algn="l">
              <a:buNone/>
            </a:pPr>
            <a:r>
              <a:rPr lang="en-US" sz="1800" b="1" kern="0" spc="150" dirty="0">
                <a:solidFill>
                  <a:srgbClr val="FAF5EC"/>
                </a:solidFill>
                <a:latin typeface="Arial" pitchFamily="34" charset="0"/>
                <a:ea typeface="Arial" pitchFamily="34" charset="-122"/>
                <a:cs typeface="Arial" pitchFamily="34" charset="-120"/>
              </a:rPr>
              <a:t>RÉALISÉ</a:t>
            </a:r>
            <a:endParaRPr lang="en-US" sz="1800" dirty="0"/>
          </a:p>
        </p:txBody>
      </p:sp>
      <p:sp>
        <p:nvSpPr>
          <p:cNvPr id="31" name="Text 27"/>
          <p:cNvSpPr/>
          <p:nvPr/>
        </p:nvSpPr>
        <p:spPr>
          <a:xfrm>
            <a:off x="9715501" y="8162608"/>
            <a:ext cx="304800" cy="632460"/>
          </a:xfrm>
          <a:prstGeom prst="rect">
            <a:avLst/>
          </a:prstGeom>
          <a:noFill/>
          <a:ln/>
        </p:spPr>
        <p:txBody>
          <a:bodyPr wrap="square" lIns="25400" tIns="25400" rIns="25400" bIns="25400" rtlCol="0" anchor="t">
            <a:normAutofit/>
          </a:bodyPr>
          <a:lstStyle/>
          <a:p>
            <a:pPr marL="0" indent="0" algn="l">
              <a:lnSpc>
                <a:spcPct val="91406"/>
              </a:lnSpc>
              <a:buNone/>
            </a:pPr>
            <a:r>
              <a:rPr lang="en-US" sz="1800" b="1" dirty="0">
                <a:solidFill>
                  <a:srgbClr val="72C493"/>
                </a:solidFill>
                <a:latin typeface="Arial" pitchFamily="34" charset="0"/>
                <a:ea typeface="Arial" pitchFamily="34" charset="-122"/>
                <a:cs typeface="Arial" pitchFamily="34" charset="-120"/>
              </a:rPr>
              <a:t>—</a:t>
            </a:r>
            <a:endParaRPr lang="en-US" sz="1800" dirty="0"/>
          </a:p>
        </p:txBody>
      </p:sp>
      <p:sp>
        <p:nvSpPr>
          <p:cNvPr id="32" name="Text 28"/>
          <p:cNvSpPr/>
          <p:nvPr/>
        </p:nvSpPr>
        <p:spPr>
          <a:xfrm>
            <a:off x="10058400" y="8162608"/>
            <a:ext cx="7691629" cy="632460"/>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00" dirty="0">
                <a:solidFill>
                  <a:srgbClr val="0E1F5B"/>
                </a:solidFill>
                <a:latin typeface="Arial" pitchFamily="34" charset="0"/>
                <a:ea typeface="Arial" pitchFamily="34" charset="-122"/>
                <a:cs typeface="Arial" pitchFamily="34" charset="-120"/>
              </a:rPr>
              <a:t>Réparation du portail d'accès du personnel de l'école élémentaire, qui se bloquait par forte chaleur</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6096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a:t>
            </a:r>
            <a:endParaRPr lang="en-US" sz="2100" dirty="0"/>
          </a:p>
        </p:txBody>
      </p:sp>
      <p:sp>
        <p:nvSpPr>
          <p:cNvPr id="4" name="Text 1"/>
          <p:cNvSpPr/>
          <p:nvPr/>
        </p:nvSpPr>
        <p:spPr>
          <a:xfrm>
            <a:off x="952500" y="105791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0E1F5B"/>
                </a:solidFill>
                <a:latin typeface="Arial" pitchFamily="34" charset="0"/>
                <a:ea typeface="Arial" pitchFamily="34" charset="-122"/>
                <a:cs typeface="Arial" pitchFamily="34" charset="-120"/>
              </a:rPr>
              <a:t>Le plan de transformation du Mont </a:t>
            </a:r>
            <a:r>
              <a:rPr lang="en-US" sz="4200" b="1" kern="0" spc="-150" dirty="0" err="1">
                <a:solidFill>
                  <a:srgbClr val="0E1F5B"/>
                </a:solidFill>
                <a:latin typeface="Arial" pitchFamily="34" charset="0"/>
                <a:ea typeface="Arial" pitchFamily="34" charset="-122"/>
                <a:cs typeface="Arial" pitchFamily="34" charset="-120"/>
              </a:rPr>
              <a:t>d’Est</a:t>
            </a:r>
            <a:r>
              <a:rPr lang="en-US" sz="4200" b="1" kern="0" spc="-150" dirty="0">
                <a:solidFill>
                  <a:srgbClr val="0E1F5B"/>
                </a:solidFill>
                <a:latin typeface="Arial" pitchFamily="34" charset="0"/>
                <a:ea typeface="Arial" pitchFamily="34" charset="-122"/>
                <a:cs typeface="Arial" pitchFamily="34" charset="-120"/>
              </a:rPr>
              <a:t> </a:t>
            </a:r>
            <a:r>
              <a:rPr lang="en-US" sz="4200" b="1" kern="0" spc="-150" dirty="0" err="1">
                <a:solidFill>
                  <a:srgbClr val="0E1F5B"/>
                </a:solidFill>
                <a:latin typeface="Arial" pitchFamily="34" charset="0"/>
                <a:ea typeface="Arial" pitchFamily="34" charset="-122"/>
                <a:cs typeface="Arial" pitchFamily="34" charset="-120"/>
              </a:rPr>
              <a:t>en</a:t>
            </a:r>
            <a:r>
              <a:rPr lang="en-US" sz="4200" b="1" kern="0" spc="-150" dirty="0">
                <a:solidFill>
                  <a:srgbClr val="0E1F5B"/>
                </a:solidFill>
                <a:latin typeface="Arial" pitchFamily="34" charset="0"/>
                <a:ea typeface="Arial" pitchFamily="34" charset="-122"/>
                <a:cs typeface="Arial" pitchFamily="34" charset="-120"/>
              </a:rPr>
              <a:t> </a:t>
            </a:r>
            <a:r>
              <a:rPr lang="en-US" sz="4200" b="1" kern="0" spc="-150" dirty="0" err="1">
                <a:solidFill>
                  <a:srgbClr val="0E1F5B"/>
                </a:solidFill>
                <a:latin typeface="Arial" pitchFamily="34" charset="0"/>
                <a:ea typeface="Arial" pitchFamily="34" charset="-122"/>
                <a:cs typeface="Arial" pitchFamily="34" charset="-120"/>
              </a:rPr>
              <a:t>cours</a:t>
            </a:r>
            <a:endParaRPr lang="en-US" sz="4200" dirty="0"/>
          </a:p>
        </p:txBody>
      </p:sp>
      <p:sp>
        <p:nvSpPr>
          <p:cNvPr id="5" name="Shape 2"/>
          <p:cNvSpPr/>
          <p:nvPr/>
        </p:nvSpPr>
        <p:spPr>
          <a:xfrm>
            <a:off x="952500" y="2286000"/>
            <a:ext cx="6858001" cy="1879600"/>
          </a:xfrm>
          <a:prstGeom prst="rect">
            <a:avLst/>
          </a:prstGeom>
          <a:solidFill>
            <a:srgbClr val="0E1F5B"/>
          </a:solidFill>
          <a:ln/>
        </p:spPr>
      </p:sp>
      <p:sp>
        <p:nvSpPr>
          <p:cNvPr id="6" name="Text 3"/>
          <p:cNvSpPr/>
          <p:nvPr/>
        </p:nvSpPr>
        <p:spPr>
          <a:xfrm>
            <a:off x="1295400" y="2725738"/>
            <a:ext cx="6789421" cy="609600"/>
          </a:xfrm>
          <a:prstGeom prst="rect">
            <a:avLst/>
          </a:prstGeom>
          <a:noFill/>
          <a:ln/>
        </p:spPr>
        <p:txBody>
          <a:bodyPr wrap="none" lIns="25400" tIns="25400" rIns="25400" bIns="25400" rtlCol="0" anchor="t">
            <a:normAutofit/>
          </a:bodyPr>
          <a:lstStyle/>
          <a:p>
            <a:pPr marL="0" indent="0" algn="l">
              <a:lnSpc>
                <a:spcPct val="71203"/>
              </a:lnSpc>
              <a:buNone/>
            </a:pPr>
            <a:r>
              <a:rPr lang="en-US" sz="4500" b="1" kern="0" spc="-150" dirty="0">
                <a:solidFill>
                  <a:srgbClr val="72C493"/>
                </a:solidFill>
                <a:latin typeface="Arial" pitchFamily="34" charset="0"/>
                <a:ea typeface="Arial" pitchFamily="34" charset="-122"/>
                <a:cs typeface="Arial" pitchFamily="34" charset="-120"/>
              </a:rPr>
              <a:t>2,4 M€</a:t>
            </a:r>
            <a:endParaRPr lang="en-US" sz="4500" dirty="0"/>
          </a:p>
        </p:txBody>
      </p:sp>
      <p:sp>
        <p:nvSpPr>
          <p:cNvPr id="7" name="Text 4"/>
          <p:cNvSpPr/>
          <p:nvPr/>
        </p:nvSpPr>
        <p:spPr>
          <a:xfrm>
            <a:off x="1295400" y="3354388"/>
            <a:ext cx="6789421" cy="409575"/>
          </a:xfrm>
          <a:prstGeom prst="rect">
            <a:avLst/>
          </a:prstGeom>
          <a:noFill/>
          <a:ln/>
        </p:spPr>
        <p:txBody>
          <a:bodyPr wrap="square" lIns="25400" tIns="25400" rIns="25400" bIns="25400" rtlCol="0" anchor="t">
            <a:normAutofit lnSpcReduction="10000"/>
          </a:bodyPr>
          <a:lstStyle/>
          <a:p>
            <a:pPr marL="0" indent="0" algn="l">
              <a:lnSpc>
                <a:spcPct val="114258"/>
              </a:lnSpc>
              <a:buNone/>
            </a:pPr>
            <a:r>
              <a:rPr lang="en-US" sz="2250" b="1" dirty="0">
                <a:solidFill>
                  <a:srgbClr val="FAF5EC"/>
                </a:solidFill>
                <a:latin typeface="Arial" pitchFamily="34" charset="0"/>
                <a:ea typeface="Arial" pitchFamily="34" charset="-122"/>
                <a:cs typeface="Arial" pitchFamily="34" charset="-120"/>
              </a:rPr>
              <a:t>d'études menées depuis 2023</a:t>
            </a:r>
            <a:endParaRPr lang="en-US" sz="2250" dirty="0"/>
          </a:p>
        </p:txBody>
      </p:sp>
      <p:sp>
        <p:nvSpPr>
          <p:cNvPr id="8" name="Shape 5"/>
          <p:cNvSpPr/>
          <p:nvPr/>
        </p:nvSpPr>
        <p:spPr>
          <a:xfrm>
            <a:off x="952500" y="4394200"/>
            <a:ext cx="6858001" cy="1879600"/>
          </a:xfrm>
          <a:prstGeom prst="rect">
            <a:avLst/>
          </a:prstGeom>
          <a:solidFill>
            <a:srgbClr val="0E1F5B"/>
          </a:solidFill>
          <a:ln/>
        </p:spPr>
      </p:sp>
      <p:sp>
        <p:nvSpPr>
          <p:cNvPr id="9" name="Text 6"/>
          <p:cNvSpPr/>
          <p:nvPr/>
        </p:nvSpPr>
        <p:spPr>
          <a:xfrm>
            <a:off x="1295400" y="4667250"/>
            <a:ext cx="6789421" cy="571500"/>
          </a:xfrm>
          <a:prstGeom prst="rect">
            <a:avLst/>
          </a:prstGeom>
          <a:noFill/>
          <a:ln/>
        </p:spPr>
        <p:txBody>
          <a:bodyPr wrap="square" lIns="25400" tIns="25400" rIns="25400" bIns="25400" rtlCol="0" anchor="t">
            <a:normAutofit/>
          </a:bodyPr>
          <a:lstStyle/>
          <a:p>
            <a:pPr marL="0" indent="0" algn="l">
              <a:lnSpc>
                <a:spcPct val="70946"/>
              </a:lnSpc>
              <a:buNone/>
            </a:pPr>
            <a:r>
              <a:rPr lang="en-US" sz="4200" b="1" kern="0" spc="-150" dirty="0">
                <a:solidFill>
                  <a:srgbClr val="72C493"/>
                </a:solidFill>
                <a:latin typeface="Arial" pitchFamily="34" charset="0"/>
                <a:ea typeface="Arial" pitchFamily="34" charset="-122"/>
                <a:cs typeface="Arial" pitchFamily="34" charset="-120"/>
              </a:rPr>
              <a:t>12 décembre 2025</a:t>
            </a:r>
            <a:endParaRPr lang="en-US" sz="4200" dirty="0"/>
          </a:p>
        </p:txBody>
      </p:sp>
      <p:sp>
        <p:nvSpPr>
          <p:cNvPr id="10" name="Text 7"/>
          <p:cNvSpPr/>
          <p:nvPr/>
        </p:nvSpPr>
        <p:spPr>
          <a:xfrm>
            <a:off x="1295400" y="5257800"/>
            <a:ext cx="6357367" cy="781050"/>
          </a:xfrm>
          <a:prstGeom prst="rect">
            <a:avLst/>
          </a:prstGeom>
          <a:noFill/>
          <a:ln/>
        </p:spPr>
        <p:txBody>
          <a:bodyPr wrap="square" lIns="25400" tIns="25400" rIns="25400" bIns="25400" rtlCol="0" anchor="t">
            <a:normAutofit lnSpcReduction="10000"/>
          </a:bodyPr>
          <a:lstStyle/>
          <a:p>
            <a:pPr marL="0" indent="0" algn="l">
              <a:lnSpc>
                <a:spcPct val="114258"/>
              </a:lnSpc>
              <a:buNone/>
            </a:pPr>
            <a:r>
              <a:rPr lang="en-US" sz="2250" b="1" dirty="0">
                <a:solidFill>
                  <a:srgbClr val="FAF5EC"/>
                </a:solidFill>
                <a:latin typeface="Arial" pitchFamily="34" charset="0"/>
                <a:ea typeface="Arial" pitchFamily="34" charset="-122"/>
                <a:cs typeface="Arial" pitchFamily="34" charset="-120"/>
              </a:rPr>
              <a:t>intérêt métropolitain reconnu par la Métropole du Grand Paris</a:t>
            </a:r>
            <a:endParaRPr lang="en-US" sz="2250" dirty="0"/>
          </a:p>
        </p:txBody>
      </p:sp>
      <p:sp>
        <p:nvSpPr>
          <p:cNvPr id="11" name="Shape 8"/>
          <p:cNvSpPr/>
          <p:nvPr/>
        </p:nvSpPr>
        <p:spPr>
          <a:xfrm>
            <a:off x="952500" y="6502400"/>
            <a:ext cx="6858001" cy="1879600"/>
          </a:xfrm>
          <a:prstGeom prst="rect">
            <a:avLst/>
          </a:prstGeom>
          <a:solidFill>
            <a:srgbClr val="0E1F5B"/>
          </a:solidFill>
          <a:ln/>
        </p:spPr>
      </p:sp>
      <p:sp>
        <p:nvSpPr>
          <p:cNvPr id="12" name="Text 9"/>
          <p:cNvSpPr/>
          <p:nvPr/>
        </p:nvSpPr>
        <p:spPr>
          <a:xfrm>
            <a:off x="1295400" y="7220268"/>
            <a:ext cx="1210945" cy="38354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72C493"/>
                </a:solidFill>
                <a:latin typeface="Arial" pitchFamily="34" charset="0"/>
                <a:ea typeface="Arial" pitchFamily="34" charset="-122"/>
                <a:cs typeface="Arial" pitchFamily="34" charset="-120"/>
              </a:rPr>
              <a:t>Environ</a:t>
            </a:r>
            <a:endParaRPr lang="en-US" sz="2400" dirty="0"/>
          </a:p>
        </p:txBody>
      </p:sp>
      <p:sp>
        <p:nvSpPr>
          <p:cNvPr id="13" name="Text 10"/>
          <p:cNvSpPr/>
          <p:nvPr/>
        </p:nvSpPr>
        <p:spPr>
          <a:xfrm>
            <a:off x="2523490" y="7064852"/>
            <a:ext cx="2368439" cy="723900"/>
          </a:xfrm>
          <a:prstGeom prst="rect">
            <a:avLst/>
          </a:prstGeom>
          <a:noFill/>
          <a:ln/>
        </p:spPr>
        <p:txBody>
          <a:bodyPr wrap="square" lIns="25400" tIns="25400" rIns="25400" bIns="25400" rtlCol="0" anchor="t">
            <a:normAutofit/>
          </a:bodyPr>
          <a:lstStyle/>
          <a:p>
            <a:pPr marL="0" indent="0" algn="l">
              <a:lnSpc>
                <a:spcPct val="71053"/>
              </a:lnSpc>
              <a:buNone/>
            </a:pPr>
            <a:r>
              <a:rPr lang="en-US" sz="5400" b="1" kern="0" spc="-150" dirty="0">
                <a:solidFill>
                  <a:srgbClr val="72C493"/>
                </a:solidFill>
                <a:latin typeface="Arial" pitchFamily="34" charset="0"/>
                <a:ea typeface="Arial" pitchFamily="34" charset="-122"/>
                <a:cs typeface="Arial" pitchFamily="34" charset="-120"/>
              </a:rPr>
              <a:t>90 M€</a:t>
            </a:r>
            <a:endParaRPr lang="en-US" sz="5400" dirty="0"/>
          </a:p>
        </p:txBody>
      </p:sp>
      <p:sp>
        <p:nvSpPr>
          <p:cNvPr id="14" name="Text 11"/>
          <p:cNvSpPr/>
          <p:nvPr/>
        </p:nvSpPr>
        <p:spPr>
          <a:xfrm>
            <a:off x="1295400" y="7627938"/>
            <a:ext cx="6789421" cy="409575"/>
          </a:xfrm>
          <a:prstGeom prst="rect">
            <a:avLst/>
          </a:prstGeom>
          <a:noFill/>
          <a:ln/>
        </p:spPr>
        <p:txBody>
          <a:bodyPr wrap="square" lIns="25400" tIns="25400" rIns="25400" bIns="25400" rtlCol="0" anchor="t">
            <a:normAutofit lnSpcReduction="10000"/>
          </a:bodyPr>
          <a:lstStyle/>
          <a:p>
            <a:pPr marL="0" indent="0" algn="l">
              <a:lnSpc>
                <a:spcPct val="114258"/>
              </a:lnSpc>
              <a:buNone/>
            </a:pPr>
            <a:r>
              <a:rPr lang="en-US" sz="2250" b="1" dirty="0">
                <a:solidFill>
                  <a:srgbClr val="FAF5EC"/>
                </a:solidFill>
                <a:latin typeface="Arial" pitchFamily="34" charset="0"/>
                <a:ea typeface="Arial" pitchFamily="34" charset="-122"/>
                <a:cs typeface="Arial" pitchFamily="34" charset="-120"/>
              </a:rPr>
              <a:t>de travaux d'espaces publics, en 3 tranches</a:t>
            </a:r>
            <a:endParaRPr lang="en-US" sz="2250" dirty="0"/>
          </a:p>
        </p:txBody>
      </p:sp>
      <p:sp>
        <p:nvSpPr>
          <p:cNvPr id="15" name="Shape 12"/>
          <p:cNvSpPr/>
          <p:nvPr/>
        </p:nvSpPr>
        <p:spPr>
          <a:xfrm>
            <a:off x="8382001" y="2286000"/>
            <a:ext cx="8953501" cy="5676901"/>
          </a:xfrm>
          <a:prstGeom prst="rect">
            <a:avLst/>
          </a:prstGeom>
          <a:solidFill>
            <a:srgbClr val="FFFFFF"/>
          </a:solidFill>
          <a:ln/>
        </p:spPr>
      </p:sp>
      <p:pic>
        <p:nvPicPr>
          <p:cNvPr id="16" name="Image 1" descr="preencoded.png"/>
          <p:cNvPicPr>
            <a:picLocks noChangeAspect="1"/>
          </p:cNvPicPr>
          <p:nvPr/>
        </p:nvPicPr>
        <p:blipFill>
          <a:blip r:embed="rId4" cstate="email">
            <a:extLst>
              <a:ext uri="{28A0092B-C50C-407E-A947-70E740481C1C}">
                <a14:useLocalDpi xmlns:a14="http://schemas.microsoft.com/office/drawing/2010/main"/>
              </a:ext>
            </a:extLst>
          </a:blip>
          <a:srcRect t="-47" b="-47"/>
          <a:stretch/>
        </p:blipFill>
        <p:spPr>
          <a:xfrm>
            <a:off x="8382001" y="2286000"/>
            <a:ext cx="8953501" cy="5676901"/>
          </a:xfrm>
          <a:prstGeom prst="rect">
            <a:avLst/>
          </a:prstGeom>
        </p:spPr>
      </p:pic>
      <p:sp>
        <p:nvSpPr>
          <p:cNvPr id="17" name="Shape 13"/>
          <p:cNvSpPr/>
          <p:nvPr/>
        </p:nvSpPr>
        <p:spPr>
          <a:xfrm>
            <a:off x="952500" y="8763001"/>
            <a:ext cx="16383001" cy="1150620"/>
          </a:xfrm>
          <a:prstGeom prst="rect">
            <a:avLst/>
          </a:prstGeom>
          <a:solidFill>
            <a:srgbClr val="0E1F5B"/>
          </a:solidFill>
          <a:ln/>
        </p:spPr>
      </p:sp>
      <p:sp>
        <p:nvSpPr>
          <p:cNvPr id="18" name="Text 14"/>
          <p:cNvSpPr/>
          <p:nvPr/>
        </p:nvSpPr>
        <p:spPr>
          <a:xfrm>
            <a:off x="1295400" y="9160511"/>
            <a:ext cx="2366169" cy="393700"/>
          </a:xfrm>
          <a:prstGeom prst="rect">
            <a:avLst/>
          </a:prstGeom>
          <a:noFill/>
          <a:ln/>
        </p:spPr>
        <p:txBody>
          <a:bodyPr wrap="square" lIns="25400" tIns="25400" rIns="25400" bIns="25400" rtlCol="0" anchor="t">
            <a:normAutofit/>
          </a:bodyPr>
          <a:lstStyle/>
          <a:p>
            <a:pPr marL="0" indent="0" algn="l">
              <a:buNone/>
            </a:pPr>
            <a:r>
              <a:rPr lang="en-US" sz="1950" b="1" kern="0" spc="150" dirty="0">
                <a:solidFill>
                  <a:srgbClr val="72C493"/>
                </a:solidFill>
                <a:latin typeface="Arial" pitchFamily="34" charset="0"/>
                <a:ea typeface="Arial" pitchFamily="34" charset="-122"/>
                <a:cs typeface="Arial" pitchFamily="34" charset="-120"/>
              </a:rPr>
              <a:t>PARTENAIRES</a:t>
            </a:r>
            <a:endParaRPr lang="en-US" sz="1950" dirty="0"/>
          </a:p>
        </p:txBody>
      </p:sp>
      <p:sp>
        <p:nvSpPr>
          <p:cNvPr id="19" name="Text 15"/>
          <p:cNvSpPr/>
          <p:nvPr/>
        </p:nvSpPr>
        <p:spPr>
          <a:xfrm>
            <a:off x="3713163" y="8991601"/>
            <a:ext cx="13677821"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Un projet porté avec l'État, la Métropole du Grand Paris, Grand Paris Grand Est, la Région Île-de-France, la Banque des Territoires et l'EPFIF</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0">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750000"/>
            <a:ext cx="180213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DÉVELOPPEMENT ÉCONOMIQUE</a:t>
            </a:r>
            <a:endParaRPr lang="en-US" sz="2100" dirty="0"/>
          </a:p>
        </p:txBody>
      </p:sp>
      <p:sp>
        <p:nvSpPr>
          <p:cNvPr id="4" name="Text 1"/>
          <p:cNvSpPr/>
          <p:nvPr/>
        </p:nvSpPr>
        <p:spPr>
          <a:xfrm>
            <a:off x="952500" y="2250000"/>
            <a:ext cx="14716126" cy="1000000"/>
          </a:xfrm>
          <a:prstGeom prst="rect">
            <a:avLst/>
          </a:prstGeom>
          <a:noFill/>
          <a:ln/>
          <a:effectLst>
            <a:outerShdw blurRad="101600" dist="67352" dir="2700000" algn="bl" rotWithShape="0">
              <a:srgbClr val="72C493">
                <a:alpha val="100000"/>
              </a:srgbClr>
            </a:outerShdw>
          </a:effectLst>
        </p:spPr>
        <p:txBody>
          <a:bodyPr wrap="square" lIns="25400" tIns="25400" rIns="25400" bIns="25400" rtlCol="0" anchor="t">
            <a:normAutofit/>
          </a:bodyPr>
          <a:lstStyle/>
          <a:p>
            <a:pPr marL="0" indent="0" algn="l">
              <a:lnSpc>
                <a:spcPct val="74292"/>
              </a:lnSpc>
              <a:buNone/>
            </a:pPr>
            <a:r>
              <a:rPr lang="en-US" sz="6000" b="1" kern="0" spc="-225" dirty="0">
                <a:solidFill>
                  <a:srgbClr val="FAF5EC"/>
                </a:solidFill>
                <a:latin typeface="Arial" pitchFamily="34" charset="0"/>
                <a:ea typeface="Arial" pitchFamily="34" charset="-122"/>
                <a:cs typeface="Arial" pitchFamily="34" charset="-120"/>
              </a:rPr>
              <a:t>Quel avenir pour l'immeuble de la DIAC ?</a:t>
            </a:r>
            <a:endParaRPr lang="en-US" sz="6000" dirty="0"/>
          </a:p>
        </p:txBody>
      </p:sp>
      <p:sp>
        <p:nvSpPr>
          <p:cNvPr id="5" name="Rachat"/>
          <p:cNvSpPr txBox="1"/>
          <p:nvPr/>
        </p:nvSpPr>
        <p:spPr>
          <a:xfrm>
            <a:off x="952500" y="3750000"/>
            <a:ext cx="16383000" cy="750000"/>
          </a:xfrm>
          <a:prstGeom prst="rect">
            <a:avLst/>
          </a:prstGeom>
          <a:noFill/>
          <a:ln/>
        </p:spPr>
        <p:txBody>
          <a:bodyPr wrap="square" lIns="25400" tIns="25400" rIns="25400" bIns="25400" rtlCol="0" anchor="t">
            <a:noAutofit/>
          </a:bodyPr>
          <a:lstStyle/>
          <a:p>
            <a:pPr marL="0" indent="0" algn="l">
              <a:buNone/>
            </a:pPr>
            <a:r>
              <a:rPr lang="fr-FR" sz="4400" b="1" spc="-100" dirty="0">
                <a:solidFill>
                  <a:srgbClr val="72C493"/>
                </a:solidFill>
                <a:latin typeface="Arial" pitchFamily="34" charset="0"/>
                <a:ea typeface="Arial" pitchFamily="34" charset="-122"/>
                <a:cs typeface="Arial" pitchFamily="34" charset="-120"/>
              </a:rPr>
              <a:t>Racheté par Bouygues</a:t>
            </a:r>
          </a:p>
        </p:txBody>
      </p:sp>
      <p:sp>
        <p:nvSpPr>
          <p:cNvPr id="6" name="Projet"/>
          <p:cNvSpPr txBox="1"/>
          <p:nvPr/>
        </p:nvSpPr>
        <p:spPr>
          <a:xfrm>
            <a:off x="952500" y="4600000"/>
            <a:ext cx="16383000" cy="500000"/>
          </a:xfrm>
          <a:prstGeom prst="rect">
            <a:avLst/>
          </a:prstGeom>
          <a:noFill/>
          <a:ln/>
        </p:spPr>
        <p:txBody>
          <a:bodyPr wrap="square" lIns="25400" tIns="25400" rIns="25400" bIns="25400" rtlCol="0" anchor="t">
            <a:noAutofit/>
          </a:bodyPr>
          <a:lstStyle/>
          <a:p>
            <a:pPr marL="0" indent="0" algn="l">
              <a:buNone/>
            </a:pPr>
            <a:r>
              <a:rPr lang="fr-FR" sz="2400" dirty="0">
                <a:solidFill>
                  <a:srgbClr val="FAF5EC"/>
                </a:solidFill>
                <a:latin typeface="Arial" pitchFamily="34" charset="0"/>
                <a:ea typeface="Arial" pitchFamily="34" charset="-122"/>
                <a:cs typeface="Arial" pitchFamily="34" charset="-120"/>
              </a:rPr>
              <a:t>Le projet envisagé pour l'immeuble :</a:t>
            </a:r>
          </a:p>
        </p:txBody>
      </p:sp>
      <p:sp>
        <p:nvSpPr>
          <p:cNvPr id="7" name="Carte 1"/>
          <p:cNvSpPr/>
          <p:nvPr/>
        </p:nvSpPr>
        <p:spPr>
          <a:xfrm>
            <a:off x="952500" y="5450000"/>
            <a:ext cx="3870750" cy="2700000"/>
          </a:xfrm>
          <a:prstGeom prst="rect">
            <a:avLst/>
          </a:prstGeom>
          <a:solidFill>
            <a:srgbClr val="FAF5EC">
              <a:alpha val="8000"/>
            </a:srgbClr>
          </a:solidFill>
          <a:ln/>
        </p:spPr>
      </p:sp>
      <p:sp>
        <p:nvSpPr>
          <p:cNvPr id="8" name="Carte 1 numero"/>
          <p:cNvSpPr txBox="1"/>
          <p:nvPr/>
        </p:nvSpPr>
        <p:spPr>
          <a:xfrm>
            <a:off x="1252500" y="5750000"/>
            <a:ext cx="3270750" cy="5000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9" name="Carte 1 texte"/>
          <p:cNvSpPr txBox="1"/>
          <p:nvPr/>
        </p:nvSpPr>
        <p:spPr>
          <a:xfrm>
            <a:off x="1252500" y="6450000"/>
            <a:ext cx="3270750" cy="1400000"/>
          </a:xfrm>
          <a:prstGeom prst="rect">
            <a:avLst/>
          </a:prstGeom>
          <a:noFill/>
          <a:ln/>
        </p:spPr>
        <p:txBody>
          <a:bodyPr wrap="square" lIns="25400" tIns="25400" rIns="25400" bIns="25400" rtlCol="0" anchor="t">
            <a:noAutofit/>
          </a:bodyPr>
          <a:lstStyle/>
          <a:p>
            <a:pPr marL="0" indent="0" algn="l">
              <a:buNone/>
            </a:pPr>
            <a:r>
              <a:rPr lang="fr-FR" sz="3200" b="1" dirty="0">
                <a:solidFill>
                  <a:srgbClr val="FAF5EC"/>
                </a:solidFill>
                <a:latin typeface="Arial" pitchFamily="34" charset="0"/>
                <a:ea typeface="Arial" pitchFamily="34" charset="-122"/>
                <a:cs typeface="Arial" pitchFamily="34" charset="-120"/>
              </a:rPr>
              <a:t>Logements étudiants</a:t>
            </a:r>
          </a:p>
        </p:txBody>
      </p:sp>
      <p:sp>
        <p:nvSpPr>
          <p:cNvPr id="10" name="Carte 2"/>
          <p:cNvSpPr/>
          <p:nvPr/>
        </p:nvSpPr>
        <p:spPr>
          <a:xfrm>
            <a:off x="5123250" y="5450000"/>
            <a:ext cx="3870750" cy="2700000"/>
          </a:xfrm>
          <a:prstGeom prst="rect">
            <a:avLst/>
          </a:prstGeom>
          <a:solidFill>
            <a:srgbClr val="FAF5EC">
              <a:alpha val="8000"/>
            </a:srgbClr>
          </a:solidFill>
          <a:ln/>
        </p:spPr>
      </p:sp>
      <p:sp>
        <p:nvSpPr>
          <p:cNvPr id="11" name="Carte 2 numero"/>
          <p:cNvSpPr txBox="1"/>
          <p:nvPr/>
        </p:nvSpPr>
        <p:spPr>
          <a:xfrm>
            <a:off x="5423250" y="5750000"/>
            <a:ext cx="3270750" cy="5000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12" name="Carte 2 texte"/>
          <p:cNvSpPr txBox="1"/>
          <p:nvPr/>
        </p:nvSpPr>
        <p:spPr>
          <a:xfrm>
            <a:off x="5423250" y="6450000"/>
            <a:ext cx="3270750" cy="1400000"/>
          </a:xfrm>
          <a:prstGeom prst="rect">
            <a:avLst/>
          </a:prstGeom>
          <a:noFill/>
          <a:ln/>
        </p:spPr>
        <p:txBody>
          <a:bodyPr wrap="square" lIns="25400" tIns="25400" rIns="25400" bIns="25400" rtlCol="0" anchor="t">
            <a:noAutofit/>
          </a:bodyPr>
          <a:lstStyle/>
          <a:p>
            <a:pPr marL="0" indent="0" algn="l">
              <a:buNone/>
            </a:pPr>
            <a:r>
              <a:rPr lang="fr-FR" sz="3200" b="1" dirty="0">
                <a:solidFill>
                  <a:srgbClr val="FAF5EC"/>
                </a:solidFill>
                <a:latin typeface="Arial" pitchFamily="34" charset="0"/>
                <a:ea typeface="Arial" pitchFamily="34" charset="-122"/>
                <a:cs typeface="Arial" pitchFamily="34" charset="-120"/>
              </a:rPr>
              <a:t>Logements familiaux</a:t>
            </a:r>
          </a:p>
        </p:txBody>
      </p:sp>
      <p:sp>
        <p:nvSpPr>
          <p:cNvPr id="13" name="Carte 3"/>
          <p:cNvSpPr/>
          <p:nvPr/>
        </p:nvSpPr>
        <p:spPr>
          <a:xfrm>
            <a:off x="9294000" y="5450000"/>
            <a:ext cx="3870750" cy="2700000"/>
          </a:xfrm>
          <a:prstGeom prst="rect">
            <a:avLst/>
          </a:prstGeom>
          <a:solidFill>
            <a:srgbClr val="FAF5EC">
              <a:alpha val="8000"/>
            </a:srgbClr>
          </a:solidFill>
          <a:ln/>
        </p:spPr>
      </p:sp>
      <p:sp>
        <p:nvSpPr>
          <p:cNvPr id="14" name="Carte 3 numero"/>
          <p:cNvSpPr txBox="1"/>
          <p:nvPr/>
        </p:nvSpPr>
        <p:spPr>
          <a:xfrm>
            <a:off x="9594000" y="5750000"/>
            <a:ext cx="3270750" cy="5000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5" name="Carte 3 texte"/>
          <p:cNvSpPr txBox="1"/>
          <p:nvPr/>
        </p:nvSpPr>
        <p:spPr>
          <a:xfrm>
            <a:off x="9594000" y="6450000"/>
            <a:ext cx="3270750" cy="1400000"/>
          </a:xfrm>
          <a:prstGeom prst="rect">
            <a:avLst/>
          </a:prstGeom>
          <a:noFill/>
          <a:ln/>
        </p:spPr>
        <p:txBody>
          <a:bodyPr wrap="square" lIns="25400" tIns="25400" rIns="25400" bIns="25400" rtlCol="0" anchor="t">
            <a:noAutofit/>
          </a:bodyPr>
          <a:lstStyle/>
          <a:p>
            <a:pPr marL="0" indent="0" algn="l">
              <a:buNone/>
            </a:pPr>
            <a:r>
              <a:rPr lang="fr-FR" sz="3200" b="1" dirty="0">
                <a:solidFill>
                  <a:srgbClr val="FAF5EC"/>
                </a:solidFill>
                <a:latin typeface="Arial" pitchFamily="34" charset="0"/>
                <a:ea typeface="Arial" pitchFamily="34" charset="-122"/>
                <a:cs typeface="Arial" pitchFamily="34" charset="-120"/>
              </a:rPr>
              <a:t>Campus</a:t>
            </a:r>
            <a:br>
              <a:rPr lang="fr-FR" sz="3200" b="1" dirty="0">
                <a:solidFill>
                  <a:srgbClr val="FAF5EC"/>
                </a:solidFill>
                <a:latin typeface="Arial" pitchFamily="34" charset="0"/>
                <a:ea typeface="Arial" pitchFamily="34" charset="-122"/>
                <a:cs typeface="Arial" pitchFamily="34" charset="-120"/>
              </a:rPr>
            </a:br>
            <a:r>
              <a:rPr lang="fr-FR" sz="3200" b="1" dirty="0">
                <a:solidFill>
                  <a:srgbClr val="FAF5EC"/>
                </a:solidFill>
                <a:latin typeface="Arial" pitchFamily="34" charset="0"/>
                <a:ea typeface="Arial" pitchFamily="34" charset="-122"/>
                <a:cs typeface="Arial" pitchFamily="34" charset="-120"/>
              </a:rPr>
              <a:t>sport-santé</a:t>
            </a:r>
          </a:p>
        </p:txBody>
      </p:sp>
      <p:sp>
        <p:nvSpPr>
          <p:cNvPr id="16" name="Carte 4"/>
          <p:cNvSpPr/>
          <p:nvPr/>
        </p:nvSpPr>
        <p:spPr>
          <a:xfrm>
            <a:off x="13464750" y="5450000"/>
            <a:ext cx="3870750" cy="2700000"/>
          </a:xfrm>
          <a:prstGeom prst="rect">
            <a:avLst/>
          </a:prstGeom>
          <a:solidFill>
            <a:srgbClr val="FAF5EC">
              <a:alpha val="8000"/>
            </a:srgbClr>
          </a:solidFill>
          <a:ln/>
        </p:spPr>
      </p:sp>
      <p:sp>
        <p:nvSpPr>
          <p:cNvPr id="17" name="Carte 4 numero"/>
          <p:cNvSpPr txBox="1"/>
          <p:nvPr/>
        </p:nvSpPr>
        <p:spPr>
          <a:xfrm>
            <a:off x="13764750" y="5750000"/>
            <a:ext cx="3270750" cy="5000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8" name="Carte 4 texte"/>
          <p:cNvSpPr txBox="1"/>
          <p:nvPr/>
        </p:nvSpPr>
        <p:spPr>
          <a:xfrm>
            <a:off x="13764750" y="6450000"/>
            <a:ext cx="3270750" cy="1400000"/>
          </a:xfrm>
          <a:prstGeom prst="rect">
            <a:avLst/>
          </a:prstGeom>
          <a:noFill/>
          <a:ln/>
        </p:spPr>
        <p:txBody>
          <a:bodyPr wrap="square" lIns="25400" tIns="25400" rIns="25400" bIns="25400" rtlCol="0" anchor="t">
            <a:noAutofit/>
          </a:bodyPr>
          <a:lstStyle/>
          <a:p>
            <a:pPr marL="0" indent="0" algn="l">
              <a:buNone/>
            </a:pPr>
            <a:r>
              <a:rPr lang="fr-FR" sz="3200" b="1" dirty="0">
                <a:solidFill>
                  <a:srgbClr val="FAF5EC"/>
                </a:solidFill>
                <a:latin typeface="Arial" pitchFamily="34" charset="0"/>
                <a:ea typeface="Arial" pitchFamily="34" charset="-122"/>
                <a:cs typeface="Arial" pitchFamily="34" charset="-120"/>
              </a:rPr>
              <a:t>Commerces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5334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a:t>
            </a:r>
            <a:endParaRPr lang="en-US" sz="2100" dirty="0"/>
          </a:p>
        </p:txBody>
      </p:sp>
      <p:sp>
        <p:nvSpPr>
          <p:cNvPr id="4" name="Text 1"/>
          <p:cNvSpPr/>
          <p:nvPr/>
        </p:nvSpPr>
        <p:spPr>
          <a:xfrm>
            <a:off x="952500" y="96266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Ce qui va changer : la traversée est-ouest</a:t>
            </a:r>
            <a:endParaRPr lang="en-US" sz="4200" dirty="0"/>
          </a:p>
        </p:txBody>
      </p:sp>
      <p:pic>
        <p:nvPicPr>
          <p:cNvPr id="5" name="Image 1" descr="preencoded.png"/>
          <p:cNvPicPr>
            <a:picLocks noChangeAspect="1"/>
          </p:cNvPicPr>
          <p:nvPr/>
        </p:nvPicPr>
        <p:blipFill>
          <a:blip r:embed="rId4" cstate="email">
            <a:extLst>
              <a:ext uri="{28A0092B-C50C-407E-A947-70E740481C1C}">
                <a14:useLocalDpi xmlns:a14="http://schemas.microsoft.com/office/drawing/2010/main"/>
              </a:ext>
            </a:extLst>
          </a:blip>
          <a:srcRect t="-17" b="-17"/>
          <a:stretch/>
        </p:blipFill>
        <p:spPr>
          <a:xfrm>
            <a:off x="952500" y="1467966"/>
            <a:ext cx="14084300" cy="7580785"/>
          </a:xfrm>
          <a:prstGeom prst="rect">
            <a:avLst/>
          </a:prstGeom>
        </p:spPr>
      </p:pic>
      <p:sp>
        <p:nvSpPr>
          <p:cNvPr id="6" name="Text 2"/>
          <p:cNvSpPr/>
          <p:nvPr/>
        </p:nvSpPr>
        <p:spPr>
          <a:xfrm>
            <a:off x="952500" y="9220201"/>
            <a:ext cx="18021301" cy="409575"/>
          </a:xfrm>
          <a:prstGeom prst="rect">
            <a:avLst/>
          </a:prstGeom>
          <a:noFill/>
          <a:ln/>
        </p:spPr>
        <p:txBody>
          <a:bodyPr wrap="square" lIns="25400" tIns="25400" rIns="25400" bIns="25400" rtlCol="0" anchor="t">
            <a:normAutofit lnSpcReduction="10000"/>
          </a:bodyPr>
          <a:lstStyle/>
          <a:p>
            <a:pPr marL="0" indent="0" algn="l">
              <a:lnSpc>
                <a:spcPct val="114258"/>
              </a:lnSpc>
              <a:buNone/>
            </a:pPr>
            <a:r>
              <a:rPr lang="en-US" sz="2250" b="1" dirty="0">
                <a:solidFill>
                  <a:srgbClr val="FAF5EC"/>
                </a:solidFill>
                <a:latin typeface="Arial" pitchFamily="34" charset="0"/>
                <a:ea typeface="Arial" pitchFamily="34" charset="-122"/>
                <a:cs typeface="Arial" pitchFamily="34" charset="-120"/>
              </a:rPr>
              <a:t>Première tranche : relier l'esplanade de la Commune de Paris à Abraxas par une traversée végétalisée et lisible</a:t>
            </a:r>
            <a:endParaRPr lang="en-US" sz="2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8191501" y="0"/>
            <a:ext cx="10096500" cy="10287000"/>
          </a:xfrm>
          <a:prstGeom prst="rect">
            <a:avLst/>
          </a:prstGeom>
        </p:spPr>
      </p:pic>
      <p:pic>
        <p:nvPicPr>
          <p:cNvPr id="3"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4" name="Text 0"/>
          <p:cNvSpPr/>
          <p:nvPr/>
        </p:nvSpPr>
        <p:spPr>
          <a:xfrm>
            <a:off x="952500" y="2893219"/>
            <a:ext cx="720852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a:t>
            </a:r>
            <a:endParaRPr lang="en-US" sz="2100" dirty="0"/>
          </a:p>
        </p:txBody>
      </p:sp>
      <p:sp>
        <p:nvSpPr>
          <p:cNvPr id="5" name="Text 1"/>
          <p:cNvSpPr/>
          <p:nvPr/>
        </p:nvSpPr>
        <p:spPr>
          <a:xfrm>
            <a:off x="952500" y="3589179"/>
            <a:ext cx="6749797" cy="2198370"/>
          </a:xfrm>
          <a:prstGeom prst="rect">
            <a:avLst/>
          </a:prstGeom>
          <a:noFill/>
          <a:ln/>
          <a:effectLst>
            <a:outerShdw blurRad="101600" dist="6735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FAF5EC"/>
                </a:solidFill>
                <a:latin typeface="Arial" pitchFamily="34" charset="0"/>
                <a:ea typeface="Arial" pitchFamily="34" charset="-122"/>
                <a:cs typeface="Arial" pitchFamily="34" charset="-120"/>
              </a:rPr>
              <a:t>L'esplanade de la Commune de Paris</a:t>
            </a:r>
            <a:endParaRPr lang="en-US" sz="5400" dirty="0"/>
          </a:p>
        </p:txBody>
      </p:sp>
      <p:sp>
        <p:nvSpPr>
          <p:cNvPr id="6" name="Shape 2"/>
          <p:cNvSpPr/>
          <p:nvPr/>
        </p:nvSpPr>
        <p:spPr>
          <a:xfrm>
            <a:off x="952500" y="6130449"/>
            <a:ext cx="6553201" cy="50800"/>
          </a:xfrm>
          <a:prstGeom prst="rect">
            <a:avLst/>
          </a:prstGeom>
          <a:solidFill>
            <a:srgbClr val="72C493"/>
          </a:solidFill>
          <a:ln/>
        </p:spPr>
      </p:sp>
      <p:sp>
        <p:nvSpPr>
          <p:cNvPr id="7" name="Text 3"/>
          <p:cNvSpPr/>
          <p:nvPr/>
        </p:nvSpPr>
        <p:spPr>
          <a:xfrm>
            <a:off x="952500" y="6447949"/>
            <a:ext cx="7208521" cy="483870"/>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2700" b="1" dirty="0">
                <a:solidFill>
                  <a:srgbClr val="FAF5EC"/>
                </a:solidFill>
                <a:latin typeface="Arial" pitchFamily="34" charset="0"/>
                <a:ea typeface="Arial" pitchFamily="34" charset="-122"/>
                <a:cs typeface="Arial" pitchFamily="34" charset="-120"/>
              </a:rPr>
              <a:t>Point d'étape sur les travaux</a:t>
            </a:r>
            <a:endParaRPr lang="en-US" sz="2700" dirty="0"/>
          </a:p>
        </p:txBody>
      </p:sp>
      <p:sp>
        <p:nvSpPr>
          <p:cNvPr id="8" name="Text 4"/>
          <p:cNvSpPr/>
          <p:nvPr/>
        </p:nvSpPr>
        <p:spPr>
          <a:xfrm>
            <a:off x="952500" y="7008019"/>
            <a:ext cx="7208521" cy="423863"/>
          </a:xfrm>
          <a:prstGeom prst="rect">
            <a:avLst/>
          </a:prstGeom>
          <a:noFill/>
          <a:ln/>
        </p:spPr>
        <p:txBody>
          <a:bodyPr wrap="square" lIns="25400" tIns="25400" rIns="25400" bIns="25400" rtlCol="0" anchor="t">
            <a:normAutofit lnSpcReduction="10000"/>
          </a:bodyPr>
          <a:lstStyle/>
          <a:p>
            <a:pPr marL="0" indent="0" algn="l">
              <a:lnSpc>
                <a:spcPct val="118652"/>
              </a:lnSpc>
              <a:buNone/>
            </a:pPr>
            <a:r>
              <a:rPr lang="en-US" sz="2250" b="1" dirty="0">
                <a:solidFill>
                  <a:srgbClr val="72C493"/>
                </a:solidFill>
                <a:latin typeface="Arial" pitchFamily="34" charset="0"/>
                <a:ea typeface="Arial" pitchFamily="34" charset="-122"/>
                <a:cs typeface="Arial" pitchFamily="34" charset="-120"/>
              </a:rPr>
              <a:t>Laurent Forêt, directeur de la SOCAREN</a:t>
            </a:r>
            <a:endParaRPr lang="en-US" sz="2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5334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 — ESPLANADE DE LA COMMUNE DE PARIS</a:t>
            </a:r>
            <a:endParaRPr lang="en-US" sz="2100" dirty="0"/>
          </a:p>
        </p:txBody>
      </p:sp>
      <p:sp>
        <p:nvSpPr>
          <p:cNvPr id="4" name="Text 1"/>
          <p:cNvSpPr/>
          <p:nvPr/>
        </p:nvSpPr>
        <p:spPr>
          <a:xfrm>
            <a:off x="952500" y="96266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Avant, après</a:t>
            </a:r>
            <a:endParaRPr lang="en-US" sz="4200" dirty="0"/>
          </a:p>
        </p:txBody>
      </p:sp>
      <p:sp>
        <p:nvSpPr>
          <p:cNvPr id="5" name="Shape 2"/>
          <p:cNvSpPr/>
          <p:nvPr/>
        </p:nvSpPr>
        <p:spPr>
          <a:xfrm>
            <a:off x="2066926" y="2247900"/>
            <a:ext cx="6962776" cy="520700"/>
          </a:xfrm>
          <a:prstGeom prst="rect">
            <a:avLst/>
          </a:prstGeom>
          <a:solidFill>
            <a:srgbClr val="FAF5EC"/>
          </a:solidFill>
          <a:ln/>
        </p:spPr>
      </p:sp>
      <p:sp>
        <p:nvSpPr>
          <p:cNvPr id="6" name="Text 3"/>
          <p:cNvSpPr/>
          <p:nvPr/>
        </p:nvSpPr>
        <p:spPr>
          <a:xfrm>
            <a:off x="2262188" y="2305050"/>
            <a:ext cx="6867526" cy="444500"/>
          </a:xfrm>
          <a:prstGeom prst="rect">
            <a:avLst/>
          </a:prstGeom>
          <a:noFill/>
          <a:ln/>
        </p:spPr>
        <p:txBody>
          <a:bodyPr wrap="square" lIns="25400" tIns="25400" rIns="25400" bIns="25400" rtlCol="0" anchor="t">
            <a:normAutofit/>
          </a:bodyPr>
          <a:lstStyle/>
          <a:p>
            <a:pPr marL="0" indent="0" algn="ctr">
              <a:buNone/>
            </a:pPr>
            <a:r>
              <a:rPr lang="en-US" sz="2250" b="1" kern="0" spc="150" dirty="0">
                <a:solidFill>
                  <a:srgbClr val="0E1F5B"/>
                </a:solidFill>
                <a:latin typeface="Arial" pitchFamily="34" charset="0"/>
                <a:ea typeface="Arial" pitchFamily="34" charset="-122"/>
                <a:cs typeface="Arial" pitchFamily="34" charset="-120"/>
              </a:rPr>
              <a:t>AVANT</a:t>
            </a:r>
            <a:endParaRPr lang="en-US" sz="2250" dirty="0"/>
          </a:p>
        </p:txBody>
      </p:sp>
      <p:sp>
        <p:nvSpPr>
          <p:cNvPr id="7" name="Shape 4"/>
          <p:cNvSpPr/>
          <p:nvPr/>
        </p:nvSpPr>
        <p:spPr>
          <a:xfrm>
            <a:off x="9324976" y="2247900"/>
            <a:ext cx="6667501" cy="520700"/>
          </a:xfrm>
          <a:prstGeom prst="rect">
            <a:avLst/>
          </a:prstGeom>
          <a:solidFill>
            <a:srgbClr val="72C493"/>
          </a:solidFill>
          <a:ln/>
        </p:spPr>
      </p:sp>
      <p:sp>
        <p:nvSpPr>
          <p:cNvPr id="8" name="Text 5"/>
          <p:cNvSpPr/>
          <p:nvPr/>
        </p:nvSpPr>
        <p:spPr>
          <a:xfrm>
            <a:off x="9158288" y="2305050"/>
            <a:ext cx="6867526" cy="444500"/>
          </a:xfrm>
          <a:prstGeom prst="rect">
            <a:avLst/>
          </a:prstGeom>
          <a:noFill/>
          <a:ln/>
        </p:spPr>
        <p:txBody>
          <a:bodyPr wrap="square" lIns="25400" tIns="25400" rIns="25400" bIns="25400" rtlCol="0" anchor="t">
            <a:normAutofit/>
          </a:bodyPr>
          <a:lstStyle/>
          <a:p>
            <a:pPr marL="0" indent="0" algn="ctr">
              <a:buNone/>
            </a:pPr>
            <a:r>
              <a:rPr lang="en-US" sz="2250" b="1" kern="0" spc="150" dirty="0">
                <a:solidFill>
                  <a:srgbClr val="0E1F5B"/>
                </a:solidFill>
                <a:latin typeface="Arial" pitchFamily="34" charset="0"/>
                <a:ea typeface="Arial" pitchFamily="34" charset="-122"/>
                <a:cs typeface="Arial" pitchFamily="34" charset="-120"/>
              </a:rPr>
              <a:t>APRÈS</a:t>
            </a:r>
            <a:endParaRPr lang="en-US" sz="2250" dirty="0"/>
          </a:p>
        </p:txBody>
      </p:sp>
      <p:pic>
        <p:nvPicPr>
          <p:cNvPr id="10" name="Image 2" descr="preencoded.png"/>
          <p:cNvPicPr>
            <a:picLocks noChangeAspect="1"/>
          </p:cNvPicPr>
          <p:nvPr/>
        </p:nvPicPr>
        <p:blipFill>
          <a:blip r:embed="rId4"/>
          <a:stretch>
            <a:fillRect/>
          </a:stretch>
        </p:blipFill>
        <p:spPr>
          <a:xfrm>
            <a:off x="2066925" y="2749550"/>
            <a:ext cx="13935076" cy="946785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6096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 — ESPLANADE DE LA COMMUNE DE PARIS</a:t>
            </a:r>
            <a:endParaRPr lang="en-US" sz="2100" dirty="0"/>
          </a:p>
        </p:txBody>
      </p:sp>
      <p:sp>
        <p:nvSpPr>
          <p:cNvPr id="4" name="Text 1"/>
          <p:cNvSpPr/>
          <p:nvPr/>
        </p:nvSpPr>
        <p:spPr>
          <a:xfrm>
            <a:off x="952500" y="105791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0E1F5B"/>
                </a:solidFill>
                <a:latin typeface="Arial" pitchFamily="34" charset="0"/>
                <a:ea typeface="Arial" pitchFamily="34" charset="-122"/>
                <a:cs typeface="Arial" pitchFamily="34" charset="-120"/>
              </a:rPr>
              <a:t>Une esplanade végétalisée</a:t>
            </a:r>
            <a:endParaRPr lang="en-US" sz="4200" dirty="0"/>
          </a:p>
        </p:txBody>
      </p:sp>
      <p:pic>
        <p:nvPicPr>
          <p:cNvPr id="5" name="Image 1" descr="preencoded.png"/>
          <p:cNvPicPr>
            <a:picLocks noChangeAspect="1"/>
          </p:cNvPicPr>
          <p:nvPr/>
        </p:nvPicPr>
        <p:blipFill>
          <a:blip r:embed="rId4" cstate="email">
            <a:extLst>
              <a:ext uri="{28A0092B-C50C-407E-A947-70E740481C1C}">
                <a14:useLocalDpi xmlns:a14="http://schemas.microsoft.com/office/drawing/2010/main"/>
              </a:ext>
            </a:extLst>
          </a:blip>
          <a:srcRect l="-14" r="-14"/>
          <a:stretch/>
        </p:blipFill>
        <p:spPr>
          <a:xfrm>
            <a:off x="952500" y="2286000"/>
            <a:ext cx="10477500" cy="6124576"/>
          </a:xfrm>
          <a:prstGeom prst="rect">
            <a:avLst/>
          </a:prstGeom>
        </p:spPr>
      </p:pic>
      <p:sp>
        <p:nvSpPr>
          <p:cNvPr id="6" name="Shape 2"/>
          <p:cNvSpPr/>
          <p:nvPr/>
        </p:nvSpPr>
        <p:spPr>
          <a:xfrm>
            <a:off x="12001501" y="2286000"/>
            <a:ext cx="5334000" cy="1743075"/>
          </a:xfrm>
          <a:prstGeom prst="rect">
            <a:avLst/>
          </a:prstGeom>
          <a:solidFill>
            <a:srgbClr val="0E1F5B"/>
          </a:solidFill>
          <a:ln/>
        </p:spPr>
      </p:sp>
      <p:sp>
        <p:nvSpPr>
          <p:cNvPr id="7" name="Text 3"/>
          <p:cNvSpPr/>
          <p:nvPr/>
        </p:nvSpPr>
        <p:spPr>
          <a:xfrm>
            <a:off x="12306301" y="2502218"/>
            <a:ext cx="5196840"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25 %</a:t>
            </a:r>
            <a:endParaRPr lang="en-US" sz="4800" dirty="0"/>
          </a:p>
        </p:txBody>
      </p:sp>
      <p:sp>
        <p:nvSpPr>
          <p:cNvPr id="8" name="Text 4"/>
          <p:cNvSpPr/>
          <p:nvPr/>
        </p:nvSpPr>
        <p:spPr>
          <a:xfrm>
            <a:off x="12306301" y="3168968"/>
            <a:ext cx="4866132" cy="681990"/>
          </a:xfrm>
          <a:prstGeom prst="rect">
            <a:avLst/>
          </a:prstGeom>
          <a:noFill/>
          <a:ln/>
        </p:spPr>
        <p:txBody>
          <a:bodyPr wrap="square" lIns="25400" tIns="25400" rIns="25400" bIns="25400" rtlCol="0" anchor="t">
            <a:normAutofit lnSpcReduction="10000"/>
          </a:bodyPr>
          <a:lstStyle/>
          <a:p>
            <a:pPr marL="0" indent="0" algn="l">
              <a:lnSpc>
                <a:spcPct val="113170"/>
              </a:lnSpc>
              <a:buNone/>
            </a:pPr>
            <a:r>
              <a:rPr lang="en-US" sz="1950" b="1" dirty="0">
                <a:solidFill>
                  <a:srgbClr val="FAF5EC"/>
                </a:solidFill>
                <a:latin typeface="Arial" pitchFamily="34" charset="0"/>
                <a:ea typeface="Arial" pitchFamily="34" charset="-122"/>
                <a:cs typeface="Arial" pitchFamily="34" charset="-120"/>
              </a:rPr>
              <a:t>d'espaces végétalisés, contre 6 % aujourd'hui</a:t>
            </a:r>
            <a:endParaRPr lang="en-US" sz="1950" dirty="0"/>
          </a:p>
        </p:txBody>
      </p:sp>
      <p:sp>
        <p:nvSpPr>
          <p:cNvPr id="9" name="Shape 5"/>
          <p:cNvSpPr/>
          <p:nvPr/>
        </p:nvSpPr>
        <p:spPr>
          <a:xfrm>
            <a:off x="12001501" y="4181475"/>
            <a:ext cx="5334000" cy="1743075"/>
          </a:xfrm>
          <a:prstGeom prst="rect">
            <a:avLst/>
          </a:prstGeom>
          <a:solidFill>
            <a:srgbClr val="0E1F5B"/>
          </a:solidFill>
          <a:ln/>
        </p:spPr>
      </p:sp>
      <p:sp>
        <p:nvSpPr>
          <p:cNvPr id="10" name="Text 6"/>
          <p:cNvSpPr/>
          <p:nvPr/>
        </p:nvSpPr>
        <p:spPr>
          <a:xfrm>
            <a:off x="12306301" y="4558665"/>
            <a:ext cx="5196840"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100</a:t>
            </a:r>
            <a:endParaRPr lang="en-US" sz="4800" dirty="0"/>
          </a:p>
        </p:txBody>
      </p:sp>
      <p:sp>
        <p:nvSpPr>
          <p:cNvPr id="11" name="Text 7"/>
          <p:cNvSpPr/>
          <p:nvPr/>
        </p:nvSpPr>
        <p:spPr>
          <a:xfrm>
            <a:off x="12306301" y="5225415"/>
            <a:ext cx="5196840" cy="360045"/>
          </a:xfrm>
          <a:prstGeom prst="rect">
            <a:avLst/>
          </a:prstGeom>
          <a:noFill/>
          <a:ln/>
        </p:spPr>
        <p:txBody>
          <a:bodyPr wrap="square" lIns="25400" tIns="25400" rIns="25400" bIns="25400" rtlCol="0" anchor="t">
            <a:normAutofit lnSpcReduction="10000"/>
          </a:bodyPr>
          <a:lstStyle/>
          <a:p>
            <a:pPr marL="0" indent="0" algn="l">
              <a:lnSpc>
                <a:spcPct val="113170"/>
              </a:lnSpc>
              <a:buNone/>
            </a:pPr>
            <a:r>
              <a:rPr lang="en-US" sz="1950" b="1" dirty="0">
                <a:solidFill>
                  <a:srgbClr val="FAF5EC"/>
                </a:solidFill>
                <a:latin typeface="Arial" pitchFamily="34" charset="0"/>
                <a:ea typeface="Arial" pitchFamily="34" charset="-122"/>
                <a:cs typeface="Arial" pitchFamily="34" charset="-120"/>
              </a:rPr>
              <a:t>arbres plantés</a:t>
            </a:r>
            <a:endParaRPr lang="en-US" sz="1950" dirty="0"/>
          </a:p>
        </p:txBody>
      </p:sp>
      <p:sp>
        <p:nvSpPr>
          <p:cNvPr id="12" name="Shape 8"/>
          <p:cNvSpPr/>
          <p:nvPr/>
        </p:nvSpPr>
        <p:spPr>
          <a:xfrm>
            <a:off x="12001501" y="6076951"/>
            <a:ext cx="5334000" cy="1743075"/>
          </a:xfrm>
          <a:prstGeom prst="rect">
            <a:avLst/>
          </a:prstGeom>
          <a:solidFill>
            <a:srgbClr val="0E1F5B"/>
          </a:solidFill>
          <a:ln/>
        </p:spPr>
      </p:sp>
      <p:sp>
        <p:nvSpPr>
          <p:cNvPr id="13" name="Text 9"/>
          <p:cNvSpPr/>
          <p:nvPr/>
        </p:nvSpPr>
        <p:spPr>
          <a:xfrm>
            <a:off x="12306301" y="6587808"/>
            <a:ext cx="1024890" cy="35306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72C493"/>
                </a:solidFill>
                <a:latin typeface="Arial" pitchFamily="34" charset="0"/>
                <a:ea typeface="Arial" pitchFamily="34" charset="-122"/>
                <a:cs typeface="Arial" pitchFamily="34" charset="-120"/>
              </a:rPr>
              <a:t>Plus de</a:t>
            </a:r>
            <a:endParaRPr lang="en-US" sz="2100" dirty="0"/>
          </a:p>
        </p:txBody>
      </p:sp>
      <p:sp>
        <p:nvSpPr>
          <p:cNvPr id="14" name="Text 10"/>
          <p:cNvSpPr/>
          <p:nvPr/>
        </p:nvSpPr>
        <p:spPr>
          <a:xfrm>
            <a:off x="13388341" y="6440488"/>
            <a:ext cx="3007392"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6 500 m²</a:t>
            </a:r>
            <a:endParaRPr lang="en-US" sz="4800" dirty="0"/>
          </a:p>
        </p:txBody>
      </p:sp>
      <p:sp>
        <p:nvSpPr>
          <p:cNvPr id="15" name="Text 11"/>
          <p:cNvSpPr/>
          <p:nvPr/>
        </p:nvSpPr>
        <p:spPr>
          <a:xfrm>
            <a:off x="12306301" y="6959918"/>
            <a:ext cx="4866132" cy="681990"/>
          </a:xfrm>
          <a:prstGeom prst="rect">
            <a:avLst/>
          </a:prstGeom>
          <a:noFill/>
          <a:ln/>
        </p:spPr>
        <p:txBody>
          <a:bodyPr wrap="square" lIns="25400" tIns="25400" rIns="25400" bIns="25400" rtlCol="0" anchor="t">
            <a:normAutofit lnSpcReduction="10000"/>
          </a:bodyPr>
          <a:lstStyle/>
          <a:p>
            <a:pPr marL="0" indent="0" algn="l">
              <a:lnSpc>
                <a:spcPct val="113170"/>
              </a:lnSpc>
              <a:buNone/>
            </a:pPr>
            <a:r>
              <a:rPr lang="en-US" sz="1950" b="1" dirty="0">
                <a:solidFill>
                  <a:srgbClr val="FAF5EC"/>
                </a:solidFill>
                <a:latin typeface="Arial" pitchFamily="34" charset="0"/>
                <a:ea typeface="Arial" pitchFamily="34" charset="-122"/>
                <a:cs typeface="Arial" pitchFamily="34" charset="-120"/>
              </a:rPr>
              <a:t>d'espaces verts, dont un tiers en pleine terre</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9334501" y="0"/>
            <a:ext cx="8953501" cy="10287000"/>
          </a:xfrm>
          <a:prstGeom prst="rect">
            <a:avLst/>
          </a:prstGeom>
        </p:spPr>
      </p:pic>
      <p:pic>
        <p:nvPicPr>
          <p:cNvPr id="3"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4" name="Text 0"/>
          <p:cNvSpPr/>
          <p:nvPr/>
        </p:nvSpPr>
        <p:spPr>
          <a:xfrm>
            <a:off x="952500" y="609600"/>
            <a:ext cx="8044816"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kern="0" spc="225" dirty="0">
                <a:solidFill>
                  <a:srgbClr val="72C493"/>
                </a:solidFill>
                <a:latin typeface="Arial" pitchFamily="34" charset="0"/>
                <a:ea typeface="Arial" pitchFamily="34" charset="-122"/>
                <a:cs typeface="Arial" pitchFamily="34" charset="-120"/>
              </a:rPr>
              <a:t>03 — AMÉNAGEMENT URBAIN — ESPLANADE DE LA COMMUNE DE PARIS</a:t>
            </a:r>
            <a:endParaRPr lang="en-US" sz="2100" dirty="0"/>
          </a:p>
        </p:txBody>
      </p:sp>
      <p:sp>
        <p:nvSpPr>
          <p:cNvPr id="5" name="Text 1"/>
          <p:cNvSpPr/>
          <p:nvPr/>
        </p:nvSpPr>
        <p:spPr>
          <a:xfrm>
            <a:off x="952500" y="1436370"/>
            <a:ext cx="8044816" cy="1189990"/>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Une nouvelle place commerçante</a:t>
            </a:r>
            <a:endParaRPr lang="en-US" sz="4200" dirty="0"/>
          </a:p>
        </p:txBody>
      </p:sp>
      <p:sp>
        <p:nvSpPr>
          <p:cNvPr id="6" name="Shape 2"/>
          <p:cNvSpPr/>
          <p:nvPr/>
        </p:nvSpPr>
        <p:spPr>
          <a:xfrm>
            <a:off x="952500" y="3143250"/>
            <a:ext cx="3790950" cy="2501900"/>
          </a:xfrm>
          <a:prstGeom prst="rect">
            <a:avLst/>
          </a:prstGeom>
          <a:solidFill>
            <a:srgbClr val="132568"/>
          </a:solidFill>
          <a:ln/>
        </p:spPr>
      </p:sp>
      <p:sp>
        <p:nvSpPr>
          <p:cNvPr id="7" name="Shape 3"/>
          <p:cNvSpPr/>
          <p:nvPr/>
        </p:nvSpPr>
        <p:spPr>
          <a:xfrm>
            <a:off x="952500" y="3143250"/>
            <a:ext cx="3790950" cy="71120"/>
          </a:xfrm>
          <a:prstGeom prst="rect">
            <a:avLst/>
          </a:prstGeom>
          <a:solidFill>
            <a:srgbClr val="72C493"/>
          </a:solidFill>
          <a:ln/>
        </p:spPr>
      </p:sp>
      <p:sp>
        <p:nvSpPr>
          <p:cNvPr id="8" name="Text 4"/>
          <p:cNvSpPr/>
          <p:nvPr/>
        </p:nvSpPr>
        <p:spPr>
          <a:xfrm>
            <a:off x="1257300" y="3519170"/>
            <a:ext cx="3499485" cy="723900"/>
          </a:xfrm>
          <a:prstGeom prst="rect">
            <a:avLst/>
          </a:prstGeom>
          <a:noFill/>
          <a:ln/>
        </p:spPr>
        <p:txBody>
          <a:bodyPr wrap="none" lIns="25400" tIns="25400" rIns="25400" bIns="25400" rtlCol="0" anchor="t">
            <a:normAutofit/>
          </a:bodyPr>
          <a:lstStyle/>
          <a:p>
            <a:pPr marL="0" indent="0" algn="l">
              <a:lnSpc>
                <a:spcPct val="71053"/>
              </a:lnSpc>
              <a:buNone/>
            </a:pPr>
            <a:r>
              <a:rPr lang="en-US" sz="5400" b="1" kern="0" spc="-150" dirty="0">
                <a:solidFill>
                  <a:srgbClr val="72C493"/>
                </a:solidFill>
                <a:latin typeface="Arial" pitchFamily="34" charset="0"/>
                <a:ea typeface="Arial" pitchFamily="34" charset="-122"/>
                <a:cs typeface="Arial" pitchFamily="34" charset="-120"/>
              </a:rPr>
              <a:t>5 000 m²</a:t>
            </a:r>
            <a:endParaRPr lang="en-US" sz="5400" dirty="0"/>
          </a:p>
        </p:txBody>
      </p:sp>
      <p:sp>
        <p:nvSpPr>
          <p:cNvPr id="9" name="Text 5"/>
          <p:cNvSpPr/>
          <p:nvPr/>
        </p:nvSpPr>
        <p:spPr>
          <a:xfrm>
            <a:off x="1257300" y="4300220"/>
            <a:ext cx="3276791" cy="107823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de commerces et de services, dans une aire piétonne</a:t>
            </a:r>
            <a:endParaRPr lang="en-US" sz="2100" dirty="0"/>
          </a:p>
        </p:txBody>
      </p:sp>
      <p:sp>
        <p:nvSpPr>
          <p:cNvPr id="10" name="Shape 6"/>
          <p:cNvSpPr/>
          <p:nvPr/>
        </p:nvSpPr>
        <p:spPr>
          <a:xfrm>
            <a:off x="4972050" y="3143250"/>
            <a:ext cx="3790950" cy="2501900"/>
          </a:xfrm>
          <a:prstGeom prst="rect">
            <a:avLst/>
          </a:prstGeom>
          <a:solidFill>
            <a:srgbClr val="132568"/>
          </a:solidFill>
          <a:ln/>
        </p:spPr>
      </p:sp>
      <p:sp>
        <p:nvSpPr>
          <p:cNvPr id="11" name="Shape 7"/>
          <p:cNvSpPr/>
          <p:nvPr/>
        </p:nvSpPr>
        <p:spPr>
          <a:xfrm>
            <a:off x="4972050" y="3143250"/>
            <a:ext cx="3790950" cy="71120"/>
          </a:xfrm>
          <a:prstGeom prst="rect">
            <a:avLst/>
          </a:prstGeom>
          <a:solidFill>
            <a:srgbClr val="72C493"/>
          </a:solidFill>
          <a:ln/>
        </p:spPr>
      </p:sp>
      <p:sp>
        <p:nvSpPr>
          <p:cNvPr id="12" name="Text 8"/>
          <p:cNvSpPr/>
          <p:nvPr/>
        </p:nvSpPr>
        <p:spPr>
          <a:xfrm>
            <a:off x="5276850" y="3519170"/>
            <a:ext cx="3499485" cy="723900"/>
          </a:xfrm>
          <a:prstGeom prst="rect">
            <a:avLst/>
          </a:prstGeom>
          <a:noFill/>
          <a:ln/>
        </p:spPr>
        <p:txBody>
          <a:bodyPr wrap="none" lIns="25400" tIns="25400" rIns="25400" bIns="25400" rtlCol="0" anchor="t">
            <a:normAutofit/>
          </a:bodyPr>
          <a:lstStyle/>
          <a:p>
            <a:pPr marL="0" indent="0" algn="l">
              <a:lnSpc>
                <a:spcPct val="71053"/>
              </a:lnSpc>
              <a:buNone/>
            </a:pPr>
            <a:r>
              <a:rPr lang="en-US" sz="5400" b="1" kern="0" spc="-150" dirty="0">
                <a:solidFill>
                  <a:srgbClr val="72C493"/>
                </a:solidFill>
                <a:latin typeface="Arial" pitchFamily="34" charset="0"/>
                <a:ea typeface="Arial" pitchFamily="34" charset="-122"/>
                <a:cs typeface="Arial" pitchFamily="34" charset="-120"/>
              </a:rPr>
              <a:t>8 baux</a:t>
            </a:r>
            <a:endParaRPr lang="en-US" sz="5400" dirty="0"/>
          </a:p>
        </p:txBody>
      </p:sp>
      <p:sp>
        <p:nvSpPr>
          <p:cNvPr id="13" name="Text 9"/>
          <p:cNvSpPr/>
          <p:nvPr/>
        </p:nvSpPr>
        <p:spPr>
          <a:xfrm>
            <a:off x="5276850" y="4300220"/>
            <a:ext cx="3276791" cy="107823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déjà signés : 73 % des surfaces commercialisées</a:t>
            </a:r>
            <a:endParaRPr lang="en-US" sz="2100" dirty="0"/>
          </a:p>
        </p:txBody>
      </p:sp>
      <p:sp>
        <p:nvSpPr>
          <p:cNvPr id="14" name="Text 10"/>
          <p:cNvSpPr/>
          <p:nvPr/>
        </p:nvSpPr>
        <p:spPr>
          <a:xfrm>
            <a:off x="952500" y="6858001"/>
            <a:ext cx="8591551" cy="393700"/>
          </a:xfrm>
          <a:prstGeom prst="rect">
            <a:avLst/>
          </a:prstGeom>
          <a:noFill/>
          <a:ln/>
        </p:spPr>
        <p:txBody>
          <a:bodyPr wrap="square" lIns="25400" tIns="25400" rIns="25400" bIns="25400" rtlCol="0" anchor="t">
            <a:normAutofit/>
          </a:bodyPr>
          <a:lstStyle/>
          <a:p>
            <a:pPr marL="0" indent="0" algn="l">
              <a:buNone/>
            </a:pPr>
            <a:r>
              <a:rPr lang="en-US" sz="1950" b="1" kern="0" spc="150" dirty="0">
                <a:solidFill>
                  <a:srgbClr val="72C493"/>
                </a:solidFill>
                <a:latin typeface="Arial" pitchFamily="34" charset="0"/>
                <a:ea typeface="Arial" pitchFamily="34" charset="-122"/>
                <a:cs typeface="Arial" pitchFamily="34" charset="-120"/>
              </a:rPr>
              <a:t>CALENDRIER</a:t>
            </a:r>
            <a:endParaRPr lang="en-US" sz="1950" dirty="0"/>
          </a:p>
        </p:txBody>
      </p:sp>
      <p:sp>
        <p:nvSpPr>
          <p:cNvPr id="15" name="Shape 11"/>
          <p:cNvSpPr/>
          <p:nvPr/>
        </p:nvSpPr>
        <p:spPr>
          <a:xfrm>
            <a:off x="1085850" y="7594600"/>
            <a:ext cx="7543801" cy="38100"/>
          </a:xfrm>
          <a:prstGeom prst="rect">
            <a:avLst/>
          </a:prstGeom>
          <a:solidFill>
            <a:srgbClr val="72C493"/>
          </a:solidFill>
          <a:ln/>
        </p:spPr>
      </p:sp>
      <p:sp>
        <p:nvSpPr>
          <p:cNvPr id="16" name="Shape 12"/>
          <p:cNvSpPr/>
          <p:nvPr/>
        </p:nvSpPr>
        <p:spPr>
          <a:xfrm>
            <a:off x="952500" y="7480300"/>
            <a:ext cx="266700" cy="266700"/>
          </a:xfrm>
          <a:prstGeom prst="ellipse">
            <a:avLst/>
          </a:prstGeom>
          <a:solidFill>
            <a:srgbClr val="72C493"/>
          </a:solidFill>
          <a:ln/>
        </p:spPr>
      </p:sp>
      <p:sp>
        <p:nvSpPr>
          <p:cNvPr id="17" name="Shape 13"/>
          <p:cNvSpPr/>
          <p:nvPr/>
        </p:nvSpPr>
        <p:spPr>
          <a:xfrm>
            <a:off x="4991100" y="7480300"/>
            <a:ext cx="266700" cy="266700"/>
          </a:xfrm>
          <a:prstGeom prst="ellipse">
            <a:avLst/>
          </a:prstGeom>
          <a:solidFill>
            <a:srgbClr val="72C493"/>
          </a:solidFill>
          <a:ln/>
        </p:spPr>
      </p:sp>
      <p:sp>
        <p:nvSpPr>
          <p:cNvPr id="18" name="Text 14"/>
          <p:cNvSpPr/>
          <p:nvPr/>
        </p:nvSpPr>
        <p:spPr>
          <a:xfrm>
            <a:off x="952500" y="7975600"/>
            <a:ext cx="4170045" cy="495300"/>
          </a:xfrm>
          <a:prstGeom prst="rect">
            <a:avLst/>
          </a:prstGeom>
          <a:noFill/>
          <a:ln/>
        </p:spPr>
        <p:txBody>
          <a:bodyPr wrap="square" lIns="25400" tIns="25400" rIns="25400" bIns="25400" rtlCol="0" anchor="t">
            <a:normAutofit/>
          </a:bodyPr>
          <a:lstStyle/>
          <a:p>
            <a:pPr marL="0" indent="0" algn="l">
              <a:buNone/>
            </a:pPr>
            <a:r>
              <a:rPr lang="en-US" sz="2550" b="1" dirty="0">
                <a:solidFill>
                  <a:srgbClr val="FAF5EC"/>
                </a:solidFill>
                <a:latin typeface="Arial" pitchFamily="34" charset="0"/>
                <a:ea typeface="Arial" pitchFamily="34" charset="-122"/>
                <a:cs typeface="Arial" pitchFamily="34" charset="-120"/>
              </a:rPr>
              <a:t>Socle Nord</a:t>
            </a:r>
            <a:endParaRPr lang="en-US" sz="2550" dirty="0"/>
          </a:p>
        </p:txBody>
      </p:sp>
      <p:sp>
        <p:nvSpPr>
          <p:cNvPr id="19" name="Text 15"/>
          <p:cNvSpPr/>
          <p:nvPr/>
        </p:nvSpPr>
        <p:spPr>
          <a:xfrm>
            <a:off x="952500" y="8489950"/>
            <a:ext cx="3904679"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ouverture au 3e trimestre 2027</a:t>
            </a:r>
            <a:endParaRPr lang="en-US" sz="2100" dirty="0"/>
          </a:p>
        </p:txBody>
      </p:sp>
      <p:sp>
        <p:nvSpPr>
          <p:cNvPr id="20" name="Text 16"/>
          <p:cNvSpPr/>
          <p:nvPr/>
        </p:nvSpPr>
        <p:spPr>
          <a:xfrm>
            <a:off x="4972050" y="7975600"/>
            <a:ext cx="4170045" cy="495300"/>
          </a:xfrm>
          <a:prstGeom prst="rect">
            <a:avLst/>
          </a:prstGeom>
          <a:noFill/>
          <a:ln/>
        </p:spPr>
        <p:txBody>
          <a:bodyPr wrap="square" lIns="25400" tIns="25400" rIns="25400" bIns="25400" rtlCol="0" anchor="t">
            <a:normAutofit/>
          </a:bodyPr>
          <a:lstStyle/>
          <a:p>
            <a:pPr marL="0" indent="0" algn="l">
              <a:buNone/>
            </a:pPr>
            <a:r>
              <a:rPr lang="en-US" sz="2550" b="1" dirty="0">
                <a:solidFill>
                  <a:srgbClr val="FAF5EC"/>
                </a:solidFill>
                <a:latin typeface="Arial" pitchFamily="34" charset="0"/>
                <a:ea typeface="Arial" pitchFamily="34" charset="-122"/>
                <a:cs typeface="Arial" pitchFamily="34" charset="-120"/>
              </a:rPr>
              <a:t>Socle Sud</a:t>
            </a:r>
            <a:endParaRPr lang="en-US" sz="2550" dirty="0"/>
          </a:p>
        </p:txBody>
      </p:sp>
      <p:sp>
        <p:nvSpPr>
          <p:cNvPr id="21" name="Text 17"/>
          <p:cNvSpPr/>
          <p:nvPr/>
        </p:nvSpPr>
        <p:spPr>
          <a:xfrm>
            <a:off x="4972050" y="8489950"/>
            <a:ext cx="3904679"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ouverture au 4e trimestre 2028</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466658"/>
            <a:ext cx="7063741"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kern="0" spc="225" dirty="0">
                <a:solidFill>
                  <a:srgbClr val="72C493"/>
                </a:solidFill>
                <a:latin typeface="Arial" pitchFamily="34" charset="0"/>
                <a:ea typeface="Arial" pitchFamily="34" charset="-122"/>
                <a:cs typeface="Arial" pitchFamily="34" charset="-120"/>
              </a:rPr>
              <a:t>03 — AMÉNAGEMENT URBAIN — ESPLANADE DE LA COMMUNE DE PARIS</a:t>
            </a:r>
            <a:endParaRPr lang="en-US" sz="2100" dirty="0"/>
          </a:p>
        </p:txBody>
      </p:sp>
      <p:sp>
        <p:nvSpPr>
          <p:cNvPr id="4" name="Text 1"/>
          <p:cNvSpPr/>
          <p:nvPr/>
        </p:nvSpPr>
        <p:spPr>
          <a:xfrm>
            <a:off x="952500" y="3426778"/>
            <a:ext cx="7063741" cy="2438400"/>
          </a:xfrm>
          <a:prstGeom prst="rect">
            <a:avLst/>
          </a:prstGeom>
          <a:noFill/>
          <a:ln/>
          <a:effectLst>
            <a:outerShdw blurRad="101600" dist="67352" dir="2700000" algn="bl" rotWithShape="0">
              <a:srgbClr val="72C493">
                <a:alpha val="100000"/>
              </a:srgbClr>
            </a:outerShdw>
          </a:effectLst>
        </p:spPr>
        <p:txBody>
          <a:bodyPr wrap="square" lIns="25400" tIns="25400" rIns="25400" bIns="25400" rtlCol="0" anchor="t">
            <a:normAutofit/>
          </a:bodyPr>
          <a:lstStyle/>
          <a:p>
            <a:pPr marL="0" indent="0" algn="l">
              <a:lnSpc>
                <a:spcPct val="74292"/>
              </a:lnSpc>
              <a:buNone/>
            </a:pPr>
            <a:r>
              <a:rPr lang="en-US" sz="6000" b="1" kern="0" spc="-225" dirty="0">
                <a:solidFill>
                  <a:srgbClr val="0E1F5B"/>
                </a:solidFill>
                <a:latin typeface="Arial" pitchFamily="34" charset="0"/>
                <a:ea typeface="Arial" pitchFamily="34" charset="-122"/>
                <a:cs typeface="Arial" pitchFamily="34" charset="-120"/>
              </a:rPr>
              <a:t>Quel nom pour la future esplanade ?</a:t>
            </a:r>
            <a:endParaRPr lang="en-US" sz="6000" dirty="0"/>
          </a:p>
        </p:txBody>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rcRect t="-3" b="-3"/>
          <a:stretch/>
        </p:blipFill>
        <p:spPr>
          <a:xfrm>
            <a:off x="8382001" y="2381250"/>
            <a:ext cx="8953501" cy="52768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6096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a:t>
            </a:r>
            <a:endParaRPr lang="en-US" sz="2100" dirty="0"/>
          </a:p>
        </p:txBody>
      </p:sp>
      <p:sp>
        <p:nvSpPr>
          <p:cNvPr id="4" name="Text 1"/>
          <p:cNvSpPr/>
          <p:nvPr/>
        </p:nvSpPr>
        <p:spPr>
          <a:xfrm>
            <a:off x="952500" y="105791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0E1F5B"/>
                </a:solidFill>
                <a:latin typeface="Arial" pitchFamily="34" charset="0"/>
                <a:ea typeface="Arial" pitchFamily="34" charset="-122"/>
                <a:cs typeface="Arial" pitchFamily="34" charset="-120"/>
              </a:rPr>
              <a:t>Le SK : un lieu à réinventer</a:t>
            </a:r>
            <a:endParaRPr lang="en-US" sz="4200" dirty="0"/>
          </a:p>
        </p:txBody>
      </p:sp>
      <p:pic>
        <p:nvPicPr>
          <p:cNvPr id="5" name="Image 1" descr="preencoded.png"/>
          <p:cNvPicPr>
            <a:picLocks noChangeAspect="1"/>
          </p:cNvPicPr>
          <p:nvPr/>
        </p:nvPicPr>
        <p:blipFill>
          <a:blip r:embed="rId4" cstate="email">
            <a:extLst>
              <a:ext uri="{28A0092B-C50C-407E-A947-70E740481C1C}">
                <a14:useLocalDpi xmlns:a14="http://schemas.microsoft.com/office/drawing/2010/main"/>
              </a:ext>
            </a:extLst>
          </a:blip>
          <a:srcRect l="-14" r="-14"/>
          <a:stretch/>
        </p:blipFill>
        <p:spPr>
          <a:xfrm>
            <a:off x="952500" y="2286000"/>
            <a:ext cx="10477500" cy="6038851"/>
          </a:xfrm>
          <a:prstGeom prst="rect">
            <a:avLst/>
          </a:prstGeom>
        </p:spPr>
      </p:pic>
      <p:sp>
        <p:nvSpPr>
          <p:cNvPr id="6" name="Text 2"/>
          <p:cNvSpPr/>
          <p:nvPr/>
        </p:nvSpPr>
        <p:spPr>
          <a:xfrm>
            <a:off x="12001501" y="2286000"/>
            <a:ext cx="5867400" cy="979170"/>
          </a:xfrm>
          <a:prstGeom prst="rect">
            <a:avLst/>
          </a:prstGeom>
          <a:noFill/>
          <a:ln/>
          <a:effectLst>
            <a:outerShdw blurRad="101600" dist="67352" dir="2700000" algn="bl" rotWithShape="0">
              <a:srgbClr val="72C493">
                <a:alpha val="100000"/>
              </a:srgbClr>
            </a:outerShdw>
          </a:effectLst>
        </p:spPr>
        <p:txBody>
          <a:bodyPr wrap="square" lIns="25400" tIns="25400" rIns="25400" bIns="25400" rtlCol="0" anchor="t">
            <a:normAutofit/>
          </a:bodyPr>
          <a:lstStyle/>
          <a:p>
            <a:pPr marL="0" indent="0" algn="l">
              <a:lnSpc>
                <a:spcPct val="67609"/>
              </a:lnSpc>
              <a:buNone/>
            </a:pPr>
            <a:r>
              <a:rPr lang="en-US" sz="7800" b="1" kern="0" spc="-300" dirty="0">
                <a:solidFill>
                  <a:srgbClr val="0E1F5B"/>
                </a:solidFill>
                <a:latin typeface="Arial" pitchFamily="34" charset="0"/>
                <a:ea typeface="Arial" pitchFamily="34" charset="-122"/>
                <a:cs typeface="Arial" pitchFamily="34" charset="-120"/>
              </a:rPr>
              <a:t>3 000 m²</a:t>
            </a:r>
            <a:endParaRPr lang="en-US" sz="7800" dirty="0"/>
          </a:p>
        </p:txBody>
      </p:sp>
      <p:sp>
        <p:nvSpPr>
          <p:cNvPr id="7" name="Text 3"/>
          <p:cNvSpPr/>
          <p:nvPr/>
        </p:nvSpPr>
        <p:spPr>
          <a:xfrm>
            <a:off x="12001501" y="3360420"/>
            <a:ext cx="5494020" cy="781050"/>
          </a:xfrm>
          <a:prstGeom prst="rect">
            <a:avLst/>
          </a:prstGeom>
          <a:noFill/>
          <a:ln/>
        </p:spPr>
        <p:txBody>
          <a:bodyPr wrap="square" lIns="25400" tIns="25400" rIns="25400" bIns="25400" rtlCol="0" anchor="t">
            <a:normAutofit lnSpcReduction="10000"/>
          </a:bodyPr>
          <a:lstStyle/>
          <a:p>
            <a:pPr marL="0" indent="0" algn="l">
              <a:lnSpc>
                <a:spcPct val="114258"/>
              </a:lnSpc>
              <a:buNone/>
            </a:pPr>
            <a:r>
              <a:rPr lang="en-US" sz="2250" b="1" dirty="0">
                <a:solidFill>
                  <a:srgbClr val="0E1F5B"/>
                </a:solidFill>
                <a:latin typeface="Arial" pitchFamily="34" charset="0"/>
                <a:ea typeface="Arial" pitchFamily="34" charset="-122"/>
                <a:cs typeface="Arial" pitchFamily="34" charset="-120"/>
              </a:rPr>
              <a:t>sur trois niveaux, et 480 m² d'espace extérieur</a:t>
            </a:r>
            <a:endParaRPr lang="en-US" sz="2250" dirty="0"/>
          </a:p>
        </p:txBody>
      </p:sp>
      <p:sp>
        <p:nvSpPr>
          <p:cNvPr id="8" name="Shape 4"/>
          <p:cNvSpPr/>
          <p:nvPr/>
        </p:nvSpPr>
        <p:spPr>
          <a:xfrm>
            <a:off x="12001501" y="4331970"/>
            <a:ext cx="5334000" cy="10160"/>
          </a:xfrm>
          <a:prstGeom prst="rect">
            <a:avLst/>
          </a:prstGeom>
          <a:solidFill>
            <a:srgbClr val="0E1F5B">
              <a:alpha val="15000"/>
            </a:srgbClr>
          </a:solidFill>
          <a:ln/>
        </p:spPr>
      </p:sp>
      <p:sp>
        <p:nvSpPr>
          <p:cNvPr id="9" name="Text 5"/>
          <p:cNvSpPr/>
          <p:nvPr/>
        </p:nvSpPr>
        <p:spPr>
          <a:xfrm>
            <a:off x="12001501" y="4494530"/>
            <a:ext cx="5494020" cy="1118235"/>
          </a:xfrm>
          <a:prstGeom prst="rect">
            <a:avLst/>
          </a:prstGeom>
          <a:noFill/>
          <a:ln/>
        </p:spPr>
        <p:txBody>
          <a:bodyPr wrap="square" lIns="25400" tIns="25400" rIns="25400" bIns="25400" rtlCol="0" anchor="t">
            <a:normAutofit lnSpcReduction="10000"/>
          </a:bodyPr>
          <a:lstStyle/>
          <a:p>
            <a:pPr marL="0" indent="0" algn="l">
              <a:lnSpc>
                <a:spcPct val="114315"/>
              </a:lnSpc>
              <a:buNone/>
            </a:pPr>
            <a:r>
              <a:rPr lang="en-US" sz="2100" b="1" dirty="0">
                <a:solidFill>
                  <a:srgbClr val="0E1F5B"/>
                </a:solidFill>
                <a:latin typeface="Arial" pitchFamily="34" charset="0"/>
                <a:ea typeface="Arial" pitchFamily="34" charset="-122"/>
                <a:cs typeface="Arial" pitchFamily="34" charset="-120"/>
              </a:rPr>
              <a:t>Un lieu d'animation pour le quartier : culture, convivialité, évènements festifs et familiaux</a:t>
            </a:r>
            <a:endParaRPr lang="en-US" sz="2100" dirty="0"/>
          </a:p>
        </p:txBody>
      </p:sp>
      <p:sp>
        <p:nvSpPr>
          <p:cNvPr id="10" name="Shape 6"/>
          <p:cNvSpPr/>
          <p:nvPr/>
        </p:nvSpPr>
        <p:spPr>
          <a:xfrm>
            <a:off x="12001501" y="5727066"/>
            <a:ext cx="5334000" cy="10160"/>
          </a:xfrm>
          <a:prstGeom prst="rect">
            <a:avLst/>
          </a:prstGeom>
          <a:solidFill>
            <a:srgbClr val="0E1F5B">
              <a:alpha val="15000"/>
            </a:srgbClr>
          </a:solidFill>
          <a:ln/>
        </p:spPr>
      </p:sp>
      <p:sp>
        <p:nvSpPr>
          <p:cNvPr id="11" name="Text 7"/>
          <p:cNvSpPr/>
          <p:nvPr/>
        </p:nvSpPr>
        <p:spPr>
          <a:xfrm>
            <a:off x="12001501" y="5889626"/>
            <a:ext cx="5494020" cy="758190"/>
          </a:xfrm>
          <a:prstGeom prst="rect">
            <a:avLst/>
          </a:prstGeom>
          <a:noFill/>
          <a:ln/>
        </p:spPr>
        <p:txBody>
          <a:bodyPr wrap="square" lIns="25400" tIns="25400" rIns="25400" bIns="25400" rtlCol="0" anchor="t">
            <a:normAutofit/>
          </a:bodyPr>
          <a:lstStyle/>
          <a:p>
            <a:pPr marL="0" indent="0" algn="l">
              <a:lnSpc>
                <a:spcPct val="114315"/>
              </a:lnSpc>
              <a:buNone/>
            </a:pPr>
            <a:r>
              <a:rPr lang="en-US" sz="2100" b="1" dirty="0">
                <a:solidFill>
                  <a:srgbClr val="0E1F5B"/>
                </a:solidFill>
                <a:latin typeface="Arial" pitchFamily="34" charset="0"/>
                <a:ea typeface="Arial" pitchFamily="34" charset="-122"/>
                <a:cs typeface="Arial" pitchFamily="34" charset="-120"/>
              </a:rPr>
              <a:t>Valoriser l'histoire du SK</a:t>
            </a:r>
            <a:endParaRPr lang="en-US" sz="2100" dirty="0"/>
          </a:p>
        </p:txBody>
      </p:sp>
      <p:sp>
        <p:nvSpPr>
          <p:cNvPr id="12" name="Shape 8"/>
          <p:cNvSpPr/>
          <p:nvPr/>
        </p:nvSpPr>
        <p:spPr>
          <a:xfrm>
            <a:off x="12001501" y="6762115"/>
            <a:ext cx="5334000" cy="10160"/>
          </a:xfrm>
          <a:prstGeom prst="rect">
            <a:avLst/>
          </a:prstGeom>
          <a:solidFill>
            <a:srgbClr val="0E1F5B">
              <a:alpha val="15000"/>
            </a:srgbClr>
          </a:solidFill>
          <a:ln/>
        </p:spPr>
      </p:sp>
      <p:sp>
        <p:nvSpPr>
          <p:cNvPr id="13" name="Text 9"/>
          <p:cNvSpPr/>
          <p:nvPr/>
        </p:nvSpPr>
        <p:spPr>
          <a:xfrm>
            <a:off x="12001501" y="6924675"/>
            <a:ext cx="5494020" cy="758190"/>
          </a:xfrm>
          <a:prstGeom prst="rect">
            <a:avLst/>
          </a:prstGeom>
          <a:noFill/>
          <a:ln/>
        </p:spPr>
        <p:txBody>
          <a:bodyPr wrap="square" lIns="25400" tIns="25400" rIns="25400" bIns="25400" rtlCol="0" anchor="t">
            <a:normAutofit/>
          </a:bodyPr>
          <a:lstStyle/>
          <a:p>
            <a:pPr marL="0" indent="0" algn="l">
              <a:lnSpc>
                <a:spcPct val="114315"/>
              </a:lnSpc>
              <a:buNone/>
            </a:pPr>
            <a:r>
              <a:rPr lang="en-US" sz="2100" b="1" dirty="0">
                <a:solidFill>
                  <a:srgbClr val="0E1F5B"/>
                </a:solidFill>
                <a:latin typeface="Arial" pitchFamily="34" charset="0"/>
                <a:ea typeface="Arial" pitchFamily="34" charset="-122"/>
                <a:cs typeface="Arial" pitchFamily="34" charset="-120"/>
              </a:rPr>
              <a:t>Faire du SK la locomotive d'animation du Mont d'Est</a:t>
            </a:r>
            <a:endParaRPr lang="en-US" sz="2100" dirty="0"/>
          </a:p>
        </p:txBody>
      </p:sp>
      <p:sp>
        <p:nvSpPr>
          <p:cNvPr id="14" name="Shape 10"/>
          <p:cNvSpPr/>
          <p:nvPr/>
        </p:nvSpPr>
        <p:spPr>
          <a:xfrm>
            <a:off x="952500" y="9010651"/>
            <a:ext cx="16383001" cy="774700"/>
          </a:xfrm>
          <a:prstGeom prst="rect">
            <a:avLst/>
          </a:prstGeom>
          <a:solidFill>
            <a:srgbClr val="0E1F5B"/>
          </a:solidFill>
          <a:ln/>
        </p:spPr>
      </p:sp>
      <p:sp>
        <p:nvSpPr>
          <p:cNvPr id="15" name="Text 11"/>
          <p:cNvSpPr/>
          <p:nvPr/>
        </p:nvSpPr>
        <p:spPr>
          <a:xfrm>
            <a:off x="1295400" y="9220201"/>
            <a:ext cx="2176875" cy="393700"/>
          </a:xfrm>
          <a:prstGeom prst="rect">
            <a:avLst/>
          </a:prstGeom>
          <a:noFill/>
          <a:ln/>
        </p:spPr>
        <p:txBody>
          <a:bodyPr wrap="square" lIns="25400" tIns="25400" rIns="25400" bIns="25400" rtlCol="0" anchor="t">
            <a:normAutofit/>
          </a:bodyPr>
          <a:lstStyle/>
          <a:p>
            <a:pPr marL="0" indent="0" algn="l">
              <a:buNone/>
            </a:pPr>
            <a:r>
              <a:rPr lang="en-US" sz="1950" b="1" kern="0" spc="150" dirty="0">
                <a:solidFill>
                  <a:srgbClr val="72C493"/>
                </a:solidFill>
                <a:latin typeface="Arial" pitchFamily="34" charset="0"/>
                <a:ea typeface="Arial" pitchFamily="34" charset="-122"/>
                <a:cs typeface="Arial" pitchFamily="34" charset="-120"/>
              </a:rPr>
              <a:t>CALENDRIER</a:t>
            </a:r>
            <a:endParaRPr lang="en-US" sz="1950" dirty="0"/>
          </a:p>
        </p:txBody>
      </p:sp>
      <p:sp>
        <p:nvSpPr>
          <p:cNvPr id="16" name="Text 12"/>
          <p:cNvSpPr/>
          <p:nvPr/>
        </p:nvSpPr>
        <p:spPr>
          <a:xfrm>
            <a:off x="3541078" y="9235440"/>
            <a:ext cx="3318923" cy="36322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FAF5EC"/>
                </a:solidFill>
                <a:latin typeface="Arial" pitchFamily="34" charset="0"/>
                <a:ea typeface="Arial" pitchFamily="34" charset="-122"/>
                <a:cs typeface="Arial" pitchFamily="34" charset="-120"/>
              </a:rPr>
              <a:t>Bâtiment livré en 2028</a:t>
            </a:r>
            <a:endParaRPr lang="en-US" sz="2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7239001" y="0"/>
            <a:ext cx="11049000" cy="10287000"/>
          </a:xfrm>
          <a:prstGeom prst="rect">
            <a:avLst/>
          </a:prstGeom>
        </p:spPr>
      </p:pic>
      <p:pic>
        <p:nvPicPr>
          <p:cNvPr id="3"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4" name="Text 0"/>
          <p:cNvSpPr/>
          <p:nvPr/>
        </p:nvSpPr>
        <p:spPr>
          <a:xfrm>
            <a:off x="781051" y="633307"/>
            <a:ext cx="6076950"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a:t>
            </a:r>
            <a:endParaRPr lang="en-US" sz="2100" dirty="0"/>
          </a:p>
        </p:txBody>
      </p:sp>
      <p:sp>
        <p:nvSpPr>
          <p:cNvPr id="5" name="Text 1"/>
          <p:cNvSpPr/>
          <p:nvPr/>
        </p:nvSpPr>
        <p:spPr>
          <a:xfrm>
            <a:off x="781051" y="1214967"/>
            <a:ext cx="5690235" cy="1478280"/>
          </a:xfrm>
          <a:prstGeom prst="rect">
            <a:avLst/>
          </a:prstGeom>
          <a:noFill/>
          <a:ln/>
          <a:effectLst>
            <a:outerShdw blurRad="101600" dist="6735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FAF5EC"/>
                </a:solidFill>
                <a:latin typeface="Arial" pitchFamily="34" charset="0"/>
                <a:ea typeface="Arial" pitchFamily="34" charset="-122"/>
                <a:cs typeface="Arial" pitchFamily="34" charset="-120"/>
              </a:rPr>
              <a:t>Noisy Résidence</a:t>
            </a:r>
            <a:endParaRPr lang="en-US" sz="5400" dirty="0"/>
          </a:p>
        </p:txBody>
      </p:sp>
      <p:sp>
        <p:nvSpPr>
          <p:cNvPr id="7" name="Text 3"/>
          <p:cNvSpPr/>
          <p:nvPr/>
        </p:nvSpPr>
        <p:spPr>
          <a:xfrm>
            <a:off x="1182371" y="3551767"/>
            <a:ext cx="4887595" cy="383540"/>
          </a:xfrm>
          <a:prstGeom prst="rect">
            <a:avLst/>
          </a:prstGeom>
          <a:noFill/>
          <a:ln/>
        </p:spPr>
        <p:txBody>
          <a:bodyPr wrap="square" lIns="25400" tIns="25400" rIns="25400" bIns="25400" rtlCol="0" anchor="t">
            <a:normAutofit lnSpcReduction="10000"/>
          </a:bodyPr>
          <a:lstStyle/>
          <a:p>
            <a:pPr marL="0" indent="0" algn="l">
              <a:buNone/>
            </a:pP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sp>
        <p:nvSpPr>
          <p:cNvPr id="2" name="Text 0"/>
          <p:cNvSpPr txBox="1"/>
          <p:nvPr/>
        </p:nvSpPr>
        <p:spPr>
          <a:xfrm>
            <a:off x="946404" y="438912"/>
            <a:ext cx="12344400" cy="480060"/>
          </a:xfrm>
          <a:prstGeom prst="rect">
            <a:avLst/>
          </a:prstGeom>
          <a:noFill/>
          <a:ln/>
        </p:spPr>
        <p:txBody>
          <a:bodyPr wrap="square" lIns="0" tIns="0" rIns="0" bIns="0" rtlCol="0" anchor="ctr"/>
          <a:lstStyle/>
          <a:p>
            <a:r>
              <a:rPr lang="en-US" sz="1950" b="1" kern="0" spc="300" dirty="0">
                <a:solidFill>
                  <a:srgbClr val="72C493"/>
                </a:solidFill>
                <a:latin typeface="Arial" pitchFamily="34" charset="0"/>
                <a:ea typeface="Arial" pitchFamily="34" charset="-122"/>
                <a:cs typeface="Arial" pitchFamily="34" charset="-120"/>
              </a:rPr>
              <a:t>03 — AMÉNAGEMENT URBAIN</a:t>
            </a:r>
            <a:endParaRPr lang="en-US" sz="1950" dirty="0"/>
          </a:p>
        </p:txBody>
      </p:sp>
      <p:sp>
        <p:nvSpPr>
          <p:cNvPr id="3" name="Text 1"/>
          <p:cNvSpPr txBox="1"/>
          <p:nvPr/>
        </p:nvSpPr>
        <p:spPr>
          <a:xfrm>
            <a:off x="946404" y="960120"/>
            <a:ext cx="13716000" cy="891540"/>
          </a:xfrm>
          <a:prstGeom prst="rect">
            <a:avLst/>
          </a:prstGeom>
          <a:noFill/>
          <a:ln/>
        </p:spPr>
        <p:txBody>
          <a:bodyPr wrap="square" lIns="0" tIns="0" rIns="0" bIns="0" rtlCol="0" anchor="ctr"/>
          <a:lstStyle/>
          <a:p>
            <a:r>
              <a:rPr lang="en-US" sz="4050" b="1" dirty="0">
                <a:solidFill>
                  <a:srgbClr val="FFFFFF"/>
                </a:solidFill>
                <a:latin typeface="Arial" pitchFamily="34" charset="0"/>
                <a:ea typeface="Arial" pitchFamily="34" charset="-122"/>
                <a:cs typeface="Arial" pitchFamily="34" charset="-120"/>
              </a:rPr>
              <a:t>La dalle de la place Gustave-Courbet</a:t>
            </a:r>
            <a:endParaRPr lang="en-US" sz="4050" dirty="0"/>
          </a:p>
        </p:txBody>
      </p:sp>
      <p:sp>
        <p:nvSpPr>
          <p:cNvPr id="4" name="Text 2"/>
          <p:cNvSpPr txBox="1"/>
          <p:nvPr/>
        </p:nvSpPr>
        <p:spPr>
          <a:xfrm>
            <a:off x="946404" y="1851660"/>
            <a:ext cx="13716000" cy="548640"/>
          </a:xfrm>
          <a:prstGeom prst="rect">
            <a:avLst/>
          </a:prstGeom>
          <a:noFill/>
          <a:ln/>
        </p:spPr>
        <p:txBody>
          <a:bodyPr wrap="square" lIns="0" tIns="0" rIns="0" bIns="0" rtlCol="0" anchor="ctr"/>
          <a:lstStyle/>
          <a:p>
            <a:r>
              <a:rPr lang="en-US" sz="2100" dirty="0">
                <a:solidFill>
                  <a:srgbClr val="FFFFFF"/>
                </a:solidFill>
                <a:latin typeface="Arial" pitchFamily="34" charset="0"/>
                <a:ea typeface="Arial" pitchFamily="34" charset="-122"/>
                <a:cs typeface="Arial" pitchFamily="34" charset="-120"/>
              </a:rPr>
              <a:t>Une dalle des années 1970, construite au-dessus du centre commercial et de la gare RER</a:t>
            </a:r>
            <a:endParaRPr lang="en-US" sz="2100" dirty="0"/>
          </a:p>
        </p:txBody>
      </p:sp>
      <p:pic>
        <p:nvPicPr>
          <p:cNvPr id="5" name="Image 0" descr="/tmp/claude-0/-home-user-Operation-robespierre/996c8343-2b29-5be8-89e5-6b613d278f5f/scratchpad/logo_rp_x3.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10560" y="205740"/>
            <a:ext cx="1824228" cy="1947672"/>
          </a:xfrm>
          <a:prstGeom prst="rect">
            <a:avLst/>
          </a:prstGeom>
        </p:spPr>
      </p:pic>
      <p:pic>
        <p:nvPicPr>
          <p:cNvPr id="6" name="Image 1" descr="/home/user/Operation_robespierre/reunion_varenne_2026-10-08/dalle_gustave_courbet_colonne.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46404" y="2674620"/>
            <a:ext cx="10012680" cy="6797475"/>
          </a:xfrm>
          <a:prstGeom prst="rect">
            <a:avLst/>
          </a:prstGeom>
        </p:spPr>
      </p:pic>
      <p:sp>
        <p:nvSpPr>
          <p:cNvPr id="7" name="Text 3"/>
          <p:cNvSpPr txBox="1"/>
          <p:nvPr/>
        </p:nvSpPr>
        <p:spPr>
          <a:xfrm>
            <a:off x="7804404" y="8923455"/>
            <a:ext cx="2948940" cy="411480"/>
          </a:xfrm>
          <a:prstGeom prst="rect">
            <a:avLst/>
          </a:prstGeom>
          <a:noFill/>
          <a:ln/>
        </p:spPr>
        <p:txBody>
          <a:bodyPr wrap="square" lIns="0" tIns="0" rIns="0" bIns="0" rtlCol="0" anchor="ctr"/>
          <a:lstStyle/>
          <a:p>
            <a:pPr algn="r"/>
            <a:r>
              <a:rPr lang="en-US" sz="1650" b="1" dirty="0">
                <a:solidFill>
                  <a:srgbClr val="FFFFFF"/>
                </a:solidFill>
                <a:latin typeface="Arial" pitchFamily="34" charset="0"/>
                <a:ea typeface="Arial" pitchFamily="34" charset="-122"/>
                <a:cs typeface="Arial" pitchFamily="34" charset="-120"/>
              </a:rPr>
              <a:t>© IGN – BD ORTHO</a:t>
            </a:r>
            <a:endParaRPr lang="en-US" sz="1650" dirty="0"/>
          </a:p>
        </p:txBody>
      </p:sp>
      <p:sp>
        <p:nvSpPr>
          <p:cNvPr id="8" name="Shape 4"/>
          <p:cNvSpPr/>
          <p:nvPr/>
        </p:nvSpPr>
        <p:spPr>
          <a:xfrm>
            <a:off x="11452860" y="2674620"/>
            <a:ext cx="5897880" cy="0"/>
          </a:xfrm>
          <a:prstGeom prst="line">
            <a:avLst/>
          </a:prstGeom>
          <a:noFill/>
          <a:ln w="31750">
            <a:solidFill>
              <a:srgbClr val="72C493"/>
            </a:solidFill>
            <a:prstDash val="solid"/>
          </a:ln>
        </p:spPr>
      </p:sp>
      <p:sp>
        <p:nvSpPr>
          <p:cNvPr id="9" name="Text 5"/>
          <p:cNvSpPr txBox="1"/>
          <p:nvPr/>
        </p:nvSpPr>
        <p:spPr>
          <a:xfrm>
            <a:off x="11452860" y="2880360"/>
            <a:ext cx="589788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CE QUI POSE PROBLÈME</a:t>
            </a:r>
            <a:endParaRPr lang="en-US" sz="2100" dirty="0"/>
          </a:p>
        </p:txBody>
      </p:sp>
      <p:sp>
        <p:nvSpPr>
          <p:cNvPr id="10" name="Text 6"/>
          <p:cNvSpPr txBox="1"/>
          <p:nvPr/>
        </p:nvSpPr>
        <p:spPr>
          <a:xfrm>
            <a:off x="11452860" y="3566160"/>
            <a:ext cx="5897880" cy="2551176"/>
          </a:xfrm>
          <a:prstGeom prst="rect">
            <a:avLst/>
          </a:prstGeom>
          <a:noFill/>
          <a:ln/>
        </p:spPr>
        <p:txBody>
          <a:bodyPr wrap="square" lIns="0" tIns="0" rIns="0" bIns="0" rtlCol="0" anchor="t"/>
          <a:lstStyle/>
          <a:p>
            <a:pPr marL="304800" indent="-304800">
              <a:spcAft>
                <a:spcPts val="1200"/>
              </a:spcAft>
              <a:buSzPct val="100000"/>
              <a:buChar char="•"/>
            </a:pPr>
            <a:r>
              <a:rPr lang="en-US" sz="2250" dirty="0">
                <a:solidFill>
                  <a:srgbClr val="FFFFFF"/>
                </a:solidFill>
                <a:latin typeface="Arial" pitchFamily="34" charset="0"/>
                <a:ea typeface="Arial" pitchFamily="34" charset="-122"/>
                <a:cs typeface="Arial" pitchFamily="34" charset="-120"/>
              </a:rPr>
              <a:t>Des dalles qui basculent sous les pas</a:t>
            </a:r>
            <a:endParaRPr lang="en-US" sz="2250" dirty="0"/>
          </a:p>
          <a:p>
            <a:pPr marL="304800" indent="-304800">
              <a:spcAft>
                <a:spcPts val="1200"/>
              </a:spcAft>
              <a:buSzPct val="100000"/>
              <a:buChar char="•"/>
            </a:pPr>
            <a:r>
              <a:rPr lang="en-US" sz="2250" dirty="0">
                <a:solidFill>
                  <a:srgbClr val="FFFFFF"/>
                </a:solidFill>
                <a:latin typeface="Arial" pitchFamily="34" charset="0"/>
                <a:ea typeface="Arial" pitchFamily="34" charset="-122"/>
                <a:cs typeface="Arial" pitchFamily="34" charset="-120"/>
              </a:rPr>
              <a:t>Des infiltrations d’eau dans les commerces du centre commercial</a:t>
            </a:r>
            <a:endParaRPr lang="en-US" sz="2250" dirty="0"/>
          </a:p>
          <a:p>
            <a:pPr marL="304800" indent="-304800">
              <a:spcAft>
                <a:spcPts val="1200"/>
              </a:spcAft>
              <a:buSzPct val="100000"/>
              <a:buChar char="•"/>
            </a:pPr>
            <a:r>
              <a:rPr lang="en-US" sz="2250" dirty="0">
                <a:solidFill>
                  <a:srgbClr val="FFFFFF"/>
                </a:solidFill>
                <a:latin typeface="Arial" pitchFamily="34" charset="0"/>
                <a:ea typeface="Arial" pitchFamily="34" charset="-122"/>
                <a:cs typeface="Arial" pitchFamily="34" charset="-120"/>
              </a:rPr>
              <a:t>Des défauts sur l’éclairage public</a:t>
            </a:r>
            <a:endParaRPr lang="en-US" sz="2250" dirty="0"/>
          </a:p>
        </p:txBody>
      </p:sp>
      <p:sp>
        <p:nvSpPr>
          <p:cNvPr id="11" name="Shape 7"/>
          <p:cNvSpPr/>
          <p:nvPr/>
        </p:nvSpPr>
        <p:spPr>
          <a:xfrm>
            <a:off x="11452860" y="6446520"/>
            <a:ext cx="5897880" cy="0"/>
          </a:xfrm>
          <a:prstGeom prst="line">
            <a:avLst/>
          </a:prstGeom>
          <a:noFill/>
          <a:ln w="31750">
            <a:solidFill>
              <a:srgbClr val="72C493"/>
            </a:solidFill>
            <a:prstDash val="solid"/>
          </a:ln>
        </p:spPr>
      </p:sp>
      <p:sp>
        <p:nvSpPr>
          <p:cNvPr id="12" name="Text 8"/>
          <p:cNvSpPr txBox="1"/>
          <p:nvPr/>
        </p:nvSpPr>
        <p:spPr>
          <a:xfrm>
            <a:off x="11452860" y="6652260"/>
            <a:ext cx="589788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CE QUI EST PRÉVU</a:t>
            </a:r>
            <a:endParaRPr lang="en-US" sz="2100" dirty="0"/>
          </a:p>
        </p:txBody>
      </p:sp>
      <p:sp>
        <p:nvSpPr>
          <p:cNvPr id="13" name="Text 9"/>
          <p:cNvSpPr txBox="1"/>
          <p:nvPr/>
        </p:nvSpPr>
        <p:spPr>
          <a:xfrm>
            <a:off x="11452860" y="7338060"/>
            <a:ext cx="5897880" cy="1700784"/>
          </a:xfrm>
          <a:prstGeom prst="rect">
            <a:avLst/>
          </a:prstGeom>
          <a:noFill/>
          <a:ln/>
        </p:spPr>
        <p:txBody>
          <a:bodyPr wrap="square" lIns="0" tIns="0" rIns="0" bIns="0" rtlCol="0" anchor="t"/>
          <a:lstStyle/>
          <a:p>
            <a:pPr marL="304800" indent="-304800">
              <a:spcAft>
                <a:spcPts val="1200"/>
              </a:spcAft>
              <a:buSzPct val="100000"/>
              <a:buChar char="•"/>
            </a:pPr>
            <a:r>
              <a:rPr lang="en-US" sz="2250" dirty="0">
                <a:solidFill>
                  <a:srgbClr val="FFFFFF"/>
                </a:solidFill>
                <a:latin typeface="Arial" pitchFamily="34" charset="0"/>
                <a:ea typeface="Arial" pitchFamily="34" charset="-122"/>
                <a:cs typeface="Arial" pitchFamily="34" charset="-120"/>
              </a:rPr>
              <a:t>Remplacement progressif des dalles par des lames composites</a:t>
            </a:r>
            <a:endParaRPr lang="en-US" sz="2250" dirty="0"/>
          </a:p>
          <a:p>
            <a:pPr marL="304800" indent="-304800">
              <a:spcAft>
                <a:spcPts val="1200"/>
              </a:spcAft>
              <a:buSzPct val="100000"/>
              <a:buChar char="•"/>
            </a:pPr>
            <a:r>
              <a:rPr lang="en-US" sz="2250" dirty="0">
                <a:solidFill>
                  <a:srgbClr val="FFFFFF"/>
                </a:solidFill>
                <a:latin typeface="Arial" pitchFamily="34" charset="0"/>
                <a:ea typeface="Arial" pitchFamily="34" charset="-122"/>
                <a:cs typeface="Arial" pitchFamily="34" charset="-120"/>
              </a:rPr>
              <a:t>Pose de fourreaux pour un futur réseau de caméras</a:t>
            </a:r>
            <a:endParaRPr lang="en-US" sz="2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6096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TRANSITION ÉCOLOGIQUE</a:t>
            </a:r>
            <a:endParaRPr lang="en-US" sz="2100" dirty="0"/>
          </a:p>
        </p:txBody>
      </p:sp>
      <p:sp>
        <p:nvSpPr>
          <p:cNvPr id="4" name="Text 1"/>
          <p:cNvSpPr/>
          <p:nvPr/>
        </p:nvSpPr>
        <p:spPr>
          <a:xfrm>
            <a:off x="952500" y="105791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0E1F5B"/>
                </a:solidFill>
                <a:latin typeface="Arial" pitchFamily="34" charset="0"/>
                <a:ea typeface="Arial" pitchFamily="34" charset="-122"/>
                <a:cs typeface="Arial" pitchFamily="34" charset="-120"/>
              </a:rPr>
              <a:t>La ferme urbaine Ma Salade à Toit</a:t>
            </a:r>
            <a:endParaRPr lang="en-US" sz="4200" dirty="0"/>
          </a:p>
        </p:txBody>
      </p:sp>
      <p:pic>
        <p:nvPicPr>
          <p:cNvPr id="5"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952500" y="2286000"/>
            <a:ext cx="8191501" cy="5905501"/>
          </a:xfrm>
          <a:prstGeom prst="rect">
            <a:avLst/>
          </a:prstGeom>
        </p:spPr>
      </p:pic>
      <p:sp>
        <p:nvSpPr>
          <p:cNvPr id="6" name="Shape 2"/>
          <p:cNvSpPr/>
          <p:nvPr/>
        </p:nvSpPr>
        <p:spPr>
          <a:xfrm>
            <a:off x="9525001" y="2286000"/>
            <a:ext cx="3790950" cy="2838450"/>
          </a:xfrm>
          <a:prstGeom prst="rect">
            <a:avLst/>
          </a:prstGeom>
          <a:solidFill>
            <a:srgbClr val="0E1F5B"/>
          </a:solidFill>
          <a:ln/>
        </p:spPr>
      </p:sp>
      <p:sp>
        <p:nvSpPr>
          <p:cNvPr id="7" name="Text 3"/>
          <p:cNvSpPr/>
          <p:nvPr/>
        </p:nvSpPr>
        <p:spPr>
          <a:xfrm>
            <a:off x="9829800" y="3421380"/>
            <a:ext cx="3499485"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5 000 m²</a:t>
            </a:r>
            <a:endParaRPr lang="en-US" sz="4800" dirty="0"/>
          </a:p>
        </p:txBody>
      </p:sp>
      <p:sp>
        <p:nvSpPr>
          <p:cNvPr id="8" name="Text 4"/>
          <p:cNvSpPr/>
          <p:nvPr/>
        </p:nvSpPr>
        <p:spPr>
          <a:xfrm>
            <a:off x="9829800" y="4126230"/>
            <a:ext cx="3276791"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cultivés sur le toit des Arcades</a:t>
            </a:r>
            <a:endParaRPr lang="en-US" sz="2100" dirty="0"/>
          </a:p>
        </p:txBody>
      </p:sp>
      <p:sp>
        <p:nvSpPr>
          <p:cNvPr id="9" name="Shape 5"/>
          <p:cNvSpPr/>
          <p:nvPr/>
        </p:nvSpPr>
        <p:spPr>
          <a:xfrm>
            <a:off x="13544551" y="2286000"/>
            <a:ext cx="3790950" cy="2838450"/>
          </a:xfrm>
          <a:prstGeom prst="rect">
            <a:avLst/>
          </a:prstGeom>
          <a:solidFill>
            <a:srgbClr val="0E1F5B"/>
          </a:solidFill>
          <a:ln/>
        </p:spPr>
      </p:sp>
      <p:sp>
        <p:nvSpPr>
          <p:cNvPr id="10" name="Text 6"/>
          <p:cNvSpPr/>
          <p:nvPr/>
        </p:nvSpPr>
        <p:spPr>
          <a:xfrm>
            <a:off x="13849351" y="3421380"/>
            <a:ext cx="3499485"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9 tonnes</a:t>
            </a:r>
            <a:endParaRPr lang="en-US" sz="4800" dirty="0"/>
          </a:p>
        </p:txBody>
      </p:sp>
      <p:sp>
        <p:nvSpPr>
          <p:cNvPr id="11" name="Text 7"/>
          <p:cNvSpPr/>
          <p:nvPr/>
        </p:nvSpPr>
        <p:spPr>
          <a:xfrm>
            <a:off x="13849351" y="4126230"/>
            <a:ext cx="3276791"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de fruits et légumes par an</a:t>
            </a:r>
            <a:endParaRPr lang="en-US" sz="2100" dirty="0"/>
          </a:p>
        </p:txBody>
      </p:sp>
      <p:sp>
        <p:nvSpPr>
          <p:cNvPr id="12" name="Shape 8"/>
          <p:cNvSpPr/>
          <p:nvPr/>
        </p:nvSpPr>
        <p:spPr>
          <a:xfrm>
            <a:off x="9525001" y="5353050"/>
            <a:ext cx="3790950" cy="2838450"/>
          </a:xfrm>
          <a:prstGeom prst="rect">
            <a:avLst/>
          </a:prstGeom>
          <a:solidFill>
            <a:srgbClr val="0E1F5B"/>
          </a:solidFill>
          <a:ln/>
        </p:spPr>
      </p:sp>
      <p:sp>
        <p:nvSpPr>
          <p:cNvPr id="13" name="Text 9"/>
          <p:cNvSpPr/>
          <p:nvPr/>
        </p:nvSpPr>
        <p:spPr>
          <a:xfrm>
            <a:off x="9829800" y="6835140"/>
            <a:ext cx="3499485"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52 000</a:t>
            </a:r>
            <a:endParaRPr lang="en-US" sz="4800" dirty="0"/>
          </a:p>
        </p:txBody>
      </p:sp>
      <p:sp>
        <p:nvSpPr>
          <p:cNvPr id="14" name="Text 10"/>
          <p:cNvSpPr/>
          <p:nvPr/>
        </p:nvSpPr>
        <p:spPr>
          <a:xfrm>
            <a:off x="9829800" y="7539990"/>
            <a:ext cx="3499485" cy="384810"/>
          </a:xfrm>
          <a:prstGeom prst="rect">
            <a:avLst/>
          </a:prstGeom>
          <a:noFill/>
          <a:ln/>
        </p:spPr>
        <p:txBody>
          <a:bodyPr wrap="square" lIns="25400" tIns="25400" rIns="25400" bIns="25400" rtlCol="0" anchor="t">
            <a:normAutofit/>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repas par an</a:t>
            </a:r>
            <a:endParaRPr lang="en-US" sz="2100" dirty="0"/>
          </a:p>
        </p:txBody>
      </p:sp>
      <p:sp>
        <p:nvSpPr>
          <p:cNvPr id="15" name="Shape 11"/>
          <p:cNvSpPr/>
          <p:nvPr/>
        </p:nvSpPr>
        <p:spPr>
          <a:xfrm>
            <a:off x="13544551" y="5353050"/>
            <a:ext cx="3790950" cy="2838450"/>
          </a:xfrm>
          <a:prstGeom prst="rect">
            <a:avLst/>
          </a:prstGeom>
          <a:solidFill>
            <a:srgbClr val="0E1F5B"/>
          </a:solidFill>
          <a:ln/>
        </p:spPr>
      </p:sp>
      <p:sp>
        <p:nvSpPr>
          <p:cNvPr id="16" name="Text 12"/>
          <p:cNvSpPr/>
          <p:nvPr/>
        </p:nvSpPr>
        <p:spPr>
          <a:xfrm>
            <a:off x="13849351" y="6835140"/>
            <a:ext cx="3499485"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9</a:t>
            </a:r>
            <a:endParaRPr lang="en-US" sz="4800" dirty="0"/>
          </a:p>
        </p:txBody>
      </p:sp>
      <p:sp>
        <p:nvSpPr>
          <p:cNvPr id="17" name="Text 13"/>
          <p:cNvSpPr/>
          <p:nvPr/>
        </p:nvSpPr>
        <p:spPr>
          <a:xfrm>
            <a:off x="13849351" y="7539990"/>
            <a:ext cx="3499485" cy="384810"/>
          </a:xfrm>
          <a:prstGeom prst="rect">
            <a:avLst/>
          </a:prstGeom>
          <a:noFill/>
          <a:ln/>
        </p:spPr>
        <p:txBody>
          <a:bodyPr wrap="square" lIns="25400" tIns="25400" rIns="25400" bIns="25400" rtlCol="0" anchor="t">
            <a:normAutofit/>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emplois</a:t>
            </a:r>
            <a:endParaRPr lang="en-US" sz="2100" dirty="0"/>
          </a:p>
        </p:txBody>
      </p:sp>
      <p:sp>
        <p:nvSpPr>
          <p:cNvPr id="18" name="Shape 14"/>
          <p:cNvSpPr/>
          <p:nvPr/>
        </p:nvSpPr>
        <p:spPr>
          <a:xfrm>
            <a:off x="952500" y="8858251"/>
            <a:ext cx="16383001" cy="812800"/>
          </a:xfrm>
          <a:prstGeom prst="rect">
            <a:avLst/>
          </a:prstGeom>
          <a:solidFill>
            <a:srgbClr val="0E1F5B"/>
          </a:solidFill>
          <a:ln/>
        </p:spPr>
      </p:sp>
      <p:sp>
        <p:nvSpPr>
          <p:cNvPr id="19" name="Text 15"/>
          <p:cNvSpPr/>
          <p:nvPr/>
        </p:nvSpPr>
        <p:spPr>
          <a:xfrm>
            <a:off x="1295400" y="9086851"/>
            <a:ext cx="1394206" cy="393700"/>
          </a:xfrm>
          <a:prstGeom prst="rect">
            <a:avLst/>
          </a:prstGeom>
          <a:noFill/>
          <a:ln/>
        </p:spPr>
        <p:txBody>
          <a:bodyPr wrap="square" lIns="25400" tIns="25400" rIns="25400" bIns="25400" rtlCol="0" anchor="t">
            <a:normAutofit/>
          </a:bodyPr>
          <a:lstStyle/>
          <a:p>
            <a:pPr marL="0" indent="0" algn="l">
              <a:buNone/>
            </a:pPr>
            <a:r>
              <a:rPr lang="en-US" sz="1950" b="1" kern="0" spc="150" dirty="0">
                <a:solidFill>
                  <a:srgbClr val="72C493"/>
                </a:solidFill>
                <a:latin typeface="Arial" pitchFamily="34" charset="0"/>
                <a:ea typeface="Arial" pitchFamily="34" charset="-122"/>
                <a:cs typeface="Arial" pitchFamily="34" charset="-120"/>
              </a:rPr>
              <a:t>OUVERT</a:t>
            </a:r>
            <a:endParaRPr lang="en-US" sz="1950" dirty="0"/>
          </a:p>
        </p:txBody>
      </p:sp>
      <p:sp>
        <p:nvSpPr>
          <p:cNvPr id="20" name="Text 16"/>
          <p:cNvSpPr/>
          <p:nvPr/>
        </p:nvSpPr>
        <p:spPr>
          <a:xfrm>
            <a:off x="2829560" y="9091296"/>
            <a:ext cx="14315584" cy="384810"/>
          </a:xfrm>
          <a:prstGeom prst="rect">
            <a:avLst/>
          </a:prstGeom>
          <a:noFill/>
          <a:ln/>
        </p:spPr>
        <p:txBody>
          <a:bodyPr wrap="square" lIns="25400" tIns="25400" rIns="25400" bIns="25400" rtlCol="0" anchor="t">
            <a:normAutofit/>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Restaurant ouvert depuis le 22 septembre 2026 — Vente de fruits et légumes le mercredi de 16 h à 18 h</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1239501" y="0"/>
            <a:ext cx="7048501" cy="10287000"/>
          </a:xfrm>
          <a:prstGeom prst="rect">
            <a:avLst/>
          </a:prstGeom>
        </p:spPr>
      </p:pic>
      <p:pic>
        <p:nvPicPr>
          <p:cNvPr id="3"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4" name="Text 0"/>
          <p:cNvSpPr/>
          <p:nvPr/>
        </p:nvSpPr>
        <p:spPr>
          <a:xfrm>
            <a:off x="952500" y="609600"/>
            <a:ext cx="106870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DÉVELOPPEMENT ÉCONOMIQUE</a:t>
            </a:r>
            <a:endParaRPr lang="en-US" sz="2100" dirty="0"/>
          </a:p>
        </p:txBody>
      </p:sp>
      <p:sp>
        <p:nvSpPr>
          <p:cNvPr id="5" name="Text 1"/>
          <p:cNvSpPr/>
          <p:nvPr/>
        </p:nvSpPr>
        <p:spPr>
          <a:xfrm>
            <a:off x="952500" y="1057910"/>
            <a:ext cx="10006966" cy="1107758"/>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304"/>
              </a:lnSpc>
              <a:buNone/>
            </a:pPr>
            <a:r>
              <a:rPr lang="en-US" sz="3900" b="1" kern="0" spc="-150" dirty="0">
                <a:solidFill>
                  <a:srgbClr val="0E1F5B"/>
                </a:solidFill>
                <a:latin typeface="Arial" pitchFamily="34" charset="0"/>
                <a:ea typeface="Arial" pitchFamily="34" charset="-122"/>
                <a:cs typeface="Arial" pitchFamily="34" charset="-120"/>
              </a:rPr>
              <a:t>Le centre commercial des Arcades ouvert le dimanche</a:t>
            </a:r>
            <a:endParaRPr lang="en-US" sz="3900" dirty="0"/>
          </a:p>
        </p:txBody>
      </p:sp>
      <p:sp>
        <p:nvSpPr>
          <p:cNvPr id="6" name="Text 2"/>
          <p:cNvSpPr/>
          <p:nvPr/>
        </p:nvSpPr>
        <p:spPr>
          <a:xfrm>
            <a:off x="952500" y="2744470"/>
            <a:ext cx="10687051" cy="36322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0E1F5B"/>
                </a:solidFill>
                <a:latin typeface="Arial" pitchFamily="34" charset="0"/>
                <a:ea typeface="Arial" pitchFamily="34" charset="-122"/>
                <a:cs typeface="Arial" pitchFamily="34" charset="-120"/>
              </a:rPr>
              <a:t>Ouvert</a:t>
            </a:r>
            <a:endParaRPr lang="en-US" sz="2250" dirty="0"/>
          </a:p>
        </p:txBody>
      </p:sp>
      <p:sp>
        <p:nvSpPr>
          <p:cNvPr id="7" name="Text 3"/>
          <p:cNvSpPr/>
          <p:nvPr/>
        </p:nvSpPr>
        <p:spPr>
          <a:xfrm>
            <a:off x="952500" y="3182620"/>
            <a:ext cx="10687051" cy="1333500"/>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71229"/>
              </a:lnSpc>
              <a:buNone/>
            </a:pPr>
            <a:r>
              <a:rPr lang="en-US" sz="10200" b="1" kern="0" spc="-375" dirty="0">
                <a:solidFill>
                  <a:srgbClr val="0E1F5B"/>
                </a:solidFill>
                <a:latin typeface="Arial" pitchFamily="34" charset="0"/>
                <a:ea typeface="Arial" pitchFamily="34" charset="-122"/>
                <a:cs typeface="Arial" pitchFamily="34" charset="-120"/>
              </a:rPr>
              <a:t>7 jours sur 7</a:t>
            </a:r>
            <a:endParaRPr lang="en-US" sz="10200" dirty="0"/>
          </a:p>
        </p:txBody>
      </p:sp>
      <p:sp>
        <p:nvSpPr>
          <p:cNvPr id="8" name="Text 4"/>
          <p:cNvSpPr/>
          <p:nvPr/>
        </p:nvSpPr>
        <p:spPr>
          <a:xfrm>
            <a:off x="952500" y="4611370"/>
            <a:ext cx="1068705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0E1F5B"/>
                </a:solidFill>
                <a:latin typeface="Arial" pitchFamily="34" charset="0"/>
                <a:ea typeface="Arial" pitchFamily="34" charset="-122"/>
                <a:cs typeface="Arial" pitchFamily="34" charset="-120"/>
              </a:rPr>
              <a:t>depuis le 30 août 2026</a:t>
            </a:r>
            <a:endParaRPr lang="en-US" sz="3000" dirty="0"/>
          </a:p>
        </p:txBody>
      </p:sp>
      <p:sp>
        <p:nvSpPr>
          <p:cNvPr id="9" name="Shape 5"/>
          <p:cNvSpPr/>
          <p:nvPr/>
        </p:nvSpPr>
        <p:spPr>
          <a:xfrm>
            <a:off x="952500" y="5905501"/>
            <a:ext cx="4743450" cy="1874520"/>
          </a:xfrm>
          <a:prstGeom prst="rect">
            <a:avLst/>
          </a:prstGeom>
          <a:solidFill>
            <a:srgbClr val="0E1F5B"/>
          </a:solidFill>
          <a:ln/>
        </p:spPr>
      </p:sp>
      <p:sp>
        <p:nvSpPr>
          <p:cNvPr id="10" name="Text 6"/>
          <p:cNvSpPr/>
          <p:nvPr/>
        </p:nvSpPr>
        <p:spPr>
          <a:xfrm>
            <a:off x="1257300" y="6172201"/>
            <a:ext cx="4547235" cy="609600"/>
          </a:xfrm>
          <a:prstGeom prst="rect">
            <a:avLst/>
          </a:prstGeom>
          <a:noFill/>
          <a:ln/>
        </p:spPr>
        <p:txBody>
          <a:bodyPr wrap="none" lIns="25400" tIns="25400" rIns="25400" bIns="25400" rtlCol="0" anchor="t">
            <a:normAutofit/>
          </a:bodyPr>
          <a:lstStyle/>
          <a:p>
            <a:pPr marL="0" indent="0" algn="l">
              <a:lnSpc>
                <a:spcPct val="71203"/>
              </a:lnSpc>
              <a:buNone/>
            </a:pPr>
            <a:r>
              <a:rPr lang="en-US" sz="4500" b="1" kern="0" spc="-150" dirty="0">
                <a:solidFill>
                  <a:srgbClr val="72C493"/>
                </a:solidFill>
                <a:latin typeface="Arial" pitchFamily="34" charset="0"/>
                <a:ea typeface="Arial" pitchFamily="34" charset="-122"/>
                <a:cs typeface="Arial" pitchFamily="34" charset="-120"/>
              </a:rPr>
              <a:t>122</a:t>
            </a:r>
            <a:endParaRPr lang="en-US" sz="4500" dirty="0"/>
          </a:p>
        </p:txBody>
      </p:sp>
      <p:sp>
        <p:nvSpPr>
          <p:cNvPr id="11" name="Text 7"/>
          <p:cNvSpPr/>
          <p:nvPr/>
        </p:nvSpPr>
        <p:spPr>
          <a:xfrm>
            <a:off x="1257300" y="6819901"/>
            <a:ext cx="4257866"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commerces, services et restaurants</a:t>
            </a:r>
            <a:endParaRPr lang="en-US" sz="2100" dirty="0"/>
          </a:p>
        </p:txBody>
      </p:sp>
      <p:sp>
        <p:nvSpPr>
          <p:cNvPr id="12" name="Shape 8"/>
          <p:cNvSpPr/>
          <p:nvPr/>
        </p:nvSpPr>
        <p:spPr>
          <a:xfrm>
            <a:off x="5924551" y="5905501"/>
            <a:ext cx="4743450" cy="1874520"/>
          </a:xfrm>
          <a:prstGeom prst="rect">
            <a:avLst/>
          </a:prstGeom>
          <a:solidFill>
            <a:srgbClr val="0E1F5B"/>
          </a:solidFill>
          <a:ln/>
        </p:spPr>
      </p:sp>
      <p:sp>
        <p:nvSpPr>
          <p:cNvPr id="13" name="Text 9"/>
          <p:cNvSpPr/>
          <p:nvPr/>
        </p:nvSpPr>
        <p:spPr>
          <a:xfrm>
            <a:off x="6229351" y="6172201"/>
            <a:ext cx="4547235" cy="609600"/>
          </a:xfrm>
          <a:prstGeom prst="rect">
            <a:avLst/>
          </a:prstGeom>
          <a:noFill/>
          <a:ln/>
        </p:spPr>
        <p:txBody>
          <a:bodyPr wrap="none" lIns="25400" tIns="25400" rIns="25400" bIns="25400" rtlCol="0" anchor="t">
            <a:normAutofit/>
          </a:bodyPr>
          <a:lstStyle/>
          <a:p>
            <a:pPr marL="0" indent="0" algn="l">
              <a:lnSpc>
                <a:spcPct val="71203"/>
              </a:lnSpc>
              <a:buNone/>
            </a:pPr>
            <a:r>
              <a:rPr lang="en-US" sz="4500" b="1" kern="0" spc="-150" dirty="0">
                <a:solidFill>
                  <a:srgbClr val="72C493"/>
                </a:solidFill>
                <a:latin typeface="Arial" pitchFamily="34" charset="0"/>
                <a:ea typeface="Arial" pitchFamily="34" charset="-122"/>
                <a:cs typeface="Arial" pitchFamily="34" charset="-120"/>
              </a:rPr>
              <a:t>16,6 millions</a:t>
            </a:r>
            <a:endParaRPr lang="en-US" sz="4500" dirty="0"/>
          </a:p>
        </p:txBody>
      </p:sp>
      <p:sp>
        <p:nvSpPr>
          <p:cNvPr id="14" name="Text 10"/>
          <p:cNvSpPr/>
          <p:nvPr/>
        </p:nvSpPr>
        <p:spPr>
          <a:xfrm>
            <a:off x="6229351" y="6819901"/>
            <a:ext cx="4547235" cy="384810"/>
          </a:xfrm>
          <a:prstGeom prst="rect">
            <a:avLst/>
          </a:prstGeom>
          <a:noFill/>
          <a:ln/>
        </p:spPr>
        <p:txBody>
          <a:bodyPr wrap="square" lIns="25400" tIns="25400" rIns="25400" bIns="25400" rtlCol="0" anchor="t">
            <a:normAutofit/>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de visiteurs en 2023</a:t>
            </a:r>
            <a:endParaRPr lang="en-US" sz="2100" dirty="0"/>
          </a:p>
        </p:txBody>
      </p:sp>
      <p:sp>
        <p:nvSpPr>
          <p:cNvPr id="15" name="Shape 11"/>
          <p:cNvSpPr/>
          <p:nvPr/>
        </p:nvSpPr>
        <p:spPr>
          <a:xfrm>
            <a:off x="952500" y="8382001"/>
            <a:ext cx="9715501" cy="10160"/>
          </a:xfrm>
          <a:prstGeom prst="rect">
            <a:avLst/>
          </a:prstGeom>
          <a:solidFill>
            <a:srgbClr val="0E1F5B">
              <a:alpha val="20000"/>
            </a:srgbClr>
          </a:solidFill>
          <a:ln/>
        </p:spPr>
      </p:sp>
      <p:sp>
        <p:nvSpPr>
          <p:cNvPr id="16" name="Text 12"/>
          <p:cNvSpPr/>
          <p:nvPr/>
        </p:nvSpPr>
        <p:spPr>
          <a:xfrm>
            <a:off x="952500" y="8563611"/>
            <a:ext cx="10006966" cy="731520"/>
          </a:xfrm>
          <a:prstGeom prst="rect">
            <a:avLst/>
          </a:prstGeom>
          <a:noFill/>
          <a:ln/>
        </p:spPr>
        <p:txBody>
          <a:bodyPr wrap="square" lIns="25400" tIns="25400" rIns="25400" bIns="25400" rtlCol="0" anchor="t">
            <a:normAutofit lnSpcReduction="10000"/>
          </a:bodyPr>
          <a:lstStyle/>
          <a:p>
            <a:pPr marL="0" indent="0" algn="l">
              <a:lnSpc>
                <a:spcPct val="121875"/>
              </a:lnSpc>
              <a:buNone/>
            </a:pPr>
            <a:r>
              <a:rPr lang="en-US" sz="1950" b="1" dirty="0">
                <a:solidFill>
                  <a:srgbClr val="0E1F5B"/>
                </a:solidFill>
                <a:latin typeface="Arial" pitchFamily="34" charset="0"/>
                <a:ea typeface="Arial" pitchFamily="34" charset="-122"/>
                <a:cs typeface="Arial" pitchFamily="34" charset="-120"/>
              </a:rPr>
              <a:t>Zone commerciale créée par arrêté du préfet de la région Île-de-France du 20 février 2026, à la demande de la Ville</a:t>
            </a:r>
            <a:endParaRPr lang="en-US" sz="1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6096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DÉVELOPPEMENT ÉCONOMIQUE</a:t>
            </a:r>
            <a:endParaRPr lang="en-US" sz="2100" dirty="0"/>
          </a:p>
        </p:txBody>
      </p:sp>
      <p:sp>
        <p:nvSpPr>
          <p:cNvPr id="4" name="Text 1"/>
          <p:cNvSpPr/>
          <p:nvPr/>
        </p:nvSpPr>
        <p:spPr>
          <a:xfrm>
            <a:off x="952500" y="105791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0E1F5B"/>
                </a:solidFill>
                <a:latin typeface="Arial" pitchFamily="34" charset="0"/>
                <a:ea typeface="Arial" pitchFamily="34" charset="-122"/>
                <a:cs typeface="Arial" pitchFamily="34" charset="-120"/>
              </a:rPr>
              <a:t>Les tiers-lieux Pali-Pali</a:t>
            </a:r>
            <a:endParaRPr lang="en-US" sz="4200" dirty="0"/>
          </a:p>
        </p:txBody>
      </p:sp>
      <p:sp>
        <p:nvSpPr>
          <p:cNvPr id="5" name="Shape 2"/>
          <p:cNvSpPr/>
          <p:nvPr/>
        </p:nvSpPr>
        <p:spPr>
          <a:xfrm>
            <a:off x="952500" y="2286000"/>
            <a:ext cx="7048501" cy="3314700"/>
          </a:xfrm>
          <a:prstGeom prst="rect">
            <a:avLst/>
          </a:prstGeom>
          <a:solidFill>
            <a:srgbClr val="0E1F5B"/>
          </a:solidFill>
          <a:ln/>
        </p:spPr>
      </p:sp>
      <p:sp>
        <p:nvSpPr>
          <p:cNvPr id="6" name="Text 3"/>
          <p:cNvSpPr/>
          <p:nvPr/>
        </p:nvSpPr>
        <p:spPr>
          <a:xfrm>
            <a:off x="1333500" y="2628900"/>
            <a:ext cx="6915151" cy="393700"/>
          </a:xfrm>
          <a:prstGeom prst="rect">
            <a:avLst/>
          </a:prstGeom>
          <a:noFill/>
          <a:ln/>
        </p:spPr>
        <p:txBody>
          <a:bodyPr wrap="square" lIns="25400" tIns="25400" rIns="25400" bIns="25400" rtlCol="0" anchor="t">
            <a:normAutofit/>
          </a:bodyPr>
          <a:lstStyle/>
          <a:p>
            <a:pPr marL="0" indent="0" algn="l">
              <a:buNone/>
            </a:pPr>
            <a:r>
              <a:rPr lang="en-US" sz="1950" b="1" kern="0" spc="150" dirty="0">
                <a:solidFill>
                  <a:srgbClr val="72C493"/>
                </a:solidFill>
                <a:latin typeface="Arial" pitchFamily="34" charset="0"/>
                <a:ea typeface="Arial" pitchFamily="34" charset="-122"/>
                <a:cs typeface="Arial" pitchFamily="34" charset="-120"/>
              </a:rPr>
              <a:t>470 COURTINE</a:t>
            </a:r>
            <a:endParaRPr lang="en-US" sz="1950" dirty="0"/>
          </a:p>
        </p:txBody>
      </p:sp>
      <p:sp>
        <p:nvSpPr>
          <p:cNvPr id="7" name="Text 4"/>
          <p:cNvSpPr/>
          <p:nvPr/>
        </p:nvSpPr>
        <p:spPr>
          <a:xfrm>
            <a:off x="1333500" y="3098800"/>
            <a:ext cx="6915151" cy="1028700"/>
          </a:xfrm>
          <a:prstGeom prst="rect">
            <a:avLst/>
          </a:prstGeom>
          <a:noFill/>
          <a:ln/>
        </p:spPr>
        <p:txBody>
          <a:bodyPr wrap="square" lIns="25400" tIns="25400" rIns="25400" bIns="25400" rtlCol="0" anchor="t">
            <a:normAutofit/>
          </a:bodyPr>
          <a:lstStyle/>
          <a:p>
            <a:pPr marL="0" indent="0" algn="l">
              <a:lnSpc>
                <a:spcPct val="71168"/>
              </a:lnSpc>
              <a:buNone/>
            </a:pPr>
            <a:r>
              <a:rPr lang="en-US" sz="7800" b="1" kern="0" spc="-300" dirty="0">
                <a:solidFill>
                  <a:srgbClr val="72C493"/>
                </a:solidFill>
                <a:latin typeface="Arial" pitchFamily="34" charset="0"/>
                <a:ea typeface="Arial" pitchFamily="34" charset="-122"/>
                <a:cs typeface="Arial" pitchFamily="34" charset="-120"/>
              </a:rPr>
              <a:t>900 m²</a:t>
            </a:r>
            <a:endParaRPr lang="en-US" sz="7800" dirty="0"/>
          </a:p>
        </p:txBody>
      </p:sp>
      <p:sp>
        <p:nvSpPr>
          <p:cNvPr id="8" name="Text 5"/>
          <p:cNvSpPr/>
          <p:nvPr/>
        </p:nvSpPr>
        <p:spPr>
          <a:xfrm>
            <a:off x="1333500" y="4203700"/>
            <a:ext cx="6475096" cy="809625"/>
          </a:xfrm>
          <a:prstGeom prst="rect">
            <a:avLst/>
          </a:prstGeom>
          <a:noFill/>
          <a:ln/>
        </p:spPr>
        <p:txBody>
          <a:bodyPr wrap="square" lIns="25400" tIns="25400" rIns="25400" bIns="25400" rtlCol="0" anchor="t">
            <a:normAutofit lnSpcReduction="10000"/>
          </a:bodyPr>
          <a:lstStyle/>
          <a:p>
            <a:pPr marL="0" indent="0" algn="l">
              <a:lnSpc>
                <a:spcPct val="118652"/>
              </a:lnSpc>
              <a:buNone/>
            </a:pPr>
            <a:r>
              <a:rPr lang="en-US" sz="2250" b="1" dirty="0">
                <a:solidFill>
                  <a:srgbClr val="FAF5EC"/>
                </a:solidFill>
                <a:latin typeface="Arial" pitchFamily="34" charset="0"/>
                <a:ea typeface="Arial" pitchFamily="34" charset="-122"/>
                <a:cs typeface="Arial" pitchFamily="34" charset="-120"/>
              </a:rPr>
              <a:t>rachetés par la Ville, ouverts en février 2026, occupés à plus de 80 %</a:t>
            </a:r>
            <a:endParaRPr lang="en-US" sz="2250" dirty="0"/>
          </a:p>
        </p:txBody>
      </p:sp>
      <p:sp>
        <p:nvSpPr>
          <p:cNvPr id="9" name="Shape 6"/>
          <p:cNvSpPr/>
          <p:nvPr/>
        </p:nvSpPr>
        <p:spPr>
          <a:xfrm>
            <a:off x="952500" y="5829301"/>
            <a:ext cx="7048501" cy="3314700"/>
          </a:xfrm>
          <a:prstGeom prst="rect">
            <a:avLst/>
          </a:prstGeom>
          <a:solidFill>
            <a:srgbClr val="0E1F5B"/>
          </a:solidFill>
          <a:ln/>
        </p:spPr>
      </p:sp>
      <p:sp>
        <p:nvSpPr>
          <p:cNvPr id="10" name="Text 7"/>
          <p:cNvSpPr/>
          <p:nvPr/>
        </p:nvSpPr>
        <p:spPr>
          <a:xfrm>
            <a:off x="1333500" y="6172201"/>
            <a:ext cx="6915151" cy="393700"/>
          </a:xfrm>
          <a:prstGeom prst="rect">
            <a:avLst/>
          </a:prstGeom>
          <a:noFill/>
          <a:ln/>
        </p:spPr>
        <p:txBody>
          <a:bodyPr wrap="square" lIns="25400" tIns="25400" rIns="25400" bIns="25400" rtlCol="0" anchor="t">
            <a:normAutofit/>
          </a:bodyPr>
          <a:lstStyle/>
          <a:p>
            <a:pPr marL="0" indent="0" algn="l">
              <a:buNone/>
            </a:pPr>
            <a:r>
              <a:rPr lang="en-US" sz="1950" b="1" kern="0" spc="150" dirty="0">
                <a:solidFill>
                  <a:srgbClr val="72C493"/>
                </a:solidFill>
                <a:latin typeface="Arial" pitchFamily="34" charset="0"/>
                <a:ea typeface="Arial" pitchFamily="34" charset="-122"/>
                <a:cs typeface="Arial" pitchFamily="34" charset="-120"/>
              </a:rPr>
              <a:t>LE CHÂTEAU</a:t>
            </a:r>
            <a:endParaRPr lang="en-US" sz="1950" dirty="0"/>
          </a:p>
        </p:txBody>
      </p:sp>
      <p:sp>
        <p:nvSpPr>
          <p:cNvPr id="11" name="Text 8"/>
          <p:cNvSpPr/>
          <p:nvPr/>
        </p:nvSpPr>
        <p:spPr>
          <a:xfrm>
            <a:off x="1333500" y="6642100"/>
            <a:ext cx="6475096" cy="1158240"/>
          </a:xfrm>
          <a:prstGeom prst="rect">
            <a:avLst/>
          </a:prstGeom>
          <a:noFill/>
          <a:ln/>
        </p:spPr>
        <p:txBody>
          <a:bodyPr wrap="square" lIns="25400" tIns="25400" rIns="25400" bIns="25400" rtlCol="0" anchor="t">
            <a:normAutofit/>
          </a:bodyPr>
          <a:lstStyle/>
          <a:p>
            <a:pPr marL="0" indent="0" algn="l">
              <a:lnSpc>
                <a:spcPct val="74493"/>
              </a:lnSpc>
              <a:buNone/>
            </a:pPr>
            <a:r>
              <a:rPr lang="en-US" sz="4200" b="1" kern="0" spc="-150" dirty="0">
                <a:solidFill>
                  <a:srgbClr val="72C493"/>
                </a:solidFill>
                <a:latin typeface="Arial" pitchFamily="34" charset="0"/>
                <a:ea typeface="Arial" pitchFamily="34" charset="-122"/>
                <a:cs typeface="Arial" pitchFamily="34" charset="-120"/>
              </a:rPr>
              <a:t>Ouvert en septembre 2026</a:t>
            </a:r>
            <a:endParaRPr lang="en-US" sz="4200" dirty="0"/>
          </a:p>
        </p:txBody>
      </p:sp>
      <p:sp>
        <p:nvSpPr>
          <p:cNvPr id="12" name="Text 9"/>
          <p:cNvSpPr/>
          <p:nvPr/>
        </p:nvSpPr>
        <p:spPr>
          <a:xfrm>
            <a:off x="1333500" y="7876540"/>
            <a:ext cx="6915151" cy="423863"/>
          </a:xfrm>
          <a:prstGeom prst="rect">
            <a:avLst/>
          </a:prstGeom>
          <a:noFill/>
          <a:ln/>
        </p:spPr>
        <p:txBody>
          <a:bodyPr wrap="square" lIns="25400" tIns="25400" rIns="25400" bIns="25400" rtlCol="0" anchor="t">
            <a:normAutofit lnSpcReduction="10000"/>
          </a:bodyPr>
          <a:lstStyle/>
          <a:p>
            <a:pPr marL="0" indent="0" algn="l">
              <a:lnSpc>
                <a:spcPct val="118652"/>
              </a:lnSpc>
              <a:buNone/>
            </a:pPr>
            <a:r>
              <a:rPr lang="en-US" sz="2250" b="1" dirty="0">
                <a:solidFill>
                  <a:srgbClr val="FAF5EC"/>
                </a:solidFill>
                <a:latin typeface="Arial" pitchFamily="34" charset="0"/>
                <a:ea typeface="Arial" pitchFamily="34" charset="-122"/>
                <a:cs typeface="Arial" pitchFamily="34" charset="-120"/>
              </a:rPr>
              <a:t>pour 3 ans</a:t>
            </a:r>
            <a:endParaRPr lang="en-US" sz="2250" dirty="0"/>
          </a:p>
        </p:txBody>
      </p:sp>
      <p:pic>
        <p:nvPicPr>
          <p:cNvPr id="13" name="Image 1" descr="preencoded.png"/>
          <p:cNvPicPr>
            <a:picLocks noChangeAspect="1"/>
          </p:cNvPicPr>
          <p:nvPr/>
        </p:nvPicPr>
        <p:blipFill>
          <a:blip r:embed="rId4" cstate="email">
            <a:extLst>
              <a:ext uri="{28A0092B-C50C-407E-A947-70E740481C1C}">
                <a14:useLocalDpi xmlns:a14="http://schemas.microsoft.com/office/drawing/2010/main"/>
              </a:ext>
            </a:extLst>
          </a:blip>
          <a:srcRect l="-23" r="-23"/>
          <a:stretch/>
        </p:blipFill>
        <p:spPr>
          <a:xfrm>
            <a:off x="8572501" y="2286000"/>
            <a:ext cx="8763001" cy="657225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AF5EC"/>
        </a:solidFill>
        <a:effectLst/>
      </p:bgPr>
    </p:bg>
    <p:spTree>
      <p:nvGrpSpPr>
        <p:cNvPr id="1" name=""/>
        <p:cNvGrpSpPr/>
        <p:nvPr/>
      </p:nvGrpSpPr>
      <p:grpSpPr>
        <a:xfrm>
          <a:off x="0" y="0"/>
          <a:ext cx="0" cy="0"/>
          <a:chOff x="0" y="0"/>
          <a:chExt cx="0" cy="0"/>
        </a:xfrm>
      </p:grpSpPr>
      <p:sp>
        <p:nvSpPr>
          <p:cNvPr id="3" name="Text 0"/>
          <p:cNvSpPr/>
          <p:nvPr/>
        </p:nvSpPr>
        <p:spPr>
          <a:xfrm>
            <a:off x="952500" y="6096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04 — PROPRETÉ</a:t>
            </a:r>
            <a:endParaRPr lang="en-US" sz="2100" dirty="0"/>
          </a:p>
        </p:txBody>
      </p:sp>
      <p:sp>
        <p:nvSpPr>
          <p:cNvPr id="4" name="Text 1"/>
          <p:cNvSpPr/>
          <p:nvPr/>
        </p:nvSpPr>
        <p:spPr>
          <a:xfrm>
            <a:off x="952500" y="1057910"/>
            <a:ext cx="15716251" cy="963771"/>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fontScale="92500" lnSpcReduction="10000"/>
          </a:bodyPr>
          <a:lstStyle/>
          <a:p>
            <a:pPr marL="0" indent="0" algn="l">
              <a:lnSpc>
                <a:spcPct val="76622"/>
              </a:lnSpc>
              <a:buNone/>
            </a:pPr>
            <a:r>
              <a:rPr lang="en-US" sz="4200" b="1" kern="0" spc="-150" dirty="0">
                <a:solidFill>
                  <a:srgbClr val="0E1F5B"/>
                </a:solidFill>
                <a:latin typeface="Arial" pitchFamily="34" charset="0"/>
                <a:ea typeface="Arial" pitchFamily="34" charset="-122"/>
                <a:cs typeface="Arial" pitchFamily="34" charset="-120"/>
              </a:rPr>
              <a:t>Une démarche collective pour la </a:t>
            </a:r>
          </a:p>
          <a:p>
            <a:pPr marL="0" indent="0" algn="l">
              <a:lnSpc>
                <a:spcPct val="76622"/>
              </a:lnSpc>
              <a:buNone/>
            </a:pPr>
            <a:r>
              <a:rPr lang="en-US" sz="4200" b="1" kern="0" spc="-150" dirty="0" err="1">
                <a:solidFill>
                  <a:srgbClr val="0E1F5B"/>
                </a:solidFill>
                <a:latin typeface="Arial" pitchFamily="34" charset="0"/>
                <a:ea typeface="Arial" pitchFamily="34" charset="-122"/>
                <a:cs typeface="Arial" pitchFamily="34" charset="-120"/>
              </a:rPr>
              <a:t>propreté</a:t>
            </a:r>
            <a:endParaRPr lang="en-US" sz="4200" dirty="0"/>
          </a:p>
        </p:txBody>
      </p:sp>
      <p:grpSp>
        <p:nvGrpSpPr>
          <p:cNvPr id="21" name="Groupe 20">
            <a:extLst>
              <a:ext uri="{FF2B5EF4-FFF2-40B4-BE49-F238E27FC236}">
                <a16:creationId xmlns:a16="http://schemas.microsoft.com/office/drawing/2014/main" id="{4F9508B7-43C1-40DA-B7BD-7225A061CDD1}"/>
              </a:ext>
            </a:extLst>
          </p:cNvPr>
          <p:cNvGrpSpPr/>
          <p:nvPr/>
        </p:nvGrpSpPr>
        <p:grpSpPr>
          <a:xfrm>
            <a:off x="1487353" y="2038350"/>
            <a:ext cx="7911132" cy="7486651"/>
            <a:chOff x="1809750" y="2190750"/>
            <a:chExt cx="7911132" cy="7486651"/>
          </a:xfrm>
        </p:grpSpPr>
        <p:sp>
          <p:nvSpPr>
            <p:cNvPr id="5" name="Shape 2"/>
            <p:cNvSpPr/>
            <p:nvPr/>
          </p:nvSpPr>
          <p:spPr>
            <a:xfrm>
              <a:off x="2762250" y="3238500"/>
              <a:ext cx="5905501" cy="5905501"/>
            </a:xfrm>
            <a:prstGeom prst="ellipse">
              <a:avLst/>
            </a:prstGeom>
            <a:ln w="20320">
              <a:solidFill>
                <a:srgbClr val="0E1F5B">
                  <a:alpha val="25000"/>
                </a:srgbClr>
              </a:solidFill>
              <a:prstDash val="solid"/>
            </a:ln>
          </p:spPr>
        </p:sp>
        <p:sp>
          <p:nvSpPr>
            <p:cNvPr id="6" name="Shape 3"/>
            <p:cNvSpPr/>
            <p:nvPr/>
          </p:nvSpPr>
          <p:spPr>
            <a:xfrm>
              <a:off x="4286250" y="4762500"/>
              <a:ext cx="2857500" cy="2857500"/>
            </a:xfrm>
            <a:prstGeom prst="ellipse">
              <a:avLst/>
            </a:prstGeom>
            <a:solidFill>
              <a:srgbClr val="0E1F5B"/>
            </a:solidFill>
            <a:ln/>
          </p:spPr>
        </p:sp>
        <p:sp>
          <p:nvSpPr>
            <p:cNvPr id="7" name="Text 4"/>
            <p:cNvSpPr/>
            <p:nvPr/>
          </p:nvSpPr>
          <p:spPr>
            <a:xfrm>
              <a:off x="4533900" y="5531168"/>
              <a:ext cx="2362200" cy="1358265"/>
            </a:xfrm>
            <a:prstGeom prst="rect">
              <a:avLst/>
            </a:prstGeom>
            <a:noFill/>
            <a:ln/>
          </p:spPr>
          <p:txBody>
            <a:bodyPr wrap="square" lIns="25400" tIns="25400" rIns="25400" bIns="25400" rtlCol="0" anchor="t">
              <a:normAutofit/>
            </a:bodyPr>
            <a:lstStyle/>
            <a:p>
              <a:pPr marL="0" indent="0" algn="ctr">
                <a:lnSpc>
                  <a:spcPct val="78750"/>
                </a:lnSpc>
                <a:buNone/>
              </a:pPr>
              <a:r>
                <a:rPr lang="en-US" sz="3150" b="1" dirty="0">
                  <a:solidFill>
                    <a:srgbClr val="FAF5EC"/>
                  </a:solidFill>
                  <a:latin typeface="Arial" pitchFamily="34" charset="0"/>
                  <a:ea typeface="Arial" pitchFamily="34" charset="-122"/>
                  <a:cs typeface="Arial" pitchFamily="34" charset="-120"/>
                </a:rPr>
                <a:t>Un quartier propre</a:t>
              </a:r>
              <a:endParaRPr lang="en-US" sz="3150" dirty="0"/>
            </a:p>
          </p:txBody>
        </p:sp>
        <p:sp>
          <p:nvSpPr>
            <p:cNvPr id="8" name="Shape 5"/>
            <p:cNvSpPr/>
            <p:nvPr/>
          </p:nvSpPr>
          <p:spPr>
            <a:xfrm>
              <a:off x="4619625" y="2190750"/>
              <a:ext cx="2190750" cy="2190750"/>
            </a:xfrm>
            <a:prstGeom prst="ellipse">
              <a:avLst/>
            </a:prstGeom>
            <a:solidFill>
              <a:srgbClr val="72C493"/>
            </a:solidFill>
            <a:ln/>
          </p:spPr>
        </p:sp>
        <p:sp>
          <p:nvSpPr>
            <p:cNvPr id="9" name="Text 6"/>
            <p:cNvSpPr/>
            <p:nvPr/>
          </p:nvSpPr>
          <p:spPr>
            <a:xfrm>
              <a:off x="4875411" y="3121819"/>
              <a:ext cx="1679020" cy="366713"/>
            </a:xfrm>
            <a:prstGeom prst="rect">
              <a:avLst/>
            </a:prstGeom>
            <a:noFill/>
            <a:ln/>
          </p:spPr>
          <p:txBody>
            <a:bodyPr wrap="square" lIns="25400" tIns="25400" rIns="25400" bIns="25400" rtlCol="0" anchor="t">
              <a:normAutofit/>
            </a:bodyPr>
            <a:lstStyle/>
            <a:p>
              <a:pPr marL="0" indent="0" algn="ctr">
                <a:lnSpc>
                  <a:spcPct val="80859"/>
                </a:lnSpc>
                <a:buNone/>
              </a:pPr>
              <a:r>
                <a:rPr lang="en-US" sz="2250" b="1" dirty="0">
                  <a:solidFill>
                    <a:srgbClr val="0E1F5B"/>
                  </a:solidFill>
                  <a:latin typeface="Arial" pitchFamily="34" charset="0"/>
                  <a:ea typeface="Arial" pitchFamily="34" charset="-122"/>
                  <a:cs typeface="Arial" pitchFamily="34" charset="-120"/>
                </a:rPr>
                <a:t>Habitants</a:t>
              </a:r>
              <a:endParaRPr lang="en-US" sz="2250" dirty="0"/>
            </a:p>
          </p:txBody>
        </p:sp>
        <p:sp>
          <p:nvSpPr>
            <p:cNvPr id="10" name="Shape 7"/>
            <p:cNvSpPr/>
            <p:nvPr/>
          </p:nvSpPr>
          <p:spPr>
            <a:xfrm>
              <a:off x="7429501" y="4181475"/>
              <a:ext cx="2190750" cy="2190750"/>
            </a:xfrm>
            <a:prstGeom prst="ellipse">
              <a:avLst/>
            </a:prstGeom>
            <a:solidFill>
              <a:srgbClr val="72C493"/>
            </a:solidFill>
            <a:ln/>
          </p:spPr>
        </p:sp>
        <p:sp>
          <p:nvSpPr>
            <p:cNvPr id="11" name="Text 8"/>
            <p:cNvSpPr/>
            <p:nvPr/>
          </p:nvSpPr>
          <p:spPr>
            <a:xfrm>
              <a:off x="7328869" y="5112544"/>
              <a:ext cx="2392013" cy="366713"/>
            </a:xfrm>
            <a:prstGeom prst="rect">
              <a:avLst/>
            </a:prstGeom>
            <a:noFill/>
            <a:ln/>
          </p:spPr>
          <p:txBody>
            <a:bodyPr wrap="square" lIns="25400" tIns="25400" rIns="25400" bIns="25400" rtlCol="0" anchor="t">
              <a:normAutofit/>
            </a:bodyPr>
            <a:lstStyle/>
            <a:p>
              <a:pPr marL="0" indent="0" algn="ctr">
                <a:lnSpc>
                  <a:spcPct val="80859"/>
                </a:lnSpc>
                <a:buNone/>
              </a:pPr>
              <a:r>
                <a:rPr lang="en-US" sz="2250" b="1" dirty="0">
                  <a:solidFill>
                    <a:srgbClr val="0E1F5B"/>
                  </a:solidFill>
                  <a:latin typeface="Arial" pitchFamily="34" charset="0"/>
                  <a:ea typeface="Arial" pitchFamily="34" charset="-122"/>
                  <a:cs typeface="Arial" pitchFamily="34" charset="-120"/>
                </a:rPr>
                <a:t>Commerçants</a:t>
              </a:r>
              <a:endParaRPr lang="en-US" sz="2250" dirty="0"/>
            </a:p>
          </p:txBody>
        </p:sp>
        <p:sp>
          <p:nvSpPr>
            <p:cNvPr id="12" name="Shape 9"/>
            <p:cNvSpPr/>
            <p:nvPr/>
          </p:nvSpPr>
          <p:spPr>
            <a:xfrm>
              <a:off x="6353176" y="7486651"/>
              <a:ext cx="2190750" cy="2190750"/>
            </a:xfrm>
            <a:prstGeom prst="ellipse">
              <a:avLst/>
            </a:prstGeom>
            <a:solidFill>
              <a:srgbClr val="72C493"/>
            </a:solidFill>
            <a:ln/>
          </p:spPr>
        </p:sp>
        <p:sp>
          <p:nvSpPr>
            <p:cNvPr id="13" name="Text 10"/>
            <p:cNvSpPr/>
            <p:nvPr/>
          </p:nvSpPr>
          <p:spPr>
            <a:xfrm>
              <a:off x="6505576" y="8253413"/>
              <a:ext cx="1885950" cy="695325"/>
            </a:xfrm>
            <a:prstGeom prst="rect">
              <a:avLst/>
            </a:prstGeom>
            <a:noFill/>
            <a:ln/>
          </p:spPr>
          <p:txBody>
            <a:bodyPr wrap="square" lIns="25400" tIns="25400" rIns="25400" bIns="25400" rtlCol="0" anchor="t">
              <a:normAutofit/>
            </a:bodyPr>
            <a:lstStyle/>
            <a:p>
              <a:pPr marL="0" indent="0" algn="ctr">
                <a:lnSpc>
                  <a:spcPct val="80859"/>
                </a:lnSpc>
                <a:buNone/>
              </a:pPr>
              <a:r>
                <a:rPr lang="en-US" sz="2250" b="1" dirty="0">
                  <a:solidFill>
                    <a:srgbClr val="0E1F5B"/>
                  </a:solidFill>
                  <a:latin typeface="Arial" pitchFamily="34" charset="0"/>
                  <a:ea typeface="Arial" pitchFamily="34" charset="-122"/>
                  <a:cs typeface="Arial" pitchFamily="34" charset="-120"/>
                </a:rPr>
                <a:t>Bailleurs sociaux</a:t>
              </a:r>
              <a:endParaRPr lang="en-US" sz="2250" dirty="0"/>
            </a:p>
          </p:txBody>
        </p:sp>
        <p:sp>
          <p:nvSpPr>
            <p:cNvPr id="14" name="Shape 11"/>
            <p:cNvSpPr/>
            <p:nvPr/>
          </p:nvSpPr>
          <p:spPr>
            <a:xfrm>
              <a:off x="2886075" y="7486651"/>
              <a:ext cx="2190750" cy="2190750"/>
            </a:xfrm>
            <a:prstGeom prst="ellipse">
              <a:avLst/>
            </a:prstGeom>
            <a:solidFill>
              <a:srgbClr val="72C493"/>
            </a:solidFill>
            <a:ln/>
          </p:spPr>
        </p:sp>
        <p:sp>
          <p:nvSpPr>
            <p:cNvPr id="15" name="Text 12"/>
            <p:cNvSpPr/>
            <p:nvPr/>
          </p:nvSpPr>
          <p:spPr>
            <a:xfrm>
              <a:off x="3038475" y="8275320"/>
              <a:ext cx="1885950" cy="651510"/>
            </a:xfrm>
            <a:prstGeom prst="rect">
              <a:avLst/>
            </a:prstGeom>
            <a:noFill/>
            <a:ln/>
          </p:spPr>
          <p:txBody>
            <a:bodyPr wrap="square" lIns="25400" tIns="25400" rIns="25400" bIns="25400" rtlCol="0" anchor="t">
              <a:normAutofit/>
            </a:bodyPr>
            <a:lstStyle/>
            <a:p>
              <a:pPr marL="0" indent="0" algn="ctr">
                <a:lnSpc>
                  <a:spcPct val="81588"/>
                </a:lnSpc>
                <a:buNone/>
              </a:pPr>
              <a:r>
                <a:rPr lang="en-US" sz="2100" b="1" dirty="0">
                  <a:solidFill>
                    <a:srgbClr val="0E1F5B"/>
                  </a:solidFill>
                  <a:latin typeface="Arial" pitchFamily="34" charset="0"/>
                  <a:ea typeface="Arial" pitchFamily="34" charset="-122"/>
                  <a:cs typeface="Arial" pitchFamily="34" charset="-120"/>
                </a:rPr>
                <a:t>Syndics de copropriété</a:t>
              </a:r>
              <a:endParaRPr lang="en-US" sz="2100" dirty="0"/>
            </a:p>
          </p:txBody>
        </p:sp>
        <p:sp>
          <p:nvSpPr>
            <p:cNvPr id="16" name="Shape 13"/>
            <p:cNvSpPr/>
            <p:nvPr/>
          </p:nvSpPr>
          <p:spPr>
            <a:xfrm>
              <a:off x="1809750" y="4181475"/>
              <a:ext cx="2190750" cy="2190750"/>
            </a:xfrm>
            <a:prstGeom prst="ellipse">
              <a:avLst/>
            </a:prstGeom>
            <a:solidFill>
              <a:srgbClr val="72C493"/>
            </a:solidFill>
            <a:ln/>
          </p:spPr>
        </p:sp>
        <p:sp>
          <p:nvSpPr>
            <p:cNvPr id="17" name="Text 14"/>
            <p:cNvSpPr/>
            <p:nvPr/>
          </p:nvSpPr>
          <p:spPr>
            <a:xfrm>
              <a:off x="1962150" y="4948238"/>
              <a:ext cx="1886109" cy="695325"/>
            </a:xfrm>
            <a:prstGeom prst="rect">
              <a:avLst/>
            </a:prstGeom>
            <a:noFill/>
            <a:ln/>
          </p:spPr>
          <p:txBody>
            <a:bodyPr wrap="square" lIns="25400" tIns="25400" rIns="25400" bIns="25400" rtlCol="0" anchor="t">
              <a:normAutofit/>
            </a:bodyPr>
            <a:lstStyle/>
            <a:p>
              <a:pPr marL="0" indent="0" algn="ctr">
                <a:lnSpc>
                  <a:spcPct val="80859"/>
                </a:lnSpc>
                <a:buNone/>
              </a:pPr>
              <a:r>
                <a:rPr lang="en-US" sz="2250" b="1" dirty="0">
                  <a:solidFill>
                    <a:srgbClr val="0E1F5B"/>
                  </a:solidFill>
                  <a:latin typeface="Arial" pitchFamily="34" charset="0"/>
                  <a:ea typeface="Arial" pitchFamily="34" charset="-122"/>
                  <a:cs typeface="Arial" pitchFamily="34" charset="-120"/>
                </a:rPr>
                <a:t>Services municipaux</a:t>
              </a:r>
              <a:endParaRPr lang="en-US" sz="2250" dirty="0"/>
            </a:p>
          </p:txBody>
        </p:sp>
      </p:grpSp>
      <p:pic>
        <p:nvPicPr>
          <p:cNvPr id="19" name="Image 18">
            <a:extLst>
              <a:ext uri="{FF2B5EF4-FFF2-40B4-BE49-F238E27FC236}">
                <a16:creationId xmlns:a16="http://schemas.microsoft.com/office/drawing/2014/main" id="{B9E82906-5958-4307-9308-DDEB5764F9F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9301018" y="1283854"/>
            <a:ext cx="10270836" cy="770312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grpSp>
        <p:nvGrpSpPr>
          <p:cNvPr id="22" name="Groupe 21">
            <a:extLst>
              <a:ext uri="{FF2B5EF4-FFF2-40B4-BE49-F238E27FC236}">
                <a16:creationId xmlns:a16="http://schemas.microsoft.com/office/drawing/2014/main" id="{46739BA0-3E96-4B86-B925-4DB6E55E15A8}"/>
              </a:ext>
            </a:extLst>
          </p:cNvPr>
          <p:cNvGrpSpPr/>
          <p:nvPr/>
        </p:nvGrpSpPr>
        <p:grpSpPr>
          <a:xfrm>
            <a:off x="2997200" y="8641080"/>
            <a:ext cx="3302794" cy="1220470"/>
            <a:chOff x="9906000" y="8685530"/>
            <a:chExt cx="3302794" cy="1220470"/>
          </a:xfrm>
        </p:grpSpPr>
        <p:sp>
          <p:nvSpPr>
            <p:cNvPr id="4" name="Shape 1"/>
            <p:cNvSpPr/>
            <p:nvPr/>
          </p:nvSpPr>
          <p:spPr>
            <a:xfrm>
              <a:off x="9906000" y="8685530"/>
              <a:ext cx="3302794" cy="1220470"/>
            </a:xfrm>
            <a:prstGeom prst="rect">
              <a:avLst/>
            </a:prstGeom>
            <a:solidFill>
              <a:srgbClr val="FAF5EC"/>
            </a:solidFill>
            <a:ln/>
            <a:effectLst>
              <a:outerShdw blurRad="101600" dist="80822" dir="2700000" algn="bl" rotWithShape="0">
                <a:srgbClr val="0E1F5B">
                  <a:alpha val="100000"/>
                </a:srgbClr>
              </a:outerShdw>
            </a:effectLst>
          </p:spPr>
        </p:sp>
        <p:pic>
          <p:nvPicPr>
            <p:cNvPr id="5"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10800" y="8919210"/>
              <a:ext cx="342900" cy="304800"/>
            </a:xfrm>
            <a:prstGeom prst="rect">
              <a:avLst/>
            </a:prstGeom>
          </p:spPr>
        </p:pic>
        <p:sp>
          <p:nvSpPr>
            <p:cNvPr id="6" name="Text 2"/>
            <p:cNvSpPr/>
            <p:nvPr/>
          </p:nvSpPr>
          <p:spPr>
            <a:xfrm>
              <a:off x="10725150" y="8914130"/>
              <a:ext cx="2331942" cy="35306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0E1F5B"/>
                  </a:solidFill>
                  <a:latin typeface="Arial" pitchFamily="34" charset="0"/>
                  <a:ea typeface="Arial" pitchFamily="34" charset="-122"/>
                  <a:cs typeface="Arial" pitchFamily="34" charset="-120"/>
                </a:rPr>
                <a:t>Caméra installée</a:t>
              </a:r>
              <a:endParaRPr lang="en-US" sz="2100" dirty="0"/>
            </a:p>
          </p:txBody>
        </p:sp>
        <p:pic>
          <p:nvPicPr>
            <p:cNvPr id="7"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10800" y="9367521"/>
              <a:ext cx="342900" cy="304800"/>
            </a:xfrm>
            <a:prstGeom prst="rect">
              <a:avLst/>
            </a:prstGeom>
          </p:spPr>
        </p:pic>
        <p:sp>
          <p:nvSpPr>
            <p:cNvPr id="8" name="Text 3"/>
            <p:cNvSpPr/>
            <p:nvPr/>
          </p:nvSpPr>
          <p:spPr>
            <a:xfrm>
              <a:off x="10725150" y="9362441"/>
              <a:ext cx="2396728" cy="35306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0E1F5B"/>
                  </a:solidFill>
                  <a:latin typeface="Arial" pitchFamily="34" charset="0"/>
                  <a:ea typeface="Arial" pitchFamily="34" charset="-122"/>
                  <a:cs typeface="Arial" pitchFamily="34" charset="-120"/>
                </a:rPr>
                <a:t>Caméra en projet</a:t>
              </a:r>
              <a:endParaRPr lang="en-US" sz="2100" dirty="0"/>
            </a:p>
          </p:txBody>
        </p:sp>
      </p:grpSp>
      <p:sp>
        <p:nvSpPr>
          <p:cNvPr id="10" name="Text 4"/>
          <p:cNvSpPr/>
          <p:nvPr/>
        </p:nvSpPr>
        <p:spPr>
          <a:xfrm>
            <a:off x="952500" y="857250"/>
            <a:ext cx="85915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05 — SÉCURITÉ</a:t>
            </a:r>
            <a:endParaRPr lang="en-US" sz="2100" dirty="0"/>
          </a:p>
        </p:txBody>
      </p:sp>
      <p:sp>
        <p:nvSpPr>
          <p:cNvPr id="11" name="Text 5"/>
          <p:cNvSpPr/>
          <p:nvPr/>
        </p:nvSpPr>
        <p:spPr>
          <a:xfrm>
            <a:off x="952500" y="1305560"/>
            <a:ext cx="8044816" cy="1189990"/>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Sécurité et </a:t>
            </a:r>
            <a:r>
              <a:rPr lang="en-US" sz="4200" b="1" kern="0" spc="-150" dirty="0" err="1">
                <a:solidFill>
                  <a:srgbClr val="FAF5EC"/>
                </a:solidFill>
                <a:latin typeface="Arial" pitchFamily="34" charset="0"/>
                <a:ea typeface="Arial" pitchFamily="34" charset="-122"/>
                <a:cs typeface="Arial" pitchFamily="34" charset="-120"/>
              </a:rPr>
              <a:t>tranquillité</a:t>
            </a:r>
            <a:r>
              <a:rPr lang="en-US" sz="4200" b="1" kern="0" spc="-150" dirty="0">
                <a:solidFill>
                  <a:srgbClr val="FAF5EC"/>
                </a:solidFill>
                <a:latin typeface="Arial" pitchFamily="34" charset="0"/>
                <a:ea typeface="Arial" pitchFamily="34" charset="-122"/>
                <a:cs typeface="Arial" pitchFamily="34" charset="-120"/>
              </a:rPr>
              <a:t> </a:t>
            </a:r>
            <a:r>
              <a:rPr lang="en-US" sz="4200" b="1" kern="0" spc="-150" dirty="0" err="1">
                <a:solidFill>
                  <a:srgbClr val="FAF5EC"/>
                </a:solidFill>
                <a:latin typeface="Arial" pitchFamily="34" charset="0"/>
                <a:ea typeface="Arial" pitchFamily="34" charset="-122"/>
                <a:cs typeface="Arial" pitchFamily="34" charset="-120"/>
              </a:rPr>
              <a:t>résidentielle</a:t>
            </a:r>
            <a:endParaRPr lang="en-US" sz="4200" dirty="0"/>
          </a:p>
        </p:txBody>
      </p:sp>
      <p:pic>
        <p:nvPicPr>
          <p:cNvPr id="23" name="Image 22">
            <a:extLst>
              <a:ext uri="{FF2B5EF4-FFF2-40B4-BE49-F238E27FC236}">
                <a16:creationId xmlns:a16="http://schemas.microsoft.com/office/drawing/2014/main" id="{C39B71FB-C26A-454F-BA34-981D49007202}"/>
              </a:ext>
            </a:extLst>
          </p:cNvPr>
          <p:cNvPicPr/>
          <p:nvPr/>
        </p:nvPicPr>
        <p:blipFill>
          <a:blip r:embed="rId7"/>
          <a:stretch>
            <a:fillRect/>
          </a:stretch>
        </p:blipFill>
        <p:spPr>
          <a:xfrm>
            <a:off x="6502400" y="857250"/>
            <a:ext cx="10721183" cy="88455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5334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06 — TRANSITION ÉCOLOGIQUE</a:t>
            </a:r>
            <a:endParaRPr lang="en-US" sz="2100" dirty="0"/>
          </a:p>
        </p:txBody>
      </p:sp>
      <p:sp>
        <p:nvSpPr>
          <p:cNvPr id="4" name="Text 1"/>
          <p:cNvSpPr/>
          <p:nvPr/>
        </p:nvSpPr>
        <p:spPr>
          <a:xfrm>
            <a:off x="952500" y="96266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Les lacs du Mont d'Est</a:t>
            </a:r>
            <a:endParaRPr lang="en-US" sz="4200" dirty="0"/>
          </a:p>
        </p:txBody>
      </p:sp>
      <p:sp>
        <p:nvSpPr>
          <p:cNvPr id="5" name="Text 2"/>
          <p:cNvSpPr/>
          <p:nvPr/>
        </p:nvSpPr>
        <p:spPr>
          <a:xfrm>
            <a:off x="952500" y="1748155"/>
            <a:ext cx="15716251" cy="409575"/>
          </a:xfrm>
          <a:prstGeom prst="rect">
            <a:avLst/>
          </a:prstGeom>
          <a:noFill/>
          <a:ln/>
        </p:spPr>
        <p:txBody>
          <a:bodyPr wrap="square" lIns="25400" tIns="25400" rIns="25400" bIns="25400" rtlCol="0" anchor="t">
            <a:normAutofit lnSpcReduction="10000"/>
          </a:bodyPr>
          <a:lstStyle/>
          <a:p>
            <a:pPr marL="0" indent="0" algn="l">
              <a:lnSpc>
                <a:spcPct val="114258"/>
              </a:lnSpc>
              <a:buNone/>
            </a:pPr>
            <a:r>
              <a:rPr lang="en-US" sz="2250" dirty="0">
                <a:solidFill>
                  <a:srgbClr val="FAF5EC"/>
                </a:solidFill>
                <a:latin typeface="Arial" pitchFamily="34" charset="0"/>
                <a:ea typeface="Arial" pitchFamily="34" charset="-122"/>
                <a:cs typeface="Arial" pitchFamily="34" charset="-120"/>
              </a:rPr>
              <a:t>Trois plans d'eau reliés entre eux, qui recueillent les eaux d'un bassin versant de 56 hectares</a:t>
            </a:r>
            <a:endParaRPr lang="en-US" sz="2250" dirty="0"/>
          </a:p>
        </p:txBody>
      </p:sp>
      <p:sp>
        <p:nvSpPr>
          <p:cNvPr id="6" name="Shape 3"/>
          <p:cNvSpPr/>
          <p:nvPr/>
        </p:nvSpPr>
        <p:spPr>
          <a:xfrm>
            <a:off x="952500" y="2667000"/>
            <a:ext cx="16383001" cy="6858001"/>
          </a:xfrm>
          <a:prstGeom prst="rect">
            <a:avLst/>
          </a:prstGeom>
          <a:solidFill>
            <a:srgbClr val="132568"/>
          </a:solidFill>
          <a:ln/>
        </p:spPr>
      </p:sp>
      <p:sp>
        <p:nvSpPr>
          <p:cNvPr id="7" name="Shape 4"/>
          <p:cNvSpPr/>
          <p:nvPr/>
        </p:nvSpPr>
        <p:spPr>
          <a:xfrm>
            <a:off x="952500" y="2667000"/>
            <a:ext cx="16383001" cy="71120"/>
          </a:xfrm>
          <a:prstGeom prst="rect">
            <a:avLst/>
          </a:prstGeom>
          <a:solidFill>
            <a:srgbClr val="72C493"/>
          </a:solidFill>
          <a:ln/>
        </p:spPr>
      </p:sp>
      <p:sp>
        <p:nvSpPr>
          <p:cNvPr id="8" name="Shape 5"/>
          <p:cNvSpPr/>
          <p:nvPr/>
        </p:nvSpPr>
        <p:spPr>
          <a:xfrm>
            <a:off x="3348038" y="3893820"/>
            <a:ext cx="5048250" cy="3162300"/>
          </a:xfrm>
          <a:prstGeom prst="roundRect">
            <a:avLst>
              <a:gd name="adj" fmla="val 50000"/>
            </a:avLst>
          </a:prstGeom>
          <a:solidFill>
            <a:srgbClr val="72C493"/>
          </a:solidFill>
          <a:ln w="40640">
            <a:solidFill>
              <a:srgbClr val="FAF5EC"/>
            </a:solidFill>
            <a:prstDash val="solid"/>
          </a:ln>
        </p:spPr>
      </p:sp>
      <p:sp>
        <p:nvSpPr>
          <p:cNvPr id="9" name="Text 6"/>
          <p:cNvSpPr/>
          <p:nvPr/>
        </p:nvSpPr>
        <p:spPr>
          <a:xfrm>
            <a:off x="3985697" y="7399020"/>
            <a:ext cx="3772773" cy="381000"/>
          </a:xfrm>
          <a:prstGeom prst="rect">
            <a:avLst/>
          </a:prstGeom>
          <a:noFill/>
          <a:ln/>
        </p:spPr>
        <p:txBody>
          <a:bodyPr wrap="square" lIns="25400" tIns="25400" rIns="25400" bIns="25400" rtlCol="0" anchor="t">
            <a:normAutofit lnSpcReduction="10000"/>
          </a:bodyPr>
          <a:lstStyle/>
          <a:p>
            <a:pPr marL="0" indent="0" algn="ctr">
              <a:lnSpc>
                <a:spcPct val="105469"/>
              </a:lnSpc>
              <a:buNone/>
            </a:pPr>
            <a:r>
              <a:rPr lang="en-US" sz="2250" b="1" dirty="0">
                <a:solidFill>
                  <a:srgbClr val="FAF5EC"/>
                </a:solidFill>
                <a:latin typeface="Arial" pitchFamily="34" charset="0"/>
                <a:ea typeface="Arial" pitchFamily="34" charset="-122"/>
                <a:cs typeface="Arial" pitchFamily="34" charset="-120"/>
              </a:rPr>
              <a:t>Lac des Mares-Dimanche</a:t>
            </a:r>
            <a:endParaRPr lang="en-US" sz="2250" dirty="0"/>
          </a:p>
        </p:txBody>
      </p:sp>
      <p:sp>
        <p:nvSpPr>
          <p:cNvPr id="10" name="Text 7"/>
          <p:cNvSpPr/>
          <p:nvPr/>
        </p:nvSpPr>
        <p:spPr>
          <a:xfrm>
            <a:off x="4674069" y="7818120"/>
            <a:ext cx="2396030" cy="627380"/>
          </a:xfrm>
          <a:prstGeom prst="rect">
            <a:avLst/>
          </a:prstGeom>
          <a:noFill/>
          <a:ln/>
        </p:spPr>
        <p:txBody>
          <a:bodyPr wrap="square" lIns="25400" tIns="25400" rIns="25400" bIns="25400" rtlCol="0" anchor="t">
            <a:normAutofit/>
          </a:bodyPr>
          <a:lstStyle/>
          <a:p>
            <a:pPr marL="0" indent="0" algn="ctr">
              <a:buNone/>
            </a:pPr>
            <a:r>
              <a:rPr lang="en-US" sz="3300" b="1" kern="0" spc="-75" dirty="0">
                <a:solidFill>
                  <a:srgbClr val="72C493"/>
                </a:solidFill>
                <a:latin typeface="Arial" pitchFamily="34" charset="0"/>
                <a:ea typeface="Arial" pitchFamily="34" charset="-122"/>
                <a:cs typeface="Arial" pitchFamily="34" charset="-120"/>
              </a:rPr>
              <a:t>20 500 m²</a:t>
            </a:r>
            <a:endParaRPr lang="en-US" sz="3300" dirty="0"/>
          </a:p>
        </p:txBody>
      </p:sp>
      <p:sp>
        <p:nvSpPr>
          <p:cNvPr id="11" name="Shape 8"/>
          <p:cNvSpPr/>
          <p:nvPr/>
        </p:nvSpPr>
        <p:spPr>
          <a:xfrm>
            <a:off x="8396288" y="5446395"/>
            <a:ext cx="666750" cy="47625"/>
          </a:xfrm>
          <a:prstGeom prst="rect">
            <a:avLst/>
          </a:prstGeom>
          <a:solidFill>
            <a:srgbClr val="FAF5EC"/>
          </a:solidFill>
          <a:ln/>
        </p:spPr>
      </p:sp>
      <p:sp>
        <p:nvSpPr>
          <p:cNvPr id="12" name="Shape 9"/>
          <p:cNvSpPr/>
          <p:nvPr/>
        </p:nvSpPr>
        <p:spPr>
          <a:xfrm>
            <a:off x="9063038" y="4417695"/>
            <a:ext cx="3381375" cy="2114550"/>
          </a:xfrm>
          <a:prstGeom prst="roundRect">
            <a:avLst>
              <a:gd name="adj" fmla="val 50000"/>
            </a:avLst>
          </a:prstGeom>
          <a:solidFill>
            <a:srgbClr val="72C493"/>
          </a:solidFill>
          <a:ln w="40640">
            <a:solidFill>
              <a:srgbClr val="FAF5EC"/>
            </a:solidFill>
            <a:prstDash val="solid"/>
          </a:ln>
        </p:spPr>
      </p:sp>
      <p:sp>
        <p:nvSpPr>
          <p:cNvPr id="13" name="Text 10"/>
          <p:cNvSpPr/>
          <p:nvPr/>
        </p:nvSpPr>
        <p:spPr>
          <a:xfrm>
            <a:off x="9985216" y="7399020"/>
            <a:ext cx="1536700" cy="381000"/>
          </a:xfrm>
          <a:prstGeom prst="rect">
            <a:avLst/>
          </a:prstGeom>
          <a:noFill/>
          <a:ln/>
        </p:spPr>
        <p:txBody>
          <a:bodyPr wrap="square" lIns="25400" tIns="25400" rIns="25400" bIns="25400" rtlCol="0" anchor="t">
            <a:normAutofit lnSpcReduction="10000"/>
          </a:bodyPr>
          <a:lstStyle/>
          <a:p>
            <a:pPr marL="0" indent="0" algn="ctr">
              <a:lnSpc>
                <a:spcPct val="105469"/>
              </a:lnSpc>
              <a:buNone/>
            </a:pPr>
            <a:r>
              <a:rPr lang="en-US" sz="2250" b="1" dirty="0">
                <a:solidFill>
                  <a:srgbClr val="FAF5EC"/>
                </a:solidFill>
                <a:latin typeface="Arial" pitchFamily="34" charset="0"/>
                <a:ea typeface="Arial" pitchFamily="34" charset="-122"/>
                <a:cs typeface="Arial" pitchFamily="34" charset="-120"/>
              </a:rPr>
              <a:t>Lac du SK</a:t>
            </a:r>
            <a:endParaRPr lang="en-US" sz="2250" dirty="0"/>
          </a:p>
        </p:txBody>
      </p:sp>
      <p:sp>
        <p:nvSpPr>
          <p:cNvPr id="14" name="Text 11"/>
          <p:cNvSpPr/>
          <p:nvPr/>
        </p:nvSpPr>
        <p:spPr>
          <a:xfrm>
            <a:off x="9704063" y="7818120"/>
            <a:ext cx="2099167" cy="627380"/>
          </a:xfrm>
          <a:prstGeom prst="rect">
            <a:avLst/>
          </a:prstGeom>
          <a:noFill/>
          <a:ln/>
        </p:spPr>
        <p:txBody>
          <a:bodyPr wrap="square" lIns="25400" tIns="25400" rIns="25400" bIns="25400" rtlCol="0" anchor="t">
            <a:normAutofit/>
          </a:bodyPr>
          <a:lstStyle/>
          <a:p>
            <a:pPr marL="0" indent="0" algn="ctr">
              <a:buNone/>
            </a:pPr>
            <a:r>
              <a:rPr lang="en-US" sz="3300" b="1" kern="0" spc="-75" dirty="0">
                <a:solidFill>
                  <a:srgbClr val="72C493"/>
                </a:solidFill>
                <a:latin typeface="Arial" pitchFamily="34" charset="0"/>
                <a:ea typeface="Arial" pitchFamily="34" charset="-122"/>
                <a:cs typeface="Arial" pitchFamily="34" charset="-120"/>
              </a:rPr>
              <a:t>9 150 m²</a:t>
            </a:r>
            <a:endParaRPr lang="en-US" sz="3300" dirty="0"/>
          </a:p>
        </p:txBody>
      </p:sp>
      <p:sp>
        <p:nvSpPr>
          <p:cNvPr id="15" name="Shape 12"/>
          <p:cNvSpPr/>
          <p:nvPr/>
        </p:nvSpPr>
        <p:spPr>
          <a:xfrm>
            <a:off x="12444414" y="5446395"/>
            <a:ext cx="666750" cy="47625"/>
          </a:xfrm>
          <a:prstGeom prst="rect">
            <a:avLst/>
          </a:prstGeom>
          <a:solidFill>
            <a:srgbClr val="FAF5EC"/>
          </a:solidFill>
          <a:ln/>
        </p:spPr>
      </p:sp>
      <p:sp>
        <p:nvSpPr>
          <p:cNvPr id="16" name="Shape 13"/>
          <p:cNvSpPr/>
          <p:nvPr/>
        </p:nvSpPr>
        <p:spPr>
          <a:xfrm>
            <a:off x="13111164" y="4989195"/>
            <a:ext cx="1562100" cy="971550"/>
          </a:xfrm>
          <a:prstGeom prst="roundRect">
            <a:avLst>
              <a:gd name="adj" fmla="val 50000"/>
            </a:avLst>
          </a:prstGeom>
          <a:solidFill>
            <a:srgbClr val="72C493"/>
          </a:solidFill>
          <a:ln w="40640">
            <a:solidFill>
              <a:srgbClr val="FAF5EC"/>
            </a:solidFill>
            <a:prstDash val="solid"/>
          </a:ln>
        </p:spPr>
      </p:sp>
      <p:sp>
        <p:nvSpPr>
          <p:cNvPr id="17" name="Text 14"/>
          <p:cNvSpPr/>
          <p:nvPr/>
        </p:nvSpPr>
        <p:spPr>
          <a:xfrm>
            <a:off x="12966541" y="7399020"/>
            <a:ext cx="1851025" cy="381000"/>
          </a:xfrm>
          <a:prstGeom prst="rect">
            <a:avLst/>
          </a:prstGeom>
          <a:noFill/>
          <a:ln/>
        </p:spPr>
        <p:txBody>
          <a:bodyPr wrap="square" lIns="25400" tIns="25400" rIns="25400" bIns="25400" rtlCol="0" anchor="t">
            <a:normAutofit lnSpcReduction="10000"/>
          </a:bodyPr>
          <a:lstStyle/>
          <a:p>
            <a:pPr marL="0" indent="0" algn="ctr">
              <a:lnSpc>
                <a:spcPct val="105469"/>
              </a:lnSpc>
              <a:buNone/>
            </a:pPr>
            <a:r>
              <a:rPr lang="en-US" sz="2250" b="1" dirty="0">
                <a:solidFill>
                  <a:srgbClr val="FAF5EC"/>
                </a:solidFill>
                <a:latin typeface="Arial" pitchFamily="34" charset="0"/>
                <a:ea typeface="Arial" pitchFamily="34" charset="-122"/>
                <a:cs typeface="Arial" pitchFamily="34" charset="-120"/>
              </a:rPr>
              <a:t>Lac du SARI</a:t>
            </a:r>
            <a:endParaRPr lang="en-US" sz="2250" dirty="0"/>
          </a:p>
        </p:txBody>
      </p:sp>
      <p:sp>
        <p:nvSpPr>
          <p:cNvPr id="18" name="Text 15"/>
          <p:cNvSpPr/>
          <p:nvPr/>
        </p:nvSpPr>
        <p:spPr>
          <a:xfrm>
            <a:off x="12842551" y="7818120"/>
            <a:ext cx="2099167" cy="627380"/>
          </a:xfrm>
          <a:prstGeom prst="rect">
            <a:avLst/>
          </a:prstGeom>
          <a:noFill/>
          <a:ln/>
        </p:spPr>
        <p:txBody>
          <a:bodyPr wrap="square" lIns="25400" tIns="25400" rIns="25400" bIns="25400" rtlCol="0" anchor="t">
            <a:normAutofit/>
          </a:bodyPr>
          <a:lstStyle/>
          <a:p>
            <a:pPr marL="0" indent="0" algn="ctr">
              <a:buNone/>
            </a:pPr>
            <a:r>
              <a:rPr lang="en-US" sz="3300" b="1" kern="0" spc="-75" dirty="0">
                <a:solidFill>
                  <a:srgbClr val="72C493"/>
                </a:solidFill>
                <a:latin typeface="Arial" pitchFamily="34" charset="0"/>
                <a:ea typeface="Arial" pitchFamily="34" charset="-122"/>
                <a:cs typeface="Arial" pitchFamily="34" charset="-120"/>
              </a:rPr>
              <a:t>1 950 m²</a:t>
            </a:r>
            <a:endParaRPr lang="en-US" sz="3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5334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06 — TRANSITION ÉCOLOGIQUE</a:t>
            </a:r>
            <a:endParaRPr lang="en-US" sz="2100" dirty="0"/>
          </a:p>
        </p:txBody>
      </p:sp>
      <p:sp>
        <p:nvSpPr>
          <p:cNvPr id="4" name="Text 1"/>
          <p:cNvSpPr/>
          <p:nvPr/>
        </p:nvSpPr>
        <p:spPr>
          <a:xfrm>
            <a:off x="952500" y="96266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Le lac des Mares-Dimanche</a:t>
            </a:r>
            <a:endParaRPr lang="en-US" sz="4200" dirty="0"/>
          </a:p>
        </p:txBody>
      </p:sp>
      <p:sp>
        <p:nvSpPr>
          <p:cNvPr id="5" name="Shape 2"/>
          <p:cNvSpPr/>
          <p:nvPr/>
        </p:nvSpPr>
        <p:spPr>
          <a:xfrm>
            <a:off x="952500" y="1905000"/>
            <a:ext cx="9525001" cy="6667501"/>
          </a:xfrm>
          <a:prstGeom prst="rect">
            <a:avLst/>
          </a:prstGeom>
          <a:solidFill>
            <a:srgbClr val="FFFFFF"/>
          </a:soli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952500" y="1905000"/>
            <a:ext cx="9525001" cy="6667501"/>
          </a:xfrm>
          <a:prstGeom prst="rect">
            <a:avLst/>
          </a:prstGeom>
        </p:spPr>
      </p:pic>
      <p:sp>
        <p:nvSpPr>
          <p:cNvPr id="7" name="Shape 3"/>
          <p:cNvSpPr/>
          <p:nvPr/>
        </p:nvSpPr>
        <p:spPr>
          <a:xfrm>
            <a:off x="11239501" y="1905000"/>
            <a:ext cx="6096001" cy="1703070"/>
          </a:xfrm>
          <a:prstGeom prst="rect">
            <a:avLst/>
          </a:prstGeom>
          <a:solidFill>
            <a:srgbClr val="132568"/>
          </a:solidFill>
          <a:ln/>
        </p:spPr>
      </p:sp>
      <p:sp>
        <p:nvSpPr>
          <p:cNvPr id="10" name="Shape 6"/>
          <p:cNvSpPr/>
          <p:nvPr/>
        </p:nvSpPr>
        <p:spPr>
          <a:xfrm>
            <a:off x="11172191" y="3047365"/>
            <a:ext cx="6096001" cy="1703070"/>
          </a:xfrm>
          <a:prstGeom prst="rect">
            <a:avLst/>
          </a:prstGeom>
          <a:solidFill>
            <a:srgbClr val="132568"/>
          </a:solidFill>
          <a:ln/>
        </p:spPr>
      </p:sp>
      <p:sp>
        <p:nvSpPr>
          <p:cNvPr id="11" name="Shape 7"/>
          <p:cNvSpPr/>
          <p:nvPr/>
        </p:nvSpPr>
        <p:spPr>
          <a:xfrm>
            <a:off x="11172191" y="3047365"/>
            <a:ext cx="6096001" cy="71120"/>
          </a:xfrm>
          <a:prstGeom prst="rect">
            <a:avLst/>
          </a:prstGeom>
          <a:solidFill>
            <a:srgbClr val="72C493"/>
          </a:solidFill>
          <a:ln/>
        </p:spPr>
      </p:sp>
      <p:sp>
        <p:nvSpPr>
          <p:cNvPr id="12" name="Text 8"/>
          <p:cNvSpPr/>
          <p:nvPr/>
        </p:nvSpPr>
        <p:spPr>
          <a:xfrm>
            <a:off x="11294111" y="3475990"/>
            <a:ext cx="6035040" cy="723900"/>
          </a:xfrm>
          <a:prstGeom prst="rect">
            <a:avLst/>
          </a:prstGeom>
          <a:noFill/>
          <a:ln/>
        </p:spPr>
        <p:txBody>
          <a:bodyPr wrap="square" lIns="25400" tIns="25400" rIns="25400" bIns="25400" rtlCol="0" anchor="t">
            <a:normAutofit/>
          </a:bodyPr>
          <a:lstStyle/>
          <a:p>
            <a:pPr marL="0" indent="0" algn="l">
              <a:lnSpc>
                <a:spcPct val="71053"/>
              </a:lnSpc>
              <a:buNone/>
            </a:pPr>
            <a:r>
              <a:rPr lang="en-US" sz="5400" b="1" kern="0" spc="-150" dirty="0">
                <a:solidFill>
                  <a:srgbClr val="72C493"/>
                </a:solidFill>
                <a:latin typeface="Arial" pitchFamily="34" charset="0"/>
                <a:ea typeface="Arial" pitchFamily="34" charset="-122"/>
                <a:cs typeface="Arial" pitchFamily="34" charset="-120"/>
              </a:rPr>
              <a:t>24 000 m³</a:t>
            </a:r>
            <a:endParaRPr lang="en-US" sz="5400" dirty="0"/>
          </a:p>
        </p:txBody>
      </p:sp>
      <p:sp>
        <p:nvSpPr>
          <p:cNvPr id="13" name="Text 9"/>
          <p:cNvSpPr/>
          <p:nvPr/>
        </p:nvSpPr>
        <p:spPr>
          <a:xfrm>
            <a:off x="14372592" y="3667654"/>
            <a:ext cx="6035040" cy="32258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FAF5EC"/>
                </a:solidFill>
                <a:latin typeface="Arial" pitchFamily="34" charset="0"/>
                <a:ea typeface="Arial" pitchFamily="34" charset="-122"/>
                <a:cs typeface="Arial" pitchFamily="34" charset="-120"/>
              </a:rPr>
              <a:t>d'eau</a:t>
            </a:r>
            <a:endParaRPr lang="en-US" sz="1950" dirty="0"/>
          </a:p>
        </p:txBody>
      </p:sp>
      <p:sp>
        <p:nvSpPr>
          <p:cNvPr id="14" name="Shape 10"/>
          <p:cNvSpPr/>
          <p:nvPr/>
        </p:nvSpPr>
        <p:spPr>
          <a:xfrm>
            <a:off x="11172191" y="4940935"/>
            <a:ext cx="6096001" cy="1703070"/>
          </a:xfrm>
          <a:prstGeom prst="rect">
            <a:avLst/>
          </a:prstGeom>
          <a:solidFill>
            <a:srgbClr val="132568"/>
          </a:solidFill>
          <a:ln/>
        </p:spPr>
      </p:sp>
      <p:sp>
        <p:nvSpPr>
          <p:cNvPr id="15" name="Shape 11"/>
          <p:cNvSpPr/>
          <p:nvPr/>
        </p:nvSpPr>
        <p:spPr>
          <a:xfrm>
            <a:off x="11172191" y="4940935"/>
            <a:ext cx="6096001" cy="71120"/>
          </a:xfrm>
          <a:prstGeom prst="rect">
            <a:avLst/>
          </a:prstGeom>
          <a:solidFill>
            <a:srgbClr val="72C493"/>
          </a:solidFill>
          <a:ln/>
        </p:spPr>
      </p:sp>
      <p:sp>
        <p:nvSpPr>
          <p:cNvPr id="16" name="Text 12"/>
          <p:cNvSpPr/>
          <p:nvPr/>
        </p:nvSpPr>
        <p:spPr>
          <a:xfrm>
            <a:off x="11476991" y="5314315"/>
            <a:ext cx="6035040" cy="723900"/>
          </a:xfrm>
          <a:prstGeom prst="rect">
            <a:avLst/>
          </a:prstGeom>
          <a:noFill/>
          <a:ln/>
        </p:spPr>
        <p:txBody>
          <a:bodyPr wrap="square" lIns="25400" tIns="25400" rIns="25400" bIns="25400" rtlCol="0" anchor="t">
            <a:normAutofit/>
          </a:bodyPr>
          <a:lstStyle/>
          <a:p>
            <a:pPr marL="0" indent="0" algn="l">
              <a:lnSpc>
                <a:spcPct val="71053"/>
              </a:lnSpc>
              <a:buNone/>
            </a:pPr>
            <a:r>
              <a:rPr lang="en-US" sz="5400" b="1" kern="0" spc="-150" dirty="0">
                <a:solidFill>
                  <a:srgbClr val="72C493"/>
                </a:solidFill>
                <a:latin typeface="Arial" pitchFamily="34" charset="0"/>
                <a:ea typeface="Arial" pitchFamily="34" charset="-122"/>
                <a:cs typeface="Arial" pitchFamily="34" charset="-120"/>
              </a:rPr>
              <a:t>30 %</a:t>
            </a:r>
            <a:endParaRPr lang="en-US" sz="5400" dirty="0"/>
          </a:p>
        </p:txBody>
      </p:sp>
      <p:sp>
        <p:nvSpPr>
          <p:cNvPr id="17" name="Text 13"/>
          <p:cNvSpPr/>
          <p:nvPr/>
        </p:nvSpPr>
        <p:spPr>
          <a:xfrm>
            <a:off x="11476991" y="6057265"/>
            <a:ext cx="6035040" cy="32258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FAF5EC"/>
                </a:solidFill>
                <a:latin typeface="Arial" pitchFamily="34" charset="0"/>
                <a:ea typeface="Arial" pitchFamily="34" charset="-122"/>
                <a:cs typeface="Arial" pitchFamily="34" charset="-120"/>
              </a:rPr>
              <a:t>du volume brassé chaque jour</a:t>
            </a:r>
            <a:endParaRPr lang="en-US" sz="1950" dirty="0"/>
          </a:p>
        </p:txBody>
      </p:sp>
      <p:sp>
        <p:nvSpPr>
          <p:cNvPr id="18" name="Shape 14"/>
          <p:cNvSpPr/>
          <p:nvPr/>
        </p:nvSpPr>
        <p:spPr>
          <a:xfrm>
            <a:off x="11172191" y="6834505"/>
            <a:ext cx="6096001" cy="986790"/>
          </a:xfrm>
          <a:prstGeom prst="rect">
            <a:avLst/>
          </a:prstGeom>
          <a:solidFill>
            <a:srgbClr val="72C493"/>
          </a:solidFill>
          <a:ln/>
        </p:spPr>
      </p:sp>
      <p:sp>
        <p:nvSpPr>
          <p:cNvPr id="19" name="Text 15"/>
          <p:cNvSpPr/>
          <p:nvPr/>
        </p:nvSpPr>
        <p:spPr>
          <a:xfrm>
            <a:off x="11476991" y="7005955"/>
            <a:ext cx="5669281" cy="681990"/>
          </a:xfrm>
          <a:prstGeom prst="rect">
            <a:avLst/>
          </a:prstGeom>
          <a:noFill/>
          <a:ln/>
        </p:spPr>
        <p:txBody>
          <a:bodyPr wrap="square" lIns="25400" tIns="25400" rIns="25400" bIns="25400" rtlCol="0" anchor="t">
            <a:normAutofit lnSpcReduction="10000"/>
          </a:bodyPr>
          <a:lstStyle/>
          <a:p>
            <a:pPr marL="0" indent="0" algn="l">
              <a:lnSpc>
                <a:spcPct val="113170"/>
              </a:lnSpc>
              <a:buNone/>
            </a:pPr>
            <a:r>
              <a:rPr lang="en-US" sz="1950" b="1" dirty="0">
                <a:solidFill>
                  <a:srgbClr val="0E1F5B"/>
                </a:solidFill>
                <a:latin typeface="Arial" pitchFamily="34" charset="0"/>
                <a:ea typeface="Arial" pitchFamily="34" charset="-122"/>
                <a:cs typeface="Arial" pitchFamily="34" charset="-120"/>
              </a:rPr>
              <a:t>Oxygénateurs, aérateurs et pompes de circulation</a:t>
            </a:r>
            <a:endParaRPr lang="en-US" sz="1950" dirty="0"/>
          </a:p>
        </p:txBody>
      </p:sp>
      <p:sp>
        <p:nvSpPr>
          <p:cNvPr id="20" name="Shape 16"/>
          <p:cNvSpPr/>
          <p:nvPr/>
        </p:nvSpPr>
        <p:spPr>
          <a:xfrm>
            <a:off x="952500" y="8877301"/>
            <a:ext cx="16383001" cy="723265"/>
          </a:xfrm>
          <a:prstGeom prst="rect">
            <a:avLst/>
          </a:prstGeom>
          <a:ln w="10160">
            <a:solidFill>
              <a:srgbClr val="72C493"/>
            </a:solidFill>
            <a:prstDash val="solid"/>
          </a:ln>
        </p:spPr>
      </p:sp>
      <p:sp>
        <p:nvSpPr>
          <p:cNvPr id="21" name="Text 17"/>
          <p:cNvSpPr/>
          <p:nvPr/>
        </p:nvSpPr>
        <p:spPr>
          <a:xfrm>
            <a:off x="1267460" y="9077961"/>
            <a:ext cx="16244571" cy="360045"/>
          </a:xfrm>
          <a:prstGeom prst="rect">
            <a:avLst/>
          </a:prstGeom>
          <a:noFill/>
          <a:ln/>
        </p:spPr>
        <p:txBody>
          <a:bodyPr wrap="square" lIns="25400" tIns="25400" rIns="25400" bIns="25400" rtlCol="0" anchor="t">
            <a:normAutofit lnSpcReduction="10000"/>
          </a:bodyPr>
          <a:lstStyle/>
          <a:p>
            <a:pPr marL="0" indent="0" algn="l">
              <a:lnSpc>
                <a:spcPct val="113170"/>
              </a:lnSpc>
              <a:buNone/>
            </a:pPr>
            <a:r>
              <a:rPr lang="en-US" sz="1950" b="1" dirty="0">
                <a:solidFill>
                  <a:srgbClr val="FAF5EC"/>
                </a:solidFill>
                <a:latin typeface="Arial" pitchFamily="34" charset="0"/>
                <a:ea typeface="Arial" pitchFamily="34" charset="-122"/>
                <a:cs typeface="Arial" pitchFamily="34" charset="-120"/>
              </a:rPr>
              <a:t>Les abords du lac nettoyés chaque matin par les agents de la Ville depuis l'été</a:t>
            </a:r>
            <a:endParaRPr lang="en-US" sz="1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5334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07 — LOGEMENT SOCIAL</a:t>
            </a:r>
            <a:endParaRPr lang="en-US" sz="2100" dirty="0"/>
          </a:p>
        </p:txBody>
      </p:sp>
      <p:sp>
        <p:nvSpPr>
          <p:cNvPr id="4" name="Text 1"/>
          <p:cNvSpPr/>
          <p:nvPr/>
        </p:nvSpPr>
        <p:spPr>
          <a:xfrm>
            <a:off x="952500" y="96266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Bailleurs sociaux : les actions de la municipalité</a:t>
            </a:r>
            <a:endParaRPr lang="en-US" sz="4200" dirty="0"/>
          </a:p>
        </p:txBody>
      </p:sp>
      <p:sp>
        <p:nvSpPr>
          <p:cNvPr id="5" name="Shape 2"/>
          <p:cNvSpPr/>
          <p:nvPr/>
        </p:nvSpPr>
        <p:spPr>
          <a:xfrm>
            <a:off x="952500" y="1905000"/>
            <a:ext cx="10287000" cy="6858001"/>
          </a:xfrm>
          <a:prstGeom prst="rect">
            <a:avLst/>
          </a:prstGeom>
          <a:solidFill>
            <a:srgbClr val="132568"/>
          </a:soli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952500" y="1905000"/>
            <a:ext cx="10287000" cy="6858001"/>
          </a:xfrm>
          <a:prstGeom prst="rect">
            <a:avLst/>
          </a:prstGeom>
        </p:spPr>
      </p:pic>
      <p:sp>
        <p:nvSpPr>
          <p:cNvPr id="7" name="Shape 3"/>
          <p:cNvSpPr/>
          <p:nvPr/>
        </p:nvSpPr>
        <p:spPr>
          <a:xfrm>
            <a:off x="11811001" y="1905000"/>
            <a:ext cx="5524500" cy="2750503"/>
          </a:xfrm>
          <a:prstGeom prst="rect">
            <a:avLst/>
          </a:prstGeom>
          <a:solidFill>
            <a:srgbClr val="132568"/>
          </a:solidFill>
          <a:ln/>
        </p:spPr>
      </p:sp>
      <p:sp>
        <p:nvSpPr>
          <p:cNvPr id="8" name="Shape 4"/>
          <p:cNvSpPr/>
          <p:nvPr/>
        </p:nvSpPr>
        <p:spPr>
          <a:xfrm>
            <a:off x="11811001" y="1905000"/>
            <a:ext cx="5524500" cy="71120"/>
          </a:xfrm>
          <a:prstGeom prst="rect">
            <a:avLst/>
          </a:prstGeom>
          <a:solidFill>
            <a:srgbClr val="72C493"/>
          </a:solidFill>
          <a:ln/>
        </p:spPr>
      </p:sp>
      <p:sp>
        <p:nvSpPr>
          <p:cNvPr id="9" name="Text 5"/>
          <p:cNvSpPr/>
          <p:nvPr/>
        </p:nvSpPr>
        <p:spPr>
          <a:xfrm>
            <a:off x="12153901" y="2242820"/>
            <a:ext cx="5322570" cy="1395413"/>
          </a:xfrm>
          <a:prstGeom prst="rect">
            <a:avLst/>
          </a:prstGeom>
          <a:noFill/>
          <a:ln/>
        </p:spPr>
        <p:txBody>
          <a:bodyPr wrap="square" lIns="25400" tIns="25400" rIns="25400" bIns="25400" rtlCol="0" anchor="t">
            <a:normAutofit/>
          </a:bodyPr>
          <a:lstStyle/>
          <a:p>
            <a:pPr marL="0" indent="0" algn="l">
              <a:lnSpc>
                <a:spcPct val="67133"/>
              </a:lnSpc>
              <a:buNone/>
            </a:pPr>
            <a:r>
              <a:rPr lang="en-US" sz="11250" b="1" kern="0" spc="-375" dirty="0">
                <a:solidFill>
                  <a:srgbClr val="72C493"/>
                </a:solidFill>
                <a:latin typeface="Arial" pitchFamily="34" charset="0"/>
                <a:ea typeface="Arial" pitchFamily="34" charset="-122"/>
                <a:cs typeface="Arial" pitchFamily="34" charset="-120"/>
              </a:rPr>
              <a:t>915</a:t>
            </a:r>
            <a:endParaRPr lang="en-US" sz="11250" dirty="0"/>
          </a:p>
        </p:txBody>
      </p:sp>
      <p:sp>
        <p:nvSpPr>
          <p:cNvPr id="10" name="Text 6"/>
          <p:cNvSpPr/>
          <p:nvPr/>
        </p:nvSpPr>
        <p:spPr>
          <a:xfrm>
            <a:off x="12153901" y="3695383"/>
            <a:ext cx="4983861"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réponses à l'enquête de la Ville auprès des locataires du parc social</a:t>
            </a:r>
            <a:endParaRPr lang="en-US" sz="2100" dirty="0"/>
          </a:p>
        </p:txBody>
      </p:sp>
      <p:sp>
        <p:nvSpPr>
          <p:cNvPr id="11" name="Shape 7"/>
          <p:cNvSpPr/>
          <p:nvPr/>
        </p:nvSpPr>
        <p:spPr>
          <a:xfrm>
            <a:off x="11811001" y="4846003"/>
            <a:ext cx="5524500" cy="1863249"/>
          </a:xfrm>
          <a:prstGeom prst="rect">
            <a:avLst/>
          </a:prstGeom>
          <a:solidFill>
            <a:srgbClr val="72C493"/>
          </a:solidFill>
          <a:ln/>
        </p:spPr>
      </p:sp>
      <p:sp>
        <p:nvSpPr>
          <p:cNvPr id="12" name="Text 8"/>
          <p:cNvSpPr/>
          <p:nvPr/>
        </p:nvSpPr>
        <p:spPr>
          <a:xfrm>
            <a:off x="12115801" y="5074603"/>
            <a:ext cx="5080635" cy="1444149"/>
          </a:xfrm>
          <a:prstGeom prst="rect">
            <a:avLst/>
          </a:prstGeom>
          <a:noFill/>
          <a:ln/>
        </p:spPr>
        <p:txBody>
          <a:bodyPr wrap="square" lIns="25400" tIns="25400" rIns="25400" bIns="25400" rtlCol="0" anchor="ctr">
            <a:normAutofit/>
          </a:bodyPr>
          <a:lstStyle/>
          <a:p>
            <a:pPr marL="0" indent="0" algn="l">
              <a:lnSpc>
                <a:spcPct val="87891"/>
              </a:lnSpc>
              <a:buNone/>
            </a:pPr>
            <a:r>
              <a:rPr lang="en-US" sz="2250" b="1" dirty="0">
                <a:solidFill>
                  <a:srgbClr val="0E1F5B"/>
                </a:solidFill>
                <a:latin typeface="Arial" pitchFamily="34" charset="0"/>
                <a:ea typeface="Arial" pitchFamily="34" charset="-122"/>
                <a:cs typeface="Arial" pitchFamily="34" charset="-120"/>
              </a:rPr>
              <a:t>La Ville veillera à ce que les bailleurs respectent leurs engagements</a:t>
            </a:r>
            <a:endParaRPr lang="en-US" sz="2250" dirty="0"/>
          </a:p>
        </p:txBody>
      </p:sp>
      <p:sp>
        <p:nvSpPr>
          <p:cNvPr id="13" name="Shape 9"/>
          <p:cNvSpPr/>
          <p:nvPr/>
        </p:nvSpPr>
        <p:spPr>
          <a:xfrm>
            <a:off x="11811001" y="6899752"/>
            <a:ext cx="5524500" cy="1863249"/>
          </a:xfrm>
          <a:prstGeom prst="rect">
            <a:avLst/>
          </a:prstGeom>
          <a:solidFill>
            <a:srgbClr val="72C493"/>
          </a:solidFill>
          <a:ln/>
        </p:spPr>
      </p:sp>
      <p:sp>
        <p:nvSpPr>
          <p:cNvPr id="14" name="Text 10"/>
          <p:cNvSpPr/>
          <p:nvPr/>
        </p:nvSpPr>
        <p:spPr>
          <a:xfrm>
            <a:off x="12115801" y="7128352"/>
            <a:ext cx="5080635" cy="1444149"/>
          </a:xfrm>
          <a:prstGeom prst="rect">
            <a:avLst/>
          </a:prstGeom>
          <a:noFill/>
          <a:ln/>
        </p:spPr>
        <p:txBody>
          <a:bodyPr wrap="square" lIns="25400" tIns="25400" rIns="25400" bIns="25400" rtlCol="0" anchor="ctr">
            <a:normAutofit/>
          </a:bodyPr>
          <a:lstStyle/>
          <a:p>
            <a:pPr marL="0" indent="0" algn="l">
              <a:lnSpc>
                <a:spcPct val="87891"/>
              </a:lnSpc>
              <a:buNone/>
            </a:pPr>
            <a:r>
              <a:rPr lang="en-US" sz="2250" b="1" dirty="0">
                <a:solidFill>
                  <a:srgbClr val="0E1F5B"/>
                </a:solidFill>
                <a:latin typeface="Arial" pitchFamily="34" charset="0"/>
                <a:ea typeface="Arial" pitchFamily="34" charset="-122"/>
                <a:cs typeface="Arial" pitchFamily="34" charset="-120"/>
              </a:rPr>
              <a:t>La Ville n'hésitera pas à intervenir en faveur des locataires</a:t>
            </a:r>
            <a:endParaRPr lang="en-US" sz="2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495425"/>
            <a:ext cx="104775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08 — TRANSPORTS · LES BUS</a:t>
            </a:r>
            <a:endParaRPr lang="en-US" sz="2100" dirty="0"/>
          </a:p>
        </p:txBody>
      </p:sp>
      <p:sp>
        <p:nvSpPr>
          <p:cNvPr id="4" name="Text 1"/>
          <p:cNvSpPr/>
          <p:nvPr/>
        </p:nvSpPr>
        <p:spPr>
          <a:xfrm>
            <a:off x="952500" y="1981835"/>
            <a:ext cx="10477501" cy="63817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4763"/>
              </a:lnSpc>
              <a:buNone/>
            </a:pPr>
            <a:r>
              <a:rPr lang="en-US" sz="4500" b="1" kern="0" spc="-150" dirty="0">
                <a:solidFill>
                  <a:srgbClr val="0E1F5B"/>
                </a:solidFill>
                <a:latin typeface="Arial" pitchFamily="34" charset="0"/>
                <a:ea typeface="Arial" pitchFamily="34" charset="-122"/>
                <a:cs typeface="Arial" pitchFamily="34" charset="-120"/>
              </a:rPr>
              <a:t>Le courrier du Maire à Keolis</a:t>
            </a:r>
            <a:endParaRPr lang="en-US" sz="4500" dirty="0"/>
          </a:p>
        </p:txBody>
      </p:sp>
      <p:sp>
        <p:nvSpPr>
          <p:cNvPr id="5" name="Text 2"/>
          <p:cNvSpPr/>
          <p:nvPr/>
        </p:nvSpPr>
        <p:spPr>
          <a:xfrm>
            <a:off x="952500" y="2734310"/>
            <a:ext cx="10477501" cy="4140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0E1F5B"/>
                </a:solidFill>
                <a:latin typeface="Arial" pitchFamily="34" charset="0"/>
                <a:ea typeface="Arial" pitchFamily="34" charset="-122"/>
                <a:cs typeface="Arial" pitchFamily="34" charset="-120"/>
              </a:rPr>
              <a:t>20 septembre 2026</a:t>
            </a:r>
            <a:endParaRPr lang="en-US" sz="2550" dirty="0"/>
          </a:p>
        </p:txBody>
      </p:sp>
      <p:sp>
        <p:nvSpPr>
          <p:cNvPr id="6" name="Shape 3"/>
          <p:cNvSpPr/>
          <p:nvPr/>
        </p:nvSpPr>
        <p:spPr>
          <a:xfrm>
            <a:off x="952500" y="3376930"/>
            <a:ext cx="3200400" cy="57150"/>
          </a:xfrm>
          <a:prstGeom prst="rect">
            <a:avLst/>
          </a:prstGeom>
          <a:solidFill>
            <a:srgbClr val="72C493"/>
          </a:solidFill>
          <a:ln/>
        </p:spPr>
      </p:sp>
      <p:sp>
        <p:nvSpPr>
          <p:cNvPr id="7" name="Shape 4"/>
          <p:cNvSpPr/>
          <p:nvPr/>
        </p:nvSpPr>
        <p:spPr>
          <a:xfrm>
            <a:off x="952500" y="3815080"/>
            <a:ext cx="533400" cy="533400"/>
          </a:xfrm>
          <a:prstGeom prst="rect">
            <a:avLst/>
          </a:prstGeom>
          <a:solidFill>
            <a:srgbClr val="72C493"/>
          </a:solidFill>
          <a:ln/>
        </p:spPr>
      </p:sp>
      <p:sp>
        <p:nvSpPr>
          <p:cNvPr id="8" name="Text 5"/>
          <p:cNvSpPr/>
          <p:nvPr/>
        </p:nvSpPr>
        <p:spPr>
          <a:xfrm>
            <a:off x="914400" y="381508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01</a:t>
            </a:r>
            <a:endParaRPr lang="en-US" sz="1950" dirty="0"/>
          </a:p>
        </p:txBody>
      </p:sp>
      <p:sp>
        <p:nvSpPr>
          <p:cNvPr id="9" name="Text 6"/>
          <p:cNvSpPr/>
          <p:nvPr/>
        </p:nvSpPr>
        <p:spPr>
          <a:xfrm>
            <a:off x="1714500" y="381508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Retards, courses supprimées, fréquences non respectées, information défaillante</a:t>
            </a:r>
            <a:endParaRPr lang="en-US" sz="2400" dirty="0"/>
          </a:p>
        </p:txBody>
      </p:sp>
      <p:sp>
        <p:nvSpPr>
          <p:cNvPr id="10" name="Shape 7"/>
          <p:cNvSpPr/>
          <p:nvPr/>
        </p:nvSpPr>
        <p:spPr>
          <a:xfrm>
            <a:off x="952500" y="4950460"/>
            <a:ext cx="533400" cy="533400"/>
          </a:xfrm>
          <a:prstGeom prst="rect">
            <a:avLst/>
          </a:prstGeom>
          <a:solidFill>
            <a:srgbClr val="72C493"/>
          </a:solidFill>
          <a:ln/>
        </p:spPr>
      </p:sp>
      <p:sp>
        <p:nvSpPr>
          <p:cNvPr id="11" name="Text 8"/>
          <p:cNvSpPr/>
          <p:nvPr/>
        </p:nvSpPr>
        <p:spPr>
          <a:xfrm>
            <a:off x="914400" y="49504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02</a:t>
            </a:r>
            <a:endParaRPr lang="en-US" sz="1950" dirty="0"/>
          </a:p>
        </p:txBody>
      </p:sp>
      <p:sp>
        <p:nvSpPr>
          <p:cNvPr id="12" name="Text 9"/>
          <p:cNvSpPr/>
          <p:nvPr/>
        </p:nvSpPr>
        <p:spPr>
          <a:xfrm>
            <a:off x="1714500" y="4950460"/>
            <a:ext cx="8948659" cy="43434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de sanctions contractuelles contre l'opérateur</a:t>
            </a:r>
            <a:endParaRPr lang="en-US" sz="2400" dirty="0"/>
          </a:p>
        </p:txBody>
      </p:sp>
      <p:sp>
        <p:nvSpPr>
          <p:cNvPr id="13" name="Shape 10"/>
          <p:cNvSpPr/>
          <p:nvPr/>
        </p:nvSpPr>
        <p:spPr>
          <a:xfrm>
            <a:off x="952500" y="5826760"/>
            <a:ext cx="533400" cy="533400"/>
          </a:xfrm>
          <a:prstGeom prst="rect">
            <a:avLst/>
          </a:prstGeom>
          <a:solidFill>
            <a:srgbClr val="72C493"/>
          </a:solidFill>
          <a:ln/>
        </p:spPr>
      </p:sp>
      <p:sp>
        <p:nvSpPr>
          <p:cNvPr id="14" name="Text 11"/>
          <p:cNvSpPr/>
          <p:nvPr/>
        </p:nvSpPr>
        <p:spPr>
          <a:xfrm>
            <a:off x="914400" y="58267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03</a:t>
            </a:r>
            <a:endParaRPr lang="en-US" sz="1950" dirty="0"/>
          </a:p>
        </p:txBody>
      </p:sp>
      <p:sp>
        <p:nvSpPr>
          <p:cNvPr id="15" name="Text 12"/>
          <p:cNvSpPr/>
          <p:nvPr/>
        </p:nvSpPr>
        <p:spPr>
          <a:xfrm>
            <a:off x="1714500" y="582676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d'une réunion en mairie et d'un plan d'actions immédiat</a:t>
            </a:r>
            <a:endParaRPr lang="en-US" sz="2400" dirty="0"/>
          </a:p>
        </p:txBody>
      </p:sp>
      <p:sp>
        <p:nvSpPr>
          <p:cNvPr id="16" name="Shape 13"/>
          <p:cNvSpPr/>
          <p:nvPr/>
        </p:nvSpPr>
        <p:spPr>
          <a:xfrm>
            <a:off x="11839576" y="1771650"/>
            <a:ext cx="5086350" cy="7200901"/>
          </a:xfrm>
          <a:prstGeom prst="rect">
            <a:avLst/>
          </a:prstGeom>
          <a:solidFill>
            <a:srgbClr val="D9D4CA"/>
          </a:solidFill>
          <a:ln/>
        </p:spPr>
      </p:sp>
      <p:pic>
        <p:nvPicPr>
          <p:cNvPr id="17"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1839576" y="1771650"/>
            <a:ext cx="5086350" cy="7200901"/>
          </a:xfrm>
          <a:prstGeom prst="rect">
            <a:avLst/>
          </a:prstGeom>
        </p:spPr>
      </p:pic>
      <p:sp>
        <p:nvSpPr>
          <p:cNvPr id="18" name="Shape 14"/>
          <p:cNvSpPr/>
          <p:nvPr/>
        </p:nvSpPr>
        <p:spPr>
          <a:xfrm>
            <a:off x="11839576" y="9124951"/>
            <a:ext cx="5086350" cy="495300"/>
          </a:xfrm>
          <a:prstGeom prst="rect">
            <a:avLst/>
          </a:prstGeom>
          <a:solidFill>
            <a:srgbClr val="72C493"/>
          </a:solidFill>
          <a:ln/>
        </p:spPr>
      </p:sp>
      <p:sp>
        <p:nvSpPr>
          <p:cNvPr id="19" name="Text 15"/>
          <p:cNvSpPr/>
          <p:nvPr/>
        </p:nvSpPr>
        <p:spPr>
          <a:xfrm>
            <a:off x="11915681" y="9201151"/>
            <a:ext cx="4934141" cy="381000"/>
          </a:xfrm>
          <a:prstGeom prst="rect">
            <a:avLst/>
          </a:prstGeom>
          <a:noFill/>
          <a:ln/>
        </p:spPr>
        <p:txBody>
          <a:bodyPr wrap="square" lIns="25400" tIns="25400" rIns="25400" bIns="25400" rtlCol="0" anchor="ctr">
            <a:normAutofit/>
          </a:bodyPr>
          <a:lstStyle/>
          <a:p>
            <a:pPr marL="0" indent="0" algn="ctr">
              <a:buNone/>
            </a:pPr>
            <a:r>
              <a:rPr lang="en-US" sz="1800" b="1" kern="0" spc="75" dirty="0">
                <a:solidFill>
                  <a:srgbClr val="0E1F5B"/>
                </a:solidFill>
                <a:latin typeface="Arial" pitchFamily="34" charset="0"/>
                <a:ea typeface="Arial" pitchFamily="34" charset="-122"/>
                <a:cs typeface="Arial" pitchFamily="34" charset="-120"/>
              </a:rPr>
              <a:t>LETTRE À KEOLIS · 20 SEPT. 2026</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3">
    <p:bg>
      <p:bgPr>
        <a:solidFill>
          <a:srgbClr val="72C49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4238625"/>
            <a:ext cx="18021301" cy="1847850"/>
          </a:xfrm>
          <a:prstGeom prst="rect">
            <a:avLst/>
          </a:prstGeom>
          <a:noFill/>
          <a:ln/>
          <a:effectLst>
            <a:outerShdw blurRad="101600" dist="107763" dir="2700000" algn="bl" rotWithShape="0">
              <a:srgbClr val="FAF5EC">
                <a:alpha val="100000"/>
              </a:srgbClr>
            </a:outerShdw>
          </a:effectLst>
        </p:spPr>
        <p:txBody>
          <a:bodyPr wrap="square" lIns="25400" tIns="25400" rIns="25400" bIns="25400" rtlCol="0" anchor="t">
            <a:normAutofit/>
          </a:bodyPr>
          <a:lstStyle/>
          <a:p>
            <a:pPr marL="0" indent="0" algn="l">
              <a:lnSpc>
                <a:spcPct val="67472"/>
              </a:lnSpc>
              <a:buNone/>
            </a:pPr>
            <a:r>
              <a:rPr lang="en-US" sz="15000" b="1" kern="0" spc="-450" dirty="0">
                <a:solidFill>
                  <a:srgbClr val="0E1F5B"/>
                </a:solidFill>
                <a:latin typeface="Arial" pitchFamily="34" charset="0"/>
                <a:ea typeface="Arial" pitchFamily="34" charset="-122"/>
                <a:cs typeface="Arial" pitchFamily="34" charset="-120"/>
              </a:rPr>
              <a:t>Vos questions</a:t>
            </a:r>
            <a:endParaRPr lang="en-US" sz="15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DU MONT D'EST</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372</TotalTime>
  <Words>2495</Words>
  <Application>Microsoft Office PowerPoint</Application>
  <PresentationFormat>Personnalisé</PresentationFormat>
  <Paragraphs>330</Paragraphs>
  <Slides>30</Slides>
  <Notes>30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30</vt:i4>
      </vt:variant>
    </vt:vector>
  </HeadingPairs>
  <TitlesOfParts>
    <vt:vector size="33"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BOUSSEMART Benjamin</cp:lastModifiedBy>
  <cp:revision>20</cp:revision>
  <cp:lastPrinted>2026-10-12T12:08:24Z</cp:lastPrinted>
  <dcterms:created xsi:type="dcterms:W3CDTF">2026-10-12T08:47:28Z</dcterms:created>
  <dcterms:modified xsi:type="dcterms:W3CDTF">2026-10-12T15:10:52Z</dcterms:modified>
</cp:coreProperties>
</file>